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notesMaster" Target="notesMasters/notesMaster1.xml" /><Relationship Id="rId4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9" Type="http://schemas.openxmlformats.org/officeDocument/2006/relationships/theme" Target="theme/theme1.xml" /><Relationship Id="rId38" Type="http://schemas.openxmlformats.org/officeDocument/2006/relationships/viewProps" Target="viewProps.xml" /><Relationship Id="rId37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本节保留一个基于 DStream + HBase 的历史工程案例，用来说明早期 Spark Streaming 如何围绕微批、目录监控和 foreachRDD 组织处理链路。它对理解存量系统仍然有价值，但不应被视为 Spark 4.x 新项目的默认模板。 接下来会依次看 案例分析（DStream 历史案例）、探索数据，以及 创建数据流，后面的实现和案例都会沿着这条线继续展开。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案例分析（DStream 历史案例）、探索数据、创建数据流，以及 转换操作。先把前面的入口和处理顺序放稳，后面再继续往下展开。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窗口操作。把这几步和前面的内容接起来，整节课的推进顺序就完整了。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用来说明早期 Spark Streaming 如何围绕微批、如果今天重新实现同类需求 和 案例场景仍然采用油井传感器日志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早期 Spark Streaming 会把连续到达的数据按固定时间间隔切成一批批小 RDD，这种抽象就叫 DStream。对开发者来说，它的编程体验很像“持续不断地处理一串按时间到达的 RDD”。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早期 Spark Streaming 会把连续到达的数据按固定时间间隔切成一批批小 RDD，这种抽象就叫 DStream。对开发者来说，它的编程体验很像“持续不断地处理一串按时间到达的 RDD”。每个批次里仍然使用熟悉的 Spark Core API，而微批调度负责把这些批次串起来持续执行。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下面这个历史案例继续沿用 DStream + HBase 的组合，目的是说明一个典型微批流式应用怎样从输入流一路走到外部存储。示例背景是油井监控：钻井平台传感器持续产生日志数据，Spark Streaming 负责实时处理，再把结果写入 HBase，供后续分析和报表使用。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、时间和一些与来自传感器读数的相关度量，例如psi、流量等，另外还包括传感器的维护和生产厂家信息。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传感器数据来自逗号分隔的 CSV 文件，并持续写入某个目录。Spark Streaming 会监视这个目录，并在发现新文件时把它们纳入后续微批处理。如前所述，流式应用当然可以接入多种数据源，但为了把历史 DStream 链路讲清楚，这里仍然使用目录中的 CSV 文件作为输入。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下面先定义两个最基础的部件：一是与 CSV 记录对应的 Sensor 案例类，二是把 Sensor 转成 HBase Put 的辅助函数。这里继续使用 TableOutputFormat 写入 HBase，风格上和早期 MapReduce/HBase 集成方式很接近，也正好能说明这类历史系统通常怎么组织输出链路。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并把逗号分隔的字段装配成 Sensor 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本小节继续沿用上面的历史案例，因此输入源仍采用目录文件 + textFileStream，写出仍以 HBase 为目标。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代码链路本身并不复杂，核心可以概括为三步。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这段代码里，linesDStream 表示源数据流。StreamingContext.textFileStream() 会持续监视兼容 Hadoop 的文件系统目录，并在检测到新文件时把它们纳入后续批次处理。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接下来使用PairRDDFunctions.saveAsHadoopDataset()方法写入传感器和警报数据。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有了输入数据流之后，就可以在每个微批上继续做关联和分析、产生低压警报传感器的生产厂家和维护信息是什么？ 和 随后把每个 RDD 转成 DataFrame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Streaming 为 DStream 提供了一组与 RDD 很相似的转换，例如 map()、flatMap()、filter()、join() 和 reduceByKey()。它也提供 reduce()、count() 这类返回单元素 DStream 的运算符，但这些在流式语境里其实不是立刻触发执行的动作，而是继续定义下一层 DStream。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、saveAsTextFiles()和saveAsHadoopFiles()函数将数据流输出为Hadoop兼容的文件格式。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这里把业务需求翻译成查询语义。讲解时重点不是逐字念 SQL，而是说明筛选、连接和聚合分别对应什么业务问题。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这一步是在把应用真正交给集群执行。讲解时要把主类、资源配置和输入输出参数对应起来，说明任务到底以什么方式跑起来。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这样就可以回答“过去 6 秒内发生了什么”“每隔 2 秒重新统计一次最近窗口”这一类问题，而不必只盯着单个批次。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在图例 5‑19 中，原始 DStream 以 1 秒间隔到达。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窗口每隔 2 个单位向前滑动一次。需要记住的约束只有一个：窗口长度和滑动间隔都必须是批次间隔的整数倍。每当窗口滑动时，落入该窗口范围内的多个 RDD 会被合并视作一个新的窗口 RDD，并在其上执行后续操作。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比如希望“每 4 秒输出一次最近 6 秒的单词计数”，就可以在键值对 DStream 上使用 reduceByKeyAndWindow()。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这里把业务需求翻译成查询语义。讲解时重点不是逐字念 SQL，而是说明筛选、连接和聚合分别对应什么业务问题。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窗口操作的意义，在于把多个连续微批合并成一个“按时间滚动观察”的结果视图。这样就可以回答“过去 6 秒内发生了什么”“每隔 2 秒重新统计一次最近窗口”这一类问题，而不必只盯着单个批次。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.jp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5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.jp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7.jp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8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 案例分析（DStream 历史案例）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用来说明早期 Spark Streaming 如何围绕微批</a:t>
            </a:r>
          </a:p>
          <a:p>
            <a:pPr lvl="0"/>
            <a:r>
              <a:rPr/>
              <a:t>如果今天重新实现同类需求</a:t>
            </a:r>
          </a:p>
          <a:p>
            <a:pPr lvl="0"/>
            <a:r>
              <a:rPr/>
              <a:t>案例场景仍然采用油井传感器日志：持续接收设备上报数据，筛选告警事件，并把明细与汇总结果写入外部存储</a:t>
            </a:r>
          </a:p>
          <a:p>
            <a:pPr lvl="0"/>
            <a:r>
              <a:rPr/>
              <a:t>网站监控、网络监控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 案例分析（DStream 历史案例）：学习路线（1/2）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案例分析（DStream 历史案例）</a:t>
            </a:r>
          </a:p>
          <a:p>
            <a:pPr lvl="0"/>
            <a:r>
              <a:rPr/>
              <a:t>探索数据</a:t>
            </a:r>
          </a:p>
          <a:p>
            <a:pPr lvl="0"/>
            <a:r>
              <a:rPr/>
              <a:t>创建数据流</a:t>
            </a:r>
          </a:p>
          <a:p>
            <a:pPr lvl="0"/>
            <a:r>
              <a:rPr/>
              <a:t>转换操作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 案例分析（DStream 历史案例）：学习路线（2/2）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窗口操作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 案例分析（DStream 历史案例）（1/2）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用来说明早期 Spark Streaming 如何围绕微批</a:t>
            </a:r>
          </a:p>
          <a:p>
            <a:pPr lvl="0"/>
            <a:r>
              <a:rPr/>
              <a:t>如果今天重新实现同类需求</a:t>
            </a:r>
          </a:p>
          <a:p>
            <a:pPr lvl="0"/>
            <a:r>
              <a:rPr/>
              <a:t>案例场景仍然采用油井传感器日志：持续接收设备上报数据，筛选告警事件，并把明细与汇总结果写入外部存储</a:t>
            </a:r>
          </a:p>
          <a:p>
            <a:pPr lvl="0"/>
            <a:r>
              <a:rPr/>
              <a:t>网站监控、网络监控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 案例分析（DStream 历史案例）（2/2）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欺诈识别</a:t>
            </a:r>
          </a:p>
          <a:p>
            <a:pPr lvl="0"/>
            <a:r>
              <a:rPr/>
              <a:t>网页点击</a:t>
            </a:r>
          </a:p>
          <a:p>
            <a:pPr lvl="0"/>
            <a:r>
              <a:rPr/>
              <a:t>物联网传感器</a:t>
            </a:r>
          </a:p>
          <a:p>
            <a:pPr lvl="0"/>
            <a:r>
              <a:rPr/>
              <a:t>这种抽象就叫 DStream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 案例分析（DStream 历史案例）：图示（1）</a:t>
            </a:r>
          </a:p>
        </p:txBody>
      </p:sp>
      <p:pic>
        <p:nvPicPr>
          <p:cNvPr descr="../../md/media/05_stream_processing/media/image14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2717800"/>
            <a:ext cx="10515600" cy="204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https://www.mapr.com/sites/default/files/blogimages/sparkstream2-blog.png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 案例分析（DStream 历史案例）：图示（2）</a:t>
            </a:r>
          </a:p>
        </p:txBody>
      </p:sp>
      <p:pic>
        <p:nvPicPr>
          <p:cNvPr descr="../../md/media/05_stream_processing/media/image15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1892300"/>
            <a:ext cx="10515600" cy="420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5.8.1 探索数据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传感器日志信息的数据列包括日期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流式应用当然可以接入多种数据源</a:t>
            </a:r>
          </a:p>
          <a:p>
            <a:pPr lvl="0"/>
            <a:r>
              <a:rPr/>
              <a:t>先定义两个最基础的部件：一是与 CSV 记录对应的 Sensor 案例类</a:t>
            </a:r>
          </a:p>
          <a:p>
            <a:pPr lvl="0"/>
            <a:r>
              <a:rPr/>
              <a:t>代码 5‑35</a:t>
            </a:r>
          </a:p>
          <a:p>
            <a:pPr lvl="0"/>
            <a:r>
              <a:rPr/>
              <a:t>parseSensor 方法负责解析 CSV 记录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5‑36</a:t>
            </a:r>
          </a:p>
          <a:p>
            <a:pPr lvl="0"/>
            <a:r>
              <a:rPr/>
              <a:t>更常见的做法是使用 Structured Streaming 从 Kafka</a:t>
            </a:r>
          </a:p>
          <a:p>
            <a:pPr lvl="0"/>
            <a:r>
              <a:rPr/>
              <a:t>这一部分对应历史案例里的“创建输入流”步骤</a:t>
            </a:r>
          </a:p>
          <a:p>
            <a:pPr lvl="0"/>
            <a:r>
              <a:rPr/>
              <a:t>初始化 StreamingContext，它是 DStream 编程模型的入口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创建数据流：代码片段（1/12）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下面先定义两个最基础的部件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resid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date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time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hz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disp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flo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sedPPM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psi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chlPPM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Double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Serializable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创建数据流：代码片段（2/12）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parseSensor 方法负责解析 CSV 记录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parseSensor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Sensor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toDouble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创建数据流：代码片段（3/12）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sparkConf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SparkConf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setAppName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"HBaseStream"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ssc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StreamingContext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sparkConf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linesDStream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textFileStream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"/root/data/stream"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sensorDStream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linesDStream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parseSensor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创建数据流：代码片段（4/12）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先过滤出真正要参与计算的数据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sensorDStream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foreachRDD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过滤传感器低 psi 的数据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alertRDD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psi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alertRDD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将传感器数据转换成 Put 对象，写入 HBase 表的列族中</a:t>
            </a:r>
            <a:br/>
            <a:r>
              <a:rPr>
                <a:latin typeface="Courier"/>
              </a:rPr>
              <a:t> 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convertToPut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saveAsHadoopDataset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jobConfig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alertRDD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convertToPutAlert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saveAsHadoopDataset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jobConfig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创建数据流：代码片段（5/12）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当输入流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"start streaming"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start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ssc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awaitTermination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创建数据流：代码片段（6/12）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作为最终写入动作的输入。 的执行步骤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convertToPut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Sensor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ImmutableBytesWritable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Put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dateTime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time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创建一个组合行键: sensorid_date time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rowkey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resid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"_"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dateTime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put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Bytes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toBytes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rowkey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增加列族数据</a:t>
            </a:r>
            <a:br/>
            <a:r>
              <a:rPr>
                <a:latin typeface="Courier"/>
              </a:rPr>
              <a:t>  put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cfDataBytes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colHzBytes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Bytes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toBytes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hz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put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cfDataBytes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colDispBytes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Bytes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toBytes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disp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put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cfDataBytes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colFloBytes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Bytes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toBytes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flo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put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cfDataBytes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colSedBytes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Bytes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toBytes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sedPPM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put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cfDataBytes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colPsiBytes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Bytes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toBytes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psi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创建数据流：代码片段（7/12）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conf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HBaseConfiguration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conf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TableInputFormat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INPUT_TABLE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HBaseSensorStream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tableName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读取列族 psi 列中的数据</a:t>
            </a:r>
            <a:br/>
            <a:r>
              <a:rPr>
                <a:latin typeface="Courier"/>
              </a:rPr>
              <a:t>conf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TableInputFormat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SCAN_COLUMNS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"data:psi"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加载 (row key, row Result) RDD 元组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hBaseRDD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newAPIHadoopRDD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conf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classOf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TableInputFormat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>
                <a:latin typeface="Courier"/>
              </a:rPr>
              <a:t>  classOf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hadoop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ImmutableBytesWritable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>
                <a:latin typeface="Courier"/>
              </a:rPr>
              <a:t>  classOf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hadoop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创建数据流：代码片段（8/12）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/>
            <a:r>
              <a:rPr/>
              <a:t>先对照代码理解 步骤2：将流数据文件复制到流目录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spark-submit </a:t>
            </a:r>
            <a:r>
              <a:rPr>
                <a:solidFill>
                  <a:srgbClr val="7D9029"/>
                </a:solidFill>
                <a:latin typeface="Courier"/>
              </a:rPr>
              <a:t>--class</a:t>
            </a:r>
            <a:r>
              <a:rPr>
                <a:latin typeface="Courier"/>
              </a:rPr>
              <a:t> HBaseSensorStream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/data/application/sensor-streaming/target/scala-2.13/sensor-streaming-assembly-0.1.jar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/data/sensordata.csv /root/data/stream/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创建数据流：代码片段（9/12）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步骤3</a:t>
            </a:r>
          </a:p>
          <a:p>
            <a:pPr lvl="0" indent="0">
              <a:buNone/>
            </a:pPr>
            <a:r>
              <a:rPr>
                <a:latin typeface="Courier"/>
              </a:rPr>
              <a:t>hbase(main):007:0&gt; scan 'sensor', {COLUMNS=&gt;['data'], LIMIT =&gt; 1}
ROW COLUMN+CELL
ANDOUILLE_3/10/14 10:01 column=data:chlPPM, timestamp=1586161685698, value=?\xF7\x0A=p\xA3\xD7\x0A
ANDOUILLE_3/10/14 10:01 column=data:disp, timestamp=1586161685698, value=?\xFB|\xED\x91hr\xB0
ANDOUILLE_3/10/14 10:01 column=data:flo, timestamp=1586161685698, value=@\x93\xEC\x00\x00\x00\x00\x00
ANDOUILLE_3/10/14 10:01 column=data:hz, timestamp=1586161685698, value=@#\xA3\xD7\x0A=p\xA4
ANDOUILLE_3/10/14 10:01 column=data:psi, timestamp=1586161685698, value=@S\x00\x00\x00\x00\x00\x00
ANDOUILLE_3/10/14 10:01 column=data:sedPPM, timestamp=1586161685698, value=?\xD3333333
1 row(s)
Took 0.0186 seconds
hbase(main):006:0&gt; scan 'sensor', {COLUMNS=&gt;['alert'], LIMIT =&gt; 2}
// ...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创建数据流：代码片段（10/12）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root@48feaa001420:~# spark-submit --class HBaseReadWrite /data/application/sensor-streaming/target/scala-2.13/sensor-streaming-assembly-0.1.jar
20/04/06 13:35:19 WARN NativeCodeLoader: Unable to load native-hadoop library for your platform... using builtin-java classes where applicable
(COHUTTA_3/10/14,95.0)
(COHUTTA_3/10/14,88.0)
(COHUTTA_3/10/14,(count: 958, mean: 87.586639, stdev: 7.309181, max: 100.000000, min: 75.000000))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创建数据流：代码片段（11/12）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root@48feaa001420:~# spark-submit --class HBaseReadRowWriteStats /data/application/sensor-streaming/target/scala-2.13/sensor-streaming-assembly-0.1.jar
20/04/06 13:37:56 WARN NativeCodeLoader: Unable to load native-hadoop library for your platform... using builtin-java classes where applicable
root
|-- rowkey: string (nullable = true)
|-- hz: double (nullable = false)
|-- disp: double (nullable = false)
|-- flo: double (nullable = false)
|-- sedPPM: double (nullable = false)
|-- psi: double (nullable = false)
|-- chlPPM: double (nullable = false)
+-----------------+----+-----+------+------+----+------+
// ...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创建数据流：代码片段（12/12）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（3）启动HBase shell并扫描统计信息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hbase(main):002:0&gt; scan 'sensor' , {COLUMNS=&gt;['stats'], LIMIT =&gt; 1}
ROW COLUMN+CELL
ANDOUILLE_3/10/14 column=stats:chlPPMmax, timestamp=1586180290366, value=@\x00\x00\x00\x00\x00\x00\x00
ANDOUILLE_3/10/14 column=stats:chlPPMmin, timestamp=1586180290366, value=?\xE0\x00\x00\x00\x00\x00\x00
ANDOUILLE_3/10/14 column=stats:dispavg, timestamp=1586180290366, value=?\xF9\x83KY3\x88\x8D
ANDOUILLE_3/10/14 column=stats:dispmax, timestamp=1586180290366, value=@\x00\xE7l\x8BC\x95\x81
ANDOUILLE_3/10/14 column=stats:dispmin, ...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创建数据流：图示（1）</a:t>
            </a:r>
          </a:p>
        </p:txBody>
      </p:sp>
      <p:pic>
        <p:nvPicPr>
          <p:cNvPr descr="../../md/media/05_stream_processing/media/image17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1905000"/>
            <a:ext cx="10515600" cy="415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5.8.2 创建数据流：图示（2）</a:t>
            </a:r>
          </a:p>
        </p:txBody>
      </p:sp>
      <p:pic>
        <p:nvPicPr>
          <p:cNvPr descr="../../md/media/05_stream_processing/media/image18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73300" y="1816100"/>
            <a:ext cx="76327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处输入图片的描述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5.8.3 转换操作（1/2）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有了输入数据流之后，就可以在每个微批上继续做关联和分析</a:t>
            </a:r>
          </a:p>
          <a:p>
            <a:pPr lvl="0"/>
            <a:r>
              <a:rPr/>
              <a:t>产生低压警报传感器的生产厂家和维护信息是什么？</a:t>
            </a:r>
          </a:p>
          <a:p>
            <a:pPr lvl="0"/>
            <a:r>
              <a:rPr/>
              <a:t>随后把每个 RDD 转成 DataFrame</a:t>
            </a:r>
          </a:p>
          <a:p>
            <a:pPr lvl="0"/>
            <a:r>
              <a:rPr/>
              <a:t>代码 5‑48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5.8.3 转换操作（2/2）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这些在流式语境里并不是立刻触发执行的动作</a:t>
            </a:r>
          </a:p>
          <a:p>
            <a:pPr lvl="0"/>
            <a:r>
              <a:rPr/>
              <a:t>（1）print()将每个批次的前10个元素打印到控制台，通常用于调试和测试</a:t>
            </a:r>
          </a:p>
          <a:p>
            <a:pPr lvl="0"/>
            <a:r>
              <a:rPr/>
              <a:t>（2）saveAsObjectFile()</a:t>
            </a:r>
          </a:p>
          <a:p>
            <a:pPr lvl="0"/>
            <a:r>
              <a:rPr/>
              <a:t>（2）foreachRDD()运算符应用到离散流的每个批次内的RDD上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5.8.3 转换操作：代码片段（1/2）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先用 SQL 描述需要的查询逻辑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pumpRDD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 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"/root/data/sensorvendor.csv"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parsePumpInfo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maintRDD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"/root/data/sensormaint.csv"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parseMaint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maintDF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maintRDD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pumpDF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pumpRDD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maintDF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"maint"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pumpDF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"pump"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sensorDStream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foreachRDD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filter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sensor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sensor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psi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"alert"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5.8.3 转换操作：代码片段（2/2）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spark-submit 提交应用并带上运行参数</a:t>
            </a:r>
          </a:p>
          <a:p>
            <a:pPr lvl="0" indent="0">
              <a:buNone/>
            </a:pPr>
            <a:r>
              <a:rPr>
                <a:latin typeface="Courier"/>
              </a:rPr>
              <a:t>root@48feaa001420:~# spark-submit --class SensorStreamSQL /data/application/sensor-streaming/target/scala-2.13/sensor-streaming-assembly-0.1.jar
20/04/06 14:35:26 WARN NativeCodeLoader: Unable to load native-hadoop library for your platform... using builtin-java classes where applicable
Starting streaming process
Low pressure alert
Sensor(NANTAHALLA,3/13/14,2:05,0.0,0.0,0.0,1.73,0.0,1.51)
Alert pump maintenance data
+----------+-------+---+---------+------------+-----------+--------+---------+----------+-----------+
| resid| date|psi| pumpType|purchaseDate|serviceDate|vendor|eventDate|technician|description|
+----------+-------+---+---------+------------+-----------+--------+---------+----------+-----------+
|NANTAHALLA|3/13/14|0.0|HYDROPUMP| 11/27/10| 3/15/11|HYDROCAM| 3/15/11|J.Thomas| Install|
+----------+-------+---+---------+------------+-----------+--------+---------+----------+-----------+
only showing top 1 row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5.8.4 窗口操作（1/2）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窗口操作的意义，在于把多个连续微批合并成一个“按时间滚动观察”的结果视图</a:t>
            </a:r>
          </a:p>
          <a:p>
            <a:pPr lvl="0"/>
            <a:r>
              <a:rPr/>
              <a:t>图例 5‑19 数据的滑动窗口</a:t>
            </a:r>
          </a:p>
          <a:p>
            <a:pPr lvl="0"/>
            <a:r>
              <a:rPr/>
              <a:t>窗口长度由 windowLength 指定，这里是 3 个时间单位</a:t>
            </a:r>
          </a:p>
          <a:p>
            <a:pPr lvl="0"/>
            <a:r>
              <a:rPr/>
              <a:t>因而，窗口操作通常只需要两个参数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5.8.4 窗口操作（2/2）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窗口长度：窗口覆盖的持续时间，本例中为 3 个单位</a:t>
            </a:r>
          </a:p>
          <a:p>
            <a:pPr lvl="0"/>
            <a:r>
              <a:rPr/>
              <a:t>滑动间隔：窗口重新计算的频率，本例中为 2 个单位</a:t>
            </a:r>
          </a:p>
          <a:p>
            <a:pPr lvl="0"/>
            <a:r>
              <a:rPr/>
              <a:t>再次强调，这两个参数都必须是批次间隔的倍数</a:t>
            </a:r>
          </a:p>
          <a:p>
            <a:pPr lvl="0"/>
            <a:r>
              <a:rPr/>
              <a:t>代码 5‑50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5.8.4 窗口操作：代码片段（1/3）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再次强调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windowsWordCounts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  pairs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reduceByKeyAndWindow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a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5.8.4 窗口操作：代码片段（2/3）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/>
            <a:r>
              <a:rPr/>
              <a:t>先用 SQL 描述需要的查询逻辑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>
                <a:latin typeface="Courier"/>
              </a:rPr>
              <a:t>sensorDStream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window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Seconds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foreachRDD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(!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isEmpty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sensorDF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"sensor data"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sensorDF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sensorDF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"sensor"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"SELECT resid, date, count(resid) as total FROM sensor GROUP BY resid, date"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"sensor count 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5.8.4 窗口操作：代码片段（3/3）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</a:t>
            </a:r>
          </a:p>
          <a:p>
            <a:pPr lvl="0" indent="0">
              <a:buNone/>
            </a:pPr>
            <a:r>
              <a:rPr>
                <a:latin typeface="Courier"/>
              </a:rPr>
              <a:t>only showing top 1 row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5.8.4 窗口操作：图示</a:t>
            </a:r>
          </a:p>
        </p:txBody>
      </p:sp>
      <p:pic>
        <p:nvPicPr>
          <p:cNvPr descr="../../md/media/05_stream_processing/media/image19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790700" y="1816100"/>
            <a:ext cx="86233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2026-04-05T02:24:56Z</dcterms:created>
  <dcterms:modified xsi:type="dcterms:W3CDTF">2026-04-05T02:24:56Z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