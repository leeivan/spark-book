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notesMaster" Target="notesMasters/notesMaster1.xml" /><Relationship Id="rId34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3" Type="http://schemas.openxmlformats.org/officeDocument/2006/relationships/theme" Target="theme/theme1.xml" /><Relationship Id="rId32" Type="http://schemas.openxmlformats.org/officeDocument/2006/relationships/viewProps" Target="viewProps.xml" /><Relationship Id="rId31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兼容性说明：本节介绍 DStream / Spark Streaming，用于理解 Spark 微批模型与维护历史系统。在 Spark 4.x 的新项目中，不应再以 DStream 作为首选实现模板。请将 5.8 和 5.9 视为本章主线。 接下来会依次看 离散化流（DStream，历史 API）、一个例子，以及 迁移对照：DStream 到 Structured Streaming，后面的实现和案例都会沿着这条线继续展开。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离散化流（DStream，历史 API）、一个例子、迁移对照：DStream 到 Structured Streaming，以及 StreamingContext。先把前面的入口和处理顺序放稳，后面再继续往下展开。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输入流。把这几步和前面的内容接起来，整节课的推进顺序就完整了。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本节介绍 DStream / Spark Streaming，用于理解 Spark 微批模型与维护历史系统。在 Spark 4.x 的新项目中，不应再以 DStream 作为首选实现模板。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其核心抽象是 DStream。它通过把连续数据流切成一系列小批次，再把每个批次表示为底层 RDD 来执行计算。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理解这些之后，再回头看 Structured Streaming，会更容易理解“无界表 + 增量执行”的统一模型。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 Streaming总体架构通常由以下组件构成（图例 5‑5）。首先是要处理的数据必须来自某个外部动态数据源，例如传感器、移动应用程序、Web客户端、服务器日志等等，这个数据通过消息机制传送给数据采集系统，如Kafka、Flume等，递送或沉积在文件系统中。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然后是流处理过程，获得的数据由Spark Streaming系统进行处理。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Streaming总体架构通常由以下组件构成（图例 5‑5）。首先是要处理的数据必须来自某个外部动态数据源，例如传感器、移动应用程序、Web客户端、服务器日志等等，这个数据通过消息机制传送给数据采集系统，如Kafka、Flume等，递送或沉积在文件系统中。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Streaming的内部工作原理如下（图例 5‑6）。Spark数据流接收实时输入数据流并将数据分成批，然后由Spark引擎进行处理，以批量生成最终的结果流。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这个程序通过Spark Streaming的TCP套接字接口侦听NetCat发生的数据，统计接收到的文本数据中的字数，这个代码的主程序为。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整体链路其实很简单：先用 SparkConf 和 StreamingContext 建立一个本地流式应用，local[2] 表示至少给接收数据和处理数据各留一个执行线程，批次间隔设为 10 秒。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再用 ssc.socketTextStream() 从 TCP 套接字持续接收文本行，把每一行拆成单词，映射成 (word, 1) 形式的键值对，并在每个微批上用 reduceByKey() 统计词频。最后通过 wordCounts.print() 输出结果。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在虚拟实验环境中，上面的应用已经完成编译和打包、代码 5‑2 和 使用Docker exec 命令进入到容器中打开另一终端界面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flatMap 的关键不是做了遍历，而是把一对多的展开放进计算链路。很多词频统计、日志拆词和明细展开都依赖这一步。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为了便于从存量DStream迁移到Spark 4.x主线API，下面给出与“词频统计”对应的Structured Streaming写法。该示例使用Kafka作为输入源，并显式设置watermark与checkpoint目录。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（2）reduceByKeyAndWindow 等窗口聚合 -&gt; groupBy(window(…))。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先创建 SparkSession 作为统一入口、先过滤出真正要参与计算的数据 和 按业务键把相关记录汇到同一组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StreamingContext是流传输的主要入口点，本质上负责流传输应用程序，包括检查点，转换和对RDD的DStreams的操作。StreamingContext是所有数据流功能切入点，提供了访问方法可以创建来自各种输入源的离散流。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text。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上面StreamingContext两个构造这里的第二个参数是batchDuration，这是数据流被分批的时间间隔。无论使用Spark交互界面或创建一个独立的应用程序，需要创建一个新的StreamingContext。要初始化Spark数据流程序，必须创建一个StreamingContext对象，它是所有Spark数据流功能的主要入口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（1）如果是在Spark应用程序中，StreamingContext对象可以从SparkConf对象创建。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master 可以是 Standalone、Kubernetes、YARN 的集群地址，也可以是本地模式字符串 local[]。实际部署到集群时，通常不会把 master 硬编码在程序里，而是通过 spark-submit 在提交阶段传入。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本地测试或单元测试时，local[] 则更方便。创建 StreamingContext 时会连带创建底层 SparkContext，可通过 ssc.sparkContext 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例如receiverStream和fileStream。在代码 5‑1中，lines是一个输入离散流，通过socketTextStream从NetCat服务器接收的数据流。每个输入流与接收器（Receiver）对象相关联，该对象接收数据并将其存储在内存中进行处理。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 Streaming具有两类输入源，第一类是StreamingContext中直接提供的输入源，例如textFileStream和socketTextStream等，第二类是通过额外的接口获得Kafka、Flume、Kinesis等输入流。如果要在Spark Streaming应用程序中并行接收多个输入源，这将创建多个接收器同时接收多个数据流。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另外，基于接收信息的可靠性也可以用来区分数据接收器。当数据被接收并且复制存储在Spark中时，接收器正确地向可靠的数据源发送确认，可靠的数据源，如Kafka和Flume，实现了传输数据的确认机制，接收器可以确认接收的数据，可以确保在产生故障时不会丢失任何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下面我们介绍几种接收器。SocketTextStream已经在代码 5‑1中使用了，通过TCP套接字接口接收文本数据，创建一个离散流。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port地址接收数据创建输入流，使用TCP套接字接收数据，使用UTF8编码接收文本，换行作为分隔。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flatMap 的关键不是做了遍历，而是把一对多的展开放进计算链路。很多词频统计、日志拆词和明细展开都依赖这一步。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兼容性说明：用于理解 Spark 微批模型与维护历史系统</a:t>
            </a:r>
          </a:p>
          <a:p>
            <a:pPr lvl="0"/>
            <a:r>
              <a:rPr/>
              <a:t>请将 5.8 和 5.9 视为本章主线</a:t>
            </a:r>
          </a:p>
          <a:p>
            <a:pPr lvl="0"/>
            <a:r>
              <a:rPr/>
              <a:t>Spark Streaming 是 Spark 早期的流处理扩展</a:t>
            </a:r>
          </a:p>
          <a:p>
            <a:pPr lvl="0"/>
            <a:r>
              <a:rPr/>
              <a:t>从今天的工程视角看，DStream 更适合回答两个问题：一是 Spark 的微批模型是怎样形成的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离散化流（DStream，历史 API）</a:t>
            </a:r>
          </a:p>
          <a:p>
            <a:pPr lvl="0"/>
            <a:r>
              <a:rPr/>
              <a:t>一个例子</a:t>
            </a:r>
          </a:p>
          <a:p>
            <a:pPr lvl="0"/>
            <a:r>
              <a:rPr/>
              <a:t>迁移对照：DStream 到 Structured Streaming</a:t>
            </a:r>
          </a:p>
          <a:p>
            <a:pPr lvl="0"/>
            <a:r>
              <a:rPr/>
              <a:t>StreamingContext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输入流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兼容性说明：用于理解 Spark 微批模型与维护历史系统</a:t>
            </a:r>
          </a:p>
          <a:p>
            <a:pPr lvl="0"/>
            <a:r>
              <a:rPr/>
              <a:t>请将 5.8 和 5.9 视为本章主线</a:t>
            </a:r>
          </a:p>
          <a:p>
            <a:pPr lvl="0"/>
            <a:r>
              <a:rPr/>
              <a:t>Spark Streaming 是 Spark 早期的流处理扩展</a:t>
            </a:r>
          </a:p>
          <a:p>
            <a:pPr lvl="0"/>
            <a:r>
              <a:rPr/>
              <a:t>从今天的工程视角看，DStream 更适合回答两个问题：一是 Spark 的微批模型是怎样形成的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二是旧系统代码为何大量围绕 RDD 和批次间隔编写</a:t>
            </a:r>
          </a:p>
          <a:p>
            <a:pPr lvl="0"/>
            <a:r>
              <a:rPr/>
              <a:t>是要处理的数据必须来自某个外部动态数据源</a:t>
            </a:r>
          </a:p>
          <a:p>
            <a:pPr lvl="0"/>
            <a:r>
              <a:rPr/>
              <a:t>图例 5‑5 Spark数据流总体框架</a:t>
            </a:r>
          </a:p>
          <a:p>
            <a:pPr lvl="0"/>
            <a:r>
              <a:rPr/>
              <a:t>是基于NoSql的数据存储，如HBase等用于存储处理的数据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API）：图示（1）</a:t>
            </a:r>
          </a:p>
        </p:txBody>
      </p:sp>
      <p:pic>
        <p:nvPicPr>
          <p:cNvPr descr="../../md/media/05_stream_processing/media/image5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260600"/>
            <a:ext cx="105156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离散化流（DStream，历史 API）：图示（2）</a:t>
            </a:r>
          </a:p>
        </p:txBody>
      </p:sp>
      <p:pic>
        <p:nvPicPr>
          <p:cNvPr descr="../../md/media/05_stream_processing/media/image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565400"/>
            <a:ext cx="10515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火流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5.5.1 一个例子（1/2）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在详细介绍Spark数据流程序之前，来看一个简单的Spark数据流程序</a:t>
            </a:r>
          </a:p>
          <a:p>
            <a:pPr lvl="0"/>
            <a:r>
              <a:rPr/>
              <a:t>代码 5‑1</a:t>
            </a:r>
          </a:p>
          <a:p>
            <a:pPr lvl="0"/>
            <a:r>
              <a:rPr/>
              <a:t>这段代码展示的是最经典的 DStream 版 NetworkWordCount</a:t>
            </a:r>
          </a:p>
          <a:p>
            <a:pPr lvl="0"/>
            <a:r>
              <a:rPr/>
              <a:t>需要特别记住的是：程序仍然只是在定义计算链路，真正开始处理数据还要等 ssc.start() 被调用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5.5.1 一个例子（2/2）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在虚拟实验环境中，上面的应用已经完成编译和打包</a:t>
            </a:r>
          </a:p>
          <a:p>
            <a:pPr lvl="0"/>
            <a:r>
              <a:rPr/>
              <a:t>代码 5‑2</a:t>
            </a:r>
          </a:p>
          <a:p>
            <a:pPr lvl="0"/>
            <a:r>
              <a:rPr/>
              <a:t>使用Docker exec 命令进入到容器中打开另一终端界面</a:t>
            </a:r>
          </a:p>
          <a:p>
            <a:pPr lvl="0"/>
            <a:r>
              <a:rPr/>
              <a:t>代码 5‑3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5.5.1 一个例子：代码片段（1/4）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flatMap 把一条记录展开成多个元素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SparkConf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StreamingContext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NetworkWordCount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args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Unit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err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"Usage: NetworkWordCount </a:t>
            </a:r>
            <a:r>
              <a:rPr b="1">
                <a:solidFill>
                  <a:srgbClr val="FF0000"/>
                </a:solidFill>
                <a:latin typeface="Courier"/>
              </a:rPr>
              <a:t>\&lt;</a:t>
            </a:r>
            <a:r>
              <a:rPr>
                <a:solidFill>
                  <a:srgbClr val="4070A0"/>
                </a:solidFill>
                <a:latin typeface="Courier"/>
              </a:rPr>
              <a:t>hostname</a:t>
            </a:r>
            <a:r>
              <a:rPr b="1">
                <a:solidFill>
                  <a:srgbClr val="FF0000"/>
                </a:solidFill>
                <a:latin typeface="Courier"/>
              </a:rPr>
              <a:t>\&gt;</a:t>
            </a:r>
            <a:r>
              <a:rPr>
                <a:solidFill>
                  <a:srgbClr val="4070A0"/>
                </a:solidFill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\&lt;</a:t>
            </a:r>
            <a:r>
              <a:rPr>
                <a:solidFill>
                  <a:srgbClr val="4070A0"/>
                </a:solidFill>
                <a:latin typeface="Courier"/>
              </a:rPr>
              <a:t>port</a:t>
            </a:r>
            <a:r>
              <a:rPr b="1">
                <a:solidFill>
                  <a:srgbClr val="FF0000"/>
                </a:solidFill>
                <a:latin typeface="Courier"/>
              </a:rPr>
              <a:t>\&gt;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exit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"NetworkWordCount"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setMaster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"local[2]"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5.5.1 一个例子：代码片段（2/4）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在虚拟实验环境中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: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Apache Spark"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sleep</a:t>
            </a:r>
            <a:r>
              <a:rPr>
                <a:latin typeface="Courier"/>
              </a:rPr>
              <a:t> 0.05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done;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netcat </a:t>
            </a:r>
            <a:r>
              <a:rPr>
                <a:solidFill>
                  <a:srgbClr val="7D9029"/>
                </a:solidFill>
                <a:latin typeface="Courier"/>
              </a:rPr>
              <a:t>-l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9999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5.5.1 一个例子：代码片段（3/4）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root@48feaa001420:~# spark-submit --class NetworkWordCount /data/application/simple-streaming/target/scala-2.13/simple-streaming_2.13-0.1.jar localhost 9999
20/03/26 08:28:39 WARN NativeCodeLoader: Unable to load native-hadoop library for your platform... using builtin-java classes where applicable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5.5.1 一个例子：代码片段（4/4）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使用Docker exec 命令进入到容器中打开另一终端界面</a:t>
            </a:r>
          </a:p>
          <a:p>
            <a:pPr lvl="0" indent="0">
              <a:buNone/>
            </a:pPr>
            <a:r>
              <a:rPr>
                <a:latin typeface="Courier"/>
              </a:rPr>
              <a:t>-------------------------------------------
Time: 1585211330000 ms
-------------------------------------------
(Hello,1028)
(Apache,1028)
(Spark,1028)
-------------------------------------------
Time: 1585211340000 ms
-------------------------------------------
(Hello,188)
(Apache,188)
(Spark,188)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5.5.2 迁移对照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给出与“词频统计”对应的Structured Streaming写法</a:t>
            </a:r>
          </a:p>
          <a:p>
            <a:pPr lvl="0"/>
            <a:r>
              <a:rPr/>
              <a:t>2）reduceByKeyAndWindow 等窗口聚合 -&gt;</a:t>
            </a:r>
          </a:p>
          <a:p>
            <a:pPr lvl="0"/>
            <a:r>
              <a:rPr/>
              <a:t>（4）微批时间间隔 -&gt; trigger(…)（按需设置）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5.5.2 迁移对照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/>
            <a:r>
              <a:rPr/>
              <a:t>先过滤出真正要参与计算的数据</a:t>
            </a:r>
          </a:p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functions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builder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"StructuredWordCountKafka"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implicits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"kafka"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"kafka.bootstrap.servers"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"localhost:9092"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"subscribe"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"startingOffsets"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"latest"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5.5.3 StreamingContext（1/2）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StreamingContext是所有数据流功能切入点</a:t>
            </a:r>
          </a:p>
          <a:p>
            <a:pPr lvl="0"/>
            <a:r>
              <a:rPr/>
              <a:t>通过提供新的SparkContext所需的配置来创建StreamingCon</a:t>
            </a:r>
          </a:p>
          <a:p>
            <a:pPr lvl="0"/>
            <a:r>
              <a:rPr/>
              <a:t>使用现有的SparkContext创建一个StreamingContext</a:t>
            </a:r>
          </a:p>
          <a:p>
            <a:pPr lvl="0"/>
            <a:r>
              <a:rPr/>
              <a:t>可以通过两种方式创建新的StreamingContext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5.5.3 StreamingContext（2/2）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StreamingContext对象可以从SparkConf对象创建</a:t>
            </a:r>
          </a:p>
          <a:p>
            <a:pPr lvl="0"/>
            <a:r>
              <a:rPr/>
              <a:t>代码 5‑4</a:t>
            </a:r>
          </a:p>
          <a:p>
            <a:pPr lvl="0"/>
            <a:r>
              <a:rPr/>
              <a:t>appName 是应用在监控界面里显示的名称</a:t>
            </a:r>
          </a:p>
          <a:p>
            <a:pPr lvl="0"/>
            <a:r>
              <a:rPr/>
              <a:t>批次间隔本身则需要结合延迟目标和集群资源来权衡设置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5.5.3 StreamingContext（1/2）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（1）如果是在Spark应用程序中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\_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\_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appName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setMaster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master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5.5.3 StreamingContext（2/2）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（2）如果通过spark-shell打开交互界面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ssc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StreamingContext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StreamingContext@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c4231e5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可以使用StreamingContext创建多种类型的输入流</a:t>
            </a:r>
          </a:p>
          <a:p>
            <a:pPr lvl="0"/>
            <a:r>
              <a:rPr/>
              <a:t>这是接收外部数据的抽象类，接收器可以在Spark集群的工作节点上运行</a:t>
            </a:r>
          </a:p>
          <a:p>
            <a:pPr lvl="0"/>
            <a:r>
              <a:rPr/>
              <a:t>第二类是通过额外的接口获得Kafka、Flume、Kinesis等输入流</a:t>
            </a:r>
          </a:p>
          <a:p>
            <a:pPr lvl="0"/>
            <a:r>
              <a:rPr/>
              <a:t>接收器可以确认接收的数据，可以确保在产生故障时不会丢失任何数据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SocketTextStream已经在代码 5‑1中使用了</a:t>
            </a:r>
          </a:p>
          <a:p>
            <a:pPr lvl="0"/>
            <a:r>
              <a:rPr/>
              <a:t>从hostname：port地址接收数据创建输入流</a:t>
            </a:r>
          </a:p>
          <a:p>
            <a:pPr lvl="0"/>
            <a:r>
              <a:rPr/>
              <a:t>hostname：要连接的用于接收数据的主机名</a:t>
            </a:r>
          </a:p>
          <a:p>
            <a:pPr lvl="0"/>
            <a:r>
              <a:rPr/>
              <a:t>port：要连接的用于接收数据的端口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通过TCP套接字接口接收文本数据</a:t>
            </a:r>
          </a:p>
          <a:p>
            <a:pPr lvl="0"/>
            <a:r>
              <a:rPr/>
              <a:t>先对照代码理解 除了套接字之外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socketTextStream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hostname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port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storageLevel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StorageLevel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StorageLevel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MEMORY_AND_DISK_SER_2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ReceiverInputDStream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fileStream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ClassTag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ClassTag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666666"/>
                </a:solidFill>
                <a:latin typeface="Courier"/>
              </a:rPr>
              <a:t>&lt;:</a:t>
            </a:r>
            <a:r>
              <a:rPr>
                <a:latin typeface="Courier"/>
              </a:rPr>
              <a:t> NewInputFormat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</a:t>
            </a:r>
            <a:r>
              <a:rPr>
                <a:solidFill>
                  <a:srgbClr val="666666"/>
                </a:solidFill>
                <a:latin typeface="Courier"/>
              </a:rPr>
              <a:t>]:</a:t>
            </a:r>
            <a:r>
              <a:rPr>
                <a:latin typeface="Courier"/>
              </a:rPr>
              <a:t> ClassTag</a:t>
            </a:r>
            <a:r>
              <a:rPr>
                <a:solidFill>
                  <a:srgbClr val="666666"/>
                </a:solidFill>
                <a:latin typeface="Courier"/>
              </a:rPr>
              <a:t>](</a:t>
            </a:r>
            <a:br/>
            <a:r>
              <a:rPr>
                <a:latin typeface="Courier"/>
              </a:rPr>
              <a:t>  directory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InputDStream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创建一个输入流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textFileStream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directory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DStream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flatMap 把一条记录展开成多个元素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ssc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StreamingContext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StreamingContext@</a:t>
            </a:r>
            <a:r>
              <a:rPr>
                <a:solidFill>
                  <a:srgbClr val="40A070"/>
                </a:solidFill>
                <a:latin typeface="Courier"/>
              </a:rPr>
              <a:t>54</a:t>
            </a:r>
            <a:r>
              <a:rPr>
                <a:latin typeface="Courier"/>
              </a:rPr>
              <a:t>a5eff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textFileStream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"/data/input"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lines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MappedDStream@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a70acd5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flatMap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FlatMappedDStream@c4fc610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此时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/usr/local/spark/README.md /root/data/input/1.txt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-------------------------------------------
Time: 1585054780000 ms
-------------------------------------------
(stream,1)
(review,1)
(its,1)
([run,1)
(can,6)
(guidance,2)
(have,1)
(locally,2)
// ...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要停止流式传输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queueStream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ClassTag</a:t>
            </a:r>
            <a:r>
              <a:rPr>
                <a:solidFill>
                  <a:srgbClr val="666666"/>
                </a:solidFill>
                <a:latin typeface="Courier"/>
              </a:rPr>
              <a:t>](</a:t>
            </a:r>
            <a:r>
              <a:rPr>
                <a:latin typeface="Courier"/>
              </a:rPr>
              <a:t>queue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Queue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]],</a:t>
            </a:r>
            <a:r>
              <a:rPr>
                <a:latin typeface="Courier"/>
              </a:rPr>
              <a:t> oneAtATime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Boolean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InputDStream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5.5.4 输入流：代码片段（7/7）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StreamingContext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StreamingContext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Queue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Queue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ssc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StreamingContext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StreamingContext@</a:t>
            </a:r>
            <a:r>
              <a:rPr>
                <a:solidFill>
                  <a:srgbClr val="40A070"/>
                </a:solidFill>
                <a:latin typeface="Courier"/>
              </a:rPr>
              <a:t>3031</a:t>
            </a:r>
            <a:r>
              <a:rPr>
                <a:latin typeface="Courier"/>
              </a:rPr>
              <a:t>d9e9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rddQueue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Queue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]]()</a:t>
            </a:r>
            <a:br/>
            <a:r>
              <a:rPr>
                <a:latin typeface="Courier"/>
              </a:rPr>
              <a:t>rddQueue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2026-04-05T02:24:46Z</dcterms:created>
  <dcterms:modified xsi:type="dcterms:W3CDTF">2026-04-05T02:24:46Z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