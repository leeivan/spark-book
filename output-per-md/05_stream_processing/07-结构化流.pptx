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notesMaster" Target="notesMasters/notesMaster1.xml" /><Relationship Id="rId3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5" Type="http://schemas.openxmlformats.org/officeDocument/2006/relationships/theme" Target="theme/theme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本节开始进入本章推荐主线。Structured Streaming 建立在 Spark SQL 引擎之上，把流数据建模为持续追加的无界表，并用 DataFrame/Dataset 查询描述计算逻辑。这样一来，批处理与流处理在 API、优化器和运行时上尽量统一，开发者可以把重点放在业务逻辑、时间语义和状态管理上。 接下来会依次看 结构化流、一个例子，以及 工作机制，后面的实现和案例都会沿着这条线继续展开。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5.7 结构化流 的主线串起来，重点包括 结构化流、一个例子、工作机制，以及 窗口操作。先知道每一步要解决什么问题，后面的细节就更容易跟住。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这个例子本身很简单，它足够展示结构化流的基本组织方式、代码 5‑19 和 创建一个流式 DataFrame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执行上述代码后，流查询会在后台持续运行。query 是一个 StreamingQuery 句柄，可用于查看状态、停止查询或等待查询结束。这里调用 awaitTermination()，是为了让驱动程序保持运行，而不是在查询刚启动后立即退出。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再打开另一个终端，通过下面的命令提交结构化流示例。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先创建 SparkSession 作为统一入口。只要把这一步的输入、输出和作用说清楚，后面的内容就容易接上。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flatMap 的关键不是做了遍历，而是把一对多的展开放进计算链路。很多词频统计、日志拆词和明细展开都依赖这一步。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开发者不需要先学习一套完全不同的“流式专用 API”、图例 5‑10 将新数据从离散流添加到无边界表 和 图例 5‑11 展示了这一过程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随着输入流不断到达，结果表也会持续变化。Structured Streaming 通过不同的输出模式，控制“每次触发后究竟写出哪些结果”。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适合控制台调试或小规模聚合结果展示。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适合追加型结果不会被后续修改的场景。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对于包含聚合或状态更新的查询，它通常比 complete 更节省输出成本。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先创建 SparkSession 作为统一入口。只要把这一步的输入、输出和作用说清楚，后面的内容就容易接上。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工作机制：图示（1）。讲解时先指出图里最值得看的结构、趋势或对比项，再说明它和正文结论是怎么对应上的。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每次触发到来时，新数据会被追加到输入表中，增量执行逻辑会更新结果表。随后，引擎再把结果表中新产生或发生变化的部分写入外部接收器。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对于很多流处理场景，我们关心的是“事件什么时候发生”，而不是“系统什么时候看到它”。例如监测物联网设备、天气站或交易流水时，网络链路质量和上报延迟都可能让事件乱序到达。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Structured Streaming 之所以强调事件时间，就是为了让开发者把时间语义显式写进查询里。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每个时间窗口都像一个特殊的分组键，一条记录可能同时属于多个滑动窗口，因此可以自然表达“过去 10 分钟、每 5 分钟滑动一次”这类统计需求。对开发者来说，这和按普通维度列做 groupBy 的思路是连续的，只是分组键从业务字段变成了时间窗口。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只要某个旧窗口的状态还被保留，引擎就可以在迟到事件到达时继续修正它。问题在于，状态不能无限期保留，否则内存与状态存储会持续膨胀。水位线的作用，就是告诉引擎“可以接受多晚到的数据”，这样就在正确性与资源占用之间做出明确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滑动事件时间窗口上的聚合，本质上仍然是在做 groupBy，只是分组键里多了一列“时间窗口”。比如我们把代码 5‑19 改成“统计单词在最近 10 分钟窗口中的出现次数，并每 5 分钟更新一次”，那么窗口 [12:00,12:10)、[12:05,12:15)、[12:10,12:20) 就会像普通分组键一样维护各自的聚合结果。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所以在代码里通常直接组合 groupBy() 与 window() 来表达（见代码 5‑26）。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滑动事件时间窗口上的聚合，本质上仍然是在做 groupBy，只是分组键里多了一列“时间窗口”。比如我们把代码 5‑19 改成“统计单词在最近 10 分钟窗口中的出现次数，并每 5 分钟更新一次”，那么窗口 [12:00,12:10)、[12:05,12:15)、[12:10,12:20) 就会像普通分组键一样维护各自的聚合结果。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现在考虑迟到事件的情况。假设流处理程序在 12:11 收到了一条事件时间为 12:04 的记录，那么正确的做法不是把它算进 12:11 所在的处理时刻，而是回到 12:00-12:10 这个事件时间窗口里更新旧结果。Structured Streaming 正是通过保留窗口状态，来支持这种“按业务时间回补”的计算方式，如图例 5‑13 所示。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 结构化流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本节开始进入本章推荐主线</a:t>
            </a:r>
          </a:p>
          <a:p>
            <a:pPr lvl="0"/>
            <a:r>
              <a:rPr/>
              <a:t>Structured Streaming 是生产系统的默认选择</a:t>
            </a:r>
          </a:p>
          <a:p>
            <a:pPr lvl="0"/>
            <a:r>
              <a:rPr/>
              <a:t>当场景需要时，可以在引擎能力和语义约束允许的范围内选择更低延迟的处理方式</a:t>
            </a:r>
          </a:p>
          <a:p>
            <a:pPr lvl="0"/>
            <a:r>
              <a:rPr/>
              <a:t>把它放回一个常见业务链路里理解会更直观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 结构化流：学习路线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结构化流</a:t>
            </a:r>
          </a:p>
          <a:p>
            <a:pPr lvl="0"/>
            <a:r>
              <a:rPr/>
              <a:t>一个例子</a:t>
            </a:r>
          </a:p>
          <a:p>
            <a:pPr lvl="0"/>
            <a:r>
              <a:rPr/>
              <a:t>工作机制</a:t>
            </a:r>
          </a:p>
          <a:p>
            <a:pPr lvl="0"/>
            <a:r>
              <a:rPr/>
              <a:t>窗口操作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这个例子本身很简单，它足够展示结构化流的基本组织方式</a:t>
            </a:r>
          </a:p>
          <a:p>
            <a:pPr lvl="0"/>
            <a:r>
              <a:rPr/>
              <a:t>代码 5‑19</a:t>
            </a:r>
          </a:p>
          <a:p>
            <a:pPr lvl="0"/>
            <a:r>
              <a:rPr/>
              <a:t>创建一个流式 DataFrame</a:t>
            </a:r>
          </a:p>
          <a:p>
            <a:pPr lvl="0"/>
            <a:r>
              <a:rPr/>
              <a:t>这里的 lines 可以理解为一张持续追加的无界表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query 是一个 StreamingQuery 句柄</a:t>
            </a:r>
          </a:p>
          <a:p>
            <a:pPr lvl="0"/>
            <a:r>
              <a:rPr/>
              <a:t>代码 5‑20</a:t>
            </a:r>
          </a:p>
          <a:p>
            <a:pPr lvl="0"/>
            <a:r>
              <a:rPr/>
              <a:t>命令中的 spark 是第一章介绍的 Docker 容器名</a:t>
            </a:r>
          </a:p>
          <a:p>
            <a:pPr lvl="0"/>
            <a:r>
              <a:rPr/>
              <a:t>代码 5‑21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functions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\_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SparkSession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builder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"StructuredNetworkWordCount"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getOrCreate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implicits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\_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flatMap 把一条记录展开成多个元素</a:t>
            </a:r>
          </a:p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"socket"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"host"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"localhost"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"port"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9999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load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as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].</a:t>
            </a:r>
            <a:r>
              <a:rPr>
                <a:solidFill>
                  <a:srgbClr val="06287E"/>
                </a:solidFill>
                <a:latin typeface="Courier"/>
              </a:rPr>
              <a:t>flatMap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这里的 lines 可以理解为一张持续追加的无界表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query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wordCounts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writeStream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outputMode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"complete"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"console"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query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awaitTermination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执行上述代码后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exec </a:t>
            </a:r>
            <a:r>
              <a:rPr>
                <a:solidFill>
                  <a:srgbClr val="7D9029"/>
                </a:solidFill>
                <a:latin typeface="Courier"/>
              </a:rPr>
              <a:t>-it</a:t>
            </a:r>
            <a:r>
              <a:rPr>
                <a:latin typeface="Courier"/>
              </a:rPr>
              <a:t> spark /bin/bash</a:t>
            </a:r>
            <a:br/>
            <a:r>
              <a:rPr>
                <a:latin typeface="Courier"/>
              </a:rPr>
              <a:t>root@48feaa001420:~# { while :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Apache Spark"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sleep</a:t>
            </a:r>
            <a:r>
              <a:rPr>
                <a:latin typeface="Courier"/>
              </a:rPr>
              <a:t> 0.05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done;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netcat </a:t>
            </a:r>
            <a:r>
              <a:rPr>
                <a:solidFill>
                  <a:srgbClr val="7D9029"/>
                </a:solidFill>
                <a:latin typeface="Courier"/>
              </a:rPr>
              <a:t>-l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9999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spark-submit </a:t>
            </a:r>
            <a:r>
              <a:rPr>
                <a:solidFill>
                  <a:srgbClr val="7D9029"/>
                </a:solidFill>
                <a:latin typeface="Courier"/>
              </a:rPr>
              <a:t>--class</a:t>
            </a:r>
            <a:r>
              <a:rPr>
                <a:latin typeface="Courier"/>
              </a:rPr>
              <a:t> StructuredNetworkWordCount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/data/application/simple-streaming/target/scala-2.13/simple-streaming_2.13-0.1.jar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localhost 9999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5.7.1 一个例子：代码片段（6/6）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Batch: 0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-------------------------------------------
+-----+-----+
|value|count|
+-----+-----+
+-----+-----+
-------------------------------------------
Batch: 1
-------------------------------------------
+------+-----+
| value|count|
+------+-----+
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开发者不需要先学习一套完全不同的“流式专用 API”</a:t>
            </a:r>
          </a:p>
          <a:p>
            <a:pPr lvl="0"/>
            <a:r>
              <a:rPr/>
              <a:t>图例 5‑10 将新数据从离散流添加到无边界表</a:t>
            </a:r>
          </a:p>
          <a:p>
            <a:pPr lvl="0"/>
            <a:r>
              <a:rPr/>
              <a:t>图例 5‑11 展示了这一过程</a:t>
            </a:r>
          </a:p>
          <a:p>
            <a:pPr lvl="0"/>
            <a:r>
              <a:rPr/>
              <a:t>图例 5‑11 在无边界表上计算结果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最常见的模式包括 complete、append 和 update</a:t>
            </a:r>
          </a:p>
          <a:p>
            <a:pPr lvl="0"/>
            <a:r>
              <a:rPr/>
              <a:t>（1）完全模式（complete）表示每次都把整个结果表重新写出</a:t>
            </a:r>
          </a:p>
          <a:p>
            <a:pPr lvl="0"/>
            <a:r>
              <a:rPr/>
              <a:t>（2）追加模式（append）表示只写出自上次触发以来新增的结果行</a:t>
            </a:r>
          </a:p>
          <a:p>
            <a:pPr lvl="0"/>
            <a:r>
              <a:rPr/>
              <a:t>（3）更新模式（update）表示只写出自上次触发以来被更新过的结果行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先创建 SparkSession 作为统一入口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SparkSession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SparkSession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builder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"StreamProcessing"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"local[*]"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getOrCreate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 spark-shell 中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fileStream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"json"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schema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schema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"mode"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"DROPMALFORMED"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load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"/tmp/datasrc"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timestamp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highTempSensors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sensorStream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"deviceId"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"sensorType"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"sensorType"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"temperature"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threshold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avgBySensorTypeOverTime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sensorStream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"sensorType"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"5 minutes"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 minute"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"sensorType"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agg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avgBySensorTypeOverTime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sensorStream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"sensorType"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 minutes"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 minute"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$</a:t>
            </a:r>
            <a:r>
              <a:rPr>
                <a:solidFill>
                  <a:srgbClr val="4070A0"/>
                </a:solidFill>
                <a:latin typeface="Courier"/>
              </a:rPr>
              <a:t>"sensorType"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从 API 角度看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query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writeStream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"json"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queryName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"json-writer"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outputMode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"append"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"path"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"/target/dir"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"checkpointLocation"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"/checkpoint/dir"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trigger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ProcessingTime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"5 seconds"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工作机制：图示（1）</a:t>
            </a:r>
          </a:p>
        </p:txBody>
      </p:sp>
      <p:pic>
        <p:nvPicPr>
          <p:cNvPr descr="../../md/media/05_stream_processing/media/image1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09800" y="1816100"/>
            <a:ext cx="7772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5.7.2 工作机制：图示（2）</a:t>
            </a:r>
          </a:p>
        </p:txBody>
      </p:sp>
      <p:pic>
        <p:nvPicPr>
          <p:cNvPr descr="../../md/media/05_stream_processing/media/image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51200" y="1816100"/>
            <a:ext cx="56769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事件时间是事件在业务世界中真正发生的时间，而不是 Spark 收到它的时间</a:t>
            </a:r>
          </a:p>
          <a:p>
            <a:pPr lvl="0"/>
            <a:r>
              <a:rPr/>
              <a:t>如果只按处理时间统计，结果就会偏离业务事实</a:t>
            </a:r>
          </a:p>
          <a:p>
            <a:pPr lvl="0"/>
            <a:r>
              <a:rPr/>
              <a:t>一旦把事件时间作为显式列来处理，窗口聚合就可以被理解为“按时间区间分组”</a:t>
            </a:r>
          </a:p>
          <a:p>
            <a:pPr lvl="0"/>
            <a:r>
              <a:rPr/>
              <a:t>这个模型还天然支持迟到数据处理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结果表中的索引不再只是“单词”，而是“单词 + 事件时间窗口”这组联合键</a:t>
            </a:r>
          </a:p>
          <a:p>
            <a:pPr lvl="0"/>
            <a:r>
              <a:rPr/>
              <a:t>图例 5‑12 基于窗口操作的分组聚合</a:t>
            </a:r>
          </a:p>
          <a:p>
            <a:pPr lvl="0"/>
            <a:r>
              <a:rPr/>
              <a:t>由于窗口化聚合和普通分组的思路是一致的</a:t>
            </a:r>
          </a:p>
          <a:p>
            <a:pPr lvl="0"/>
            <a:r>
              <a:rPr/>
              <a:t>代码 5‑29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按业务键把相关记录汇到同一组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Split the lines into words, retaining timestamps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as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)].</a:t>
            </a:r>
            <a:r>
              <a:rPr>
                <a:latin typeface="Courier"/>
              </a:rPr>
              <a:t>flatMap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line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Group the data by window and word and compute the count of each group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windowedCounts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windowDuration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slideDuration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$</a:t>
            </a:r>
            <a:r>
              <a:rPr>
                <a:solidFill>
                  <a:srgbClr val="4070A0"/>
                </a:solidFill>
                <a:latin typeface="Courier"/>
              </a:rPr>
              <a:t>"word"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orderBy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"window"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在虚拟实验环境中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: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"Hello Apache Spark"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sleep</a:t>
            </a:r>
            <a:r>
              <a:rPr>
                <a:latin typeface="Courier"/>
              </a:rPr>
              <a:t> 0.05</a:t>
            </a:r>
            <a:r>
              <a:rPr b="1">
                <a:solidFill>
                  <a:srgbClr val="007020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done;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netcat </a:t>
            </a:r>
            <a:r>
              <a:rPr>
                <a:solidFill>
                  <a:srgbClr val="7D9029"/>
                </a:solidFill>
                <a:latin typeface="Courier"/>
              </a:rPr>
              <a:t>-l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9999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spark-submit </a:t>
            </a:r>
            <a:r>
              <a:rPr>
                <a:solidFill>
                  <a:srgbClr val="7D9029"/>
                </a:solidFill>
                <a:latin typeface="Courier"/>
              </a:rPr>
              <a:t>--class</a:t>
            </a:r>
            <a:r>
              <a:rPr>
                <a:latin typeface="Courier"/>
              </a:rPr>
              <a:t> StructuredNetworkWordCountWindowed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/data/application/simple-streaming/target/scala-2.13/simple-streaming_2.13-0.1.jar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localhost 9999 10 5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这时</a:t>
            </a:r>
          </a:p>
          <a:p>
            <a:pPr lvl="0" indent="0">
              <a:buNone/>
            </a:pPr>
            <a:r>
              <a:rPr>
                <a:latin typeface="Courier"/>
              </a:rPr>
              <a:t>-------------------------------------------
Batch: 0
-------------------------------------------
+------+----+-----+
|window|word|count|
+------+----+-----+
+------+----+-----+
-------------------------------------------
Batch: 1
-------------------------------------------
+------------------------------------------+------+-----+
// ...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按业务键把相关记录汇到同一组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Split the lines into words, retaining timestamps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as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Timestamp</a:t>
            </a:r>
            <a:r>
              <a:rPr>
                <a:solidFill>
                  <a:srgbClr val="666666"/>
                </a:solidFill>
                <a:latin typeface="Courier"/>
              </a:rPr>
              <a:t>)].</a:t>
            </a:r>
            <a:r>
              <a:rPr>
                <a:latin typeface="Courier"/>
              </a:rPr>
              <a:t>flatMap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line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"word"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Group the data by window and word and compute the count of each group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windowedCounts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withWatermark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delayDuration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"timestamp"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windowDuration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slideDuration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$</a:t>
            </a:r>
            <a:r>
              <a:rPr>
                <a:solidFill>
                  <a:srgbClr val="4070A0"/>
                </a:solidFill>
                <a:latin typeface="Courier"/>
              </a:rPr>
              <a:t>"word"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spark-submit </a:t>
            </a:r>
            <a:r>
              <a:rPr>
                <a:solidFill>
                  <a:srgbClr val="7D9029"/>
                </a:solidFill>
                <a:latin typeface="Courier"/>
              </a:rPr>
              <a:t>--class</a:t>
            </a:r>
            <a:r>
              <a:rPr>
                <a:latin typeface="Courier"/>
              </a:rPr>
              <a:t> StructuredNetworkWordCountWindowedWaterMark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/data/application/simple-streaming/target/scala-2.13/simple-streaming_2.13-0.1.jar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localhost 9999 10 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窗口操作：图示（1）</a:t>
            </a:r>
          </a:p>
        </p:txBody>
      </p:sp>
      <p:pic>
        <p:nvPicPr>
          <p:cNvPr descr="../../md/media/05_stream_processing/media/image1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095500" y="1816100"/>
            <a:ext cx="8001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5.7.3 窗口操作：图示（2）</a:t>
            </a:r>
          </a:p>
        </p:txBody>
      </p:sp>
      <p:pic>
        <p:nvPicPr>
          <p:cNvPr descr="../../md/media/05_stream_processing/media/image1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68500" y="1816100"/>
            <a:ext cx="8267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2026-04-05T02:24:53Z</dcterms:created>
  <dcterms:modified xsi:type="dcterms:W3CDTF">2026-04-05T02:24:53Z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