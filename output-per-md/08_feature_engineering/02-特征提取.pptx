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tiff" ContentType="image/tiff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6" Type="http://schemas.openxmlformats.org/officeDocument/2006/relationships/theme" Target="theme/theme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特征提取可以理解为“把原始输入变成模型真正能消费的数值表示”。原始输入可能是文本、类别、时间、地理位置，也可能已经是向量或统计字段。而提取的目标，是让这些输入以更稳定、更紧凑、更适合后续训练的形式进入模型。 接下来会依次看 特征提取、TF-IDF，以及 Word2Vec，后面的实现和案例都会沿着这条线继续展开。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8.2 特征提取 的主线串起来，重点包括 特征提取、TF-IDF、Word2Vec，以及 CountVectorizer。先知道每一步要解决什么问题，后面的细节就更容易跟住。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TF-IDF（Term Frequency-Inverse Document Frequency）是最经典的文本特征表示方法之一。它的直觉很简单：某个词在当前文档里出现得越多，通常越重要。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如果这个词在整个语料库里几乎到处都出现，它的区分度就会下降。所以，TF-IDF同时考虑“局部频率”和“全局稀有度”，常被用作文本检索、分类和聚类的基础特征。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用 D 表示整个语料库，那么 TF(t,d) 表示词条 t 在文档 d 中的出现次数，而 DF(t,D) 表示词条 t 在语料库 D 中出现过的文档数。IDF用于降低高频通用词的权重。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其中 |D| 是语料库中文档总数。实际实现里通常会在分子分母上做平滑处理，以避免除零并让数值更稳定。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、但在整个语料库中并不常见，就会得到较高的TF-IDF权重。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如果用 t 表示一个词条，用 d 表示一个文档，用 D 表示整个语料库，那么 TF(t,d) 表示词条 t 在文档 d 中的出现次数，而 DF(t,D) 表示词条 t 在语料库 D 中出现过的文档数。IDF用于降低高频通用词的权重。公式 8‑1。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其中 |D| 是语料库中文档总数。实际实现里通常会在分子分母上做平滑处理，以避免除零并让数值更稳定。最终，TF-IDF 的值就是 TF 与 IDF 的乘积。公式 8‑2。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而是学习“词与词在上下文里如何共同出现”。训练完成后，语义或用法相近的词，往往会落在向量空间里相近的位置。这类分布式表示常被用来支持文本分类、相似度计算、召回与推荐等任务。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直观地说，它试图用中心词去预测上下文词，这样就把“经常出现在相似语境里的词”压到相近的向量区域。给定训练词序列 w 下标 1,w 下标 2, 依次类推,w 下标 T ，Skip-Gram 的目标可以写成。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 Spark 里，Word2Vec 是一个估算器：它读取分词后的序列，训练出 Word2VecModel，再把每个词映射到固定维度的向量。默认做法是把文档中各词向量做聚合，得到文档级表示。这样一来，后面的分类器、聚类器或相似度计算模块就可以直接消费这些向量特征。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直观地说，它试图用中心词去预测上下文词，这样就把“经常出现在相似语境里的词”压到相近的向量区域。给定训练词序列 w 下标 1,w 下标 2, 依次类推,w 下标 T ，Skip-Gram 的目标可以写成。公式 8‑3。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其中 k 是训练窗口大小。可以把 Skip-Gram 理解成“给定中心词，预测窗口内上下文词”的任务。形式化地说，每个词会关联到若干向量参数。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补充说明：Softmax 函数常见于多分类模型。可以把它理解成“把一组线性打分转换成一组可比较的概率”，因此它不只出现在 Word2Vec，也常见于多项逻辑回归、神经网络等模型。给定样本向量 x 和第 j 个类别对应的参数向量 w ，其预测概率可以写成。公式 8‑5。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直观理解：Word2Vec 常见的两种训练思路是 Skip-Gram 和 CBOW。可以把它们简单理解成两个方向相反的任务：Skip-Gram 用中心词预测上下文，CBOW 用上下文预测中心词。这里保留这张图，主要是帮助读者建立直观印象。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CountVectorizerModel 用来把文档集合转换成词频向量。和 HashingTF 相比，它会先根据训练语料构建显式词汇表，因此输出结果更可解释，也更适合需要稳定特征字典的场景。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在工程实践里，CountVectorizer 特别适合那些需要稳定词表的场景，例如离线训练和在线推理都希望共享同一套特征字典。它会先从训练语料中学出一个显式词表，再把每条文本映射到这套固定坐标系里。minDF 等参数则用来过滤过于稀疏的词，必要时也可以把“出现次数”改成“是否出现”的二值表示。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CountVectorizer 在这组数据上拟合后，会保留 (a, b, c) 这样的高频词表，并把每条文本转换成同一特征空间里的词频向量。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代码 8‑6、向量里的每个位置都表示相应词汇在文档中出现了多少次 和 代码 8‑7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.tiff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 特征提取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特征提取可以理解为“把原始输入变成模型真正能消费的数值表示”</a:t>
            </a:r>
          </a:p>
          <a:p>
            <a:pPr lvl="0"/>
            <a:r>
              <a:rPr/>
              <a:t>提取的目标，是让这些输入以更稳定、更紧凑、更适合后续训练的形式进入模型</a:t>
            </a:r>
          </a:p>
          <a:p>
            <a:pPr lvl="0"/>
            <a:r>
              <a:rPr/>
              <a:t>如果只看名字</a:t>
            </a:r>
          </a:p>
          <a:p>
            <a:pPr lvl="0"/>
            <a:r>
              <a:rPr/>
              <a:t>常见于文本分类和检索基线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 特征提取：学习路线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特征提取</a:t>
            </a:r>
          </a:p>
          <a:p>
            <a:pPr lvl="0"/>
            <a:r>
              <a:rPr/>
              <a:t>TF-IDF</a:t>
            </a:r>
          </a:p>
          <a:p>
            <a:pPr lvl="0"/>
            <a:r>
              <a:rPr/>
              <a:t>Word2Vec</a:t>
            </a:r>
          </a:p>
          <a:p>
            <a:pPr lvl="0"/>
            <a:r>
              <a:rPr/>
              <a:t>CountVectorizer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8.2.1 TF-IDF（1/2）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它的直觉很简单：通常越重要</a:t>
            </a:r>
          </a:p>
          <a:p>
            <a:pPr lvl="0"/>
            <a:r>
              <a:rPr/>
              <a:t>TF-IDF同时考虑“局部频率”和“全局稀有度”</a:t>
            </a:r>
          </a:p>
          <a:p>
            <a:pPr lvl="0"/>
            <a:r>
              <a:rPr/>
              <a:t>如果用 t 表示一个词条，用 d 表示一个文档</a:t>
            </a:r>
          </a:p>
          <a:p>
            <a:pPr lvl="0"/>
            <a:r>
              <a:rPr/>
              <a:t>公式 8‑1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8.2.1 TF-IDF（2/2）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最终，TF-IDF 的值就是 TF 与 IDF 的乘积</a:t>
            </a:r>
          </a:p>
          <a:p>
            <a:pPr lvl="0"/>
            <a:r>
              <a:rPr/>
              <a:t>公式 8‑2</a:t>
            </a:r>
          </a:p>
          <a:p>
            <a:pPr lvl="0"/>
            <a:r>
              <a:rPr/>
              <a:t>一个词如果在某篇文档中出现很多次</a:t>
            </a:r>
          </a:p>
          <a:p>
            <a:pPr lvl="0"/>
            <a:r>
              <a:rPr/>
              <a:t>那些几乎所有文档都会出现的通用词，权重会被压低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8.2.1 TF-IDF：代码片段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下面这段代码演示的是最常见的一条文本特征提取链路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HashingTF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Tokenizer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HashingTF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Tokenizer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sentenceData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 I heard about Spark"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 wish Java could use case classes"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"Logistic regression models are neat"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"label"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"sentence"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sentenceData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sentence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tokenizer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Tokenizer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"sentence"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TF-IDF：公式 8‑1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如果用 t 表示一个词条，用 d 表示一个文档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log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num>
                        <m:den>
                          <m:r>
                            <m:t>D</m:t>
                          </m:r>
                          <m:r>
                            <m:t>F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TF-IDF：最终，TF-IDF 的值就是 TF 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TF-IDF 的值就是 TF 与 IDF 的乘积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I</m:t>
                      </m:r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I</m:t>
                      </m:r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8.2.2 Word2Vec（1/2）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Word2Vec 的目标不是统计某个词出现了多少次</a:t>
            </a:r>
          </a:p>
          <a:p>
            <a:pPr lvl="0"/>
            <a:r>
              <a:rPr/>
              <a:t>Spark 中的 Word2Vec 采用 Skip-Gram 思路</a:t>
            </a:r>
          </a:p>
          <a:p>
            <a:pPr lvl="0"/>
            <a:r>
              <a:rPr/>
              <a:t>公式 8‑3</a:t>
            </a:r>
          </a:p>
          <a:p>
            <a:pPr lvl="0"/>
            <a:r>
              <a:rPr/>
              <a:t>公式 8‑4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8.2.2 Word2Vec（2/2）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Word2Vec 是一个估算器</a:t>
            </a:r>
          </a:p>
          <a:p>
            <a:pPr lvl="0"/>
            <a:r>
              <a:rPr/>
              <a:t>代码 8‑2</a:t>
            </a:r>
          </a:p>
          <a:p>
            <a:pPr lvl="0"/>
            <a:r>
              <a:rPr/>
              <a:t>输入数据，每一行代表一句话或文档的词袋</a:t>
            </a:r>
          </a:p>
          <a:p>
            <a:pPr lvl="0"/>
            <a:r>
              <a:rPr/>
              <a:t>代码 8‑3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8.2.2 Word2Vec：代码片段（1/3）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 Spark 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Word2Vec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Word2Vec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8.2.2 Word2Vec：代码片段（2/3）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documentDF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"Hi I heard about Spark"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 wish Java could use case classes"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"Logistic regression models are neat"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Tuple1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apply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documentDF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string\</a:t>
            </a:r>
            <a:r>
              <a:rPr>
                <a:solidFill>
                  <a:srgbClr val="666666"/>
                </a:solidFill>
                <a:latin typeface="Courier"/>
              </a:rPr>
              <a:t>&gt;]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documentDF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text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latin typeface="Courier"/>
              </a:rPr>
              <a:t>Hi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heard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ab</a:t>
            </a:r>
            <a:r>
              <a:rPr>
                <a:solidFill>
                  <a:srgbClr val="666666"/>
                </a:solidFill>
                <a:latin typeface="Courier"/>
              </a:rPr>
              <a:t>...|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8.2.2 Word2Vec：代码片段（3/3）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word2Vec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Word2Vec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"text"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"result"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setVectorSize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setMinCount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word2Vec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Word2Vec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w2v_58b619bf7883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word2Vec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documentDF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Word2VecModel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w2v_58b619bf7883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documentDF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string\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latin typeface="Courier"/>
              </a:rPr>
              <a:t>foreach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solidFill>
                  <a:srgbClr val="4070A0"/>
                </a:solidFill>
                <a:latin typeface="Courier"/>
              </a:rPr>
              <a:t>Text: [</a:t>
            </a:r>
            <a:r>
              <a:rPr>
                <a:solidFill>
                  <a:srgbClr val="BB6688"/>
                </a:solidFill>
                <a:latin typeface="Courier"/>
              </a:rPr>
              <a:t>${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mkString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 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solidFill>
                  <a:srgbClr val="BB6688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] =&gt; \nVector: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Word2Vec：Skip-Gram 的目标可以写成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r>
                            <m:t>​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k</m:t>
                          </m:r>
                        </m:sub>
                        <m:sup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k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Word2Vec：Softmax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exp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Sup>
                            <m:e>
                              <m:r>
                                <m:t>u</m:t>
                              </m:r>
                            </m:e>
                            <m:sub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V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exp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Sup>
                                <m:e>
                                  <m:r>
                                    <m:t>u</m:t>
                                  </m:r>
                                </m:e>
                                <m:sub>
                                  <m:r>
                                    <m:t>l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  <m:sSub>
                                <m:e>
                                  <m:r>
                                    <m:t>v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m:t>w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Word2Vec：Softmax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rPr>
                          <m:sty m:val="bi"/>
                        </m:rP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sSup>
                                <m:e>
                                  <m:r>
                                    <m:rPr>
                                      <m:sty m:val="bi"/>
                                    </m:rP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cr m:val="sans-serif"/>
                                      <m:sty m:val="p"/>
                                    </m:rPr>
                                    <m:t>T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m:t>w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K</m:t>
                              </m:r>
                            </m:sup>
                            <m:e>
                              <m:sSup>
                                <m:e>
                                  <m:r>
                                    <m:t>e</m:t>
                                  </m:r>
                                </m:e>
                                <m:sup>
                                  <m:sSup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m:t>x</m:t>
                                      </m:r>
                                    </m:e>
                                    <m:sup>
                                      <m:r>
                                        <m:rPr>
                                          <m:scr m:val="sans-serif"/>
                                          <m:sty m:val="p"/>
                                        </m:rPr>
                                        <m:t>T</m:t>
                                      </m:r>
                                    </m:sup>
                                  </m:sSup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m:t>w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8.2.2 Word2Vec：图示（4）</a:t>
            </a:r>
          </a:p>
        </p:txBody>
      </p:sp>
      <p:pic>
        <p:nvPicPr>
          <p:cNvPr descr="../../md/media/08_feature_engineering/media/image1.tiff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400300" y="1816100"/>
            <a:ext cx="7391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8.2.3 CountVectorizer（1/2）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CountVectorizer 和</a:t>
            </a:r>
          </a:p>
          <a:p>
            <a:pPr lvl="0"/>
            <a:r>
              <a:rPr/>
              <a:t>CountVectorizer 特别适合那些需要稳定词表的场景</a:t>
            </a:r>
          </a:p>
          <a:p>
            <a:pPr lvl="0"/>
            <a:r>
              <a:rPr/>
              <a:t>代码 8‑5</a:t>
            </a:r>
          </a:p>
          <a:p>
            <a:pPr lvl="0"/>
            <a:r>
              <a:rPr/>
              <a:t>这里每一行都是一个 Array[String] 形式的分词结果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8.2.3 CountVectorizer（2/2）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8‑6</a:t>
            </a:r>
          </a:p>
          <a:p>
            <a:pPr lvl="0"/>
            <a:r>
              <a:rPr/>
              <a:t>向量里的每个位置都表示相应词汇在文档中出现了多少次</a:t>
            </a:r>
          </a:p>
          <a:p>
            <a:pPr lvl="0"/>
            <a:r>
              <a:rPr/>
              <a:t>代码 8‑7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8.2.3 CountVectorizer（1/3）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在工程实践里</a:t>
            </a:r>
          </a:p>
          <a:p>
            <a:pPr lvl="0" indent="0">
              <a:buNone/>
            </a:pPr>
            <a:r>
              <a:rPr>
                <a:latin typeface="Courier"/>
              </a:rPr>
              <a:t>id | texts
----|----------
0 | Array("a", "b", "c")
1 | Array("a", "b", "b", "c", "a")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8.2.3 CountVectorizer（2/3）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会保留 (a, b, c) 这样的高频词表</a:t>
            </a:r>
          </a:p>
          <a:p>
            <a:pPr lvl="0" indent="0">
              <a:buNone/>
            </a:pPr>
            <a:r>
              <a:rPr>
                <a:latin typeface="Courier"/>
              </a:rPr>
              <a:t>id | texts | vector
----|---------------------------------|---------------
0 | Array("a", "b", "c") | (3,[0,1,2],[1.0,1.0,1.0])
1 | Array("a", "b", "b", "c", "a") | (3,[0,1,2],[2.0,2.0,1.0])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8.2.3 CountVectorizer（3/3）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CountVectorizer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CountVectorizerModel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CountVectorizer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CountVectorizerModel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createDataFrame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string\</a:t>
            </a:r>
            <a:r>
              <a:rPr>
                <a:solidFill>
                  <a:srgbClr val="666666"/>
                </a:solidFill>
                <a:latin typeface="Courier"/>
              </a:rPr>
              <a:t>&gt;]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cvModel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CountVectorizerModel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CountVectorizer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setInputCol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setOutputCol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"features"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setVocabSize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setMinDF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2026-04-05T02:25:35Z</dcterms:created>
  <dcterms:modified xsi:type="dcterms:W3CDTF">2026-04-05T02:25:35Z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