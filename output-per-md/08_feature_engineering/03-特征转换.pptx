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0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notesMaster" Target="notesMasters/notesMaster1.xml" /><Relationship Id="rId11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09" Type="http://schemas.openxmlformats.org/officeDocument/2006/relationships/theme" Target="theme/theme1.xml" /><Relationship Id="rId108" Type="http://schemas.openxmlformats.org/officeDocument/2006/relationships/viewProps" Target="viewProps.xml" /><Relationship Id="rId10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?>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?>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?>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?>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?><Relationships xmlns="http://schemas.openxmlformats.org/package/2006/relationships"><Relationship Id="rId2" Type="http://schemas.openxmlformats.org/officeDocument/2006/relationships/slide" Target="../slides/slide55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?>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?>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_rels/notesSlide58.xml.rels><?xml version="1.0" encoding="UTF-8"?><Relationships xmlns="http://schemas.openxmlformats.org/package/2006/relationships"><Relationship Id="rId2" Type="http://schemas.openxmlformats.org/officeDocument/2006/relationships/slide" Target="../slides/slide58.xml" /><Relationship Id="rId1" Type="http://schemas.openxmlformats.org/officeDocument/2006/relationships/notesMaster" Target="../notesMasters/notesMaster1.xml" /></Relationships>
</file>

<file path=ppt/notesSlides/_rels/notesSlide59.xml.rels><?xml version="1.0" encoding="UTF-8"?>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_rels/notesSlide60.xml.rels><?xml version="1.0" encoding="UTF-8"?><Relationships xmlns="http://schemas.openxmlformats.org/package/2006/relationships"><Relationship Id="rId2" Type="http://schemas.openxmlformats.org/officeDocument/2006/relationships/slide" Target="../slides/slide60.xml" /><Relationship Id="rId1" Type="http://schemas.openxmlformats.org/officeDocument/2006/relationships/notesMaster" Target="../notesMasters/notesMaster1.xml" /></Relationships>
</file>

<file path=ppt/notesSlides/_rels/notesSlide61.xml.rels><?xml version="1.0" encoding="UTF-8"?><Relationships xmlns="http://schemas.openxmlformats.org/package/2006/relationships"><Relationship Id="rId2" Type="http://schemas.openxmlformats.org/officeDocument/2006/relationships/slide" Target="../slides/slide61.xml" /><Relationship Id="rId1" Type="http://schemas.openxmlformats.org/officeDocument/2006/relationships/notesMaster" Target="../notesMasters/notesMaster1.xml" /></Relationships>
</file>

<file path=ppt/notesSlides/_rels/notesSlide62.xml.rels><?xml version="1.0" encoding="UTF-8"?><Relationships xmlns="http://schemas.openxmlformats.org/package/2006/relationships"><Relationship Id="rId2" Type="http://schemas.openxmlformats.org/officeDocument/2006/relationships/slide" Target="../slides/slide62.xml" /><Relationship Id="rId1" Type="http://schemas.openxmlformats.org/officeDocument/2006/relationships/notesMaster" Target="../notesMasters/notesMaster1.xml" /></Relationships>
</file>

<file path=ppt/notesSlides/_rels/notesSlide63.xml.rels><?xml version="1.0" encoding="UTF-8"?><Relationships xmlns="http://schemas.openxmlformats.org/package/2006/relationships"><Relationship Id="rId2" Type="http://schemas.openxmlformats.org/officeDocument/2006/relationships/slide" Target="../slides/slide63.xml" /><Relationship Id="rId1" Type="http://schemas.openxmlformats.org/officeDocument/2006/relationships/notesMaster" Target="../notesMasters/notesMaster1.xml" /></Relationships>
</file>

<file path=ppt/notesSlides/_rels/notesSlide64.xml.rels><?xml version="1.0" encoding="UTF-8"?><Relationships xmlns="http://schemas.openxmlformats.org/package/2006/relationships"><Relationship Id="rId2" Type="http://schemas.openxmlformats.org/officeDocument/2006/relationships/slide" Target="../slides/slide64.xml" /><Relationship Id="rId1" Type="http://schemas.openxmlformats.org/officeDocument/2006/relationships/notesMaster" Target="../notesMasters/notesMaster1.xml" /></Relationships>
</file>

<file path=ppt/notesSlides/_rels/notesSlide65.xml.rels><?xml version="1.0" encoding="UTF-8"?>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_rels/notesSlide66.xml.rels><?xml version="1.0" encoding="UTF-8"?><Relationships xmlns="http://schemas.openxmlformats.org/package/2006/relationships"><Relationship Id="rId2" Type="http://schemas.openxmlformats.org/officeDocument/2006/relationships/slide" Target="../slides/slide66.xml" /><Relationship Id="rId1" Type="http://schemas.openxmlformats.org/officeDocument/2006/relationships/notesMaster" Target="../notesMasters/notesMaster1.xml" /></Relationships>
</file>

<file path=ppt/notesSlides/_rels/notesSlide67.xml.rels><?xml version="1.0" encoding="UTF-8"?><Relationships xmlns="http://schemas.openxmlformats.org/package/2006/relationships"><Relationship Id="rId2" Type="http://schemas.openxmlformats.org/officeDocument/2006/relationships/slide" Target="../slides/slide67.xml" /><Relationship Id="rId1" Type="http://schemas.openxmlformats.org/officeDocument/2006/relationships/notesMaster" Target="../notesMasters/notesMaster1.xml" /></Relationships>
</file>

<file path=ppt/notesSlides/_rels/notesSlide68.xml.rels><?xml version="1.0" encoding="UTF-8"?>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69.xml.rels><?xml version="1.0" encoding="UTF-8"?><Relationships xmlns="http://schemas.openxmlformats.org/package/2006/relationships"><Relationship Id="rId2" Type="http://schemas.openxmlformats.org/officeDocument/2006/relationships/slide" Target="../slides/slide69.xml" /><Relationship Id="rId1" Type="http://schemas.openxmlformats.org/officeDocument/2006/relationships/notesMaster" Target="../notesMasters/notesMaster1.xml" /></Relationships>
</file>

<file path=ppt/notesSlides/_rels/notesSlide70.xml.rels><?xml version="1.0" encoding="UTF-8"?>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_rels/notesSlide71.xml.rels><?xml version="1.0" encoding="UTF-8"?><Relationships xmlns="http://schemas.openxmlformats.org/package/2006/relationships"><Relationship Id="rId2" Type="http://schemas.openxmlformats.org/officeDocument/2006/relationships/slide" Target="../slides/slide71.xml" /><Relationship Id="rId1" Type="http://schemas.openxmlformats.org/officeDocument/2006/relationships/notesMaster" Target="../notesMasters/notesMaster1.xml" /></Relationships>
</file>

<file path=ppt/notesSlides/_rels/notesSlide72.xml.rels><?xml version="1.0" encoding="UTF-8"?><Relationships xmlns="http://schemas.openxmlformats.org/package/2006/relationships"><Relationship Id="rId2" Type="http://schemas.openxmlformats.org/officeDocument/2006/relationships/slide" Target="../slides/slide72.xml" /><Relationship Id="rId1" Type="http://schemas.openxmlformats.org/officeDocument/2006/relationships/notesMaster" Target="../notesMasters/notesMaster1.xml" /></Relationships>
</file>

<file path=ppt/notesSlides/_rels/notesSlide73.xml.rels><?xml version="1.0" encoding="UTF-8"?><Relationships xmlns="http://schemas.openxmlformats.org/package/2006/relationships"><Relationship Id="rId2" Type="http://schemas.openxmlformats.org/officeDocument/2006/relationships/slide" Target="../slides/slide73.xml" /><Relationship Id="rId1" Type="http://schemas.openxmlformats.org/officeDocument/2006/relationships/notesMaster" Target="../notesMasters/notesMaster1.xml" /></Relationships>
</file>

<file path=ppt/notesSlides/_rels/notesSlide74.xml.rels><?xml version="1.0" encoding="UTF-8"?>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75.xml.rels><?xml version="1.0" encoding="UTF-8"?><Relationships xmlns="http://schemas.openxmlformats.org/package/2006/relationships"><Relationship Id="rId2" Type="http://schemas.openxmlformats.org/officeDocument/2006/relationships/slide" Target="../slides/slide75.xml" /><Relationship Id="rId1" Type="http://schemas.openxmlformats.org/officeDocument/2006/relationships/notesMaster" Target="../notesMasters/notesMaster1.xml" /></Relationships>
</file>

<file path=ppt/notesSlides/_rels/notesSlide76.xml.rels><?xml version="1.0" encoding="UTF-8"?>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77.xml.rels><?xml version="1.0" encoding="UTF-8"?><Relationships xmlns="http://schemas.openxmlformats.org/package/2006/relationships"><Relationship Id="rId2" Type="http://schemas.openxmlformats.org/officeDocument/2006/relationships/slide" Target="../slides/slide77.xml" /><Relationship Id="rId1" Type="http://schemas.openxmlformats.org/officeDocument/2006/relationships/notesMaster" Target="../notesMasters/notesMaster1.xml" /></Relationships>
</file>

<file path=ppt/notesSlides/_rels/notesSlide78.xml.rels><?xml version="1.0" encoding="UTF-8"?><Relationships xmlns="http://schemas.openxmlformats.org/package/2006/relationships"><Relationship Id="rId2" Type="http://schemas.openxmlformats.org/officeDocument/2006/relationships/slide" Target="../slides/slide78.xml" /><Relationship Id="rId1" Type="http://schemas.openxmlformats.org/officeDocument/2006/relationships/notesMaster" Target="../notesMasters/notesMaster1.xml" /></Relationships>
</file>

<file path=ppt/notesSlides/_rels/notesSlide79.xml.rels><?xml version="1.0" encoding="UTF-8"?><Relationships xmlns="http://schemas.openxmlformats.org/package/2006/relationships"><Relationship Id="rId2" Type="http://schemas.openxmlformats.org/officeDocument/2006/relationships/slide" Target="../slides/slide79.xml" /><Relationship Id="rId1" Type="http://schemas.openxmlformats.org/officeDocument/2006/relationships/notesMaster" Target="../notesMasters/notesMaster1.xml" /></Relationships>
</file>

<file path=ppt/notesSlides/_rels/notesSlide80.xml.rels><?xml version="1.0" encoding="UTF-8"?><Relationships xmlns="http://schemas.openxmlformats.org/package/2006/relationships"><Relationship Id="rId2" Type="http://schemas.openxmlformats.org/officeDocument/2006/relationships/slide" Target="../slides/slide80.xml" /><Relationship Id="rId1" Type="http://schemas.openxmlformats.org/officeDocument/2006/relationships/notesMaster" Target="../notesMasters/notesMaster1.xml" /></Relationships>
</file>

<file path=ppt/notesSlides/_rels/notesSlide81.xml.rels><?xml version="1.0" encoding="UTF-8"?><Relationships xmlns="http://schemas.openxmlformats.org/package/2006/relationships"><Relationship Id="rId2" Type="http://schemas.openxmlformats.org/officeDocument/2006/relationships/slide" Target="../slides/slide81.xml" /><Relationship Id="rId1" Type="http://schemas.openxmlformats.org/officeDocument/2006/relationships/notesMaster" Target="../notesMasters/notesMaster1.xml" /></Relationships>
</file>

<file path=ppt/notesSlides/_rels/notesSlide82.xml.rels><?xml version="1.0" encoding="UTF-8"?><Relationships xmlns="http://schemas.openxmlformats.org/package/2006/relationships"><Relationship Id="rId2" Type="http://schemas.openxmlformats.org/officeDocument/2006/relationships/slide" Target="../slides/slide82.xml" /><Relationship Id="rId1" Type="http://schemas.openxmlformats.org/officeDocument/2006/relationships/notesMaster" Target="../notesMasters/notesMaster1.xml" /></Relationships>
</file>

<file path=ppt/notesSlides/_rels/notesSlide83.xml.rels><?xml version="1.0" encoding="UTF-8"?><Relationships xmlns="http://schemas.openxmlformats.org/package/2006/relationships"><Relationship Id="rId2" Type="http://schemas.openxmlformats.org/officeDocument/2006/relationships/slide" Target="../slides/slide83.xml" /><Relationship Id="rId1" Type="http://schemas.openxmlformats.org/officeDocument/2006/relationships/notesMaster" Target="../notesMasters/notesMaster1.xml" /></Relationships>
</file>

<file path=ppt/notesSlides/_rels/notesSlide84.xml.rels><?xml version="1.0" encoding="UTF-8"?><Relationships xmlns="http://schemas.openxmlformats.org/package/2006/relationships"><Relationship Id="rId2" Type="http://schemas.openxmlformats.org/officeDocument/2006/relationships/slide" Target="../slides/slide84.xml" /><Relationship Id="rId1" Type="http://schemas.openxmlformats.org/officeDocument/2006/relationships/notesMaster" Target="../notesMasters/notesMaster1.xml" /></Relationships>
</file>

<file path=ppt/notesSlides/_rels/notesSlide85.xml.rels><?xml version="1.0" encoding="UTF-8"?><Relationships xmlns="http://schemas.openxmlformats.org/package/2006/relationships"><Relationship Id="rId2" Type="http://schemas.openxmlformats.org/officeDocument/2006/relationships/slide" Target="../slides/slide85.xml" /><Relationship Id="rId1" Type="http://schemas.openxmlformats.org/officeDocument/2006/relationships/notesMaster" Target="../notesMasters/notesMaster1.xml" /></Relationships>
</file>

<file path=ppt/notesSlides/_rels/notesSlide86.xml.rels><?xml version="1.0" encoding="UTF-8"?><Relationships xmlns="http://schemas.openxmlformats.org/package/2006/relationships"><Relationship Id="rId2" Type="http://schemas.openxmlformats.org/officeDocument/2006/relationships/slide" Target="../slides/slide86.xml" /><Relationship Id="rId1" Type="http://schemas.openxmlformats.org/officeDocument/2006/relationships/notesMaster" Target="../notesMasters/notesMaster1.xml" /></Relationships>
</file>

<file path=ppt/notesSlides/_rels/notesSlide87.xml.rels><?xml version="1.0" encoding="UTF-8"?><Relationships xmlns="http://schemas.openxmlformats.org/package/2006/relationships"><Relationship Id="rId2" Type="http://schemas.openxmlformats.org/officeDocument/2006/relationships/slide" Target="../slides/slide87.xml" /><Relationship Id="rId1" Type="http://schemas.openxmlformats.org/officeDocument/2006/relationships/notesMaster" Target="../notesMasters/notesMaster1.xml" /></Relationships>
</file>

<file path=ppt/notesSlides/_rels/notesSlide88.xml.rels><?xml version="1.0" encoding="UTF-8"?><Relationships xmlns="http://schemas.openxmlformats.org/package/2006/relationships"><Relationship Id="rId2" Type="http://schemas.openxmlformats.org/officeDocument/2006/relationships/slide" Target="../slides/slide88.xml" /><Relationship Id="rId1" Type="http://schemas.openxmlformats.org/officeDocument/2006/relationships/notesMaster" Target="../notesMasters/notesMaster1.xml" /></Relationships>
</file>

<file path=ppt/notesSlides/_rels/notesSlide89.xml.rels><?xml version="1.0" encoding="UTF-8"?><Relationships xmlns="http://schemas.openxmlformats.org/package/2006/relationships"><Relationship Id="rId2" Type="http://schemas.openxmlformats.org/officeDocument/2006/relationships/slide" Target="../slides/slide89.xml" /><Relationship Id="rId1" Type="http://schemas.openxmlformats.org/officeDocument/2006/relationships/notesMaster" Target="../notesMasters/notesMaster1.xml" /></Relationships>
</file>

<file path=ppt/notesSlides/_rels/notesSlide90.xml.rels><?xml version="1.0" encoding="UTF-8"?><Relationships xmlns="http://schemas.openxmlformats.org/package/2006/relationships"><Relationship Id="rId2" Type="http://schemas.openxmlformats.org/officeDocument/2006/relationships/slide" Target="../slides/slide90.xml" /><Relationship Id="rId1" Type="http://schemas.openxmlformats.org/officeDocument/2006/relationships/notesMaster" Target="../notesMasters/notesMaster1.xml" /></Relationships>
</file>

<file path=ppt/notesSlides/_rels/notesSlide91.xml.rels><?xml version="1.0" encoding="UTF-8"?><Relationships xmlns="http://schemas.openxmlformats.org/package/2006/relationships"><Relationship Id="rId2" Type="http://schemas.openxmlformats.org/officeDocument/2006/relationships/slide" Target="../slides/slide91.xml" /><Relationship Id="rId1" Type="http://schemas.openxmlformats.org/officeDocument/2006/relationships/notesMaster" Target="../notesMasters/notesMaster1.xml" /></Relationships>
</file>

<file path=ppt/notesSlides/_rels/notesSlide92.xml.rels><?xml version="1.0" encoding="UTF-8"?><Relationships xmlns="http://schemas.openxmlformats.org/package/2006/relationships"><Relationship Id="rId2" Type="http://schemas.openxmlformats.org/officeDocument/2006/relationships/slide" Target="../slides/slide92.xml" /><Relationship Id="rId1" Type="http://schemas.openxmlformats.org/officeDocument/2006/relationships/notesMaster" Target="../notesMasters/notesMaster1.xml" /></Relationships>
</file>

<file path=ppt/notesSlides/_rels/notesSlide93.xml.rels><?xml version="1.0" encoding="UTF-8"?><Relationships xmlns="http://schemas.openxmlformats.org/package/2006/relationships"><Relationship Id="rId2" Type="http://schemas.openxmlformats.org/officeDocument/2006/relationships/slide" Target="../slides/slide93.xml" /><Relationship Id="rId1" Type="http://schemas.openxmlformats.org/officeDocument/2006/relationships/notesMaster" Target="../notesMasters/notesMaster1.xml" /></Relationships>
</file>

<file path=ppt/notesSlides/_rels/notesSlide94.xml.rels><?xml version="1.0" encoding="UTF-8"?><Relationships xmlns="http://schemas.openxmlformats.org/package/2006/relationships"><Relationship Id="rId2" Type="http://schemas.openxmlformats.org/officeDocument/2006/relationships/slide" Target="../slides/slide94.xml" /><Relationship Id="rId1" Type="http://schemas.openxmlformats.org/officeDocument/2006/relationships/notesMaster" Target="../notesMasters/notesMaster1.xml" /></Relationships>
</file>

<file path=ppt/notesSlides/_rels/notesSlide95.xml.rels><?xml version="1.0" encoding="UTF-8"?><Relationships xmlns="http://schemas.openxmlformats.org/package/2006/relationships"><Relationship Id="rId2" Type="http://schemas.openxmlformats.org/officeDocument/2006/relationships/slide" Target="../slides/slide95.xml" /><Relationship Id="rId1" Type="http://schemas.openxmlformats.org/officeDocument/2006/relationships/notesMaster" Target="../notesMasters/notesMaster1.xml" /></Relationships>
</file>

<file path=ppt/notesSlides/_rels/notesSlide96.xml.rels><?xml version="1.0" encoding="UTF-8"?><Relationships xmlns="http://schemas.openxmlformats.org/package/2006/relationships"><Relationship Id="rId2" Type="http://schemas.openxmlformats.org/officeDocument/2006/relationships/slide" Target="../slides/slide96.xml" /><Relationship Id="rId1" Type="http://schemas.openxmlformats.org/officeDocument/2006/relationships/notesMaster" Target="../notesMasters/notesMaster1.xml" /></Relationships>
</file>

<file path=ppt/notesSlides/_rels/notesSlide97.xml.rels><?xml version="1.0" encoding="UTF-8"?><Relationships xmlns="http://schemas.openxmlformats.org/package/2006/relationships"><Relationship Id="rId2" Type="http://schemas.openxmlformats.org/officeDocument/2006/relationships/slide" Target="../slides/slide97.xml" /><Relationship Id="rId1" Type="http://schemas.openxmlformats.org/officeDocument/2006/relationships/notesMaster" Target="../notesMasters/notesMaster1.xml" /></Relationships>
</file>

<file path=ppt/notesSlides/_rels/notesSlide98.xml.rels><?xml version="1.0" encoding="UTF-8"?><Relationships xmlns="http://schemas.openxmlformats.org/package/2006/relationships"><Relationship Id="rId2" Type="http://schemas.openxmlformats.org/officeDocument/2006/relationships/slide" Target="../slides/slide98.xml" /><Relationship Id="rId1" Type="http://schemas.openxmlformats.org/officeDocument/2006/relationships/notesMaster" Target="../notesMasters/notesMaster1.xml" /></Relationships>
</file>

<file path=ppt/notesSlides/_rels/notesSlide99.xml.rels><?xml version="1.0" encoding="UTF-8"?><Relationships xmlns="http://schemas.openxmlformats.org/package/2006/relationships"><Relationship Id="rId2" Type="http://schemas.openxmlformats.org/officeDocument/2006/relationships/slide" Target="../slides/slide99.xml" /><Relationship Id="rId1" Type="http://schemas.openxmlformats.org/officeDocument/2006/relationships/notesMaster" Target="../notesMasters/notesMaster1.xml" /></Relationships>
</file>

<file path=ppt/notesSlides/_rels/notesSlide100.xml.rels><?xml version="1.0" encoding="UTF-8"?><Relationships xmlns="http://schemas.openxmlformats.org/package/2006/relationships"><Relationship Id="rId2" Type="http://schemas.openxmlformats.org/officeDocument/2006/relationships/slide" Target="../slides/slide100.xml" /><Relationship Id="rId1" Type="http://schemas.openxmlformats.org/officeDocument/2006/relationships/notesMaster" Target="../notesMasters/notesMaster1.xml" /></Relationships>
</file>

<file path=ppt/notesSlides/_rels/notesSlide101.xml.rels><?xml version="1.0" encoding="UTF-8"?><Relationships xmlns="http://schemas.openxmlformats.org/package/2006/relationships"><Relationship Id="rId2" Type="http://schemas.openxmlformats.org/officeDocument/2006/relationships/slide" Target="../slides/slide101.xml" /><Relationship Id="rId1" Type="http://schemas.openxmlformats.org/officeDocument/2006/relationships/notesMaster" Target="../notesMasters/notesMaster1.xml" /></Relationships>
</file>

<file path=ppt/notesSlides/_rels/notesSlide102.xml.rels><?xml version="1.0" encoding="UTF-8"?><Relationships xmlns="http://schemas.openxmlformats.org/package/2006/relationships"><Relationship Id="rId2" Type="http://schemas.openxmlformats.org/officeDocument/2006/relationships/slide" Target="../slides/slide102.xml" /><Relationship Id="rId1" Type="http://schemas.openxmlformats.org/officeDocument/2006/relationships/notesMaster" Target="../notesMasters/notesMaster1.xml" /></Relationships>
</file>

<file path=ppt/notesSlides/_rels/notesSlide103.xml.rels><?xml version="1.0" encoding="UTF-8"?><Relationships xmlns="http://schemas.openxmlformats.org/package/2006/relationships"><Relationship Id="rId2" Type="http://schemas.openxmlformats.org/officeDocument/2006/relationships/slide" Target="../slides/slide103.xml" /><Relationship Id="rId1" Type="http://schemas.openxmlformats.org/officeDocument/2006/relationships/notesMaster" Target="../notesMasters/notesMaster1.xml" /></Relationships>
</file>

<file path=ppt/notesSlides/_rels/notesSlide104.xml.rels><?xml version="1.0" encoding="UTF-8"?><Relationships xmlns="http://schemas.openxmlformats.org/package/2006/relationships"><Relationship Id="rId2" Type="http://schemas.openxmlformats.org/officeDocument/2006/relationships/slide" Target="../slides/slide10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特征转换这一节最容易被读成一串互不相关的 API，但在真实项目里，它们通常是连在一起使用的：先把原始文本、类别值或数值列转换成模型可接受的表示，再决定是否需要归一化、分桶、降维或组合特征。理解每个组件“放在链路的哪一段、解决什么问题”，比单独记住它的类名更重要。 接下来会依次看 特征转换、Tokenizer，以及 StopWordsRemover，后面的实现和案例都会沿着这条线继续展开。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特征转换、Tokenizer、StopWordsRemover，以及 n-gram。先把前面的入口和处理顺序放稳，后面再继续往下展开。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这一页继续顺着学习路线往后推，重点包括 Binarizer、PCA（主成分分析）、PolynomialExpansion，以及 Discrete Cosine Transform（DCT）。先把这些环节之间的关系看清楚，再进入每一步的具体实现。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这一页继续顺着学习路线往后推，重点包括 StringIndexer、IndexToString、OneHotEncoder，以及 VectorIndexer。先把这些环节之间的关系看清楚，再进入每一步的具体实现。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这一页继续顺着学习路线往后推，重点包括 Interaction、Normalizer、StandardScaler，以及 MinMaxScaler。先把这些环节之间的关系看清楚，再进入每一步的具体实现。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这一页继续顺着学习路线往后推，重点包括 MaxAbsScaler、Bucketizer、ElementwiseProduct，以及 SQLTransformer。先把这些环节之间的关系看清楚，再进入每一步的具体实现。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VectorAssembler、QuantileDiscretizer，以及 Imputer。把这几步和前面的内容接起来，整节课的推进顺序就完整了。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Tokenizer 负责把原始文本列切分成词序列，是文本特征流水线里最前面的一个基础步骤。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、字符类别或特定模式做更细的切分，通常会改用 RegexTokenizer。后者既可以把正则表达式当作分隔符，也可以直接把匹配到的内容当作词元。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这一步通常是在结构化数据里加工特征或业务字段。要说明新列为什么需要，以及它会怎样影响后面的过滤、聚合或排序。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停用词移除的目标，是把那些频繁出现但区分度很弱的词先过滤掉，避免它们在后续统计或建模里占据过多权重。StopWordsRemover 接收一个字符串数组列作为输入，常常紧跟在 Tokenizer 或 RegexTokenizer 后面。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在filtered中，停用词“I”，“the”，“had”和“a”已被过滤掉，再看 代码 8‑11。把这两步连起来讲清楚，页面内容和后面的实现流程就能对上。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NGram 类可以把输入特征转换成 n-gram。它以字符串序列作为输入，参数 n 用于确定每个 n-gram 中连续单词的数量，输出则是一个 n-gram 序列，其中每个 n-gram 都由一个以空格分隔的字符串表示。如果输入序列包含的字符串少于 n 个，则不会生成输出。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Binarizer 会按照阈值把数值特征压成 0/1 特征。它适合那些业务上只关心“是否超过某个门槛”的场景，例如是否高于风险阈值、是否达到某个曝光量级。输入列既可以是单个数值列，也可以是向量列。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它会把原本可能相关的多个特征，投影到一组新的正交方向上，并尽量保留数据中最主要的变化信息。对高维稠密特征来说，这通常有助于压缩维度、降低噪声，或者为后续模型提供更紧凑的输入表示。一个把 5 维向量投影成 3 维主成分的最小示例。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PolynomialExpansion 会把原始特征展开到更高阶的多项式空间，这样就显式引入平方项、交叉项和更高次项。例如，当 degree = 2 时，二维输入 (x, y) 会被展开成包含 x 的平方、xy、y 的平方 在内的更高维表示。下面用一个 3 阶展开的最小示例来观察结果。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对特征工程来说，更值得记住的是它的用途：当原始特征本身带有顺序结构或频率结构时，DCT 可以把它们转换成另一组更适合压缩、去噪或频域分析的系数表示。Spark 这里实现的是 DCT-II 变换。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如果把 DCT 放回更大的信号处理背景里看，它可以理解成“只保留实数余弦基”的频域变换，因此常见于语音、图像和压缩编码等任务。本章里不用展开它的历史背景，记住它的输入输出都是向量、并且适合处理具有顺序结构的数值特征就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这通常是类别特征进入 OneHotEncoder、树模型或分类器之前的第一步。默认情况下，它会按标签出现频率排序，把最常见的标签映射为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默认选项是 frequencyDesc。对于训练阶段没见过的新标签，可以通过 handleInvalid 选择报错、跳过，或者把它们统一放进额外的桶里。如果输入列本身是数字，Spark 也会先把它当作字符串标签来建立索引。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再在预测输出阶段用 IndexToString 把预测索引还原成更可读的标签名称、代码 8‑23 和 Spark 会根据列元数据里的标签映射把原始标签还原出来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代码 8‑25。只要把这一步的输入、输出和作用说清楚，后面的内容就容易接上。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这样就让逻辑回归、线性模型等需要数值特征的算法也能使用类别变量。它通常紧跟在 StringIndexer 后面出现，是最常见的类别特征编码组合之一。默认情况下，Spark 会丢掉最后一个类别位（dropLast=true），以减少线性模型里的完全共线性。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 category 转成 categoryIndex，再进一步编码成 categoryVec。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但其中有些维度其实是类别值”的场景。它会根据 maxCategories 自动判断哪些维度更像离散类别，再把这些维度重编码成类别索引。这个转换对决策树、随机森林等树模型尤其有用，因为它们需要知道哪些特征应该按离散取值来分裂，而不是按连续数值直接比较。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在这个例子里，输入向量一共有 3 个维度。VectorIndexer 最终只把其中两维识别成类别特征并做了重编码，而把另一维保留为连续数值。原因在于：某个维度如果不同取值过多，超过了 setMaxCategories(5) 设定的阈值，Spark 就会把它视为连续特征，不再尝试做类别索引。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代码 8‑29、对照结果表第一行，可以更直观地看到重编码前后的差别 和 (3,0,1,2,2.0,5.0,7.0)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41</a:t>
            </a:fld>
            <a:endParaRPr lang="en-US"/>
          </a:p>
        </p:txBody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43</a:t>
            </a:fld>
            <a:endParaRPr lang="en-US"/>
          </a:p>
        </p:txBody>
      </p:sp>
    </p:spTree>
  </p:cSld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44</a:t>
            </a:fld>
            <a:endParaRPr lang="en-US"/>
          </a:p>
        </p:txBody>
      </p:sp>
    </p:spTree>
  </p:cSld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它会读取多个数值列或向量列，并把这些输入之间所有可能的乘积组合展开成一个新的向量列。对树模型来说，交叉关系有时可以靠分裂自动学出来。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下面这个例子里，两列三维向量会被展开成一个 9 维交叉结果。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对这些输入列应用 Interaction 后，输出列 interactedCol 会包含所有交叉乘积项。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代码 8‑33、对应的 Scala REPL 示例如下 和 代码 8‑34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46</a:t>
            </a:fld>
            <a:endParaRPr lang="en-US"/>
          </a:p>
        </p:txBody>
      </p:sp>
    </p:spTree>
  </p:cSld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47</a:t>
            </a:fld>
            <a:endParaRPr lang="en-US"/>
          </a:p>
        </p:txBody>
      </p:sp>
    </p:spTree>
  </p:cSld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48</a:t>
            </a:fld>
            <a:endParaRPr lang="en-US"/>
          </a:p>
        </p:txBody>
      </p:sp>
    </p:spTree>
  </p:cSld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49</a:t>
            </a:fld>
            <a:endParaRPr lang="en-US"/>
          </a:p>
        </p:txBody>
      </p:sp>
    </p:spTree>
  </p:cSld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 会在“每一行向量”这个粒度上做缩放，把样本向量调整到单位范数。它和 StandardScaler 这类“按列统计、按列缩放”的转换器不同，更适合那些关心向量方向而不是绝对长度的场景，例如文本相似度、余弦距离或某些检索任务。参数 p 用来指定使用哪一种范数，默认是 p 等于 2。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在特征工程里，最常见的用途不是做纯数学推导，而是决定样本在归一化之后保留怎样的尺度信息。不同范数对应不同的“大小”定义，因此会影响归一化结果。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 n 维实向量空间 R 的 n 次方 中，向量 x 等于 (x 下标 1, x 下标 2, 依次类推, x 下标 n) 的长度通常由欧几里得范数给出，那么。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50</a:t>
            </a:fld>
            <a:endParaRPr lang="en-US"/>
          </a:p>
        </p:txBody>
      </p:sp>
    </p:spTree>
  </p:cSld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如果把它应用到差向量 x 减 y 上，就得到常见的欧几里得距离 lVert x 减 y rVert 下标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51</a:t>
            </a:fld>
            <a:endParaRPr lang="en-US"/>
          </a:p>
        </p:txBody>
      </p:sp>
    </p:spTree>
  </p:cSld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52</a:t>
            </a:fld>
            <a:endParaRPr lang="en-US"/>
          </a:p>
        </p:txBody>
      </p:sp>
    </p:spTree>
  </p:cSld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 n 维实向量空间 R 的 n 次方 中，向量 x 等于 (x 下标 1, x 下标 2, 依次类推, x 下标 n) 的长度通常由欧几里得范数给出，那么。公式 8‑6。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53</a:t>
            </a:fld>
            <a:endParaRPr lang="en-US"/>
          </a:p>
        </p:txBody>
      </p:sp>
    </p:spTree>
  </p:cSld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如果把它应用到差向量 x 减 y 上，就得到常见的欧几里得距离 lVert x 减 y rVert 下标 2。更一般地，对于实数 p 大于等于 1 ，向量的 p-范数可以写成。公式 8‑7。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54</a:t>
            </a:fld>
            <a:endParaRPr lang="en-US"/>
          </a:p>
        </p:txBody>
      </p:sp>
    </p:spTree>
  </p:cSld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Normalizer：L 的 1 次方 范数的定义如下。讲的时候不要只念标题，要把它放回本节主线里，说明它解决什么问题以及为什么需要这一步。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55</a:t>
            </a:fld>
            <a:endParaRPr lang="en-US"/>
          </a:p>
        </p:txBody>
      </p:sp>
    </p:spTree>
  </p:cSld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它表示向量各分量绝对值之和。把它应用到两个向量的差上，就得到常见的绝对误差和。公式 8‑9。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56</a:t>
            </a:fld>
            <a:endParaRPr lang="en-US"/>
          </a:p>
        </p:txBody>
      </p:sp>
    </p:spTree>
  </p:cSld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Normalizer：L 的平方 范数是最常见的一种范数。讲的时候不要只念标题，要把它放回本节主线里，说明它解决什么问题以及为什么需要这一步。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57</a:t>
            </a:fld>
            <a:endParaRPr lang="en-US"/>
          </a:p>
        </p:txBody>
      </p:sp>
    </p:spTree>
  </p:cSld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它表示向量元素平方和再开平方。类似地，把它作用到两个向量的差上，可以得到平方差和。公式 8‑12。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58</a:t>
            </a:fld>
            <a:endParaRPr lang="en-US"/>
          </a:p>
        </p:txBody>
      </p:sp>
    </p:spTree>
  </p:cSld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 p 等于 属于 fty 时，得到的是 属于 fty-范数，它衡量的是向量中绝对值最大的那个分量。公式 8‑14。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59</a:t>
            </a:fld>
            <a:endParaRPr lang="en-US"/>
          </a:p>
        </p:txBody>
      </p:sp>
    </p:spTree>
  </p:cSld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Normalizer：通常会把它简写成。讲的时候不要只念标题，要把它放回本节主线里，说明它解决什么问题以及为什么需要这一步。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60</a:t>
            </a:fld>
            <a:endParaRPr lang="en-US"/>
          </a:p>
        </p:txBody>
      </p:sp>
    </p:spTree>
  </p:cSld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很多模型对特征尺度非常敏感。如果某些列的数值范围远大于其他列，它们就可能在距离计算、梯度更新或正则化过程中占据不成比例的影响。StandardScaler 的作用，就是按列统计均值与标准差，再把向量特征缩放到“单位标准差”或“零均值 + 单位标准差”的尺度上。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它会先在训练数据上拟合，得到 StandardScalerModel，再把同样的缩放规则应用到训练集、验证集或测试集上。两个最常见的参数是。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这会把稀疏向量转成稠密向量，因此在高维稀疏特征上要谨慎使用。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61</a:t>
            </a:fld>
            <a:endParaRPr lang="en-US"/>
          </a:p>
        </p:txBody>
      </p:sp>
    </p:spTree>
  </p:cSld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下面这组 Scala REPL 示例读取 libsvm 数据，并把特征缩放到单位标准偏差。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setWithStd(true) 表示按标准差进行缩放。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62</a:t>
            </a:fld>
            <a:endParaRPr lang="en-US"/>
          </a:p>
        </p:txBody>
      </p:sp>
    </p:spTree>
  </p:cSld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63</a:t>
            </a:fld>
            <a:endParaRPr lang="en-US"/>
          </a:p>
        </p:txBody>
      </p:sp>
    </p:spTree>
  </p:cSld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64</a:t>
            </a:fld>
            <a:endParaRPr lang="en-US"/>
          </a:p>
        </p:txBody>
      </p:sp>
    </p:spTree>
  </p:cSld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65</a:t>
            </a:fld>
            <a:endParaRPr lang="en-US"/>
          </a:p>
        </p:txBody>
      </p:sp>
    </p:spTree>
  </p:cSld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66</a:t>
            </a:fld>
            <a:endParaRPr lang="en-US"/>
          </a:p>
        </p:txBody>
      </p:sp>
    </p:spTree>
  </p:cSld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它适合需要保留相对大小关系、同时又希望不同列落在统一量纲上的场景。最常见的两个参数是。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0.0为默认值，转换后的下限，由所有特征共享。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1.0为默认值，转换后的上限，由所有特征共享。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得到 MinMaxScalerModel，再用同一套缩放规则去转换数据。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67</a:t>
            </a:fld>
            <a:endParaRPr lang="en-US"/>
          </a:p>
        </p:txBody>
      </p:sp>
    </p:spTree>
  </p:cSld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 E 下标 最大值 等于 E 下标 最小值 时， Rescaled(e 下标 i) 等于 0.5 乘以 (max 加 min)。这意味着原本为零的分量也可能被映射成非零值，因此即使输入是稀疏向量，输出也会变成 DenseVector。下面这组 Scala REPL 示例会加载 libsvm 格式的数据集，并把每个特征重新调整到 [0,1]。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68</a:t>
            </a:fld>
            <a:endParaRPr lang="en-US"/>
          </a:p>
        </p:txBody>
      </p:sp>
    </p:spTree>
  </p:cSld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69</a:t>
            </a:fld>
            <a:endParaRPr lang="en-US"/>
          </a:p>
        </p:txBody>
      </p:sp>
    </p:spTree>
  </p:cSld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70</a:t>
            </a:fld>
            <a:endParaRPr lang="en-US"/>
          </a:p>
        </p:txBody>
      </p:sp>
    </p:spTree>
  </p:cSld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71</a:t>
            </a:fld>
            <a:endParaRPr lang="en-US"/>
          </a:p>
        </p:txBody>
      </p:sp>
    </p:spTree>
  </p:cSld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MinMaxScaler 会先在训练数据上计算每一列的最小值和最大值，得到 MinMaxScalerModel，再用同一套缩放规则去转换数据。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72</a:t>
            </a:fld>
            <a:endParaRPr lang="en-US"/>
          </a:p>
        </p:txBody>
      </p:sp>
    </p:spTree>
  </p:cSld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不过它是用每一列的最大绝对值做除法，把结果压到 [-1,1] 范围内。和 StandardScaler(withMean=true) 不同，它不会做中心化，因此不会破坏稀疏向量结构。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它会先拟合出 MaxAbsScalerModel，再把各列缩放到统一范围。下面用一个最小示例展示这一过程。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73</a:t>
            </a:fld>
            <a:endParaRPr lang="en-US"/>
          </a:p>
        </p:txBody>
      </p:sp>
    </p:spTree>
  </p:cSld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代码 8‑38。只要把这一步的输入、输出和作用说清楚，后面的内容就容易接上。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74</a:t>
            </a:fld>
            <a:endParaRPr lang="en-US"/>
          </a:p>
        </p:txBody>
      </p:sp>
    </p:spTree>
  </p:cSld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75</a:t>
            </a:fld>
            <a:endParaRPr lang="en-US"/>
          </a:p>
        </p:txBody>
      </p:sp>
    </p:spTree>
  </p:cSld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76</a:t>
            </a:fld>
            <a:endParaRPr lang="en-US"/>
          </a:p>
        </p:txBody>
      </p:sp>
    </p:spTree>
  </p:cSld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77</a:t>
            </a:fld>
            <a:endParaRPr lang="en-US"/>
          </a:p>
        </p:txBody>
      </p:sp>
    </p:spTree>
  </p:cSld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它适合那些“业务上更关心数值落在哪个区间，而不是精确值本身”的场景，例如年龄段、价格档位、风险等级等。这个转换最关键的参数就是 splits。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如果有 n 加 1 个边界，就会得到 n 个桶。边界必须严格递增。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通常应该显式把 Double.NegativeInfinity 和 Double.PositiveInfinity 放在两端。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下面演示如何把一列双精度特征映射成桶索引。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78</a:t>
            </a:fld>
            <a:endParaRPr lang="en-US"/>
          </a:p>
        </p:txBody>
      </p:sp>
    </p:spTree>
  </p:cSld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转换原始数据为桶索引，再看 代码 8‑39。把这两步连起来讲清楚，页面内容和后面的实现流程就能对上。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79</a:t>
            </a:fld>
            <a:endParaRPr lang="en-US"/>
          </a:p>
        </p:txBody>
      </p:sp>
    </p:spTree>
  </p:cSld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80</a:t>
            </a:fld>
            <a:endParaRPr lang="en-US"/>
          </a:p>
        </p:txBody>
      </p:sp>
    </p:spTree>
  </p:cSld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81</a:t>
            </a:fld>
            <a:endParaRPr lang="en-US"/>
          </a:p>
        </p:txBody>
      </p:sp>
    </p:spTree>
  </p:cSld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ElementwiseProduct 会把输入向量和一个给定的权重向量逐元素相乘。可以把它理解成“对向量的每一维乘上一个固定系数”，因此很适合做手工权重调整、规则加权，或者把业务先验快速编码进特征里。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下面这个例子展示如何用一个权重向量去逐元素缩放输入向量。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82</a:t>
            </a:fld>
            <a:endParaRPr lang="en-US"/>
          </a:p>
        </p:txBody>
      </p:sp>
    </p:spTree>
  </p:cSld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补充说明：这里用到的是 Hadamard 乘积。只要把这一步的输入、输出和作用说清楚，后面的内容就容易接上。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83</a:t>
            </a:fld>
            <a:endParaRPr lang="en-US"/>
          </a:p>
        </p:txBody>
      </p:sp>
    </p:spTree>
  </p:cSld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84</a:t>
            </a:fld>
            <a:endParaRPr lang="en-US"/>
          </a:p>
        </p:txBody>
      </p:sp>
    </p:spTree>
  </p:cSld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这里的 </a:t>
            </a:r>
            <a:r>
              <a:rPr b="1"/>
              <a:t>THIS</a:t>
            </a:r>
            <a:r>
              <a:rPr/>
              <a:t> 可以理解成当前输入 DataFrame 的临时表名、代码 8‑41 和 假设当前 DataFrame 只包含 id、v1 和 v2 三列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85</a:t>
            </a:fld>
            <a:endParaRPr lang="en-US"/>
          </a:p>
        </p:txBody>
      </p:sp>
    </p:spTree>
  </p:cSld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代码 8‑42、对应的 Scala REPL 示例如下 和 代码 8‑43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86</a:t>
            </a:fld>
            <a:endParaRPr lang="en-US"/>
          </a:p>
        </p:txBody>
      </p:sp>
    </p:spTree>
  </p:cSld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87</a:t>
            </a:fld>
            <a:endParaRPr lang="en-US"/>
          </a:p>
        </p:txBody>
      </p:sp>
    </p:spTree>
  </p:cSld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88</a:t>
            </a:fld>
            <a:endParaRPr lang="en-US"/>
          </a:p>
        </p:txBody>
      </p:sp>
    </p:spTree>
  </p:cSld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89</a:t>
            </a:fld>
            <a:endParaRPr lang="en-US"/>
          </a:p>
        </p:txBody>
      </p:sp>
    </p:spTree>
  </p:cSld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VectorAssembler 是特征工程流水线里最常用的转换器之一、假设有一个 DataFrame 和 代码 8‑44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90</a:t>
            </a:fld>
            <a:endParaRPr lang="en-US"/>
          </a:p>
        </p:txBody>
      </p:sp>
    </p:spTree>
  </p:cSld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对应的 Scala REPL 示例如下，再看 代码 8‑45。把这两步连起来讲清楚，页面内容和后面的实现流程就能对上。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91</a:t>
            </a:fld>
            <a:endParaRPr lang="en-US"/>
          </a:p>
        </p:txBody>
      </p:sp>
    </p:spTree>
  </p:cSld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92</a:t>
            </a:fld>
            <a:endParaRPr lang="en-US"/>
          </a:p>
        </p:txBody>
      </p:sp>
    </p:spTree>
  </p:cSld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93</a:t>
            </a:fld>
            <a:endParaRPr lang="en-US"/>
          </a:p>
        </p:txBody>
      </p:sp>
    </p:spTree>
  </p:cSld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94</a:t>
            </a:fld>
            <a:endParaRPr lang="en-US"/>
          </a:p>
        </p:txBody>
      </p:sp>
    </p:spTree>
  </p:cSld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QuantileDiscretizer 也做分箱，但它不是手工指定边界，而是根据数据分布按分位数自动切桶。桶的数量由 numBuckets 指定，但实际得到的桶数可能更少，因为不同输入值的个数未必足够支撑这么多不同分位点。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拟合分位点时，NaN 不会参与正常分箱。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在转换阶段，可以通过 handleInvalid 选择报错、跳过，或者把 NaN 单独放进一个特殊桶中。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95</a:t>
            </a:fld>
            <a:endParaRPr lang="en-US"/>
          </a:p>
        </p:txBody>
      </p:sp>
    </p:spTree>
  </p:cSld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如果设为 0，则会转向更精确、但代价更高的计算方式。最终边界会自动向 -Infinity 和 +Infinity 延展，以覆盖输入值范围。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如果把 numBuckets 设为 3，转换后就会得到一个表示分箱编号的离散列。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96</a:t>
            </a:fld>
            <a:endParaRPr lang="en-US"/>
          </a:p>
        </p:txBody>
      </p:sp>
    </p:spTree>
  </p:cSld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97</a:t>
            </a:fld>
            <a:endParaRPr lang="en-US"/>
          </a:p>
        </p:txBody>
      </p:sp>
    </p:spTree>
  </p:cSld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98</a:t>
            </a:fld>
            <a:endParaRPr lang="en-US"/>
          </a:p>
        </p:txBody>
      </p:sp>
    </p:spTree>
  </p:cSld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99</a:t>
            </a:fld>
            <a:endParaRPr lang="en-US"/>
          </a:p>
        </p:txBody>
      </p:sp>
    </p:spTree>
  </p:cSld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最常见的做法是按列用平均值或中位数补齐，这样就让后续模型不必因为 NaN 或空值而直接失败。它只适用于数值型列，不适合拿来填补本质上属于类别含义的字段。下面这个示例里，输入列 a 和 b 中都包含缺失值。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也可以理解成，Double.NaN 会被视作缺失值，然后分别用每一列其余样本计算出的均值来替换。在这个例子里，列 a 的缺失值会被补成 3.0，列 b 的缺失值会被补成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100</a:t>
            </a:fld>
            <a:endParaRPr lang="en-US"/>
          </a:p>
        </p:txBody>
      </p:sp>
    </p:spTree>
  </p:cSld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对应的 Scala REPL 示例如下，再看 代码 8‑51。把这两步连起来讲清楚，页面内容和后面的实现流程就能对上。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101</a:t>
            </a:fld>
            <a:endParaRPr lang="en-US"/>
          </a:p>
        </p:txBody>
      </p:sp>
    </p:spTree>
  </p:cSld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102</a:t>
            </a:fld>
            <a:endParaRPr lang="en-US"/>
          </a:p>
        </p:txBody>
      </p:sp>
    </p:spTree>
  </p:cSld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103</a:t>
            </a:fld>
            <a:endParaRPr lang="en-US"/>
          </a:p>
        </p:txBody>
      </p:sp>
    </p:spTree>
  </p:cSld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它们通常是连在一起使用的，先把原始文本、类别值或数值列转换成模型可接受的表示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特征转换：学习路线（1/6）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特征转换</a:t>
            </a:r>
          </a:p>
          <a:p>
            <a:pPr lvl="0"/>
            <a:r>
              <a:rPr/>
              <a:t>Tokenizer</a:t>
            </a:r>
          </a:p>
          <a:p>
            <a:pPr lvl="0"/>
            <a:r>
              <a:rPr/>
              <a:t>StopWordsRemover</a:t>
            </a:r>
          </a:p>
          <a:p>
            <a:pPr lvl="0"/>
            <a:r>
              <a:rPr/>
              <a:t>n-gram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特征转换：学习路线（2/6）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Binarizer</a:t>
            </a:r>
          </a:p>
          <a:p>
            <a:pPr lvl="0"/>
            <a:r>
              <a:rPr/>
              <a:t>PCA（主成分分析）</a:t>
            </a:r>
          </a:p>
          <a:p>
            <a:pPr lvl="0"/>
            <a:r>
              <a:rPr/>
              <a:t>PolynomialExpansion</a:t>
            </a:r>
          </a:p>
          <a:p>
            <a:pPr lvl="0"/>
            <a:r>
              <a:rPr/>
              <a:t>Discrete Cosine Transform（DCT）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特征转换：学习路线（3/6）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StringIndexer</a:t>
            </a:r>
          </a:p>
          <a:p>
            <a:pPr lvl="0"/>
            <a:r>
              <a:rPr/>
              <a:t>IndexToString</a:t>
            </a:r>
          </a:p>
          <a:p>
            <a:pPr lvl="0"/>
            <a:r>
              <a:rPr/>
              <a:t>OneHotEncoder</a:t>
            </a:r>
          </a:p>
          <a:p>
            <a:pPr lvl="0"/>
            <a:r>
              <a:rPr/>
              <a:t>VectorIndexer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特征转换：学习路线（4/6）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Interaction</a:t>
            </a:r>
          </a:p>
          <a:p>
            <a:pPr lvl="0"/>
            <a:r>
              <a:rPr/>
              <a:t>Normalizer</a:t>
            </a:r>
          </a:p>
          <a:p>
            <a:pPr lvl="0"/>
            <a:r>
              <a:rPr/>
              <a:t>StandardScaler</a:t>
            </a:r>
          </a:p>
          <a:p>
            <a:pPr lvl="0"/>
            <a:r>
              <a:rPr/>
              <a:t>MinMaxScaler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特征转换：学习路线（5/6）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MaxAbsScaler</a:t>
            </a:r>
          </a:p>
          <a:p>
            <a:pPr lvl="0"/>
            <a:r>
              <a:rPr/>
              <a:t>Bucketizer</a:t>
            </a:r>
          </a:p>
          <a:p>
            <a:pPr lvl="0"/>
            <a:r>
              <a:rPr/>
              <a:t>ElementwiseProduct</a:t>
            </a:r>
          </a:p>
          <a:p>
            <a:pPr lvl="0"/>
            <a:r>
              <a:rPr/>
              <a:t>SQLTransformer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 特征转换：学习路线（6/6）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VectorAssembler</a:t>
            </a:r>
          </a:p>
          <a:p>
            <a:pPr lvl="0"/>
            <a:r>
              <a:rPr/>
              <a:t>QuantileDiscretizer</a:t>
            </a:r>
          </a:p>
          <a:p>
            <a:pPr lvl="0"/>
            <a:r>
              <a:rPr/>
              <a:t>Imputer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 Tokenizer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Tokenizer 适合做简单按空白分词</a:t>
            </a:r>
          </a:p>
          <a:p>
            <a:pPr lvl="0"/>
            <a:r>
              <a:rPr/>
              <a:t>如果需要按标点</a:t>
            </a:r>
          </a:p>
          <a:p>
            <a:pPr lvl="0"/>
            <a:r>
              <a:rPr/>
              <a:t>代码 8‑8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 Tokenizer：代码片段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补充新字段或重写已有字段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RegexTokenizer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Tokenizer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RegexTokenizer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Tokenizer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functions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functions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sentenceDataFrame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 I heard about Spark"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 wish Java could use case classes"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"Logistic,regression,models,are,neat"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"sentence"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sentenceDataFrame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sentence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 StopWordsRemover（1/2）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它既可以使用 Spark 提供的默认停用词表</a:t>
            </a:r>
          </a:p>
          <a:p>
            <a:pPr lvl="0"/>
            <a:r>
              <a:rPr/>
              <a:t>代码 8‑9</a:t>
            </a:r>
          </a:p>
          <a:p>
            <a:pPr lvl="0"/>
            <a:r>
              <a:rPr/>
              <a:t>把 raw 作为输入列、filtered 作为输出列后，结果会是</a:t>
            </a:r>
          </a:p>
          <a:p>
            <a:pPr lvl="0"/>
            <a:r>
              <a:rPr/>
              <a:t>代码 8‑10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 StopWordsRemover（2/2）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在filtered中，停用词“I”，“the”，“had”和“a”已被过滤掉</a:t>
            </a:r>
          </a:p>
          <a:p>
            <a:pPr lvl="0"/>
            <a:r>
              <a:rPr/>
              <a:t>代码 8‑11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 StopWordsRemover（1/3）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停用词移除的目标</a:t>
            </a:r>
          </a:p>
          <a:p>
            <a:pPr lvl="0" indent="0">
              <a:buNone/>
            </a:pPr>
            <a:r>
              <a:rPr>
                <a:latin typeface="Courier"/>
              </a:rPr>
              <a:t>id | raw
----|----------
0 | [I, saw, the, red, baloon]
1 | [Mary, had, a, little, lamb]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 StopWordsRemover（2/3）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把 raw 作为输入列</a:t>
            </a:r>
          </a:p>
          <a:p>
            <a:pPr lvl="0" indent="0">
              <a:buNone/>
            </a:pPr>
            <a:r>
              <a:rPr>
                <a:latin typeface="Courier"/>
              </a:rPr>
              <a:t>id | raw | filtered
----|-----------------------------|--------------------
0 | [I, saw, the, red, baloon] | [saw, red, baloon]
1 | [Mary, had, a, little, lamb]|[Mary, little, lamb]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 StopWordsRemover（3/3）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StopWordsRemover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StopWordsRemover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remover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StopWordsRemover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"raw"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"filtered"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remover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StopWordsRemover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stopWords_bcd87f61a74e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"saw"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"the"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"balloon"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"Mary"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"had"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"little"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"lamb"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"raw"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raw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8.3.3 n-gram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n-gram 是由连续 n 个单词组成的序列，其中 n 是某个正整数</a:t>
            </a:r>
          </a:p>
          <a:p>
            <a:pPr lvl="0"/>
            <a:r>
              <a:rPr/>
              <a:t>代码 8‑12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8.3.3 n-gram：代码片段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NGram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NGram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"heard"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"about"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"Spark"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"wish"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"Java"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"could"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"case"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"classes"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"Logistic"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"regression"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"models"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"are"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"neat"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wordDataFrame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array\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string\</a:t>
            </a:r>
            <a:r>
              <a:rPr>
                <a:solidFill>
                  <a:srgbClr val="666666"/>
                </a:solidFill>
                <a:latin typeface="Courier"/>
              </a:rPr>
              <a:t>&gt;]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ngram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NGram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"ngrams"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8.3.4 Binarizer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它适合那些业务上只关心“是否超过某个门槛”的场景</a:t>
            </a:r>
          </a:p>
          <a:p>
            <a:pPr lvl="0"/>
            <a:r>
              <a:rPr/>
              <a:t>大于阈值的值会被映射成 1.0，其余映射成 0.0</a:t>
            </a:r>
          </a:p>
          <a:p>
            <a:pPr lvl="0"/>
            <a:r>
              <a:rPr/>
              <a:t>代码 8‑13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8.3.4 Binarizer：代码片段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Binarizer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Binarizer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"feature"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binarizer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Binarizer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Binarizer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"binarized_feature"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setThreshold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binarizer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Binarizer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binarizer_ecd8c65d1d28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8.3.5 PCA（主成分分析）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PCA 用来做线性降维</a:t>
            </a:r>
          </a:p>
          <a:p>
            <a:pPr lvl="0"/>
            <a:r>
              <a:rPr/>
              <a:t>代码 8‑14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8.3.5 PCA（主成分分析）：代码片段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PCA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PCA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))),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]),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8.3.6 PolynomialExpansion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它常见于线性模型想要拟合非线性关系、但又不希望直接换成更复杂模型的场景</a:t>
            </a:r>
          </a:p>
          <a:p>
            <a:pPr lvl="0"/>
            <a:r>
              <a:rPr/>
              <a:t>代码 8‑15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8.3.6 PolynomialExpansion：代码片段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PolynomialExpansion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PolynomialExpansion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8.3.7 Discrete Cosine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DCT 会把一段实值序列从时域投影到频域表示</a:t>
            </a:r>
          </a:p>
          <a:p>
            <a:pPr lvl="0"/>
            <a:r>
              <a:rPr/>
              <a:t>代码 8‑16</a:t>
            </a:r>
          </a:p>
          <a:p>
            <a:pPr lvl="0"/>
            <a:r>
              <a:rPr/>
              <a:t>补充说明：它可以理解成“只保留实数余弦基”的频域变换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8.3.7 Discrete Cosine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DCT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DCT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14.0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StringIndexer 用来把字符串标签列转换成数值索引列</a:t>
            </a:r>
          </a:p>
          <a:p>
            <a:pPr lvl="0"/>
            <a:r>
              <a:rPr/>
              <a:t>如果需要，也可以改用下面几种排序策略</a:t>
            </a:r>
          </a:p>
          <a:p>
            <a:pPr lvl="0"/>
            <a:r>
              <a:rPr/>
              <a:t>frequencyDesc：按标签频率的降序（最频繁的标签分配为0）</a:t>
            </a:r>
          </a:p>
          <a:p>
            <a:pPr lvl="0"/>
            <a:r>
              <a:rPr/>
              <a:t>frequencyAsc：按标签频率的升序（最不频繁的标签分配为0）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alphabetDesc：按字母顺序的降序</a:t>
            </a:r>
          </a:p>
          <a:p>
            <a:pPr lvl="0"/>
            <a:r>
              <a:rPr/>
              <a:t>alphabetAsc：按字母顺序的升序</a:t>
            </a:r>
          </a:p>
          <a:p>
            <a:pPr lvl="0"/>
            <a:r>
              <a:rPr/>
              <a:t>真正需要记住的是：StringIndexer 的输出列通常不是最终特征</a:t>
            </a:r>
          </a:p>
          <a:p>
            <a:pPr lvl="0"/>
            <a:r>
              <a:rPr/>
              <a:t>一个最小输入示例，DataFrame 只包含 id 和 category 两列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先看一个最小输入示例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
----|----------
0 | a
1 | b
2 | c
3 | a
4 | a
5 | c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在这个例子里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 | categoryIndex
----|----------|---------------
0 | a | 0.0
1 | b | 2.0
2 | c | 1.0
3 | a | 0.0
4 | a | 0.0
5 | c | 1.0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沿用前面的 StringIndexer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
----|----------
0 | a
1 | b
2 | c
3 | d
4 | 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如果 handleInvalid 保持默认值 error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 | categoryIndex
----|----------|---------------
0 | a | 0.0
1 | b | 2.0
2 | c | 1.0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也就是说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 | categoryIndex
----|----------|---------------
0 | a | 0.0
1 | b | 2.0
2 | c | 1.0
3 | d | 3.0
4 | e | 3.0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8.3.8 StringIndexer：代码片段（6/6）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StringIndexer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StringIndexer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"category"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category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indexer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StringIndexer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"category"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"categoryIndex"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indexer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StringIndexer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strIdx_13ff7dc1a41d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indexed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indexer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8.3.9 IndexToString（1/2）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最常见的场景是：再在预测输出阶段用 IndexToString 把预测索引还原成更可读的标签名称</a:t>
            </a:r>
          </a:p>
          <a:p>
            <a:pPr lvl="0"/>
            <a:r>
              <a:rPr/>
              <a:t>代码 8‑23</a:t>
            </a:r>
          </a:p>
          <a:p>
            <a:pPr lvl="0"/>
            <a:r>
              <a:rPr/>
              <a:t>Spark 会根据列元数据里的标签映射把原始标签还原出来</a:t>
            </a:r>
          </a:p>
          <a:p>
            <a:pPr lvl="0"/>
            <a:r>
              <a:rPr/>
              <a:t>代码 8‑24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8.3.9 IndexToString（2/2）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8‑25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8.3.9 IndexToString：代码片段（1/3）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它会把数值索引列还原成原始字符串标签。最常见的场景是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categoryIndex
----|---------------
0 | 0.0
1 | 2.0
2 | 1.0
3 | 0.0
4 | 0.0
5 | 1.0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8.3.9 IndexToString：代码片段（2/3）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把 categoryIndex 作为输入列</a:t>
            </a:r>
          </a:p>
          <a:p>
            <a:pPr lvl="0" indent="0">
              <a:buNone/>
            </a:pPr>
            <a:r>
              <a:rPr>
                <a:latin typeface="Courier"/>
              </a:rPr>
              <a:t>id | categoryIndex | originalCategory
----|---------------|-----------------
0 | 0.0 | a
1 | 2.0 | b
2 | 1.0 | c
3 | 0.0 | a
4 | 0.0 | a
5 | 1.0 | c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8.3.9 IndexToString：代码片段（3/3）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Attribute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IndexToString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StringIndexer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IndexToString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StringIndexer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8.3.10 OneHotEncoder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OneHotEncoder 会把类别索引列展开成稀疏二进制向量</a:t>
            </a:r>
          </a:p>
          <a:p>
            <a:pPr lvl="0"/>
            <a:r>
              <a:rPr/>
              <a:t>如果后续模型本身不受这个问题影响，再考虑是否调整这一行为</a:t>
            </a:r>
          </a:p>
          <a:p>
            <a:pPr lvl="0"/>
            <a:r>
              <a:rPr/>
              <a:t>沿用前面的例子</a:t>
            </a:r>
          </a:p>
          <a:p>
            <a:pPr lvl="0"/>
            <a:r>
              <a:rPr/>
              <a:t>代码 8‑26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8.3.10 OneHotEncoder：代码片段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OneHotEncoder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StringIndexer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OneHotEncoder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StringIndexer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"category"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8.3.11 VectorIndexer（1/2）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VectorIndexer 主要服务于“特征已经组装成向量</a:t>
            </a:r>
          </a:p>
          <a:p>
            <a:pPr lvl="0"/>
            <a:r>
              <a:rPr/>
              <a:t>代码 8‑27</a:t>
            </a:r>
          </a:p>
          <a:p>
            <a:pPr lvl="0"/>
            <a:r>
              <a:rPr/>
              <a:t>这个例子想说明的重点不是具体索引号本身</a:t>
            </a:r>
          </a:p>
          <a:p>
            <a:pPr lvl="0"/>
            <a:r>
              <a:rPr/>
              <a:t>代码 8‑28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8.3.11 VectorIndexer（2/2）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8‑29</a:t>
            </a:r>
          </a:p>
          <a:p>
            <a:pPr lvl="0"/>
            <a:r>
              <a:rPr/>
              <a:t>对照结果表第一行，可以更直观地看到重编码前后的差别</a:t>
            </a:r>
          </a:p>
          <a:p>
            <a:pPr lvl="0"/>
            <a:r>
              <a:rPr/>
              <a:t>(3,0,1,2,2.0,5.0,7.0)</a:t>
            </a:r>
          </a:p>
          <a:p>
            <a:pPr lvl="0"/>
            <a:r>
              <a:rPr/>
              <a:t>代码 8‑30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8.3.11 VectorIndexer：代码片段（1/3）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VectorIndexer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VectorIndexer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8.3.11 VectorIndexer：代码片段（2/3）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在这个例子里</a:t>
            </a:r>
          </a:p>
          <a:p>
            <a:pPr lvl="0" indent="0">
              <a:buNone/>
            </a:pPr>
            <a:r>
              <a:rPr>
                <a:latin typeface="Courier"/>
              </a:rPr>
              <a:t>特征 1：离散取值较少，因此会被重编码为从 0 开始的类别索引。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8.3.11 VectorIndexer：代码片段（3/3）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8‑28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特征 2：同样会被识别为类别特征，并映射成新的类别索引。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8.3.12 Interaction（1/2）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Interaction 用来显式构造特征交叉项</a:t>
            </a:r>
          </a:p>
          <a:p>
            <a:pPr lvl="0"/>
            <a:r>
              <a:rPr/>
              <a:t>对线性模型、逻辑回归或某些召回排序任务，显式加入交叉特征往往更直接</a:t>
            </a:r>
          </a:p>
          <a:p>
            <a:pPr lvl="0"/>
            <a:r>
              <a:rPr/>
              <a:t>代码 8‑32</a:t>
            </a:r>
          </a:p>
          <a:p>
            <a:pPr lvl="0"/>
            <a:r>
              <a:rPr/>
              <a:t>输出列 interactedCol 会包含所有交叉乘积项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8.3.12 Interaction（2/2）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8‑33</a:t>
            </a:r>
          </a:p>
          <a:p>
            <a:pPr lvl="0"/>
            <a:r>
              <a:rPr/>
              <a:t>对应的 Scala REPL 示例如下</a:t>
            </a:r>
          </a:p>
          <a:p>
            <a:pPr lvl="0"/>
            <a:r>
              <a:rPr/>
              <a:t>代码 8‑34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8.3.12 Interaction：代码片段（1/3）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并把这些输入之间所有可能的乘积组合展开成一个新的向量列。对树模型来说</a:t>
            </a:r>
          </a:p>
          <a:p>
            <a:pPr lvl="0" indent="0">
              <a:buNone/>
            </a:pPr>
            <a:r>
              <a:rPr>
                <a:latin typeface="Courier"/>
              </a:rPr>
              <a:t>id1|vec1 |vec2
---|--------------|--------------
1 |[1.0,2.0,3.0] |[8.0,4.0,5.0]
2 |[4.0,3.0,8.0] |[7.0,9.0,8.0]
3 |[6.0,1.0,9.0] |[2.0,3.0,6.0]
4 |[10.0,8.0,6.0]|[9.0,4.0,5.0]
5 |[9.0,2.0,7.0] |[10.0,7.0,3.0]
6 |[1.0,1.0,4.0] |[2.0,8.0,4.0]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8.3.12 Interaction：代码片段（2/3）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对这些输入列应用 Interaction 后</a:t>
            </a:r>
          </a:p>
          <a:p>
            <a:pPr lvl="0" indent="0">
              <a:buNone/>
            </a:pPr>
            <a:r>
              <a:rPr>
                <a:latin typeface="Courier"/>
              </a:rPr>
              <a:t>id1|vec1 |vec2 |interactedCol
---|--------------|--------------|------------------------------------------------------
1 |[1.0,2.0,3.0] |[8.0,4.0,5.0]
|[8.0,4.0,5.0,16.0,8.0,10.0,24.0,12.0,15.0]
2 |[4.0,3.0,8.0] |[7.0,9.0,8.0]
|[56.0,72.0,64.0,42.0,54.0,48.0,112.0,144.0,128.0]
3 |[6.0,1.0,9.0] |[2.0,3.0,6.0]
|[36.0,54.0,108.0,6.0,9.0,18.0,54.0,81.0,162.0]
4 |[10.0,8.0,6.0]|[9.0,4.0,5.0]
|[360.0,160.0,200.0,288.0,128.0,160.0,216.0,96.0,120.0]
5 |[9.0,2.0,7.0]
// ...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8.3.12 Interaction：代码片段（3/3）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Interaction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VectorAssembler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VectorAssembler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8.3.13 Normalizer（1/2）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更适合那些关心向量方向而不是绝对长度的场景</a:t>
            </a:r>
          </a:p>
          <a:p>
            <a:pPr lvl="0"/>
            <a:r>
              <a:rPr/>
              <a:t>代码 8‑35</a:t>
            </a:r>
          </a:p>
          <a:p>
            <a:pPr lvl="0"/>
            <a:r>
              <a:rPr/>
              <a:t>补充说明：范数描述的是“向量有多大”</a:t>
            </a:r>
          </a:p>
          <a:p>
            <a:pPr lvl="0"/>
            <a:r>
              <a:rPr/>
              <a:t>向量 x 等于 (x 下标 1 x 下标 2 依次类推 x 下标 n)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8.3.13 Normalizer（2/2）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公式 8‑6</a:t>
            </a:r>
          </a:p>
          <a:p>
            <a:pPr lvl="0"/>
            <a:r>
              <a:rPr/>
              <a:t>上面的公式给出的是向量 x 的欧几里得范数</a:t>
            </a:r>
          </a:p>
          <a:p>
            <a:pPr lvl="0"/>
            <a:r>
              <a:rPr/>
              <a:t>更一般地，对于实数 p 大于等于 1 ，向量的 p-范数可以写成</a:t>
            </a:r>
          </a:p>
          <a:p>
            <a:pPr lvl="0"/>
            <a:r>
              <a:rPr/>
              <a:t>公式 8‑7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8.3.13 Normalizer：代码片段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Normalizer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Normalizer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Normalizer：向量 x 等于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p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m:t>⋯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p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n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Normalizer：上面的公式给出的是向量 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|</m:t>
                                  </m:r>
                                </m:e>
                                <m:sup>
                                  <m:r>
                                    <m:t>p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|</m:t>
                                  </m:r>
                                </m:e>
                                <m:sup>
                                  <m:r>
                                    <m:t>p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m:t>⋯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n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|</m:t>
                                  </m:r>
                                </m:e>
                                <m:sup>
                                  <m:r>
                                    <m:t>p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p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Normalizer：L 的 1 次方 范数的定义如下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|</m:t>
                          </m:r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Normalizer：把它应用到两个向量的差上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A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|</m:t>
                          </m:r>
                        </m:e>
                      </m:nary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Normalizer：L 的平方 范数是最常见的一种范数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Sup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</m:oMath>
                  </m:oMathPara>
                </a14:m>
              </a:p>
            </p:txBody>
          </p:sp>
        </mc:Choice>
      </mc:AlternateContent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Normalizer：类似地，把它作用到两个向量的差上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它表示向量元素平方和再开平方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S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1</m:t>
                              </m:r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2</m:t>
                              </m:r>
                              <m:r>
                                <m:t>i</m:t>
                              </m:r>
                            </m:sub>
                          </m:sSub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Normalizer：得到的是 属于 fty-范数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i</m:t>
                          </m:r>
                        </m:lim>
                      </m:limLow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⋯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Normalizer：通常会把它简写成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i</m:t>
                          </m:r>
                        </m:lim>
                      </m:limLow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8.3.14 StandardScaler（1/2）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就是按列统计均值与标准差</a:t>
            </a:r>
          </a:p>
          <a:p>
            <a:pPr lvl="0"/>
            <a:r>
              <a:rPr/>
              <a:t>StandardScaler 是一个估算器（Estimator）</a:t>
            </a:r>
          </a:p>
          <a:p>
            <a:pPr lvl="0"/>
            <a:r>
              <a:rPr/>
              <a:t>withStd：默认为 true，把各特征缩放到单位标准偏差</a:t>
            </a:r>
          </a:p>
          <a:p>
            <a:pPr lvl="0"/>
            <a:r>
              <a:rPr/>
              <a:t>withMean：默认为 false，在缩放前先做中心化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8.3.14 StandardScaler（2/2）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如果某个特征的标准偏差本身就是 0，Spark 会把该位置的结果置为 0.0</a:t>
            </a:r>
          </a:p>
          <a:p>
            <a:pPr lvl="0"/>
            <a:r>
              <a:rPr/>
              <a:t>这里 setWithMean(false) 表示不做中心化</a:t>
            </a:r>
          </a:p>
          <a:p>
            <a:pPr lvl="0"/>
            <a:r>
              <a:rPr/>
              <a:t>通过拟合StandardScaler计算汇总统计</a:t>
            </a:r>
          </a:p>
          <a:p>
            <a:pPr lvl="0"/>
            <a:r>
              <a:rPr/>
              <a:t>归一化每个特征到单位标准偏差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8.3.14 StandardScaler（1/4）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StandardScaler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StandardScaler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"libsvm"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load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"/spark/data/example/mllib/sample_libsvm_data.txt"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8.3.14 StandardScaler（2/4）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这里 setWithMean(false) 表示不做中心化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StandardScaler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"scaledFeatures"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setWithStd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setWithMean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StandardScaler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stdScal_3902362fa7e8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8.3.14 StandardScaler（3/4）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通过拟合StandardScaler计算汇总统计：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scalerModel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StandardScalerModel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stdScal_3902362fa7e8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8.3.14 StandardScaler（4/4）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scaledData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scaledData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scaledData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+-----+--------------------+--------------------+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scaledFeatures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+-----+--------------------+--------------------+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127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129</a:t>
            </a:r>
            <a:r>
              <a:rPr>
                <a:solidFill>
                  <a:srgbClr val="666666"/>
                </a:solidFill>
                <a:latin typeface="Courier"/>
              </a:rPr>
              <a:t>...|(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127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129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158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160</a:t>
            </a:r>
            <a:r>
              <a:rPr>
                <a:solidFill>
                  <a:srgbClr val="666666"/>
                </a:solidFill>
                <a:latin typeface="Courier"/>
              </a:rPr>
              <a:t>...|(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158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160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124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126</a:t>
            </a:r>
            <a:r>
              <a:rPr>
                <a:solidFill>
                  <a:srgbClr val="666666"/>
                </a:solidFill>
                <a:latin typeface="Courier"/>
              </a:rPr>
              <a:t>...|(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124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126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152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154</a:t>
            </a:r>
            <a:r>
              <a:rPr>
                <a:solidFill>
                  <a:srgbClr val="666666"/>
                </a:solidFill>
                <a:latin typeface="Courier"/>
              </a:rPr>
              <a:t>...|(</a:t>
            </a:r>
            <a:r>
              <a:rPr>
                <a:solidFill>
                  <a:srgbClr val="40A070"/>
                </a:solidFill>
                <a:latin typeface="Courier"/>
              </a:rPr>
              <a:t>692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152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154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8.3.15 MinMaxScaler（1/2）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MinMaxScaler 会按列把特征重新缩放到给定区间，最常见的是 [0,1]</a:t>
            </a:r>
          </a:p>
          <a:p>
            <a:pPr lvl="0"/>
            <a:r>
              <a:rPr/>
              <a:t>min：由所有特征共享</a:t>
            </a:r>
          </a:p>
          <a:p>
            <a:pPr lvl="0"/>
            <a:r>
              <a:rPr/>
              <a:t>max：由所有特征共享</a:t>
            </a:r>
          </a:p>
          <a:p>
            <a:pPr lvl="0"/>
            <a:r>
              <a:rPr/>
              <a:t>MinMaxScaler 会先在训练数据上计算每一列的最小值和最大值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8.3.15 MinMaxScaler（2/2）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公式 8‑17</a:t>
            </a:r>
          </a:p>
          <a:p>
            <a:pPr lvl="0"/>
            <a:r>
              <a:rPr/>
              <a:t>这意味着原本为零的分量也可能被映射成非零值</a:t>
            </a:r>
          </a:p>
          <a:p>
            <a:pPr lvl="0"/>
            <a:r>
              <a:rPr/>
              <a:t>计算汇总统计产生MinMaxScalerModel</a:t>
            </a:r>
          </a:p>
          <a:p>
            <a:pPr lvl="0"/>
            <a:r>
              <a:rPr/>
              <a:t>重新按比例调整每个特征到范围min, max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8.3.15 MinMaxScaler：代码片段（1/3）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先对照代码理解 当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m:t>min</m:t>
                        </m:r>
                      </m:sub>
                    </m:sSub>
                  </m:oMath>
                </a14:m>
                <a:r>
                  <a:rPr/>
                  <a:t> 时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scala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org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apache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spark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ml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feature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MinMaxScaler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org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apache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spark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ml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feature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MinMaxScaler</a:t>
                </a:r>
                <a:br/>
                <a:r>
                  <a:rPr>
                    <a:latin typeface="Courier"/>
                  </a:rPr>
                  <a:t>scala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org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apache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spark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ml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linalg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Vectors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org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apache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spark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ml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linalg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Vectors</a:t>
                </a:r>
                <a:br/>
                <a:r>
                  <a:rPr>
                    <a:latin typeface="Courier"/>
                  </a:rPr>
                  <a:t>scala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val</a:t>
                </a:r>
                <a:r>
                  <a:rPr>
                    <a:latin typeface="Courier"/>
                  </a:rPr>
                  <a:t> dataFrame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spark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createDataFrame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Seq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Vectors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dense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)),</a:t>
                </a:r>
                <a:br/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Vectors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dense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2.0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)),</a:t>
                </a:r>
                <a:br/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Vectors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dense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3.0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10.1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3.0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))</a:t>
                </a:r>
                <a:br/>
                <a:r>
                  <a:rPr>
                    <a:solidFill>
                      <a:srgbClr val="666666"/>
                    </a:solidFill>
                    <a:latin typeface="Courier"/>
                  </a:rPr>
                  <a:t>|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)).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toDF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"id"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"features"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dataFrame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:</a:t>
                </a:r>
                <a:r>
                  <a:rPr>
                    <a:latin typeface="Courier"/>
                  </a:rPr>
                  <a:t> org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apache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spark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sql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DataFrame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[</a:t>
                </a:r>
                <a:r>
                  <a:rPr>
                    <a:latin typeface="Courier"/>
                  </a:rPr>
                  <a:t>id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: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902000"/>
                    </a:solidFill>
                    <a:latin typeface="Courier"/>
                  </a:rPr>
                  <a:t>int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,</a:t>
                </a:r>
                <a:r>
                  <a:rPr>
                    <a:latin typeface="Courier"/>
                  </a:rPr>
                  <a:t> features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:</a:t>
                </a:r>
                <a:br/>
                <a:r>
                  <a:rPr>
                    <a:latin typeface="Courier"/>
                  </a:rPr>
                  <a:t>vector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]</a:t>
                </a:r>
                <a:br/>
                <a:r>
                  <a:rPr i="1">
                    <a:solidFill>
                      <a:srgbClr val="60A0B0"/>
                    </a:solidFill>
                    <a:latin typeface="Courier"/>
                  </a:rPr>
                  <a:t>// ...</a:t>
                </a:r>
              </a:p>
            </p:txBody>
          </p:sp>
        </mc:Choice>
      </mc:AlternateContent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8.3.15 MinMaxScaler：代码片段（2/3）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计算汇总统计产生MinMaxScalerModel：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scalerModel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MinMaxScalerModel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minMaxScal_4c96b5ef3f2b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8.3.15 MinMaxScaler：代码片段（3/3）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scaledData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scaledData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vector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solidFill>
                  <a:srgbClr val="4070A0"/>
                </a:solidFill>
                <a:latin typeface="Courier"/>
              </a:rPr>
              <a:t>Features scaled to range: [</a:t>
            </a:r>
            <a:r>
              <a:rPr>
                <a:solidFill>
                  <a:srgbClr val="BB6688"/>
                </a:solidFill>
                <a:latin typeface="Courier"/>
              </a:rPr>
              <a:t>${</a:t>
            </a:r>
            <a:r>
              <a:rPr>
                <a:latin typeface="Courier"/>
              </a:rPr>
              <a:t>scaler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getMin</a:t>
            </a:r>
            <a:r>
              <a:rPr>
                <a:solidFill>
                  <a:srgbClr val="BB6688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$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scaler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getMax</a:t>
            </a:r>
            <a:r>
              <a:rPr>
                <a:solidFill>
                  <a:srgbClr val="666666"/>
                </a:solidFill>
                <a:latin typeface="Courier"/>
              </a:rPr>
              <a:t>}]</a:t>
            </a:r>
            <a:r>
              <a:rPr>
                <a:solidFill>
                  <a:srgbClr val="4070A0"/>
                </a:solidFill>
                <a:latin typeface="Courier"/>
              </a:rPr>
              <a:t>")</a:t>
            </a:r>
            <a:br/>
            <a:r>
              <a:rPr>
                <a:latin typeface="Courier"/>
              </a:rPr>
              <a:t>Features scaled to range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scaledData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"scaledFeatures"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+--------------+--------------+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scaledFeatures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+--------------+--------------+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MinMaxScaler：公式的计算关系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重点看这个公式描述的计算关系和结果含义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t>e</m:t>
                      </m:r>
                      <m:r>
                        <m:t>s</m:t>
                      </m:r>
                      <m:r>
                        <m:t>c</m:t>
                      </m:r>
                      <m:r>
                        <m:t>a</m:t>
                      </m:r>
                      <m:r>
                        <m:t>l</m:t>
                      </m:r>
                      <m:r>
                        <m:t>e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min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max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min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m</m:t>
                      </m:r>
                      <m:r>
                        <m:t>a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m</m:t>
                      </m:r>
                      <m:r>
                        <m:t>i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m</m:t>
                      </m:r>
                      <m:r>
                        <m:t>i</m:t>
                      </m:r>
                      <m:r>
                        <m:t>n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8.3.16 MaxAbsScaler（1/2）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MaxAbsScaler 也是按列缩放特征</a:t>
            </a:r>
          </a:p>
          <a:p>
            <a:pPr lvl="0"/>
            <a:r>
              <a:rPr/>
              <a:t>用一个最小示例展示这一过程</a:t>
            </a:r>
          </a:p>
          <a:p>
            <a:pPr lvl="0"/>
            <a:r>
              <a:rPr/>
              <a:t>计算汇总统计并且产生MaxAbsScalerModel</a:t>
            </a:r>
          </a:p>
          <a:p>
            <a:pPr lvl="0"/>
            <a:r>
              <a:rPr/>
              <a:t>重新按比例调整每个特征到范围-1, 1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8.3.16 MaxAbsScaler（2/2）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8‑38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8.3.16 MaxAbsScaler：代码片段（1/3）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它会先拟合出 MaxAbsScalerModel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MaxAbsScaler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MaxAbsScaler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8.3.16 MaxAbsScaler：代码片段（2/3）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计算汇总统计并且产生MaxAbsScalerModel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scalerModel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MaxAbsScalerModel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maxAbsScal_26cca37ab1f7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8.3.16 MaxAbsScaler：代码片段（3/3）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scaledData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scaledData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vector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scaledData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"scaledFeatures"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+--------------+----------------+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scaledFeatures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+--------------+----------------+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666666"/>
                </a:solidFill>
                <a:latin typeface="Courier"/>
              </a:rPr>
              <a:t>]|[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0.01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,-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+--------------+----------------+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8.3.17 Bucketizer（1/2）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Bucketizer 用来把连续数值切成离散区间，也就是常说的分箱</a:t>
            </a:r>
          </a:p>
          <a:p>
            <a:pPr lvl="0"/>
            <a:r>
              <a:rPr/>
              <a:t>splits 给出的是各桶边界</a:t>
            </a:r>
          </a:p>
          <a:p>
            <a:pPr lvl="0"/>
            <a:r>
              <a:rPr/>
              <a:t>如果希望覆盖所有可能的数值</a:t>
            </a:r>
          </a:p>
          <a:p>
            <a:pPr lvl="0"/>
            <a:r>
              <a:rPr/>
              <a:t>如果你无法事先保证输入值一定落在有限区间内，把正负无穷作为首尾边界通常更稳妥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8.3.17 Bucketizer（2/2）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转换原始数据为桶索引</a:t>
            </a:r>
          </a:p>
          <a:p>
            <a:pPr lvl="0"/>
            <a:r>
              <a:rPr/>
              <a:t>代码 8‑39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8.3.17 Bucketizer：代码片段（1/2）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Bucketizer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Bucketizer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splits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NegativeInfinity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PositiveInfinity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(-</a:t>
            </a:r>
            <a:r>
              <a:rPr>
                <a:latin typeface="Courier"/>
              </a:rPr>
              <a:t>Infinity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Infinity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(-</a:t>
            </a:r>
            <a:r>
              <a:rPr>
                <a:solidFill>
                  <a:srgbClr val="40A070"/>
                </a:solidFill>
                <a:latin typeface="Courier"/>
              </a:rPr>
              <a:t>999.9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999.9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(-</a:t>
            </a:r>
            <a:r>
              <a:rPr>
                <a:solidFill>
                  <a:srgbClr val="40A070"/>
                </a:solidFill>
                <a:latin typeface="Courier"/>
              </a:rPr>
              <a:t>999.9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999.9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Tuple1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apply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bucketizer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8.3.17 Bucketizer：代码片段（2/2）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bucketedData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bucketizer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bucketedData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bucketedFeatures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solidFill>
                  <a:srgbClr val="4070A0"/>
                </a:solidFill>
                <a:latin typeface="Courier"/>
              </a:rPr>
              <a:t>Bucketizer output with</a:t>
            </a:r>
            <a:br/>
            <a:r>
              <a:rPr>
                <a:latin typeface="Courier"/>
              </a:rPr>
              <a:t>$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bucketizer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getSplits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buckets</a:t>
            </a:r>
            <a:r>
              <a:rPr>
                <a:solidFill>
                  <a:srgbClr val="4070A0"/>
                </a:solidFill>
                <a:latin typeface="Courier"/>
              </a:rPr>
              <a:t>")</a:t>
            </a:r>
            <a:br/>
            <a:r>
              <a:rPr>
                <a:latin typeface="Courier"/>
              </a:rPr>
              <a:t>Bucketizer output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buckets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bucketedData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+--------+----------------+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bucketedFeatures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+--------+----------------+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999.9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8.3.18 ElementwiseProduct（1/2）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可以把它理解成“对向量的每一维乘上一个固定系数”</a:t>
            </a:r>
          </a:p>
          <a:p>
            <a:pPr lvl="0"/>
            <a:r>
              <a:rPr/>
              <a:t>公式 8‑18</a:t>
            </a:r>
          </a:p>
          <a:p>
            <a:pPr lvl="0"/>
            <a:r>
              <a:rPr/>
              <a:t>这个例子展示如何用一个权重向量去逐元素缩放输入向量</a:t>
            </a:r>
          </a:p>
          <a:p>
            <a:pPr lvl="0"/>
            <a:r>
              <a:rPr/>
              <a:t>代码 8‑40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8.3.18 ElementwiseProduct（2/2）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补充说明：这里用到的是 Hadamard 乘积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8.3.18 ElementwiseProduct：代码片段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ElementwiseProduct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ElementwiseProduct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r>
              <a:rPr>
                <a:solidFill>
                  <a:srgbClr val="666666"/>
                </a:solidFill>
                <a:latin typeface="Courier"/>
              </a:rPr>
              <a:t>)))).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"vector"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dataFrame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transformingVector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transformingVector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8.3.19 SQLTransformer（1/2）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这里的 </a:t>
            </a:r>
            <a:r>
              <a:rPr b="1"/>
              <a:t>THIS</a:t>
            </a:r>
            <a:r>
              <a:rPr/>
              <a:t> 可以理解成当前输入 DataFrame 的临时表名</a:t>
            </a:r>
          </a:p>
          <a:p>
            <a:pPr lvl="0"/>
            <a:r>
              <a:rPr/>
              <a:t>代码 8‑41</a:t>
            </a:r>
          </a:p>
          <a:p>
            <a:pPr lvl="0"/>
            <a:r>
              <a:rPr/>
              <a:t>假设当前 DataFrame 只包含 id、v1 和 v2 三列</a:t>
            </a:r>
          </a:p>
          <a:p>
            <a:pPr lvl="0"/>
            <a:r>
              <a:rPr/>
              <a:t>就会在保留原列的同时新增两个派生特征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8.3.19 SQLTransformer（2/2）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8‑42</a:t>
            </a:r>
          </a:p>
          <a:p>
            <a:pPr lvl="0"/>
            <a:r>
              <a:rPr/>
              <a:t>对应的 Scala REPL 示例如下</a:t>
            </a:r>
          </a:p>
          <a:p>
            <a:pPr lvl="0"/>
            <a:r>
              <a:rPr/>
              <a:t>代码 8‑43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8.3.19 SQLTransformer（1/3）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假设当前 DataFrame 只包含 id</a:t>
            </a:r>
          </a:p>
          <a:p>
            <a:pPr lvl="0" indent="0">
              <a:buNone/>
            </a:pPr>
            <a:r>
              <a:rPr>
                <a:latin typeface="Courier"/>
              </a:rPr>
              <a:t>id | v1 | v2
----|-----|-----
0 | 1.0 | 3.0
2 | 2.0 | 5.0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8.3.19 SQLTransformer（2/3）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就会在保留原列的同时新增两个派生特征</a:t>
            </a:r>
          </a:p>
          <a:p>
            <a:pPr lvl="0" indent="0">
              <a:buNone/>
            </a:pPr>
            <a:r>
              <a:rPr>
                <a:latin typeface="Courier"/>
              </a:rPr>
              <a:t>id | v1 | v2 | v3 | v4
----|-----|-----|-----|-----
0 | 1.0 | 3.0 | 4.0 | 3.0
2 | 2.0 | 5.0 | 7.0 |10.0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8.3.19 SQLTransformer（3/3）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SQLTransformer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SQLTransformer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"v2"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</a:t>
            </a:r>
            <a:br/>
            <a:r>
              <a:rPr>
                <a:latin typeface="Courier"/>
              </a:rPr>
              <a:t>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sqlTrans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SQLTransformer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setStatement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"SELECT *, (v1 + v2) AS v3, (v1 * v2) AS v4 FROM __THIS__"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sqlTrans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SQLTransformer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sql_50ab9032d703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sqlTrans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+---+---+---+---+----+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8.3.20 VectorAssembler（1/2）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VectorAssembler 是特征工程流水线里最常用的转换器之一</a:t>
            </a:r>
          </a:p>
          <a:p>
            <a:pPr lvl="0"/>
            <a:r>
              <a:rPr/>
              <a:t>假设有一个 DataFrame</a:t>
            </a:r>
          </a:p>
          <a:p>
            <a:pPr lvl="0"/>
            <a:r>
              <a:rPr/>
              <a:t>代码 8‑44</a:t>
            </a:r>
          </a:p>
          <a:p>
            <a:pPr lvl="0"/>
            <a:r>
              <a:rPr/>
              <a:t>这里的 userFeatures 是一个包含三个用户特征的向量列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8.3.20 VectorAssembler（2/2）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对应的 Scala REPL 示例如下</a:t>
            </a:r>
          </a:p>
          <a:p>
            <a:pPr lvl="0"/>
            <a:r>
              <a:rPr/>
              <a:t>代码 8‑45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8.3.20 VectorAssembler（1/3）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方便后续模型直接读取。这通常是结构化特征进入分类器</a:t>
            </a:r>
          </a:p>
          <a:p>
            <a:pPr lvl="0" indent="0">
              <a:buNone/>
            </a:pPr>
            <a:r>
              <a:rPr>
                <a:latin typeface="Courier"/>
              </a:rPr>
              <a:t>id | hour | mobile | userFeatures | clicked
----|------|--------|------------------|---------
0 | 18 | 1.0 | [0.0, 10.0, 0.5] | 1.0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8.3.20 VectorAssembler（2/3）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mobile 和 userFeatures 合并成单个 features 向量</a:t>
            </a:r>
          </a:p>
          <a:p>
            <a:pPr lvl="0" indent="0">
              <a:buNone/>
            </a:pPr>
            <a:r>
              <a:rPr>
                <a:latin typeface="Courier"/>
              </a:rPr>
              <a:t>id | hour | mobile | userFeatures | clicked | features
----|------|--------|------------------|---------|-----------------------------
0 | 18 | 1.0 | [0.0, 10.0, 0.5] | 1.0 | [18.0, 1.0, 0.0, 10.0, 0.5]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8.3.20 VectorAssembler（3/3）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VectorAssembler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VectorAssembler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"hour"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"mobile"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"userFeatures"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"clicked"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hour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latin typeface="Courier"/>
              </a:rPr>
              <a:t>more fields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assembler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VectorAssembler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"hour"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"mobile"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"userFeatures"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8.3.21 QuantileDiscretize（1/2）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这样得到的桶往往更均衡，特别适合长尾分布或你不容易手动设置合理边界的连续特征</a:t>
            </a:r>
          </a:p>
          <a:p>
            <a:pPr lvl="0"/>
            <a:r>
              <a:rPr/>
              <a:t>关于缺失值，还需要留意 NaN 的处理方式</a:t>
            </a:r>
          </a:p>
          <a:p>
            <a:pPr lvl="0"/>
            <a:r>
              <a:rPr/>
              <a:t>可以通过 handleInvalid 选择报错</a:t>
            </a:r>
          </a:p>
          <a:p>
            <a:pPr lvl="0"/>
            <a:r>
              <a:rPr/>
              <a:t>分箱边界默认通过近似分位数算法计算，精度可由 relativeError 控制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8.3.21 QuantileDiscretize（2/2）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这里继续用一个只包含 id 和 hour 两列的 DataFrame 做演示</a:t>
            </a:r>
          </a:p>
          <a:p>
            <a:pPr lvl="0"/>
            <a:r>
              <a:rPr/>
              <a:t>代码 8‑46</a:t>
            </a:r>
          </a:p>
          <a:p>
            <a:pPr lvl="0"/>
            <a:r>
              <a:rPr/>
              <a:t>这里的 hour 是双精度连续特征</a:t>
            </a:r>
          </a:p>
          <a:p>
            <a:pPr lvl="0"/>
            <a:r>
              <a:rPr/>
              <a:t>代码 8‑47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8.3.21 QuantileDiscretize（1/3）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分箱边界默认通过近似分位数算法计算</a:t>
            </a:r>
          </a:p>
          <a:p>
            <a:pPr lvl="0" indent="0">
              <a:buNone/>
            </a:pPr>
            <a:r>
              <a:rPr>
                <a:latin typeface="Courier"/>
              </a:rPr>
              <a:t>id | hour
----|------
0 | 18.0
----|------
1 | 19.0
----|------
2 | 8.0
----|------
3 | 5.0
----|------
4 | 2.2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8.3.21 QuantileDiscretize（2/3）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转换后就会得到一个表示分箱编号的离散列</a:t>
            </a:r>
          </a:p>
          <a:p>
            <a:pPr lvl="0" indent="0">
              <a:buNone/>
            </a:pPr>
            <a:r>
              <a:rPr>
                <a:latin typeface="Courier"/>
              </a:rPr>
              <a:t>id | hour | result
----|------|------
0 | 18.0 | 2.0
----|------|------
1 | 19.0 | 2.0
----|------|------
2 | 8.0 | 1.0
----|------|------
3 | 5.0 | 1.0
----|------|------
4 | 2.2 | 0.0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8.3.21 QuantileDiscretize（3/3）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QuantileDiscretizer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QuantileDiscretizer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2.2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18.0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19.0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"hour"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hour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discretizer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QuantileDiscretizer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"hour"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"result"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setNumBuckets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discretizer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QuantileDiscretizer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8.3.22 Imputer（1/2）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Imputer 用来处理数值列里的缺失值</a:t>
            </a:r>
          </a:p>
          <a:p>
            <a:pPr lvl="0"/>
            <a:r>
              <a:rPr/>
              <a:t>代码 8‑49</a:t>
            </a:r>
          </a:p>
          <a:p>
            <a:pPr lvl="0"/>
            <a:r>
              <a:rPr/>
              <a:t>这里使用的是默认的平均值插补策略</a:t>
            </a:r>
          </a:p>
          <a:p>
            <a:pPr lvl="0"/>
            <a:r>
              <a:rPr/>
              <a:t>代码 8‑50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8.3.22 Imputer（2/2）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对应的 Scala REPL 示例如下</a:t>
            </a:r>
          </a:p>
          <a:p>
            <a:pPr lvl="0"/>
            <a:r>
              <a:rPr/>
              <a:t>代码 8‑51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8.3.22 Imputer：代码片段（1/3）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从而让后续模型不必因为 NaN 或空值而直接失败。它只适用于数值型列</a:t>
            </a:r>
          </a:p>
          <a:p>
            <a:pPr lvl="0" indent="0">
              <a:buNone/>
            </a:pPr>
            <a:r>
              <a:rPr>
                <a:latin typeface="Courier"/>
              </a:rPr>
              <a:t>a | b
------------|-----------
1.0 | Double.NaN
2.0 | Double.NaN
Double.NaN | 3.0
4.0 | 4.0
5.0 | 5.0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8.3.22 Imputer：代码片段（2/3）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这里使用的是默认的平均值插补策略。也就是说</a:t>
            </a:r>
          </a:p>
          <a:p>
            <a:pPr lvl="0" indent="0">
              <a:buNone/>
            </a:pPr>
            <a:r>
              <a:rPr>
                <a:latin typeface="Courier"/>
              </a:rPr>
              <a:t>a | b | out\_a | out\_b
------------|------------|-------|-------
1.0 | Double.NaN | 1.0 | 4.0
2.0 | Double.NaN | 2.0 | 4.0
Double.NaN | 3.0 | 3.0 | 3.0
4.0 | 4.0 | 4.0 | 4.0
5.0 | 5.0 | 5.0 | 5.0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8.3.22 Imputer：代码片段（3/3）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Imputer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Imputer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imputer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Imputer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2026-04-05T02:25:43Z</dcterms:created>
  <dcterms:modified xsi:type="dcterms:W3CDTF">2026-04-05T02:25:43Z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