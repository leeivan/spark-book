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6" Type="http://schemas.openxmlformats.org/officeDocument/2006/relationships/theme" Target="theme/theme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特征选择通常不是越早做越好，也不是越晚做越安全。更常见的工程做法，是先把原始列转换成统一的特征表示，再根据模型类型、特征稀疏度和训练成本决定是否裁剪特征。也可以理解成，特征选择更像是在“特征已经可用于建模之后”做的一次收敛动作：它帮助我们删掉无效维度、压缩训练开销，也减少后续调参和解释成本。 接下来会依次看 特征选择、VectorSlicer，以及 RFormula，后面的实现和案例都会沿着这条线继续展开。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特征选择、VectorSlicer、RFormula，以及 ChiSqSelector。先把前面的入口和处理顺序放稳，后面再继续往下展开。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UnivariateFeatureSelector 和 VarianceThresholdSelector。把这几步和前面的内容接起来，整节课的推进顺序就完整了。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VectorSlicer 是一个很直接的特征裁剪器：输入一列向量，输出其中某几个维度组成的新向量。它适合那些“已经明确知道要保留哪些特征”的场景，例如手工去掉恒为 0 的列、只保留一组业务字段，或者在排查模型时临时抽取几个维度做对比。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（2）字符串索引代表在向量中的特征，setNames()。这就要求向量列有一个AttributeGroup，其实现了Attribute字段名称的匹配。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也可以混合使用，但至少要选中一个特征，而且索引与名称之间不能重复。如果使用特征名称，就要求输入向量列带有可解析的属性元数据。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否则 Spark 无法完成名称匹配并会报错。输出向量会先按给定索引顺序取出特征，再按给定名称顺序补上对应特征。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假设第一维恒为 0、没有保留价值，那么就可以直接用 setIndices(1, 2) 保留最后两列，并输出成新的 features 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目前，支持R运算符的有限子集，包括‘〜’、‘.’、‘:’、‘+’和‘-’、和 +表示连接术语，“+ 0”表示除去截距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:表示相互作用（乘法数值，或二进制化分类值）、表示除了目标的所有列 和 假设a和b是双列，用下面这个简单的例子来说明RFormula的效果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ChiSqSelector 代表基于卡方检验的特征选择方法，适合标签为离散类别、特征本身也可以转成离散统计量的场景。它通过检验“某个特征与标签是否独立”来决定保留哪些特征。它支持五种选择方式：numTopFeatures、percentile、fpr、fdr、fwe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numTopFeatures：根据卡方检验选择固定数量的顶级特征。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类似于numTopFeatures，但是选择所有特征的一部分而不是固定的数字。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选择p值低于阈值的所有特征，这样就控制选择的误报率。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Few：选择p值低于阈值的所有特征。阈值由1 / numFeatures缩放，这样就控制选择的总体误差（family-wise error rate）。用户可以使用setSelectorType选择一个选择方法。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如果设置 numTopFeatures = 1，那么 ChiSqSelector 会按卡方统计量只保留最有信息量的一维。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如果你希望用更统一的接口处理不同类型的标签与特征，UnivariateFeatureSelector 会比 ChiSqSelector 更通用。它把“单变量统计检验 + 阈值筛选”这条思路做成了统一入口：可以根据任务类型和特征类型，自动选择更合适的检验方式，再按固定数量、比例或统计阈值筛选特征。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也可以理解成，它们通常发生在模型训练之前，重点是先用统计信号快速排除一批低价值维度，而不是像嵌入式方法那样把特征选择和模型拟合完全绑在一起。所以，当你手里已经有一列统一的 features 向量，又希望先做一轮轻量筛选时，UnivariateFeatureSelector 往往是比手工堆条件更整洁的选择。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可以简单理解为“把单变量筛选这条思路做得更通用”。前者更像针对离散标签场景的经典专用工具，后者则更适合你希望在不同任务之间复用统一接口时使用。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还有一类更直接的过滤思路，是先删掉“几乎不变化”的特征。VarianceThresholdSelector 就是围绕这个判断展开的：如果某一维在全体样本中几乎恒定，那么它通常很难提供有效区分力，却会白白占用向量空间、训练时间和存储开销。对宽表、稀疏表或者自动生成特征较多的场景，这一步往往能作为成本很低的第一轮清理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它的适用边界也很明确：方差低并不等于一定无用，方差高也不等于一定有预测力。所以，VarianceThresholdSelector 更适合放在特征工程前段，先清理掉明显缺乏变化的维度。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再配合 ChiSqSelector、UnivariateFeatureSelector 或模型驱动的筛选方法继续细化。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 特征选择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特征选择通常不是越早做越好，也不是越晚做越安全</a:t>
            </a:r>
          </a:p>
          <a:p>
            <a:pPr lvl="0"/>
            <a:r>
              <a:rPr/>
              <a:t>几种方法可以理解成三类不同的收敛方式：或者用统计检验自动筛选更有区分度的特征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 特征选择：学习路线（1/2）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特征选择</a:t>
            </a:r>
          </a:p>
          <a:p>
            <a:pPr lvl="0"/>
            <a:r>
              <a:rPr/>
              <a:t>VectorSlicer</a:t>
            </a:r>
          </a:p>
          <a:p>
            <a:pPr lvl="0"/>
            <a:r>
              <a:rPr/>
              <a:t>RFormula</a:t>
            </a:r>
          </a:p>
          <a:p>
            <a:pPr lvl="0"/>
            <a:r>
              <a:rPr/>
              <a:t>ChiSqSelector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 特征选择：学习路线（2/2）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UnivariateFeatureSelector</a:t>
            </a:r>
          </a:p>
          <a:p>
            <a:pPr lvl="0"/>
            <a:r>
              <a:rPr/>
              <a:t>VarianceThresholdSelector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8.4.1 VectorSlicer（1/2）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VectorSlicer 支持两类索引方式</a:t>
            </a:r>
          </a:p>
          <a:p>
            <a:pPr lvl="0"/>
            <a:r>
              <a:rPr/>
              <a:t>（1）整数索引表示在向量中的索引，setIndices()</a:t>
            </a:r>
          </a:p>
          <a:p>
            <a:pPr lvl="0"/>
            <a:r>
              <a:rPr/>
              <a:t>这就要求向量列有一个AttributeGroup</a:t>
            </a:r>
          </a:p>
          <a:p>
            <a:pPr lvl="0"/>
            <a:r>
              <a:rPr/>
              <a:t>整数索引和字符串名称都可以使用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8.4.1 VectorSlicer（2/2）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假设有一个名为 userFeatures 的 DataFrame</a:t>
            </a:r>
          </a:p>
          <a:p>
            <a:pPr lvl="0"/>
            <a:r>
              <a:rPr/>
              <a:t>代码 8‑52</a:t>
            </a:r>
          </a:p>
          <a:p>
            <a:pPr lvl="0"/>
            <a:r>
              <a:rPr/>
              <a:t>这里的 userFeatures 列可以理解成一个三维用户特征向量</a:t>
            </a:r>
          </a:p>
          <a:p>
            <a:pPr lvl="0"/>
            <a:r>
              <a:rPr/>
              <a:t>代码 8‑53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8.4.1 VectorSlicer：代码片段（1/4）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userFeatures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------------------
[0.0, 10.0, 0.5]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8.4.1 VectorSlicer：代码片段（2/4）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没有保留价值</a:t>
            </a:r>
          </a:p>
          <a:p>
            <a:pPr lvl="0" indent="0">
              <a:buNone/>
            </a:pPr>
            <a:r>
              <a:rPr>
                <a:latin typeface="Courier"/>
              </a:rPr>
              <a:t>userFeatures | features
------------------|-----------------------------
[0.0, 10.0, 0.5] | [10.0, 0.5]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8.4.1 VectorSlicer：代码片段（3/4）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如果这列向量还带有属性名</a:t>
            </a:r>
          </a:p>
          <a:p>
            <a:pPr lvl="0" indent="0">
              <a:buNone/>
            </a:pPr>
            <a:r>
              <a:rPr>
                <a:latin typeface="Courier"/>
              </a:rPr>
              <a:t>userFeatures | features
------------------|-----------------------------
[0.0, 10.0, 0.5] | [10.0, 0.5]
["f1", "f2", "f3"] | ["f2", "f3"]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8.4.1 VectorSlicer：代码片段（4/4）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java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Arrays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java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Arrays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attribute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Attribute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AttributeGroup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NumericAttribute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attribute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Attribute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AttributeGroup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NumericAttribute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VectorSlicer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VectorSlicer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8.4.2 RFormula（1/2）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目前，支持R运算符的有限子集，包括‘〜’、‘.’、‘:’、‘+’和‘-’</a:t>
            </a:r>
          </a:p>
          <a:p>
            <a:pPr lvl="0"/>
            <a:r>
              <a:rPr/>
              <a:t>+表示连接术语，“+ 0”表示除去截距</a:t>
            </a:r>
          </a:p>
          <a:p>
            <a:pPr lvl="0"/>
            <a:r>
              <a:rPr/>
              <a:t>-表示删除一个术语，“- 1”表示除去截距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8.4.2 RFormula（2/2）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:表示相互作用（乘法数值，或二进制化分类值）</a:t>
            </a:r>
          </a:p>
          <a:p>
            <a:pPr lvl="0"/>
            <a:r>
              <a:rPr/>
              <a:t>表示除了目标的所有列</a:t>
            </a:r>
          </a:p>
          <a:p>
            <a:pPr lvl="0"/>
            <a:r>
              <a:rPr/>
              <a:t>假设a和b是双列，用下面这个简单的例子来说明RFormula的效果</a:t>
            </a:r>
          </a:p>
          <a:p>
            <a:pPr lvl="0"/>
            <a:r>
              <a:rPr/>
              <a:t>y  a + b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8.4.2 RFormula：代码片段（1/3）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RFormula 借用了 R 语言里公式的写法</a:t>
            </a:r>
          </a:p>
          <a:p>
            <a:pPr lvl="0" indent="0">
              <a:buNone/>
            </a:pPr>
            <a:r>
              <a:rPr>
                <a:latin typeface="Courier"/>
              </a:rPr>
              <a:t>id | country | hour | clicked
---|---------|------|---------
7 | "US" | 18 | 1.0
8 | "CA" | 12 | 0.0
9 | "NZ" | 15 | 0.0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8.4.2 RFormula：代码片段（2/3）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这表明要基于country和hour预测clicked</a:t>
            </a:r>
          </a:p>
          <a:p>
            <a:pPr lvl="0" indent="0">
              <a:buNone/>
            </a:pPr>
            <a:r>
              <a:rPr>
                <a:latin typeface="Courier"/>
              </a:rPr>
              <a:t>id | country | hour | clicked | features | label
---|---------|------|---------|------------------|-------
7 | "US" | 18 | 1.0 | [0.0, 0.0, 18.0] | 1.0
8 | "CA" | 12 | 0.0 | [0.0, 1.0, 12.0] | 0.0
9 | "NZ" | 15 | 0.0 | [1.0, 0.0, 15.0] | 0.0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8.4.2 RFormula：代码片段（3/3）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RFormula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RFormula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dataset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"NZ"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"country"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"hour"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"clicked"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country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more fields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formula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RFormula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setFormula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"clicked </a:t>
            </a:r>
            <a:r>
              <a:rPr b="1">
                <a:solidFill>
                  <a:srgbClr val="FF0000"/>
                </a:solidFill>
                <a:latin typeface="Courier"/>
              </a:rPr>
              <a:t>\~</a:t>
            </a:r>
            <a:r>
              <a:rPr>
                <a:solidFill>
                  <a:srgbClr val="4070A0"/>
                </a:solidFill>
                <a:latin typeface="Courier"/>
              </a:rPr>
              <a:t> country +</a:t>
            </a:r>
            <a:br/>
            <a:r>
              <a:rPr>
                <a:latin typeface="Courier"/>
              </a:rPr>
              <a:t>hour</a:t>
            </a:r>
            <a:r>
              <a:rPr>
                <a:solidFill>
                  <a:srgbClr val="4070A0"/>
                </a:solidFill>
                <a:latin typeface="Courier"/>
              </a:rPr>
              <a:t>").setFeaturesCol("</a:t>
            </a:r>
            <a:r>
              <a:rPr>
                <a:latin typeface="Courier"/>
              </a:rPr>
              <a:t>features</a:t>
            </a:r>
            <a:r>
              <a:rPr>
                <a:solidFill>
                  <a:srgbClr val="4070A0"/>
                </a:solidFill>
                <a:latin typeface="Courier"/>
              </a:rPr>
              <a:t>").setLabelCol("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4070A0"/>
                </a:solidFill>
                <a:latin typeface="Courier"/>
              </a:rPr>
              <a:t>")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8.4.3 ChiSqSelector（1/2）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对于分类任务中的稀疏特征、词袋特征或已经离散化后的指标，它是很常见的一条筛选基线</a:t>
            </a:r>
          </a:p>
          <a:p>
            <a:pPr lvl="0"/>
            <a:r>
              <a:rPr/>
              <a:t>这类似于产生具有最大预测能力的特征</a:t>
            </a:r>
          </a:p>
          <a:p>
            <a:pPr lvl="0"/>
            <a:r>
              <a:rPr/>
              <a:t>Percentile：选择所有特征的一部分而不是固定的数字</a:t>
            </a:r>
          </a:p>
          <a:p>
            <a:pPr lvl="0"/>
            <a:r>
              <a:rPr/>
              <a:t>Fpr：选择p值低于阈值的所有特征，从而控制选择的误报率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8.4.3 ChiSqSelector（2/2）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Fdr：使用Benjamini-Hochberg过程来选择虚假发现率低于阈值的所有特征</a:t>
            </a:r>
          </a:p>
          <a:p>
            <a:pPr lvl="0"/>
            <a:r>
              <a:rPr/>
              <a:t>默认情况下，选择方法是numTopFeatures，顶级要素的默认数量设置为50</a:t>
            </a:r>
          </a:p>
          <a:p>
            <a:pPr lvl="0"/>
            <a:r>
              <a:rPr/>
              <a:t>代码 8‑63</a:t>
            </a:r>
          </a:p>
          <a:p>
            <a:pPr lvl="0"/>
            <a:r>
              <a:rPr/>
              <a:t>在下面这个例子里，根据标签 clicked，最终被保留下来的是特征向量的最后一列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8.4.3 ChiSqSelector：代码片段（1/3）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Few</a:t>
            </a:r>
          </a:p>
          <a:p>
            <a:pPr lvl="0" indent="0">
              <a:buNone/>
            </a:pPr>
            <a:r>
              <a:rPr>
                <a:latin typeface="Courier"/>
              </a:rPr>
              <a:t>id | features | clicked
---|-----------------------|---------
7 | [0.0, 0.0, 18.0, 1.0] | 1.0
8 | [0.0, 1.0, 12.0, 0.0] | 0.0
9 | [1.0, 0.0, 15.0, 0.1] | 0.0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8.4.3 ChiSqSelector：代码片段（2/3）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如果设置 numTopFeatures = 1</a:t>
            </a:r>
          </a:p>
          <a:p>
            <a:pPr lvl="0" indent="0">
              <a:buNone/>
            </a:pPr>
            <a:r>
              <a:rPr>
                <a:latin typeface="Courier"/>
              </a:rPr>
              <a:t>id | features | clicked | selectedFeatures
---|-----------------------|---------|------------------
7 | [0.0, 0.0, 18.0, 1.0] | 1.0 | [1.0]
8 | [0.0, 1.0, 12.0, 0.0] | 0.0 | [0.0]
9 | [1.0, 0.0, 15.0, 0.1] | 0.0 | [0.1]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8.4.3 ChiSqSelector：代码片段（3/3）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ChiSqSelector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ChiSqSelector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18.0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8.4.4 UnivariateFeatureSelecto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可以根据任务类型和特征类型，自动选择更合适的检验方式</a:t>
            </a:r>
          </a:p>
          <a:p>
            <a:pPr lvl="0"/>
            <a:r>
              <a:rPr/>
              <a:t>这类方法依然属于过滤式特征选择</a:t>
            </a:r>
          </a:p>
          <a:p>
            <a:pPr lvl="0"/>
            <a:r>
              <a:rPr/>
              <a:t>它和 ChiSqSelector 的关系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8.4.5 VarianceThresholdSelecto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VarianceThresholdSelector 就是围绕这个判断展开的</a:t>
            </a:r>
          </a:p>
          <a:p>
            <a:pPr lvl="0"/>
            <a:r>
              <a:rPr/>
              <a:t>VarianceThresholdSelector 更适合放在特征工程前段</a:t>
            </a:r>
          </a:p>
          <a:p>
            <a:pPr lvl="0"/>
            <a:r>
              <a:rPr/>
              <a:t>后面如果还需要进一步收敛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2026-04-05T02:25:47Z</dcterms:created>
  <dcterms:modified xsi:type="dcterms:W3CDTF">2026-04-05T02:25:47Z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