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app.xml" ContentType="application/vnd.openxmlformats-officedocument.extended-propertie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2.xml" ContentType="application/vnd.openxmlformats-officedocument.presentationml.slideLayout+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Overrid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74" r:id="rId1"/>
  </p:sldMasterIdLst>
  <p:notesMasterIdLst>
    <p:notesMasterId r:id="rId6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sldSz cx="12192000" cy="6858000"/>
  <p:notesSz cx="6858000" cy="9144000"/>
  <p:defaultText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horzBarState="maximized">
    <p:restoredLeft autoAdjust="0" sz="14995"/>
    <p:restoredTop autoAdjust="0" sz="73134"/>
  </p:normalViewPr>
  <p:slideViewPr>
    <p:cSldViewPr snapToGrid="0" snapToObjects="1">
      <p:cViewPr varScale="1">
        <p:scale>
          <a:sx d="100" n="111"/>
          <a:sy d="100" n="111"/>
        </p:scale>
        <p:origin x="594" y="114"/>
      </p:cViewPr>
      <p:guideLst>
        <p:guide orient="horz" pos="2160"/>
        <p:guide pos="3840"/>
      </p:guideLst>
    </p:cSldViewPr>
  </p:slideViewPr>
  <p:notesTextViewPr>
    <p:cViewPr>
      <p:scale>
        <a:sx d="100" n="125"/>
        <a:sy d="100" n="125"/>
      </p:scale>
      <p:origin x="0" y="0"/>
    </p:cViewPr>
  </p:notesTextViewPr>
  <p:sorterViewPr>
    <p:cViewPr>
      <p:scale>
        <a:sx d="100" n="66"/>
        <a:sy d="100" n="66"/>
      </p:scale>
      <p:origin x="0" y="0"/>
    </p:cViewPr>
  </p:sorterViewPr>
  <p:notesViewPr>
    <p:cSldViewPr snapToGrid="0" snapToObjects="1">
      <p:cViewPr varScale="1">
        <p:scale>
          <a:sx d="100" n="74"/>
          <a:sy d="100" n="74"/>
        </p:scale>
        <p:origin x="3528" y="192"/>
      </p:cViewPr>
      <p:guideLst/>
    </p:cSldViewPr>
  </p:notesViewPr>
  <p:gridSpacing cx="72008" cy="72008"/>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notesMaster" Target="notesMasters/notesMaster1.xml" /><Relationship Id="rId64" Type="http://schemas.openxmlformats.org/officeDocument/2006/relationships/tableStyles" Target="tableStyles.xml" /><Relationship Id="rId1" Type="http://schemas.openxmlformats.org/officeDocument/2006/relationships/slideMaster" Target="slideMasters/slideMaster1.xml" /><Relationship Id="rId63" Type="http://schemas.openxmlformats.org/officeDocument/2006/relationships/theme" Target="theme/theme1.xml" /><Relationship Id="rId62" Type="http://schemas.openxmlformats.org/officeDocument/2006/relationships/viewProps" Target="viewProps.xml" /><Relationship Id="rId61"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3BC92-6832-A747-B637-CA8F71133A42}" type="datetimeFigureOut">
              <a:rPr lang="en-US" smtClean="0"/>
              <a:t>4/4/2026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9B7EA9-A690-144F-BA16-8B1F010DDC74}" type="slidenum">
              <a:rPr lang="en-US" smtClean="0"/>
              <a:t>‹#›</a:t>
            </a:fld>
            <a:endParaRPr lang="en-US"/>
          </a:p>
        </p:txBody>
      </p:sp>
    </p:spTree>
    <p:extLst>
      <p:ext uri="{BB962C8B-B14F-4D97-AF65-F5344CB8AC3E}">
        <p14:creationId xmlns:p14="http://schemas.microsoft.com/office/powerpoint/2010/main" val="473539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45.xml.rels><?xml version="1.0" encoding="UTF-8"?><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46.xml.rels><?xml version="1.0" encoding="UTF-8"?><Relationships xmlns="http://schemas.openxmlformats.org/package/2006/relationships"><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47.xml.rels><?xml version="1.0" encoding="UTF-8"?><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48.xml.rels><?xml version="1.0" encoding="UTF-8"?><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49.xml.rels><?xml version="1.0" encoding="UTF-8"?><Relationships xmlns="http://schemas.openxmlformats.org/package/2006/relationships"><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_rels/notesSlide50.xml.rels><?xml version="1.0" encoding="UTF-8"?><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51.xml.rels><?xml version="1.0" encoding="UTF-8"?><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_rels/notesSlide52.xml.rels><?xml version="1.0" encoding="UTF-8"?><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53.xml.rels><?xml version="1.0" encoding="UTF-8"?><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54.xml.rels><?xml version="1.0" encoding="UTF-8"?><Relationships xmlns="http://schemas.openxmlformats.org/package/2006/relationships"><Relationship Id="rId2" Type="http://schemas.openxmlformats.org/officeDocument/2006/relationships/slide" Target="../slides/slide54.xml" /><Relationship Id="rId1" Type="http://schemas.openxmlformats.org/officeDocument/2006/relationships/notesMaster" Target="../notesMasters/notesMaster1.xml" /></Relationships>
</file>

<file path=ppt/notesSlides/_rels/notesSlide55.xml.rels><?xml version="1.0" encoding="UTF-8"?><Relationships xmlns="http://schemas.openxmlformats.org/package/2006/relationships"><Relationship Id="rId2" Type="http://schemas.openxmlformats.org/officeDocument/2006/relationships/slide" Target="../slides/slide55.xml" /><Relationship Id="rId1" Type="http://schemas.openxmlformats.org/officeDocument/2006/relationships/notesMaster" Target="../notesMasters/notesMaster1.xml" /></Relationships>
</file>

<file path=ppt/notesSlides/_rels/notesSlide56.xml.rels><?xml version="1.0" encoding="UTF-8"?><Relationships xmlns="http://schemas.openxmlformats.org/package/2006/relationships"><Relationship Id="rId2" Type="http://schemas.openxmlformats.org/officeDocument/2006/relationships/slide" Target="../slides/slide56.xml" /><Relationship Id="rId1" Type="http://schemas.openxmlformats.org/officeDocument/2006/relationships/notesMaster" Target="../notesMasters/notesMaster1.xml" /></Relationships>
</file>

<file path=ppt/notesSlides/_rels/notesSlide57.xml.rels><?xml version="1.0" encoding="UTF-8"?><Relationships xmlns="http://schemas.openxmlformats.org/package/2006/relationships"><Relationship Id="rId2" Type="http://schemas.openxmlformats.org/officeDocument/2006/relationships/slide" Target="../slides/slide57.xml" /><Relationship Id="rId1" Type="http://schemas.openxmlformats.org/officeDocument/2006/relationships/notesMaster" Target="../notesMasters/notesMaster1.xml" /></Relationships>
</file>

<file path=ppt/notesSlides/_rels/notesSlide58.xml.rels><?xml version="1.0" encoding="UTF-8"?><Relationships xmlns="http://schemas.openxmlformats.org/package/2006/relationships"><Relationship Id="rId2" Type="http://schemas.openxmlformats.org/officeDocument/2006/relationships/slide" Target="../slides/slide5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Scala和Spark一直是很自然的组合。Scala既支持面向对象编程（Object-Oriented Programming），也支持函数式编程（Functional Programming），因此既适合组织工程代码，也适合表达数据转换逻辑。面向对象编程强调类、对象、封装与复用，便于构建模块化系统。 接下来会依次看 Scala编程、面向对象编程，以及 函数式编程，后面的实现和案例都会沿着这条线继续展开。</a:t>
            </a:r>
          </a:p>
        </p:txBody>
      </p:sp>
      <p:sp>
        <p:nvSpPr>
          <p:cNvPr id="4" name="Slide Number Placeholder 3"/>
          <p:cNvSpPr>
            <a:spLocks noGrp="1"/>
          </p:cNvSpPr>
          <p:nvPr>
            <p:ph type="sldNum" sz="quarter" idx="10"/>
          </p:nvPr>
        </p:nvSpPr>
        <p:spPr/>
        <p:txBody>
          <a:bodyPr/>
          <a:lstStyle/>
          <a:p>
            <a:fld id="{DE9B7EA9-A690-144F-BA16-8B1F010DDC74}" type="slidenum">
              <a:rPr lang="en-US"/>
              <a:t>1</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这一页先把 2.5 Scala编程 的主线串起来，重点包括 Scala编程、面向对象编程、函数式编程，以及 集合类。先知道每一步要解决什么问题，后面的细节就更容易跟住。</a:t>
            </a:r>
          </a:p>
        </p:txBody>
      </p:sp>
      <p:sp>
        <p:nvSpPr>
          <p:cNvPr id="4" name="Slide Number Placeholder 3"/>
          <p:cNvSpPr>
            <a:spLocks noGrp="1"/>
          </p:cNvSpPr>
          <p:nvPr>
            <p:ph type="sldNum" sz="quarter" idx="10"/>
          </p:nvPr>
        </p:nvSpPr>
        <p:spPr/>
        <p:txBody>
          <a:bodyPr/>
          <a:lstStyle/>
          <a:p>
            <a:fld id="{DE9B7EA9-A690-144F-BA16-8B1F010DDC74}" type="slidenum">
              <a:rPr lang="en-US"/>
              <a:t>2</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要启动REPL会话，只需在本教程提供的虚拟环境的命令中键入scala，将看到以下内容。</a:t>
            </a:r>
          </a:p>
          <a:p>
            <a:pPr lvl="0" indent="0" marL="0">
              <a:buNone/>
            </a:pPr>
          </a:p>
          <a:p>
            <a:pPr lvl="0" indent="0" marL="0">
              <a:buNone/>
            </a:pPr>
            <a:r>
              <a:rPr/>
              <a:t>Or try :help.。</a:t>
            </a:r>
          </a:p>
          <a:p>
            <a:pPr lvl="0" indent="0" marL="0">
              <a:buNone/>
            </a:pPr>
          </a:p>
          <a:p>
            <a:pPr lvl="0" indent="0" marL="0">
              <a:buNone/>
            </a:pPr>
            <a:r>
              <a:rPr/>
              <a:t>因为REPL是命令行解释器，所以需要键入代码然后回车执行就可以看到结果。</a:t>
            </a:r>
          </a:p>
        </p:txBody>
      </p:sp>
      <p:sp>
        <p:nvSpPr>
          <p:cNvPr id="4" name="Slide Number Placeholder 3"/>
          <p:cNvSpPr>
            <a:spLocks noGrp="1"/>
          </p:cNvSpPr>
          <p:nvPr>
            <p:ph type="sldNum" sz="quarter" idx="10"/>
          </p:nvPr>
        </p:nvSpPr>
        <p:spPr/>
        <p:txBody>
          <a:bodyPr/>
          <a:lstStyle/>
          <a:p>
            <a:fld id="{DE9B7EA9-A690-144F-BA16-8B1F010DDC74}" type="slidenum">
              <a:rPr lang="en-US"/>
              <a:t>3</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如果不将表达式的结果分配给变量，则REPL会自动创建以res为开头的变量，第一个变量是res0，第二个变量是res1，等等。</a:t>
            </a:r>
          </a:p>
          <a:p>
            <a:pPr lvl="0" indent="0" marL="0">
              <a:buNone/>
            </a:pPr>
          </a:p>
          <a:p>
            <a:pPr lvl="0" indent="0" marL="0">
              <a:buNone/>
            </a:pPr>
            <a:r>
              <a:rPr/>
              <a:t>在本书中大部分的例子使用了Spark Shell工具，这就是Spark提供的REPL，只是在启动工具时加载了Spark程序包，可以直接在命令上调用。这里继续使用REPL进行实验。下面是一些表达式，可以尝试看看它们如何工作。</a:t>
            </a:r>
          </a:p>
        </p:txBody>
      </p:sp>
      <p:sp>
        <p:nvSpPr>
          <p:cNvPr id="4" name="Slide Number Placeholder 3"/>
          <p:cNvSpPr>
            <a:spLocks noGrp="1"/>
          </p:cNvSpPr>
          <p:nvPr>
            <p:ph type="sldNum" sz="quarter" idx="10"/>
          </p:nvPr>
        </p:nvSpPr>
        <p:spPr/>
        <p:txBody>
          <a:bodyPr/>
          <a:lstStyle/>
          <a:p>
            <a:fld id="{DE9B7EA9-A690-144F-BA16-8B1F010DDC74}" type="slidenum">
              <a:rPr lang="en-US"/>
              <a:t>4</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5</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6</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7</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8</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9</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10</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11</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12</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13</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14</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15</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16</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17</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18</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19</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20</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21</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22</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23</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24</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25</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26</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27</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28</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29</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30</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31</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以面向对象编程风格和函数式编程风格甚至混合风格编写代码。如果之前学习过Java、C ++或C＃之类的面向对象编程语言，这有利于我们理解相关的概念。但是，由于函数式编程风格对于许多开发人员来说仍相对较新，所以理解起来会有些难度，我们可以现从简单的概念入手。</a:t>
            </a:r>
          </a:p>
          <a:p>
            <a:pPr lvl="0" indent="0" marL="0">
              <a:buNone/>
            </a:pPr>
          </a:p>
          <a:p>
            <a:pPr lvl="0" indent="0" marL="0">
              <a:buNone/>
            </a:pPr>
            <a:r>
              <a:rPr/>
              <a:t>函数式编程是一种编程风格，强调只使用纯函数和不可变值编写应用程序，函数式程序员非常渴望将其代码视为数学中的函数公式，并且可以将它们组合成为一系列代数方程式。使用函数式编程更像是数据科学家通过定义数据公式解决问题，驱使他们仅使用纯函数和不可变值，因为这就是我们在代数和其他形式的数学中所使用的。</a:t>
            </a:r>
          </a:p>
          <a:p>
            <a:pPr lvl="0" indent="0" marL="0">
              <a:buNone/>
            </a:pPr>
          </a:p>
          <a:p>
            <a:pPr lvl="0" indent="0" marL="0">
              <a:buNone/>
            </a:pPr>
            <a:r>
              <a:rPr/>
              <a:t>不会从外界读取数据（包括控制台、Web服务、数据库和文件等），也不会向外界写入数据。由于此定义，每次调用具有相同输入值的纯函数时，总会得到相同的结果，例如可以使用输入值2无限次调用double函数，并且始终获得结果4。</a:t>
            </a:r>
          </a:p>
        </p:txBody>
      </p:sp>
      <p:sp>
        <p:nvSpPr>
          <p:cNvPr id="4" name="Slide Number Placeholder 3"/>
          <p:cNvSpPr>
            <a:spLocks noGrp="1"/>
          </p:cNvSpPr>
          <p:nvPr>
            <p:ph type="sldNum" sz="quarter" idx="10"/>
          </p:nvPr>
        </p:nvSpPr>
        <p:spPr/>
        <p:txBody>
          <a:bodyPr/>
          <a:lstStyle/>
          <a:p>
            <a:fld id="{DE9B7EA9-A690-144F-BA16-8B1F010DDC74}" type="slidenum">
              <a:rPr lang="en-US"/>
              <a:t>32</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相反，以下功能不纯，因为它们违反了定义。与日期和时间相关的方法都不纯，例如getDayOfWeek，getHour和getMinute，因为它们的输出取决于输入参数以外的其他东西，他们的结果依赖于这些示例中某种形式的隐藏输入输出操作和隐藏输入。通常，不纯函数会执行以下一项或多项操作。</a:t>
            </a:r>
          </a:p>
        </p:txBody>
      </p:sp>
      <p:sp>
        <p:nvSpPr>
          <p:cNvPr id="4" name="Slide Number Placeholder 3"/>
          <p:cNvSpPr>
            <a:spLocks noGrp="1"/>
          </p:cNvSpPr>
          <p:nvPr>
            <p:ph type="sldNum" sz="quarter" idx="10"/>
          </p:nvPr>
        </p:nvSpPr>
        <p:spPr/>
        <p:txBody>
          <a:bodyPr/>
          <a:lstStyle/>
          <a:p>
            <a:fld id="{DE9B7EA9-A690-144F-BA16-8B1F010DDC74}" type="slidenum">
              <a:rPr lang="en-US"/>
              <a:t>33</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map 的作用是保持数据条数大体不变，但把每条记录改造成更适合后续计算的形式。讲的时候要点出转换前后的结构差异。</a:t>
            </a:r>
          </a:p>
          <a:p>
            <a:pPr lvl="0" indent="0" marL="0">
              <a:buNone/>
            </a:pPr>
          </a:p>
          <a:p>
            <a:pPr lvl="0" indent="0" marL="0">
              <a:buNone/>
            </a:pPr>
            <a:r>
              <a:rPr/>
              <a:t>这一步是在缩小计算范围。把过滤条件讲清楚，后面聚合出来的结果才能知道是在什么约束下得到的。</a:t>
            </a:r>
          </a:p>
        </p:txBody>
      </p:sp>
      <p:sp>
        <p:nvSpPr>
          <p:cNvPr id="4" name="Slide Number Placeholder 3"/>
          <p:cNvSpPr>
            <a:spLocks noGrp="1"/>
          </p:cNvSpPr>
          <p:nvPr>
            <p:ph type="sldNum" sz="quarter" idx="10"/>
          </p:nvPr>
        </p:nvSpPr>
        <p:spPr/>
        <p:txBody>
          <a:bodyPr/>
          <a:lstStyle/>
          <a:p>
            <a:fld id="{DE9B7EA9-A690-144F-BA16-8B1F010DDC74}" type="slidenum">
              <a:rPr lang="en-US"/>
              <a:t>34</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map 的作用是保持数据条数大体不变，但把每条记录改造成更适合后续计算的形式。讲的时候要点出转换前后的结构差异。</a:t>
            </a:r>
          </a:p>
        </p:txBody>
      </p:sp>
      <p:sp>
        <p:nvSpPr>
          <p:cNvPr id="4" name="Slide Number Placeholder 3"/>
          <p:cNvSpPr>
            <a:spLocks noGrp="1"/>
          </p:cNvSpPr>
          <p:nvPr>
            <p:ph type="sldNum" sz="quarter" idx="10"/>
          </p:nvPr>
        </p:nvSpPr>
        <p:spPr/>
        <p:txBody>
          <a:bodyPr/>
          <a:lstStyle/>
          <a:p>
            <a:fld id="{DE9B7EA9-A690-144F-BA16-8B1F010DDC74}" type="slidenum">
              <a:rPr lang="en-US"/>
              <a:t>35</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map 的作用是保持数据条数大体不变，但把每条记录改造成更适合后续计算的形式。讲的时候要点出转换前后的结构差异。</a:t>
            </a:r>
          </a:p>
          <a:p>
            <a:pPr lvl="0" indent="0" marL="0">
              <a:buNone/>
            </a:pPr>
          </a:p>
          <a:p>
            <a:pPr lvl="0" indent="0" marL="0">
              <a:buNone/>
            </a:pPr>
            <a:r>
              <a:rPr/>
              <a:t>这一步是在缩小计算范围。把过滤条件讲清楚，后面聚合出来的结果才能知道是在什么约束下得到的。</a:t>
            </a:r>
          </a:p>
        </p:txBody>
      </p:sp>
      <p:sp>
        <p:nvSpPr>
          <p:cNvPr id="4" name="Slide Number Placeholder 3"/>
          <p:cNvSpPr>
            <a:spLocks noGrp="1"/>
          </p:cNvSpPr>
          <p:nvPr>
            <p:ph type="sldNum" sz="quarter" idx="10"/>
          </p:nvPr>
        </p:nvSpPr>
        <p:spPr/>
        <p:txBody>
          <a:bodyPr/>
          <a:lstStyle/>
          <a:p>
            <a:fld id="{DE9B7EA9-A690-144F-BA16-8B1F010DDC74}" type="slidenum">
              <a:rPr lang="en-US"/>
              <a:t>36</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map 的作用是保持数据条数大体不变，但把每条记录改造成更适合后续计算的形式。讲的时候要点出转换前后的结构差异。</a:t>
            </a:r>
          </a:p>
        </p:txBody>
      </p:sp>
      <p:sp>
        <p:nvSpPr>
          <p:cNvPr id="4" name="Slide Number Placeholder 3"/>
          <p:cNvSpPr>
            <a:spLocks noGrp="1"/>
          </p:cNvSpPr>
          <p:nvPr>
            <p:ph type="sldNum" sz="quarter" idx="10"/>
          </p:nvPr>
        </p:nvSpPr>
        <p:spPr/>
        <p:txBody>
          <a:bodyPr/>
          <a:lstStyle/>
          <a:p>
            <a:fld id="{DE9B7EA9-A690-144F-BA16-8B1F010DDC74}" type="slidenum">
              <a:rPr lang="en-US"/>
              <a:t>37</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38</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39</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40</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41</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可变集合可以在必要时进行更改、更新或扩展，但是不可变集合不能更改。大多数集合类分别位于包scala.collection、scala.collection.immutable和scala.collection.mutable中。我们使用的主要Scala集合类是。</a:t>
            </a:r>
          </a:p>
          <a:p>
            <a:pPr lvl="0" indent="0" marL="0">
              <a:buNone/>
            </a:pPr>
          </a:p>
          <a:p>
            <a:pPr lvl="0" indent="0" marL="0">
              <a:buNone/>
            </a:pPr>
            <a:r>
              <a:rPr/>
              <a:t>因此可以使用其方法来修改其内容，并且这些方法类似于Java序列上的方法。要使用ArrayBuffer必须先将其导入。</a:t>
            </a:r>
          </a:p>
          <a:p>
            <a:pPr lvl="0" indent="0" marL="0">
              <a:buNone/>
            </a:pPr>
          </a:p>
          <a:p>
            <a:pPr lvl="0" indent="0" marL="0">
              <a:buNone/>
            </a:pPr>
            <a:r>
              <a:rPr/>
              <a:t>将其导入本地范围后，将创建一个空的ArrayBuffer，可以通过多种方式向其中添加元素，如下所示。</a:t>
            </a:r>
          </a:p>
          <a:p>
            <a:pPr lvl="0" indent="0" marL="0">
              <a:buNone/>
            </a:pPr>
          </a:p>
          <a:p>
            <a:pPr lvl="0" indent="0" marL="0">
              <a:buNone/>
            </a:pPr>
            <a:r>
              <a:rPr/>
              <a:t>还可以使用以下初始元素创建ArrayBuffer，通过以下几种方法向此ArrayBuffer添加更多元素。</a:t>
            </a:r>
          </a:p>
        </p:txBody>
      </p:sp>
      <p:sp>
        <p:nvSpPr>
          <p:cNvPr id="4" name="Slide Number Placeholder 3"/>
          <p:cNvSpPr>
            <a:spLocks noGrp="1"/>
          </p:cNvSpPr>
          <p:nvPr>
            <p:ph type="sldNum" sz="quarter" idx="10"/>
          </p:nvPr>
        </p:nvSpPr>
        <p:spPr/>
        <p:txBody>
          <a:bodyPr/>
          <a:lstStyle/>
          <a:p>
            <a:fld id="{DE9B7EA9-A690-144F-BA16-8B1F010DDC74}" type="slidenum">
              <a:rPr lang="en-US"/>
              <a:t>42</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List类是线性的，不可变的序列。这意味着它是一个无法修改的链表，每当要添加或删除List元素时，都可以从一个现存的List中创建一个新元素List。</a:t>
            </a:r>
          </a:p>
          <a:p>
            <a:pPr lvl="0" indent="0" marL="0">
              <a:buNone/>
            </a:pPr>
          </a:p>
          <a:p>
            <a:pPr lvl="0" indent="0" marL="0">
              <a:buNone/>
            </a:pPr>
            <a:r>
              <a:rPr/>
              <a:t>由于列表是不可变的，因此无法向其中添加新元素。</a:t>
            </a:r>
          </a:p>
        </p:txBody>
      </p:sp>
      <p:sp>
        <p:nvSpPr>
          <p:cNvPr id="4" name="Slide Number Placeholder 3"/>
          <p:cNvSpPr>
            <a:spLocks noGrp="1"/>
          </p:cNvSpPr>
          <p:nvPr>
            <p:ph type="sldNum" sz="quarter" idx="10"/>
          </p:nvPr>
        </p:nvSpPr>
        <p:spPr/>
        <p:txBody>
          <a:bodyPr/>
          <a:lstStyle/>
          <a:p>
            <a:fld id="{DE9B7EA9-A690-144F-BA16-8B1F010DDC74}" type="slidenum">
              <a:rPr lang="en-US"/>
              <a:t>43</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44</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45</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46</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47</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48</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49</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map 的作用是保持数据条数大体不变，但把每条记录改造成更适合后续计算的形式。讲的时候要点出转换前后的结构差异。</a:t>
            </a:r>
          </a:p>
          <a:p>
            <a:pPr lvl="0" indent="0" marL="0">
              <a:buNone/>
            </a:pPr>
          </a:p>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50</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51</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52</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53</a:t>
            </a:fld>
            <a:endParaRPr lang="en-US"/>
          </a:p>
        </p:txBody>
      </p:sp>
    </p:spTree>
  </p:cSld>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54</a:t>
            </a:fld>
            <a:endParaRPr lang="en-US"/>
          </a:p>
        </p:txBody>
      </p:sp>
    </p:spTree>
  </p:cSld>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55</a:t>
            </a:fld>
            <a:endParaRPr lang="en-US"/>
          </a:p>
        </p:txBody>
      </p:sp>
    </p:spTree>
  </p:cSld>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56</a:t>
            </a:fld>
            <a:endParaRPr lang="en-US"/>
          </a:p>
        </p:txBody>
      </p:sp>
    </p:spTree>
  </p:cSld>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57</a:t>
            </a:fld>
            <a:endParaRPr lang="en-US"/>
          </a:p>
        </p:txBody>
      </p:sp>
    </p:spTree>
  </p:cSld>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cala集合类是一个易于理解且经常使用的编程抽象，可以分为可变集合和不可变集合。可变集合可以在必要时进行更改、更新或扩展，但是不可变集合不能更改。大多数集合类分别位于包scala.collection、scala.collection.immutable和scala.collection.mutable中。</a:t>
            </a:r>
          </a:p>
          <a:p>
            <a:pPr lvl="0" indent="0" marL="0">
              <a:buNone/>
            </a:pPr>
          </a:p>
          <a:p>
            <a:pPr lvl="0" indent="0" marL="0">
              <a:buNone/>
            </a:pPr>
            <a:r>
              <a:rPr/>
              <a:t>先把表头对应的对象和维度说清楚，再指出哪些差异最大，以及这些差异能支持什么判断。</a:t>
            </a:r>
          </a:p>
        </p:txBody>
      </p:sp>
      <p:sp>
        <p:nvSpPr>
          <p:cNvPr id="4" name="Slide Number Placeholder 3"/>
          <p:cNvSpPr>
            <a:spLocks noGrp="1"/>
          </p:cNvSpPr>
          <p:nvPr>
            <p:ph type="sldNum" sz="quarter" idx="10"/>
          </p:nvPr>
        </p:nvSpPr>
        <p:spPr/>
        <p:txBody>
          <a:bodyPr/>
          <a:lstStyle/>
          <a:p>
            <a:fld id="{DE9B7EA9-A690-144F-BA16-8B1F010DDC74}" type="slidenum">
              <a:rPr lang="en-US"/>
              <a:t>58</a:t>
            </a:fld>
            <a:endParaRPr lang="en-US"/>
          </a:p>
        </p:txBody>
      </p:sp>
    </p:spTree>
  </p:cSld>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alphaModFix amt="40000"/>
            <a:lum/>
          </a:blip>
          <a:srcRect/>
          <a:stretch>
            <a:fillRect t="-17000" b="-17000"/>
          </a:stretch>
        </a:blipFill>
        <a:effectLst/>
      </p:bgPr>
    </p:bg>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7ECABF76-9C2F-D371-903D-E97C0E1B9C91}"/>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dirty="0"/>
          </a:p>
        </p:txBody>
      </p:sp>
      <p:sp>
        <p:nvSpPr>
          <p:cNvPr id="5" name="页脚占位符 4">
            <a:extLst>
              <a:ext uri="{FF2B5EF4-FFF2-40B4-BE49-F238E27FC236}">
                <a16:creationId xmlns:a16="http://schemas.microsoft.com/office/drawing/2014/main" id="{492F9890-10D8-CB5F-B6C5-6AA3D4B9500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2F913E87-A25C-F596-9980-BB331ACDF7F2}"/>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56832175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r>
              <a:rPr lang="zh-CN" altLang="en-US"/>
              <a:t>单击此处编辑母版标题样式</a:t>
            </a:r>
            <a:endParaRPr lang="zh-CN" altLang="en-US" dirty="0"/>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4" name="日期占位符 3">
            <a:extLst>
              <a:ext uri="{FF2B5EF4-FFF2-40B4-BE49-F238E27FC236}">
                <a16:creationId xmlns:a16="http://schemas.microsoft.com/office/drawing/2014/main" id="{8AA5FF4F-7DD0-1B50-1776-21D6767FECFC}"/>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F1660517-C7E1-2345-BAEE-7DE4EEC41D8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74ADE76A-020F-D5F0-0BC4-B610078D3DA5}"/>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529570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3">
            <a:alphaModFix amt="40000"/>
            <a:lum/>
          </a:blip>
          <a:srcRect/>
          <a:stretch>
            <a:fillRect t="-17000" b="-17000"/>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040073-8706-9CF2-AB5C-43344524DBFC}"/>
              </a:ext>
            </a:extLst>
          </p:cNvPr>
          <p:cNvSpPr>
            <a:spLocks noGrp="1"/>
          </p:cNvSpPr>
          <p:nvPr>
            <p:ph type="title"/>
          </p:nvPr>
        </p:nvSpPr>
        <p:spPr>
          <a:xfrm>
            <a:off x="1268962" y="1709738"/>
            <a:ext cx="10078487" cy="2852737"/>
          </a:xfrm>
        </p:spPr>
        <p:txBody>
          <a:bodyPr anchor="b"/>
          <a:lstStyle>
            <a:lvl1pPr>
              <a:defRPr sz="6000"/>
            </a:lvl1pPr>
          </a:lstStyle>
          <a:p>
            <a:r>
              <a:rPr lang="zh-CN" altLang="en-US"/>
              <a:t>单击此处编辑母版标题样式</a:t>
            </a:r>
            <a:endParaRPr lang="zh-CN" altLang="en-US" dirty="0"/>
          </a:p>
        </p:txBody>
      </p:sp>
      <p:sp>
        <p:nvSpPr>
          <p:cNvPr id="3" name="文本占位符 2">
            <a:extLst>
              <a:ext uri="{FF2B5EF4-FFF2-40B4-BE49-F238E27FC236}">
                <a16:creationId xmlns:a16="http://schemas.microsoft.com/office/drawing/2014/main" id="{E6B6A5AA-2CE0-7F97-999B-C5F0DDBACE38}"/>
              </a:ext>
            </a:extLst>
          </p:cNvPr>
          <p:cNvSpPr>
            <a:spLocks noGrp="1"/>
          </p:cNvSpPr>
          <p:nvPr>
            <p:ph type="body" idx="1"/>
          </p:nvPr>
        </p:nvSpPr>
        <p:spPr>
          <a:xfrm>
            <a:off x="1268962" y="4589463"/>
            <a:ext cx="10078488" cy="1500187"/>
          </a:xfrm>
        </p:spPr>
        <p:txBody>
          <a:bodyPr/>
          <a:lstStyle>
            <a:lvl1pPr marL="0" indent="0">
              <a:buNone/>
              <a:defRPr sz="24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E106CB1-EA12-800C-FE5D-A580F81038BF}"/>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7820A361-2D0D-58AE-A643-51A3789772B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4087CFBA-3BD7-C2DF-B3EF-CB4E61251266}"/>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33886497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36834E-C79A-EEEC-7C4D-B21EC99CC71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5CE83A1-72B1-E824-1FEC-9FA81425D11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7D04530-5C4D-D318-A728-0F5A61C8A93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011C699-0C81-4E34-1FBE-DAF9131B51BF}"/>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EFC7A728-6EA6-5B23-E109-2190ADC5E88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1651E736-A63F-E249-DAAD-375440957E10}"/>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343756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7B26F5-D101-7F53-EEA6-B180C2D3E47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E523223-7C55-5B3B-9E25-5DBF0C9845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0B2B2FF-B432-8FC4-4967-D96BF98AF75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1C93D20-432B-7986-DC93-16510407A3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82581EC-B1B9-061F-D484-D2558A58637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6A5BF5B-F3CF-47CF-BE24-A37965296F4B}"/>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8" name="页脚占位符 7">
            <a:extLst>
              <a:ext uri="{FF2B5EF4-FFF2-40B4-BE49-F238E27FC236}">
                <a16:creationId xmlns:a16="http://schemas.microsoft.com/office/drawing/2014/main" id="{D45CDA27-DD70-2B01-5F59-257B263DAB3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2875554E-B481-827A-280A-5CFE24C34B53}"/>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018539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175C2C-5148-B92D-0F2C-01739D3A3B1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86D78FA-5E3B-1D60-F1DF-9C9D717C3384}"/>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4" name="页脚占位符 3">
            <a:extLst>
              <a:ext uri="{FF2B5EF4-FFF2-40B4-BE49-F238E27FC236}">
                <a16:creationId xmlns:a16="http://schemas.microsoft.com/office/drawing/2014/main" id="{DE05D53A-E3B7-A12B-A85C-94087F17F978}"/>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20B9AB23-A358-A513-F247-6668D1A71D5A}"/>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31810278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A1C6BA2-220C-C148-07F6-4F9EFDCF0BE8}"/>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3" name="页脚占位符 2">
            <a:extLst>
              <a:ext uri="{FF2B5EF4-FFF2-40B4-BE49-F238E27FC236}">
                <a16:creationId xmlns:a16="http://schemas.microsoft.com/office/drawing/2014/main" id="{DC964A1C-DA2A-2AFD-30E4-0884A5B01E4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EA517830-35C2-8994-A464-96771B0001FB}"/>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258729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6D2CB4-AB0D-17DE-E2B4-209C273FC34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EF0E53D-7A81-84EB-758C-7F237FBAD6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99B1241-8411-8D36-A148-57CE3BE46F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1E7D7C1-BED9-CCE3-1928-1646D4F172AA}"/>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CE176011-BC01-0349-F55D-BB6FB83932E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D3A4B918-0508-C574-25D4-E60D9AF29121}"/>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587031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2217CC-6ABA-2E5C-F68E-2016D677390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EF7925F-0C0E-5E47-AB8B-D7C46C5F2C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437ACCD2-AA78-6C23-14F6-251A042FD0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DDF9F0E-8B9C-0C2B-54FC-1914BEC8AD2A}"/>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1FF57E80-0D1C-034D-97FC-0F7515CC5D0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7B08D629-2887-6D93-5948-37C821477268}"/>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467010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88E821-5A2C-D478-CC69-D9FCF918B17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138B5FD-C9D5-1F5D-4127-D4692377A88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BADB43B-FD92-40FB-7B50-30ECF4001019}"/>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84BC46E9-B1B0-7A6A-491D-CC69ED64702D}"/>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98019B09-F8C1-4ACD-8941-CB6457B59B2E}"/>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3624897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12E23E3-A5B8-E1F3-CCAE-C8FC0398697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35ABE13-47FF-9320-0BD9-0213F7FC7BE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1BB3054-4D7F-3B3B-E1A3-1357944A128E}"/>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E202E990-2169-8BC6-65CE-47FB9207B7E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6C2F675A-7299-AC6A-E0D6-3D6A6E1549D8}"/>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7327382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0307277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2_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66263944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6709499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slideLayouts/slideLayout13.xml" Type="http://schemas.openxmlformats.org/officeDocument/2006/relationships/slideLayout" /><Relationship Id="rId18" Target="../media/hdphoto1.wdp" Type="http://schemas.microsoft.com/office/2007/relationships/hdphoto"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slideLayouts/slideLayout12.xml" Type="http://schemas.openxmlformats.org/officeDocument/2006/relationships/slideLayout" /><Relationship Id="rId17" Target="../media/image2.png" Type="http://schemas.openxmlformats.org/officeDocument/2006/relationships/image" /><Relationship Id="rId2" Target="../slideLayouts/slideLayout2.xml" Type="http://schemas.openxmlformats.org/officeDocument/2006/relationships/slideLayout" /><Relationship Id="rId16" Target="../media/image1.jpeg" Type="http://schemas.openxmlformats.org/officeDocument/2006/relationships/image"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5" Target="../theme/theme1.xml" Type="http://schemas.openxmlformats.org/officeDocument/2006/relationships/theme" /><Relationship Id="rId10" Target="../slideLayouts/slideLayout10.xml" Type="http://schemas.openxmlformats.org/officeDocument/2006/relationships/slideLayout" /><Relationship Id="rId19" Target="../media/image3.png" Type="http://schemas.openxmlformats.org/officeDocument/2006/relationships/image" /><Relationship Id="rId4" Target="../slideLayouts/slideLayout4.xml" Type="http://schemas.openxmlformats.org/officeDocument/2006/relationships/slideLayout" /><Relationship Id="rId9" Target="../slideLayouts/slideLayout9.xml" Type="http://schemas.openxmlformats.org/officeDocument/2006/relationships/slideLayout" /><Relationship Id="rId14" Target="../slideLayouts/slideLayout14.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blipFill dpi="0" rotWithShape="1">
          <a:blip r:embed="rId16">
            <a:alphaModFix amt="20000"/>
            <a:lum/>
          </a:blip>
          <a:srcRect/>
          <a:stretch>
            <a:fillRect b="-17000" t="-17000"/>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714DF98-5C64-7150-9E37-0A26AD552C64}"/>
              </a:ext>
            </a:extLst>
          </p:cNvPr>
          <p:cNvSpPr>
            <a:spLocks noGrp="1"/>
          </p:cNvSpPr>
          <p:nvPr>
            <p:ph type="title"/>
          </p:nvPr>
        </p:nvSpPr>
        <p:spPr>
          <a:xfrm>
            <a:off x="838200" y="735519"/>
            <a:ext cx="10515600" cy="584775"/>
          </a:xfrm>
          <a:prstGeom prst="rect">
            <a:avLst/>
          </a:prstGeom>
          <a:noFill/>
        </p:spPr>
        <p:txBody>
          <a:bodyPr anchor="ctr" bIns="45720" lIns="91440" rIns="91440" rtlCol="0" tIns="45720" vert="horz" wrap="square">
            <a:spAutoFit/>
          </a:bodyPr>
          <a:lstStyle/>
          <a:p>
            <a:pPr lvl="0">
              <a:lnSpc>
                <a:spcPct val="100000"/>
              </a:lnSpc>
              <a:spcBef>
                <a:spcPts val="0"/>
              </a:spcBef>
            </a:pPr>
            <a:r>
              <a:rPr altLang="en-US" dirty="0" lang="zh-CN"/>
              <a:t>单击此处编辑母版标题样式</a:t>
            </a:r>
          </a:p>
        </p:txBody>
      </p:sp>
      <p:sp>
        <p:nvSpPr>
          <p:cNvPr id="3" name="文本占位符 2">
            <a:extLst>
              <a:ext uri="{FF2B5EF4-FFF2-40B4-BE49-F238E27FC236}">
                <a16:creationId xmlns:a16="http://schemas.microsoft.com/office/drawing/2014/main" id="{AF1ED77A-6F56-8189-29CB-B4EB20CA5FD3}"/>
              </a:ext>
            </a:extLst>
          </p:cNvPr>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altLang="en-US" dirty="0" lang="zh-CN"/>
              <a:t>单击此处编辑母版文本样式</a:t>
            </a:r>
          </a:p>
          <a:p>
            <a:pPr lvl="1"/>
            <a:r>
              <a:rPr altLang="en-US" dirty="0" lang="zh-CN"/>
              <a:t>二级</a:t>
            </a:r>
          </a:p>
          <a:p>
            <a:pPr lvl="2"/>
            <a:r>
              <a:rPr altLang="en-US" dirty="0" lang="zh-CN"/>
              <a:t>三级</a:t>
            </a:r>
          </a:p>
          <a:p>
            <a:pPr lvl="3"/>
            <a:r>
              <a:rPr altLang="en-US" dirty="0" lang="zh-CN"/>
              <a:t>四级</a:t>
            </a:r>
          </a:p>
          <a:p>
            <a:pPr lvl="4"/>
            <a:r>
              <a:rPr altLang="en-US" dirty="0" lang="zh-CN"/>
              <a:t>五级</a:t>
            </a:r>
          </a:p>
        </p:txBody>
      </p:sp>
      <p:pic>
        <p:nvPicPr>
          <p:cNvPr id="15" name="图片 14">
            <a:extLst>
              <a:ext uri="{FF2B5EF4-FFF2-40B4-BE49-F238E27FC236}">
                <a16:creationId xmlns:a16="http://schemas.microsoft.com/office/drawing/2014/main" id="{6CC9F776-5292-4839-0068-42EAAE8C7659}"/>
              </a:ext>
            </a:extLst>
          </p:cNvPr>
          <p:cNvPicPr>
            <a:picLocks noChangeAspect="1"/>
          </p:cNvPicPr>
          <p:nvPr/>
        </p:nvPicPr>
        <p:blipFill>
          <a:blip r:embed="rId17">
            <a:clrChange>
              <a:clrFrom>
                <a:srgbClr val="FFFFFF"/>
              </a:clrFrom>
              <a:clrTo>
                <a:srgbClr val="FFFFFF">
                  <a:alpha val="0"/>
                </a:srgbClr>
              </a:clrTo>
            </a:clrChange>
            <a:extLst>
              <a:ext uri="{BEBA8EAE-BF5A-486C-A8C5-ECC9F3942E4B}">
                <a14:imgProps xmlns:a14="http://schemas.microsoft.com/office/drawing/2010/main">
                  <a14:imgLayer r:embed="rId18">
                    <a14:imgEffect>
                      <a14:sharpenSoften amount="50000"/>
                    </a14:imgEffect>
                  </a14:imgLayer>
                </a14:imgProps>
              </a:ext>
            </a:extLst>
          </a:blip>
          <a:stretch>
            <a:fillRect/>
          </a:stretch>
        </p:blipFill>
        <p:spPr>
          <a:xfrm>
            <a:off x="9555894" y="6281738"/>
            <a:ext cx="2255106" cy="482845"/>
          </a:xfrm>
          <a:prstGeom prst="rect">
            <a:avLst/>
          </a:prstGeom>
        </p:spPr>
      </p:pic>
      <p:sp>
        <p:nvSpPr>
          <p:cNvPr id="16" name="文本框 15">
            <a:extLst>
              <a:ext uri="{FF2B5EF4-FFF2-40B4-BE49-F238E27FC236}">
                <a16:creationId xmlns:a16="http://schemas.microsoft.com/office/drawing/2014/main" id="{10252A6B-D22C-1FFF-7CD7-2797A3B06E02}"/>
              </a:ext>
            </a:extLst>
          </p:cNvPr>
          <p:cNvSpPr txBox="1"/>
          <p:nvPr userDrawn="1"/>
        </p:nvSpPr>
        <p:spPr>
          <a:xfrm>
            <a:off x="266700" y="6358381"/>
            <a:ext cx="7391400" cy="369332"/>
          </a:xfrm>
          <a:prstGeom prst="rect">
            <a:avLst/>
          </a:prstGeom>
          <a:noFill/>
        </p:spPr>
        <p:txBody>
          <a:bodyPr wrap="square">
            <a:spAutoFit/>
          </a:bodyPr>
          <a:lstStyle/>
          <a:p>
            <a:r>
              <a:rPr altLang="zh-CN" b="1" dirty="0" lang="en-US" sz="1800">
                <a:solidFill>
                  <a:schemeClr val="accent1">
                    <a:lumMod val="50000"/>
                  </a:schemeClr>
                </a:solidFill>
                <a:latin typeface="+mn-ea"/>
                <a:ea typeface="+mn-ea"/>
              </a:rPr>
              <a:t>Spark</a:t>
            </a:r>
            <a:r>
              <a:rPr altLang="en-US" b="1" dirty="0" lang="zh-CN" sz="1800">
                <a:solidFill>
                  <a:schemeClr val="accent1">
                    <a:lumMod val="50000"/>
                  </a:schemeClr>
                </a:solidFill>
                <a:latin typeface="+mn-ea"/>
                <a:ea typeface="+mn-ea"/>
              </a:rPr>
              <a:t>大数据处理与分析</a:t>
            </a:r>
            <a:endParaRPr altLang="zh-CN" b="1" dirty="0" lang="en-US" sz="1800">
              <a:solidFill>
                <a:schemeClr val="accent1">
                  <a:lumMod val="50000"/>
                </a:schemeClr>
              </a:solidFill>
              <a:latin typeface="+mn-ea"/>
              <a:ea typeface="+mn-ea"/>
            </a:endParaRPr>
          </a:p>
        </p:txBody>
      </p:sp>
      <p:sp>
        <p:nvSpPr>
          <p:cNvPr id="17" name="矩形 16">
            <a:extLst>
              <a:ext uri="{FF2B5EF4-FFF2-40B4-BE49-F238E27FC236}">
                <a16:creationId xmlns:a16="http://schemas.microsoft.com/office/drawing/2014/main" id="{697A2A7D-0836-8064-84AF-C5C04388AF55}"/>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20" name="灯片编号占位符 19">
            <a:extLst>
              <a:ext uri="{FF2B5EF4-FFF2-40B4-BE49-F238E27FC236}">
                <a16:creationId xmlns:a16="http://schemas.microsoft.com/office/drawing/2014/main" id="{4E42EA9E-7BFF-27BB-8638-431F7EB183E5}"/>
              </a:ext>
            </a:extLst>
          </p:cNvPr>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75000"/>
                  </a:schemeClr>
                </a:solidFill>
              </a:defRPr>
            </a:lvl1pPr>
          </a:lstStyle>
          <a:p>
            <a:fld id="{77B631E4-8720-4193-BD91-A57797451EA0}" type="slidenum">
              <a:rPr altLang="en-US" lang="zh-CN" smtClean="0"/>
              <a:t>‹#›</a:t>
            </a:fld>
            <a:endParaRPr altLang="en-US" lang="zh-CN"/>
          </a:p>
        </p:txBody>
      </p:sp>
      <p:sp>
        <p:nvSpPr>
          <p:cNvPr id="23" name="矩形 22">
            <a:extLst>
              <a:ext uri="{FF2B5EF4-FFF2-40B4-BE49-F238E27FC236}">
                <a16:creationId xmlns:a16="http://schemas.microsoft.com/office/drawing/2014/main" id="{BD03D8B6-2E6F-DE3D-066C-D416D1C45132}"/>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pic>
        <p:nvPicPr>
          <p:cNvPr id="4" name="图片 3">
            <a:extLst>
              <a:ext uri="{FF2B5EF4-FFF2-40B4-BE49-F238E27FC236}">
                <a16:creationId xmlns:a16="http://schemas.microsoft.com/office/drawing/2014/main" id="{33160EEE-490B-5030-FED2-0EC36FD18C3B}"/>
              </a:ext>
            </a:extLst>
          </p:cNvPr>
          <p:cNvPicPr>
            <a:picLocks noChangeAspect="1"/>
          </p:cNvPicPr>
          <p:nvPr/>
        </p:nvPicPr>
        <p:blipFill>
          <a:blip r:embed="rId19">
            <a:clrChange>
              <a:clrFrom>
                <a:srgbClr val="FFFFFF"/>
              </a:clrFrom>
              <a:clrTo>
                <a:srgbClr val="FFFFFF">
                  <a:alpha val="0"/>
                </a:srgbClr>
              </a:clrTo>
            </a:clrChange>
            <a:extLst>
              <a:ext uri="{BEBA8EAE-BF5A-486C-A8C5-ECC9F3942E4B}">
                <a14:imgProps xmlns:a14="http://schemas.microsoft.com/office/drawing/2010/main">
                  <a14:imgLayer r:embed="rId18">
                    <a14:imgEffect>
                      <a14:sharpenSoften amount="50000"/>
                    </a14:imgEffect>
                    <a14:imgEffect>
                      <a14:brightnessContrast contrast="40000"/>
                    </a14:imgEffect>
                  </a14:imgLayer>
                </a14:imgProps>
              </a:ext>
            </a:extLst>
          </a:blip>
          <a:stretch>
            <a:fillRect/>
          </a:stretch>
        </p:blipFill>
        <p:spPr>
          <a:xfrm>
            <a:off x="9555894" y="6281738"/>
            <a:ext cx="2255106" cy="482845"/>
          </a:xfrm>
          <a:prstGeom prst="rect">
            <a:avLst/>
          </a:prstGeom>
        </p:spPr>
      </p:pic>
      <p:sp>
        <p:nvSpPr>
          <p:cNvPr id="6" name="矩形 5">
            <a:extLst>
              <a:ext uri="{FF2B5EF4-FFF2-40B4-BE49-F238E27FC236}">
                <a16:creationId xmlns:a16="http://schemas.microsoft.com/office/drawing/2014/main" id="{6641C8EA-C930-33E7-0AF8-E3DC8FB99AE6}"/>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7" name="矩形 6">
            <a:extLst>
              <a:ext uri="{FF2B5EF4-FFF2-40B4-BE49-F238E27FC236}">
                <a16:creationId xmlns:a16="http://schemas.microsoft.com/office/drawing/2014/main" id="{96B5E3EF-301A-2167-0ED5-3367AB2AEFAA}"/>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9" name="矩形 8">
            <a:extLst>
              <a:ext uri="{FF2B5EF4-FFF2-40B4-BE49-F238E27FC236}">
                <a16:creationId xmlns:a16="http://schemas.microsoft.com/office/drawing/2014/main" id="{E6FC059A-07D8-B100-64B1-92B15B46D551}"/>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10" name="矩形 9">
            <a:extLst>
              <a:ext uri="{FF2B5EF4-FFF2-40B4-BE49-F238E27FC236}">
                <a16:creationId xmlns:a16="http://schemas.microsoft.com/office/drawing/2014/main" id="{43C829FA-2334-6AE9-EB03-26596912CE91}"/>
              </a:ext>
            </a:extLst>
          </p:cNvPr>
          <p:cNvSpPr/>
          <p:nvPr userDrawn="1"/>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Tree>
    <p:extLst>
      <p:ext uri="{BB962C8B-B14F-4D97-AF65-F5344CB8AC3E}">
        <p14:creationId xmlns:p14="http://schemas.microsoft.com/office/powerpoint/2010/main" val="1968827069"/>
      </p:ext>
    </p:extLst>
  </p:cSld>
  <p:clrMap accent1="accent1" accent2="accent2" accent3="accent3" accent4="accent4" accent5="accent5" accent6="accent6" bg1="lt1" bg2="lt2" folHlink="folHlink" hlink="hlink" tx1="dk1" tx2="dk2"/>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73" r:id="rId14"/>
  </p:sldLayoutIdLst>
  <p:txStyles>
    <p:titleStyle>
      <a:lvl1pPr algn="l" defTabSz="914400" eaLnBrk="1" hangingPunct="1" latinLnBrk="0" rtl="0">
        <a:lnSpc>
          <a:spcPct val="90000"/>
        </a:lnSpc>
        <a:spcBef>
          <a:spcPct val="0"/>
        </a:spcBef>
        <a:buNone/>
        <a:defRPr altLang="en-US" b="1" kern="1200" lang="zh-CN" sz="3200">
          <a:solidFill>
            <a:schemeClr val="tx1">
              <a:lumMod val="85000"/>
              <a:lumOff val="15000"/>
            </a:schemeClr>
          </a:solidFill>
          <a:effectLst>
            <a:reflection algn="bl" blurRad="6350" dir="5400000" dist="25400" endPos="27000" rotWithShape="0" stA="30000" sy="-100000"/>
          </a:effectLst>
          <a:latin typeface="+mn-lt"/>
          <a:ea typeface="+mn-ea"/>
          <a:cs typeface="+mn-ea"/>
        </a:defRPr>
      </a:lvl1pPr>
    </p:titleStyle>
    <p:bodyStyle>
      <a:lvl1pPr algn="l" defTabSz="914400" eaLnBrk="1" hangingPunct="1" indent="-228600" latinLnBrk="0" marL="228600" rtl="0">
        <a:lnSpc>
          <a:spcPct val="114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114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4pPr>
      <a:lvl5pPr algn="l" defTabSz="914400" eaLnBrk="1" hangingPunct="1" indent="-228600" latinLnBrk="0" marL="20574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userDrawn="1">
          <p15:clr>
            <a:srgbClr val="F26B43"/>
          </p15:clr>
        </p15:guide>
        <p15:guide id="6" pos="3840" userDrawn="1">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8.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0.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4.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5.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6.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7.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8.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9.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0.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1.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3.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4.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5.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6.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7.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 Scala编程</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Scala和Spark一直是很自然的组合</a:t>
            </a:r>
          </a:p>
          <a:p>
            <a:pPr lvl="0"/>
            <a:r>
              <a:rPr/>
              <a:t>函数式编程强调不可变数据</a:t>
            </a:r>
          </a:p>
          <a:p>
            <a:pPr lvl="0"/>
            <a:r>
              <a:rPr/>
              <a:t>很多数据分析人员更熟悉Python或R，这也是今天最常见的Spark入口语言</a:t>
            </a:r>
          </a:p>
          <a:p>
            <a:pPr lvl="0"/>
            <a:r>
              <a:rPr/>
              <a:t>更方便对照官方源码和示例</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 Scala编程：学习路线</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Scala编程</a:t>
            </a:r>
          </a:p>
          <a:p>
            <a:pPr lvl="0"/>
            <a:r>
              <a:rPr/>
              <a:t>面向对象编程</a:t>
            </a:r>
          </a:p>
          <a:p>
            <a:pPr lvl="0"/>
            <a:r>
              <a:rPr/>
              <a:t>函数式编程</a:t>
            </a:r>
          </a:p>
          <a:p>
            <a:pPr lvl="0"/>
            <a:r>
              <a:rPr/>
              <a:t>集合类</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2.5.1 面向对象编程（1/2）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Scala REPL是命令行解释器，可以将其用作测试Scala代码的环境</a:t>
            </a:r>
          </a:p>
          <a:p>
            <a:pPr lvl="0"/>
            <a:r>
              <a:rPr/>
              <a:t>root@bb8bf6efccc9：\ scala</a:t>
            </a:r>
          </a:p>
          <a:p>
            <a:pPr lvl="0"/>
            <a:r>
              <a:rPr/>
              <a:t>Type in expressions for evaluation.</a:t>
            </a:r>
          </a:p>
          <a:p>
            <a:pPr lvl="0"/>
            <a:r>
              <a:rPr/>
              <a:t>进入REPL后，可以键入Scala表达式以查看其工作方式</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2.5.1 面向对象编程（2/2）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如这些示例所示，只需在REPL内键入表达式，它就会在下一行上显示每个表达式的结果</a:t>
            </a:r>
          </a:p>
          <a:p>
            <a:pPr lvl="0"/>
            <a:r>
              <a:rPr/>
              <a:t>scala REPL会根据需要创建变量</a:t>
            </a:r>
          </a:p>
          <a:p>
            <a:pPr lvl="0"/>
            <a:r>
              <a:rPr/>
              <a:t>这些是动态创建的实际变量名，可以在表达式中使用它们</a:t>
            </a:r>
          </a:p>
          <a:p>
            <a:pPr lvl="0"/>
            <a:r>
              <a:rPr/>
              <a:t>上面简单介绍了scala REPL的使用</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2.5.1 面向对象编程：代码片段（1/27）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因为REPL是命令行解释器</a:t>
            </a:r>
          </a:p>
          <a:p>
            <a:pPr lvl="0"/>
            <a:r>
              <a:rPr/>
              <a:t>先对照代码理解 scala REPL会根据需要创建变量</a:t>
            </a:r>
          </a:p>
          <a:p>
            <a:pPr lvl="0"/>
            <a:r>
              <a:rPr/>
              <a:t>先对照代码理解 这些是动态创建的实际变量名，可以在表达式中使用它们： 的执行步骤</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x </a:t>
            </a:r>
            <a:r>
              <a:rPr>
                <a:solidFill>
                  <a:srgbClr val="666666"/>
                </a:solidFill>
                <a:latin typeface="Courier"/>
              </a:rPr>
              <a:t>=</a:t>
            </a:r>
            <a:r>
              <a:rPr>
                <a:latin typeface="Courier"/>
              </a:rPr>
              <a:t> </a:t>
            </a:r>
            <a:r>
              <a:rPr>
                <a:solidFill>
                  <a:srgbClr val="40A070"/>
                </a:solidFill>
                <a:latin typeface="Courier"/>
              </a:rPr>
              <a:t>1</a:t>
            </a:r>
            <a:br/>
            <a:r>
              <a:rPr>
                <a:latin typeface="Courier"/>
              </a:rPr>
              <a:t>x</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t>
            </a:r>
            <a:r>
              <a:rPr>
                <a:solidFill>
                  <a:srgbClr val="40A070"/>
                </a:solidFill>
                <a:latin typeface="Courier"/>
              </a:rPr>
              <a:t>1</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y </a:t>
            </a:r>
            <a:r>
              <a:rPr>
                <a:solidFill>
                  <a:srgbClr val="666666"/>
                </a:solidFill>
                <a:latin typeface="Courier"/>
              </a:rPr>
              <a:t>=</a:t>
            </a:r>
            <a:r>
              <a:rPr>
                <a:latin typeface="Courier"/>
              </a:rPr>
              <a:t> x </a:t>
            </a:r>
            <a:r>
              <a:rPr>
                <a:solidFill>
                  <a:srgbClr val="666666"/>
                </a:solidFill>
                <a:latin typeface="Courier"/>
              </a:rPr>
              <a:t>+</a:t>
            </a:r>
            <a:r>
              <a:rPr>
                <a:latin typeface="Courier"/>
              </a:rPr>
              <a:t> </a:t>
            </a:r>
            <a:r>
              <a:rPr>
                <a:solidFill>
                  <a:srgbClr val="40A070"/>
                </a:solidFill>
                <a:latin typeface="Courier"/>
              </a:rPr>
              <a:t>1</a:t>
            </a:r>
            <a:br/>
            <a:r>
              <a:rPr>
                <a:latin typeface="Courier"/>
              </a:rPr>
              <a:t>y</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t>
            </a:r>
            <a:r>
              <a:rPr>
                <a:solidFill>
                  <a:srgbClr val="40A070"/>
                </a:solidFill>
                <a:latin typeface="Courier"/>
              </a:rPr>
              <a:t>2</a:t>
            </a:r>
          </a:p>
          <a:p>
            <a:pPr lvl="0" indent="0" marL="0">
              <a:buNone/>
            </a:pPr>
            <a:r>
              <a:rPr/>
              <a:t>片段 2</a:t>
            </a:r>
          </a:p>
          <a:p>
            <a:pPr lvl="0" indent="0">
              <a:buNone/>
            </a:pPr>
            <a:r>
              <a:rPr>
                <a:latin typeface="Courier"/>
              </a:rPr>
              <a:t>scala</a:t>
            </a:r>
            <a:r>
              <a:rPr>
                <a:solidFill>
                  <a:srgbClr val="666666"/>
                </a:solidFill>
                <a:latin typeface="Courier"/>
              </a:rPr>
              <a:t>&gt;</a:t>
            </a:r>
            <a:r>
              <a:rPr>
                <a:latin typeface="Courier"/>
              </a:rPr>
              <a:t> </a:t>
            </a:r>
            <a:r>
              <a:rPr>
                <a:solidFill>
                  <a:srgbClr val="40A070"/>
                </a:solidFill>
                <a:latin typeface="Courier"/>
              </a:rPr>
              <a:t>2</a:t>
            </a:r>
            <a:r>
              <a:rPr>
                <a:latin typeface="Courier"/>
              </a:rPr>
              <a:t> </a:t>
            </a:r>
            <a:r>
              <a:rPr>
                <a:solidFill>
                  <a:srgbClr val="666666"/>
                </a:solidFill>
                <a:latin typeface="Courier"/>
              </a:rPr>
              <a:t>+</a:t>
            </a:r>
            <a:r>
              <a:rPr>
                <a:latin typeface="Courier"/>
              </a:rPr>
              <a:t> </a:t>
            </a:r>
            <a:r>
              <a:rPr>
                <a:solidFill>
                  <a:srgbClr val="40A070"/>
                </a:solidFill>
                <a:latin typeface="Courier"/>
              </a:rPr>
              <a:t>2</a:t>
            </a:r>
            <a:br/>
            <a:r>
              <a:rPr>
                <a:latin typeface="Courier"/>
              </a:rPr>
              <a:t>res0</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t>
            </a:r>
            <a:r>
              <a:rPr>
                <a:solidFill>
                  <a:srgbClr val="40A070"/>
                </a:solidFill>
                <a:latin typeface="Courier"/>
              </a:rPr>
              <a:t>4</a:t>
            </a:r>
            <a:br/>
            <a:r>
              <a:rPr>
                <a:latin typeface="Courier"/>
              </a:rPr>
              <a:t>scala</a:t>
            </a:r>
            <a:r>
              <a:rPr>
                <a:solidFill>
                  <a:srgbClr val="666666"/>
                </a:solidFill>
                <a:latin typeface="Courier"/>
              </a:rPr>
              <a:t>&gt;</a:t>
            </a:r>
            <a:r>
              <a:rPr>
                <a:latin typeface="Courier"/>
              </a:rPr>
              <a:t> </a:t>
            </a:r>
            <a:r>
              <a:rPr>
                <a:solidFill>
                  <a:srgbClr val="40A070"/>
                </a:solidFill>
                <a:latin typeface="Courier"/>
              </a:rPr>
              <a:t>3</a:t>
            </a:r>
            <a:r>
              <a:rPr>
                <a:latin typeface="Courier"/>
              </a:rPr>
              <a:t> </a:t>
            </a:r>
            <a:r>
              <a:rPr>
                <a:solidFill>
                  <a:srgbClr val="666666"/>
                </a:solidFill>
                <a:latin typeface="Courier"/>
              </a:rPr>
              <a:t>/</a:t>
            </a:r>
            <a:r>
              <a:rPr>
                <a:latin typeface="Courier"/>
              </a:rPr>
              <a:t> </a:t>
            </a:r>
            <a:r>
              <a:rPr>
                <a:solidFill>
                  <a:srgbClr val="40A070"/>
                </a:solidFill>
                <a:latin typeface="Courier"/>
              </a:rPr>
              <a:t>3</a:t>
            </a:r>
            <a:br/>
            <a:r>
              <a:rPr>
                <a:latin typeface="Courier"/>
              </a:rPr>
              <a:t>res1</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t>
            </a:r>
            <a:r>
              <a:rPr>
                <a:solidFill>
                  <a:srgbClr val="40A070"/>
                </a:solidFill>
                <a:latin typeface="Courier"/>
              </a:rPr>
              <a:t>1</a:t>
            </a:r>
          </a:p>
          <a:p>
            <a:pPr lvl="0" indent="0" marL="0">
              <a:buNone/>
            </a:pPr>
            <a:r>
              <a:rPr/>
              <a:t>片段 3</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z </a:t>
            </a:r>
            <a:r>
              <a:rPr>
                <a:solidFill>
                  <a:srgbClr val="666666"/>
                </a:solidFill>
                <a:latin typeface="Courier"/>
              </a:rPr>
              <a:t>=</a:t>
            </a:r>
            <a:r>
              <a:rPr>
                <a:latin typeface="Courier"/>
              </a:rPr>
              <a:t> res0 </a:t>
            </a:r>
            <a:r>
              <a:rPr>
                <a:solidFill>
                  <a:srgbClr val="666666"/>
                </a:solidFill>
                <a:latin typeface="Courier"/>
              </a:rPr>
              <a:t>+</a:t>
            </a:r>
            <a:r>
              <a:rPr>
                <a:latin typeface="Courier"/>
              </a:rPr>
              <a:t> res1</a:t>
            </a:r>
            <a:br/>
            <a:r>
              <a:rPr>
                <a:latin typeface="Courier"/>
              </a:rPr>
              <a:t>z</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t>
            </a:r>
            <a:r>
              <a:rPr>
                <a:solidFill>
                  <a:srgbClr val="40A070"/>
                </a:solidFill>
                <a:latin typeface="Courier"/>
              </a:rPr>
              <a:t>5</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2.5.1 面向对象编程：代码片段（2/27）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这就是Spark提供的REPL</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name </a:t>
            </a:r>
            <a:r>
              <a:rPr>
                <a:solidFill>
                  <a:srgbClr val="666666"/>
                </a:solidFill>
                <a:latin typeface="Courier"/>
              </a:rPr>
              <a:t>=</a:t>
            </a:r>
            <a:r>
              <a:rPr>
                <a:latin typeface="Courier"/>
              </a:rPr>
              <a:t> </a:t>
            </a:r>
            <a:r>
              <a:rPr>
                <a:solidFill>
                  <a:srgbClr val="4070A0"/>
                </a:solidFill>
                <a:latin typeface="Courier"/>
              </a:rPr>
              <a:t>"John Doe"</a:t>
            </a:r>
            <a:br/>
            <a:r>
              <a:rPr>
                <a:latin typeface="Courier"/>
              </a:rPr>
              <a:t>name</a:t>
            </a:r>
            <a:r>
              <a:rPr>
                <a:solidFill>
                  <a:srgbClr val="666666"/>
                </a:solidFill>
                <a:latin typeface="Courier"/>
              </a:rPr>
              <a:t>:</a:t>
            </a:r>
            <a:r>
              <a:rPr>
                <a:latin typeface="Courier"/>
              </a:rPr>
              <a:t> String </a:t>
            </a:r>
            <a:r>
              <a:rPr>
                <a:solidFill>
                  <a:srgbClr val="666666"/>
                </a:solidFill>
                <a:latin typeface="Courier"/>
              </a:rPr>
              <a:t>=</a:t>
            </a:r>
            <a:r>
              <a:rPr>
                <a:latin typeface="Courier"/>
              </a:rPr>
              <a:t> John Doe</a:t>
            </a:r>
            <a:br/>
            <a:r>
              <a:rPr>
                <a:latin typeface="Courier"/>
              </a:rPr>
              <a:t>scala</a:t>
            </a:r>
            <a:r>
              <a:rPr>
                <a:solidFill>
                  <a:srgbClr val="666666"/>
                </a:solidFill>
                <a:latin typeface="Courier"/>
              </a:rPr>
              <a:t>&gt;</a:t>
            </a:r>
            <a:r>
              <a:rPr>
                <a:latin typeface="Courier"/>
              </a:rPr>
              <a:t> </a:t>
            </a:r>
            <a:r>
              <a:rPr>
                <a:solidFill>
                  <a:srgbClr val="4070A0"/>
                </a:solidFill>
                <a:latin typeface="Courier"/>
              </a:rPr>
              <a:t>"hello"</a:t>
            </a:r>
            <a:r>
              <a:rPr>
                <a:solidFill>
                  <a:srgbClr val="666666"/>
                </a:solidFill>
                <a:latin typeface="Courier"/>
              </a:rPr>
              <a:t>.</a:t>
            </a:r>
            <a:r>
              <a:rPr>
                <a:latin typeface="Courier"/>
              </a:rPr>
              <a:t>head</a:t>
            </a:r>
            <a:br/>
            <a:r>
              <a:rPr>
                <a:latin typeface="Courier"/>
              </a:rPr>
              <a:t>res0</a:t>
            </a:r>
            <a:r>
              <a:rPr>
                <a:solidFill>
                  <a:srgbClr val="666666"/>
                </a:solidFill>
                <a:latin typeface="Courier"/>
              </a:rPr>
              <a:t>:</a:t>
            </a:r>
            <a:r>
              <a:rPr>
                <a:latin typeface="Courier"/>
              </a:rPr>
              <a:t> </a:t>
            </a:r>
            <a:r>
              <a:rPr>
                <a:solidFill>
                  <a:srgbClr val="008000"/>
                </a:solidFill>
                <a:latin typeface="Courier"/>
              </a:rPr>
              <a:t>Char</a:t>
            </a:r>
            <a:r>
              <a:rPr>
                <a:latin typeface="Courier"/>
              </a:rPr>
              <a:t> </a:t>
            </a:r>
            <a:r>
              <a:rPr>
                <a:solidFill>
                  <a:srgbClr val="666666"/>
                </a:solidFill>
                <a:latin typeface="Courier"/>
              </a:rPr>
              <a:t>=</a:t>
            </a:r>
            <a:r>
              <a:rPr>
                <a:latin typeface="Courier"/>
              </a:rPr>
              <a:t> h</a:t>
            </a:r>
            <a:br/>
            <a:r>
              <a:rPr>
                <a:latin typeface="Courier"/>
              </a:rPr>
              <a:t>scala</a:t>
            </a:r>
            <a:r>
              <a:rPr>
                <a:solidFill>
                  <a:srgbClr val="666666"/>
                </a:solidFill>
                <a:latin typeface="Courier"/>
              </a:rPr>
              <a:t>&gt;</a:t>
            </a:r>
            <a:r>
              <a:rPr>
                <a:latin typeface="Courier"/>
              </a:rPr>
              <a:t> </a:t>
            </a:r>
            <a:r>
              <a:rPr>
                <a:solidFill>
                  <a:srgbClr val="4070A0"/>
                </a:solidFill>
                <a:latin typeface="Courier"/>
              </a:rPr>
              <a:t>"hello"</a:t>
            </a:r>
            <a:r>
              <a:rPr>
                <a:solidFill>
                  <a:srgbClr val="666666"/>
                </a:solidFill>
                <a:latin typeface="Courier"/>
              </a:rPr>
              <a:t>.</a:t>
            </a:r>
            <a:r>
              <a:rPr>
                <a:latin typeface="Courier"/>
              </a:rPr>
              <a:t>tail</a:t>
            </a:r>
            <a:br/>
            <a:r>
              <a:rPr>
                <a:latin typeface="Courier"/>
              </a:rPr>
              <a:t>res1</a:t>
            </a:r>
            <a:r>
              <a:rPr>
                <a:solidFill>
                  <a:srgbClr val="666666"/>
                </a:solidFill>
                <a:latin typeface="Courier"/>
              </a:rPr>
              <a:t>:</a:t>
            </a:r>
            <a:r>
              <a:rPr>
                <a:latin typeface="Courier"/>
              </a:rPr>
              <a:t> String </a:t>
            </a:r>
            <a:r>
              <a:rPr>
                <a:solidFill>
                  <a:srgbClr val="666666"/>
                </a:solidFill>
                <a:latin typeface="Courier"/>
              </a:rPr>
              <a:t>=</a:t>
            </a:r>
            <a:r>
              <a:rPr>
                <a:latin typeface="Courier"/>
              </a:rPr>
              <a:t> ello</a:t>
            </a:r>
            <a:br/>
            <a:r>
              <a:rPr>
                <a:latin typeface="Courier"/>
              </a:rPr>
              <a:t>scala</a:t>
            </a:r>
            <a:r>
              <a:rPr>
                <a:solidFill>
                  <a:srgbClr val="666666"/>
                </a:solidFill>
                <a:latin typeface="Courier"/>
              </a:rPr>
              <a:t>&gt;</a:t>
            </a:r>
            <a:r>
              <a:rPr>
                <a:latin typeface="Courier"/>
              </a:rPr>
              <a:t> </a:t>
            </a:r>
            <a:r>
              <a:rPr>
                <a:solidFill>
                  <a:srgbClr val="4070A0"/>
                </a:solidFill>
                <a:latin typeface="Courier"/>
              </a:rPr>
              <a:t>"hello, world"</a:t>
            </a:r>
            <a:r>
              <a:rPr>
                <a:solidFill>
                  <a:srgbClr val="666666"/>
                </a:solidFill>
                <a:latin typeface="Courier"/>
              </a:rPr>
              <a:t>.</a:t>
            </a:r>
            <a:r>
              <a:rPr>
                <a:solidFill>
                  <a:srgbClr val="06287E"/>
                </a:solidFill>
                <a:latin typeface="Courier"/>
              </a:rPr>
              <a:t>take</a:t>
            </a:r>
            <a:r>
              <a:rPr>
                <a:solidFill>
                  <a:srgbClr val="666666"/>
                </a:solidFill>
                <a:latin typeface="Courier"/>
              </a:rPr>
              <a:t>(</a:t>
            </a:r>
            <a:r>
              <a:rPr>
                <a:solidFill>
                  <a:srgbClr val="40A070"/>
                </a:solidFill>
                <a:latin typeface="Courier"/>
              </a:rPr>
              <a:t>5</a:t>
            </a:r>
            <a:r>
              <a:rPr>
                <a:solidFill>
                  <a:srgbClr val="666666"/>
                </a:solidFill>
                <a:latin typeface="Courier"/>
              </a:rPr>
              <a:t>)</a:t>
            </a:r>
            <a:br/>
            <a:r>
              <a:rPr>
                <a:latin typeface="Courier"/>
              </a:rPr>
              <a:t>res2</a:t>
            </a:r>
            <a:r>
              <a:rPr>
                <a:solidFill>
                  <a:srgbClr val="666666"/>
                </a:solidFill>
                <a:latin typeface="Courier"/>
              </a:rPr>
              <a:t>:</a:t>
            </a:r>
            <a:r>
              <a:rPr>
                <a:latin typeface="Courier"/>
              </a:rPr>
              <a:t> String </a:t>
            </a:r>
            <a:r>
              <a:rPr>
                <a:solidFill>
                  <a:srgbClr val="666666"/>
                </a:solidFill>
                <a:latin typeface="Courier"/>
              </a:rPr>
              <a:t>=</a:t>
            </a:r>
            <a:r>
              <a:rPr>
                <a:latin typeface="Courier"/>
              </a:rPr>
              <a:t> hello</a:t>
            </a:r>
            <a:br/>
            <a:r>
              <a:rPr>
                <a:latin typeface="Courier"/>
              </a:rPr>
              <a:t>scala</a:t>
            </a:r>
            <a:r>
              <a:rPr>
                <a:solidFill>
                  <a:srgbClr val="666666"/>
                </a:solidFill>
                <a:latin typeface="Courier"/>
              </a:rPr>
              <a:t>&gt;</a:t>
            </a:r>
            <a:r>
              <a:rPr>
                <a:latin typeface="Courier"/>
              </a:rPr>
              <a:t> </a:t>
            </a:r>
            <a:r>
              <a:rPr>
                <a:solidFill>
                  <a:srgbClr val="06287E"/>
                </a:solidFill>
                <a:latin typeface="Courier"/>
              </a:rPr>
              <a:t>println</a:t>
            </a:r>
            <a:r>
              <a:rPr>
                <a:solidFill>
                  <a:srgbClr val="666666"/>
                </a:solidFill>
                <a:latin typeface="Courier"/>
              </a:rPr>
              <a:t>(</a:t>
            </a:r>
            <a:r>
              <a:rPr>
                <a:solidFill>
                  <a:srgbClr val="4070A0"/>
                </a:solidFill>
                <a:latin typeface="Courier"/>
              </a:rPr>
              <a:t>"hi"</a:t>
            </a:r>
            <a:r>
              <a:rPr>
                <a:solidFill>
                  <a:srgbClr val="666666"/>
                </a:solidFill>
                <a:latin typeface="Courier"/>
              </a:rPr>
              <a:t>)</a:t>
            </a:r>
            <a:br/>
            <a:r>
              <a:rPr>
                <a:latin typeface="Courier"/>
              </a:rPr>
              <a:t>hi</a:t>
            </a:r>
            <a:br/>
            <a:r>
              <a:rPr>
                <a:latin typeface="Courier"/>
              </a:rPr>
              <a:t>scala</a:t>
            </a:r>
            <a:r>
              <a:rPr>
                <a:solidFill>
                  <a:srgbClr val="666666"/>
                </a:solidFill>
                <a:latin typeface="Courier"/>
              </a:rPr>
              <a:t>&gt;</a:t>
            </a:r>
            <a:r>
              <a:rPr>
                <a:latin typeface="Courier"/>
              </a:rPr>
              <a:t> </a:t>
            </a:r>
            <a:r>
              <a:rPr>
                <a:solidFill>
                  <a:srgbClr val="40A070"/>
                </a:solidFill>
                <a:latin typeface="Courier"/>
              </a:rPr>
              <a:t>1</a:t>
            </a:r>
            <a:r>
              <a:rPr>
                <a:latin typeface="Courier"/>
              </a:rPr>
              <a:t> </a:t>
            </a:r>
            <a:r>
              <a:rPr>
                <a:solidFill>
                  <a:srgbClr val="666666"/>
                </a:solidFill>
                <a:latin typeface="Courier"/>
              </a:rPr>
              <a:t>+</a:t>
            </a:r>
            <a:r>
              <a:rPr>
                <a:latin typeface="Courier"/>
              </a:rPr>
              <a:t> </a:t>
            </a:r>
            <a:r>
              <a:rPr>
                <a:solidFill>
                  <a:srgbClr val="40A070"/>
                </a:solidFill>
                <a:latin typeface="Courier"/>
              </a:rPr>
              <a:t>2</a:t>
            </a:r>
            <a:r>
              <a:rPr>
                <a:latin typeface="Courier"/>
              </a:rPr>
              <a:t> </a:t>
            </a:r>
            <a:r>
              <a:rPr>
                <a:solidFill>
                  <a:srgbClr val="666666"/>
                </a:solidFill>
                <a:latin typeface="Courier"/>
              </a:rPr>
              <a:t>*</a:t>
            </a:r>
            <a:r>
              <a:rPr>
                <a:latin typeface="Courier"/>
              </a:rPr>
              <a:t> </a:t>
            </a:r>
            <a:r>
              <a:rPr>
                <a:solidFill>
                  <a:srgbClr val="40A070"/>
                </a:solidFill>
                <a:latin typeface="Courier"/>
              </a:rPr>
              <a:t>3</a:t>
            </a:r>
            <a:br/>
            <a:r>
              <a:rPr i="1">
                <a:solidFill>
                  <a:srgbClr val="60A0B0"/>
                </a:solidFill>
                <a:latin typeface="Courier"/>
              </a:rPr>
              <a:t>// ...</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2.5.1 面向对象编程：代码片段（3/27）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Scala具有两种类型的变量</a:t>
            </a:r>
          </a:p>
          <a:p>
            <a:pPr lvl="0"/>
            <a:r>
              <a:rPr/>
              <a:t>所以说变量的类型可以由编译器推断的。如果愿意</a:t>
            </a:r>
          </a:p>
          <a:p>
            <a:pPr lvl="0"/>
            <a:r>
              <a:rPr/>
              <a:t>先对照代码理解 val和var之间的区别是</a:t>
            </a:r>
          </a:p>
          <a:p>
            <a:pPr lvl="0"/>
            <a:r>
              <a:rPr/>
              <a:t>先对照代码理解 正如预期的那样</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s </a:t>
            </a:r>
            <a:r>
              <a:rPr>
                <a:solidFill>
                  <a:srgbClr val="666666"/>
                </a:solidFill>
                <a:latin typeface="Courier"/>
              </a:rPr>
              <a:t>=</a:t>
            </a:r>
            <a:r>
              <a:rPr>
                <a:latin typeface="Courier"/>
              </a:rPr>
              <a:t> </a:t>
            </a:r>
            <a:r>
              <a:rPr>
                <a:solidFill>
                  <a:srgbClr val="4070A0"/>
                </a:solidFill>
                <a:latin typeface="Courier"/>
              </a:rPr>
              <a:t>"hello"</a:t>
            </a:r>
            <a:br/>
            <a:r>
              <a:rPr>
                <a:latin typeface="Courier"/>
              </a:rPr>
              <a:t>s</a:t>
            </a:r>
            <a:r>
              <a:rPr>
                <a:solidFill>
                  <a:srgbClr val="666666"/>
                </a:solidFill>
                <a:latin typeface="Courier"/>
              </a:rPr>
              <a:t>:</a:t>
            </a:r>
            <a:r>
              <a:rPr>
                <a:latin typeface="Courier"/>
              </a:rPr>
              <a:t> String </a:t>
            </a:r>
            <a:r>
              <a:rPr>
                <a:solidFill>
                  <a:srgbClr val="666666"/>
                </a:solidFill>
                <a:latin typeface="Courier"/>
              </a:rPr>
              <a:t>=</a:t>
            </a:r>
            <a:r>
              <a:rPr>
                <a:latin typeface="Courier"/>
              </a:rPr>
              <a:t> hello</a:t>
            </a:r>
            <a:br/>
            <a:r>
              <a:rPr>
                <a:latin typeface="Courier"/>
              </a:rPr>
              <a:t>scala</a:t>
            </a:r>
            <a:r>
              <a:rPr>
                <a:solidFill>
                  <a:srgbClr val="666666"/>
                </a:solidFill>
                <a:latin typeface="Courier"/>
              </a:rPr>
              <a:t>&gt;</a:t>
            </a:r>
            <a:r>
              <a:rPr>
                <a:latin typeface="Courier"/>
              </a:rPr>
              <a:t> </a:t>
            </a:r>
            <a:r>
              <a:rPr b="1">
                <a:solidFill>
                  <a:srgbClr val="007020"/>
                </a:solidFill>
                <a:latin typeface="Courier"/>
              </a:rPr>
              <a:t>var</a:t>
            </a:r>
            <a:r>
              <a:rPr>
                <a:latin typeface="Courier"/>
              </a:rPr>
              <a:t> i </a:t>
            </a:r>
            <a:r>
              <a:rPr>
                <a:solidFill>
                  <a:srgbClr val="666666"/>
                </a:solidFill>
                <a:latin typeface="Courier"/>
              </a:rPr>
              <a:t>=</a:t>
            </a:r>
            <a:r>
              <a:rPr>
                <a:latin typeface="Courier"/>
              </a:rPr>
              <a:t> </a:t>
            </a:r>
            <a:r>
              <a:rPr>
                <a:solidFill>
                  <a:srgbClr val="40A070"/>
                </a:solidFill>
                <a:latin typeface="Courier"/>
              </a:rPr>
              <a:t>42</a:t>
            </a:r>
            <a:br/>
            <a:r>
              <a:rPr>
                <a:latin typeface="Courier"/>
              </a:rPr>
              <a:t>i</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t>
            </a:r>
            <a:r>
              <a:rPr>
                <a:solidFill>
                  <a:srgbClr val="40A070"/>
                </a:solidFill>
                <a:latin typeface="Courier"/>
              </a:rPr>
              <a:t>42</a:t>
            </a:r>
          </a:p>
          <a:p>
            <a:pPr lvl="0" indent="0" marL="0">
              <a:buNone/>
            </a:pPr>
            <a:r>
              <a:rPr/>
              <a:t>片段 2</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s</a:t>
            </a:r>
            <a:r>
              <a:rPr>
                <a:solidFill>
                  <a:srgbClr val="666666"/>
                </a:solidFill>
                <a:latin typeface="Courier"/>
              </a:rPr>
              <a:t>:</a:t>
            </a:r>
            <a:r>
              <a:rPr>
                <a:latin typeface="Courier"/>
              </a:rPr>
              <a:t> String </a:t>
            </a:r>
            <a:r>
              <a:rPr>
                <a:solidFill>
                  <a:srgbClr val="666666"/>
                </a:solidFill>
                <a:latin typeface="Courier"/>
              </a:rPr>
              <a:t>=</a:t>
            </a:r>
            <a:r>
              <a:rPr>
                <a:latin typeface="Courier"/>
              </a:rPr>
              <a:t> </a:t>
            </a:r>
            <a:r>
              <a:rPr>
                <a:solidFill>
                  <a:srgbClr val="4070A0"/>
                </a:solidFill>
                <a:latin typeface="Courier"/>
              </a:rPr>
              <a:t>"hello"</a:t>
            </a:r>
            <a:br/>
            <a:r>
              <a:rPr>
                <a:latin typeface="Courier"/>
              </a:rPr>
              <a:t>s</a:t>
            </a:r>
            <a:r>
              <a:rPr>
                <a:solidFill>
                  <a:srgbClr val="666666"/>
                </a:solidFill>
                <a:latin typeface="Courier"/>
              </a:rPr>
              <a:t>:</a:t>
            </a:r>
            <a:r>
              <a:rPr>
                <a:latin typeface="Courier"/>
              </a:rPr>
              <a:t> String </a:t>
            </a:r>
            <a:r>
              <a:rPr>
                <a:solidFill>
                  <a:srgbClr val="666666"/>
                </a:solidFill>
                <a:latin typeface="Courier"/>
              </a:rPr>
              <a:t>=</a:t>
            </a:r>
            <a:r>
              <a:rPr>
                <a:latin typeface="Courier"/>
              </a:rPr>
              <a:t> hello</a:t>
            </a:r>
            <a:br/>
            <a:r>
              <a:rPr>
                <a:latin typeface="Courier"/>
              </a:rPr>
              <a:t>scala</a:t>
            </a:r>
            <a:r>
              <a:rPr>
                <a:solidFill>
                  <a:srgbClr val="666666"/>
                </a:solidFill>
                <a:latin typeface="Courier"/>
              </a:rPr>
              <a:t>&gt;</a:t>
            </a:r>
            <a:r>
              <a:rPr>
                <a:latin typeface="Courier"/>
              </a:rPr>
              <a:t> </a:t>
            </a:r>
            <a:r>
              <a:rPr b="1">
                <a:solidFill>
                  <a:srgbClr val="007020"/>
                </a:solidFill>
                <a:latin typeface="Courier"/>
              </a:rPr>
              <a:t>var</a:t>
            </a:r>
            <a:r>
              <a:rPr>
                <a:latin typeface="Courier"/>
              </a:rPr>
              <a:t> i</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t>
            </a:r>
            <a:r>
              <a:rPr>
                <a:solidFill>
                  <a:srgbClr val="40A070"/>
                </a:solidFill>
                <a:latin typeface="Courier"/>
              </a:rPr>
              <a:t>42</a:t>
            </a:r>
            <a:br/>
            <a:r>
              <a:rPr>
                <a:latin typeface="Courier"/>
              </a:rPr>
              <a:t>i</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t>
            </a:r>
            <a:r>
              <a:rPr>
                <a:solidFill>
                  <a:srgbClr val="40A070"/>
                </a:solidFill>
                <a:latin typeface="Courier"/>
              </a:rPr>
              <a:t>42</a:t>
            </a:r>
          </a:p>
          <a:p>
            <a:pPr lvl="0" indent="0" marL="0">
              <a:buNone/>
            </a:pPr>
            <a:r>
              <a:rPr/>
              <a:t>片段 3</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a </a:t>
            </a:r>
            <a:r>
              <a:rPr>
                <a:solidFill>
                  <a:srgbClr val="666666"/>
                </a:solidFill>
                <a:latin typeface="Courier"/>
              </a:rPr>
              <a:t>=</a:t>
            </a:r>
            <a:r>
              <a:rPr>
                <a:latin typeface="Courier"/>
              </a:rPr>
              <a:t> </a:t>
            </a:r>
            <a:r>
              <a:rPr>
                <a:solidFill>
                  <a:srgbClr val="4070A0"/>
                </a:solidFill>
                <a:latin typeface="Courier"/>
              </a:rPr>
              <a:t>'a'</a:t>
            </a:r>
            <a:br/>
            <a:r>
              <a:rPr>
                <a:latin typeface="Courier"/>
              </a:rPr>
              <a:t>a</a:t>
            </a:r>
            <a:r>
              <a:rPr>
                <a:solidFill>
                  <a:srgbClr val="666666"/>
                </a:solidFill>
                <a:latin typeface="Courier"/>
              </a:rPr>
              <a:t>:</a:t>
            </a:r>
            <a:r>
              <a:rPr>
                <a:latin typeface="Courier"/>
              </a:rPr>
              <a:t> </a:t>
            </a:r>
            <a:r>
              <a:rPr>
                <a:solidFill>
                  <a:srgbClr val="008000"/>
                </a:solidFill>
                <a:latin typeface="Courier"/>
              </a:rPr>
              <a:t>Char</a:t>
            </a:r>
            <a:r>
              <a:rPr>
                <a:latin typeface="Courier"/>
              </a:rPr>
              <a:t> </a:t>
            </a:r>
            <a:r>
              <a:rPr>
                <a:solidFill>
                  <a:srgbClr val="666666"/>
                </a:solidFill>
                <a:latin typeface="Courier"/>
              </a:rPr>
              <a:t>=</a:t>
            </a:r>
            <a:r>
              <a:rPr>
                <a:latin typeface="Courier"/>
              </a:rPr>
              <a:t> a</a:t>
            </a:r>
            <a:br/>
            <a:r>
              <a:rPr>
                <a:latin typeface="Courier"/>
              </a:rPr>
              <a:t>scala</a:t>
            </a:r>
            <a:r>
              <a:rPr>
                <a:solidFill>
                  <a:srgbClr val="666666"/>
                </a:solidFill>
                <a:latin typeface="Courier"/>
              </a:rPr>
              <a:t>&gt;</a:t>
            </a:r>
            <a:r>
              <a:rPr>
                <a:latin typeface="Courier"/>
              </a:rPr>
              <a:t> a </a:t>
            </a:r>
            <a:r>
              <a:rPr>
                <a:solidFill>
                  <a:srgbClr val="666666"/>
                </a:solidFill>
                <a:latin typeface="Courier"/>
              </a:rPr>
              <a:t>=</a:t>
            </a:r>
            <a:r>
              <a:rPr>
                <a:latin typeface="Courier"/>
              </a:rPr>
              <a:t> </a:t>
            </a:r>
            <a:r>
              <a:rPr>
                <a:solidFill>
                  <a:srgbClr val="4070A0"/>
                </a:solidFill>
                <a:latin typeface="Courier"/>
              </a:rPr>
              <a:t>'b'</a:t>
            </a:r>
            <a:br/>
            <a:r>
              <a:rPr i="1">
                <a:solidFill>
                  <a:srgbClr val="60A0B0"/>
                </a:solidFill>
                <a:latin typeface="Courier"/>
              </a:rPr>
              <a:t>// ...</a:t>
            </a:r>
          </a:p>
          <a:p>
            <a:pPr lvl="0" indent="0" marL="0">
              <a:buNone/>
            </a:pPr>
            <a:r>
              <a:rPr/>
              <a:t>片段 4</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var</a:t>
            </a:r>
            <a:r>
              <a:rPr>
                <a:latin typeface="Courier"/>
              </a:rPr>
              <a:t> a </a:t>
            </a:r>
            <a:r>
              <a:rPr>
                <a:solidFill>
                  <a:srgbClr val="666666"/>
                </a:solidFill>
                <a:latin typeface="Courier"/>
              </a:rPr>
              <a:t>=</a:t>
            </a:r>
            <a:r>
              <a:rPr>
                <a:latin typeface="Courier"/>
              </a:rPr>
              <a:t> </a:t>
            </a:r>
            <a:r>
              <a:rPr>
                <a:solidFill>
                  <a:srgbClr val="4070A0"/>
                </a:solidFill>
                <a:latin typeface="Courier"/>
              </a:rPr>
              <a:t>'a'</a:t>
            </a:r>
            <a:br/>
            <a:r>
              <a:rPr>
                <a:latin typeface="Courier"/>
              </a:rPr>
              <a:t>a</a:t>
            </a:r>
            <a:r>
              <a:rPr>
                <a:solidFill>
                  <a:srgbClr val="666666"/>
                </a:solidFill>
                <a:latin typeface="Courier"/>
              </a:rPr>
              <a:t>:</a:t>
            </a:r>
            <a:r>
              <a:rPr>
                <a:latin typeface="Courier"/>
              </a:rPr>
              <a:t> </a:t>
            </a:r>
            <a:r>
              <a:rPr>
                <a:solidFill>
                  <a:srgbClr val="008000"/>
                </a:solidFill>
                <a:latin typeface="Courier"/>
              </a:rPr>
              <a:t>Char</a:t>
            </a:r>
            <a:r>
              <a:rPr>
                <a:latin typeface="Courier"/>
              </a:rPr>
              <a:t> </a:t>
            </a:r>
            <a:r>
              <a:rPr>
                <a:solidFill>
                  <a:srgbClr val="666666"/>
                </a:solidFill>
                <a:latin typeface="Courier"/>
              </a:rPr>
              <a:t>=</a:t>
            </a:r>
            <a:r>
              <a:rPr>
                <a:latin typeface="Courier"/>
              </a:rPr>
              <a:t> a</a:t>
            </a:r>
            <a:br/>
            <a:r>
              <a:rPr>
                <a:latin typeface="Courier"/>
              </a:rPr>
              <a:t>scala</a:t>
            </a:r>
            <a:r>
              <a:rPr>
                <a:solidFill>
                  <a:srgbClr val="666666"/>
                </a:solidFill>
                <a:latin typeface="Courier"/>
              </a:rPr>
              <a:t>&gt;</a:t>
            </a:r>
            <a:r>
              <a:rPr>
                <a:latin typeface="Courier"/>
              </a:rPr>
              <a:t> a </a:t>
            </a:r>
            <a:r>
              <a:rPr>
                <a:solidFill>
                  <a:srgbClr val="666666"/>
                </a:solidFill>
                <a:latin typeface="Courier"/>
              </a:rPr>
              <a:t>=</a:t>
            </a:r>
            <a:r>
              <a:rPr>
                <a:latin typeface="Courier"/>
              </a:rPr>
              <a:t> </a:t>
            </a:r>
            <a:r>
              <a:rPr>
                <a:solidFill>
                  <a:srgbClr val="4070A0"/>
                </a:solidFill>
                <a:latin typeface="Courier"/>
              </a:rPr>
              <a:t>'b'</a:t>
            </a:r>
            <a:br/>
            <a:r>
              <a:rPr>
                <a:latin typeface="Courier"/>
              </a:rPr>
              <a:t>a</a:t>
            </a:r>
            <a:r>
              <a:rPr>
                <a:solidFill>
                  <a:srgbClr val="666666"/>
                </a:solidFill>
                <a:latin typeface="Courier"/>
              </a:rPr>
              <a:t>:</a:t>
            </a:r>
            <a:r>
              <a:rPr>
                <a:latin typeface="Courier"/>
              </a:rPr>
              <a:t> </a:t>
            </a:r>
            <a:r>
              <a:rPr>
                <a:solidFill>
                  <a:srgbClr val="008000"/>
                </a:solidFill>
                <a:latin typeface="Courier"/>
              </a:rPr>
              <a:t>Char</a:t>
            </a:r>
            <a:r>
              <a:rPr>
                <a:latin typeface="Courier"/>
              </a:rPr>
              <a:t> </a:t>
            </a:r>
            <a:r>
              <a:rPr>
                <a:solidFill>
                  <a:srgbClr val="666666"/>
                </a:solidFill>
                <a:latin typeface="Courier"/>
              </a:rPr>
              <a:t>=</a:t>
            </a:r>
            <a:r>
              <a:rPr>
                <a:latin typeface="Courier"/>
              </a:rPr>
              <a:t> b</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2.5.1 面向对象编程：代码片段（4/27）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REPL与在IDE中使用源代码并非100％相同</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age </a:t>
            </a:r>
            <a:r>
              <a:rPr>
                <a:solidFill>
                  <a:srgbClr val="666666"/>
                </a:solidFill>
                <a:latin typeface="Courier"/>
              </a:rPr>
              <a:t>=</a:t>
            </a:r>
            <a:r>
              <a:rPr>
                <a:latin typeface="Courier"/>
              </a:rPr>
              <a:t> </a:t>
            </a:r>
            <a:r>
              <a:rPr>
                <a:solidFill>
                  <a:srgbClr val="40A070"/>
                </a:solidFill>
                <a:latin typeface="Courier"/>
              </a:rPr>
              <a:t>18</a:t>
            </a:r>
            <a:br/>
            <a:r>
              <a:rPr>
                <a:latin typeface="Courier"/>
              </a:rPr>
              <a:t>age</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t>
            </a:r>
            <a:r>
              <a:rPr>
                <a:solidFill>
                  <a:srgbClr val="40A070"/>
                </a:solidFill>
                <a:latin typeface="Courier"/>
              </a:rPr>
              <a:t>18</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age </a:t>
            </a:r>
            <a:r>
              <a:rPr>
                <a:solidFill>
                  <a:srgbClr val="666666"/>
                </a:solidFill>
                <a:latin typeface="Courier"/>
              </a:rPr>
              <a:t>=</a:t>
            </a:r>
            <a:r>
              <a:rPr>
                <a:latin typeface="Courier"/>
              </a:rPr>
              <a:t> </a:t>
            </a:r>
            <a:r>
              <a:rPr>
                <a:solidFill>
                  <a:srgbClr val="40A070"/>
                </a:solidFill>
                <a:latin typeface="Courier"/>
              </a:rPr>
              <a:t>19</a:t>
            </a:r>
            <a:br/>
            <a:r>
              <a:rPr>
                <a:latin typeface="Courier"/>
              </a:rPr>
              <a:t>age</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t>
            </a:r>
            <a:r>
              <a:rPr>
                <a:solidFill>
                  <a:srgbClr val="40A070"/>
                </a:solidFill>
                <a:latin typeface="Courier"/>
              </a:rPr>
              <a:t>19</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2.5.1 面向对象编程：代码片段（5/27）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而在scala应用程序代码中</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b</a:t>
            </a:r>
            <a:r>
              <a:rPr>
                <a:solidFill>
                  <a:srgbClr val="666666"/>
                </a:solidFill>
                <a:latin typeface="Courier"/>
              </a:rPr>
              <a:t>:</a:t>
            </a:r>
            <a:r>
              <a:rPr>
                <a:latin typeface="Courier"/>
              </a:rPr>
              <a:t> Byte </a:t>
            </a:r>
            <a:r>
              <a:rPr>
                <a:solidFill>
                  <a:srgbClr val="666666"/>
                </a:solidFill>
                <a:latin typeface="Courier"/>
              </a:rPr>
              <a:t>=</a:t>
            </a:r>
            <a:r>
              <a:rPr>
                <a:latin typeface="Courier"/>
              </a:rPr>
              <a:t> </a:t>
            </a:r>
            <a:r>
              <a:rPr>
                <a:solidFill>
                  <a:srgbClr val="40A070"/>
                </a:solidFill>
                <a:latin typeface="Courier"/>
              </a:rPr>
              <a:t>1</a:t>
            </a:r>
            <a:br/>
            <a:r>
              <a:rPr>
                <a:latin typeface="Courier"/>
              </a:rPr>
              <a:t>b</a:t>
            </a:r>
            <a:r>
              <a:rPr>
                <a:solidFill>
                  <a:srgbClr val="666666"/>
                </a:solidFill>
                <a:latin typeface="Courier"/>
              </a:rPr>
              <a:t>:</a:t>
            </a:r>
            <a:r>
              <a:rPr>
                <a:latin typeface="Courier"/>
              </a:rPr>
              <a:t> Byte </a:t>
            </a:r>
            <a:r>
              <a:rPr>
                <a:solidFill>
                  <a:srgbClr val="666666"/>
                </a:solidFill>
                <a:latin typeface="Courier"/>
              </a:rPr>
              <a:t>=</a:t>
            </a:r>
            <a:r>
              <a:rPr>
                <a:latin typeface="Courier"/>
              </a:rPr>
              <a:t> </a:t>
            </a:r>
            <a:r>
              <a:rPr>
                <a:solidFill>
                  <a:srgbClr val="40A070"/>
                </a:solidFill>
                <a:latin typeface="Courier"/>
              </a:rPr>
              <a:t>1</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x</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t>
            </a:r>
            <a:r>
              <a:rPr>
                <a:solidFill>
                  <a:srgbClr val="40A070"/>
                </a:solidFill>
                <a:latin typeface="Courier"/>
              </a:rPr>
              <a:t>1</a:t>
            </a:r>
            <a:br/>
            <a:r>
              <a:rPr>
                <a:latin typeface="Courier"/>
              </a:rPr>
              <a:t>x</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t>
            </a:r>
            <a:r>
              <a:rPr>
                <a:solidFill>
                  <a:srgbClr val="40A070"/>
                </a:solidFill>
                <a:latin typeface="Courier"/>
              </a:rPr>
              <a:t>1</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l</a:t>
            </a:r>
            <a:r>
              <a:rPr>
                <a:solidFill>
                  <a:srgbClr val="666666"/>
                </a:solidFill>
                <a:latin typeface="Courier"/>
              </a:rPr>
              <a:t>:</a:t>
            </a:r>
            <a:r>
              <a:rPr>
                <a:latin typeface="Courier"/>
              </a:rPr>
              <a:t> Long </a:t>
            </a:r>
            <a:r>
              <a:rPr>
                <a:solidFill>
                  <a:srgbClr val="666666"/>
                </a:solidFill>
                <a:latin typeface="Courier"/>
              </a:rPr>
              <a:t>=</a:t>
            </a:r>
            <a:r>
              <a:rPr>
                <a:latin typeface="Courier"/>
              </a:rPr>
              <a:t> </a:t>
            </a:r>
            <a:r>
              <a:rPr>
                <a:solidFill>
                  <a:srgbClr val="40A070"/>
                </a:solidFill>
                <a:latin typeface="Courier"/>
              </a:rPr>
              <a:t>1</a:t>
            </a:r>
            <a:br/>
            <a:r>
              <a:rPr>
                <a:latin typeface="Courier"/>
              </a:rPr>
              <a:t>l</a:t>
            </a:r>
            <a:r>
              <a:rPr>
                <a:solidFill>
                  <a:srgbClr val="666666"/>
                </a:solidFill>
                <a:latin typeface="Courier"/>
              </a:rPr>
              <a:t>:</a:t>
            </a:r>
            <a:r>
              <a:rPr>
                <a:latin typeface="Courier"/>
              </a:rPr>
              <a:t> Long </a:t>
            </a:r>
            <a:r>
              <a:rPr>
                <a:solidFill>
                  <a:srgbClr val="666666"/>
                </a:solidFill>
                <a:latin typeface="Courier"/>
              </a:rPr>
              <a:t>=</a:t>
            </a:r>
            <a:r>
              <a:rPr>
                <a:latin typeface="Courier"/>
              </a:rPr>
              <a:t> </a:t>
            </a:r>
            <a:r>
              <a:rPr>
                <a:solidFill>
                  <a:srgbClr val="40A070"/>
                </a:solidFill>
                <a:latin typeface="Courier"/>
              </a:rPr>
              <a:t>1</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s</a:t>
            </a:r>
            <a:r>
              <a:rPr>
                <a:solidFill>
                  <a:srgbClr val="666666"/>
                </a:solidFill>
                <a:latin typeface="Courier"/>
              </a:rPr>
              <a:t>:</a:t>
            </a:r>
            <a:r>
              <a:rPr>
                <a:latin typeface="Courier"/>
              </a:rPr>
              <a:t> Short </a:t>
            </a:r>
            <a:r>
              <a:rPr>
                <a:solidFill>
                  <a:srgbClr val="666666"/>
                </a:solidFill>
                <a:latin typeface="Courier"/>
              </a:rPr>
              <a:t>=</a:t>
            </a:r>
            <a:r>
              <a:rPr>
                <a:latin typeface="Courier"/>
              </a:rPr>
              <a:t> </a:t>
            </a:r>
            <a:r>
              <a:rPr>
                <a:solidFill>
                  <a:srgbClr val="40A070"/>
                </a:solidFill>
                <a:latin typeface="Courier"/>
              </a:rPr>
              <a:t>1</a:t>
            </a:r>
            <a:br/>
            <a:r>
              <a:rPr>
                <a:latin typeface="Courier"/>
              </a:rPr>
              <a:t>s</a:t>
            </a:r>
            <a:r>
              <a:rPr>
                <a:solidFill>
                  <a:srgbClr val="666666"/>
                </a:solidFill>
                <a:latin typeface="Courier"/>
              </a:rPr>
              <a:t>:</a:t>
            </a:r>
            <a:r>
              <a:rPr>
                <a:latin typeface="Courier"/>
              </a:rPr>
              <a:t> Short </a:t>
            </a:r>
            <a:r>
              <a:rPr>
                <a:solidFill>
                  <a:srgbClr val="666666"/>
                </a:solidFill>
                <a:latin typeface="Courier"/>
              </a:rPr>
              <a:t>=</a:t>
            </a:r>
            <a:r>
              <a:rPr>
                <a:latin typeface="Courier"/>
              </a:rPr>
              <a:t> </a:t>
            </a:r>
            <a:r>
              <a:rPr>
                <a:solidFill>
                  <a:srgbClr val="40A070"/>
                </a:solidFill>
                <a:latin typeface="Courier"/>
              </a:rPr>
              <a:t>1</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d</a:t>
            </a:r>
            <a:r>
              <a:rPr>
                <a:solidFill>
                  <a:srgbClr val="666666"/>
                </a:solidFill>
                <a:latin typeface="Courier"/>
              </a:rPr>
              <a:t>:</a:t>
            </a:r>
            <a:r>
              <a:rPr>
                <a:latin typeface="Courier"/>
              </a:rPr>
              <a:t> Double </a:t>
            </a:r>
            <a:r>
              <a:rPr>
                <a:solidFill>
                  <a:srgbClr val="666666"/>
                </a:solidFill>
                <a:latin typeface="Courier"/>
              </a:rPr>
              <a:t>=</a:t>
            </a:r>
            <a:r>
              <a:rPr>
                <a:latin typeface="Courier"/>
              </a:rPr>
              <a:t> </a:t>
            </a:r>
            <a:r>
              <a:rPr>
                <a:solidFill>
                  <a:srgbClr val="40A070"/>
                </a:solidFill>
                <a:latin typeface="Courier"/>
              </a:rPr>
              <a:t>2.0</a:t>
            </a:r>
            <a:br/>
            <a:r>
              <a:rPr>
                <a:latin typeface="Courier"/>
              </a:rPr>
              <a:t>d</a:t>
            </a:r>
            <a:r>
              <a:rPr>
                <a:solidFill>
                  <a:srgbClr val="666666"/>
                </a:solidFill>
                <a:latin typeface="Courier"/>
              </a:rPr>
              <a:t>:</a:t>
            </a:r>
            <a:r>
              <a:rPr>
                <a:latin typeface="Courier"/>
              </a:rPr>
              <a:t> Double </a:t>
            </a:r>
            <a:r>
              <a:rPr>
                <a:solidFill>
                  <a:srgbClr val="666666"/>
                </a:solidFill>
                <a:latin typeface="Courier"/>
              </a:rPr>
              <a:t>=</a:t>
            </a:r>
            <a:r>
              <a:rPr>
                <a:latin typeface="Courier"/>
              </a:rPr>
              <a:t> </a:t>
            </a:r>
            <a:r>
              <a:rPr>
                <a:solidFill>
                  <a:srgbClr val="40A070"/>
                </a:solidFill>
                <a:latin typeface="Courier"/>
              </a:rPr>
              <a:t>2.0</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f</a:t>
            </a:r>
            <a:r>
              <a:rPr>
                <a:solidFill>
                  <a:srgbClr val="666666"/>
                </a:solidFill>
                <a:latin typeface="Courier"/>
              </a:rPr>
              <a:t>:</a:t>
            </a:r>
            <a:r>
              <a:rPr>
                <a:latin typeface="Courier"/>
              </a:rPr>
              <a:t> Float </a:t>
            </a:r>
            <a:r>
              <a:rPr>
                <a:solidFill>
                  <a:srgbClr val="666666"/>
                </a:solidFill>
                <a:latin typeface="Courier"/>
              </a:rPr>
              <a:t>=</a:t>
            </a:r>
            <a:r>
              <a:rPr>
                <a:latin typeface="Courier"/>
              </a:rPr>
              <a:t> </a:t>
            </a:r>
            <a:r>
              <a:rPr>
                <a:solidFill>
                  <a:srgbClr val="40A070"/>
                </a:solidFill>
                <a:latin typeface="Courier"/>
              </a:rPr>
              <a:t>3.0f</a:t>
            </a:r>
            <a:br/>
            <a:r>
              <a:rPr>
                <a:latin typeface="Courier"/>
              </a:rPr>
              <a:t>f</a:t>
            </a:r>
            <a:r>
              <a:rPr>
                <a:solidFill>
                  <a:srgbClr val="666666"/>
                </a:solidFill>
                <a:latin typeface="Courier"/>
              </a:rPr>
              <a:t>:</a:t>
            </a:r>
            <a:r>
              <a:rPr>
                <a:latin typeface="Courier"/>
              </a:rPr>
              <a:t> Float </a:t>
            </a:r>
            <a:r>
              <a:rPr>
                <a:solidFill>
                  <a:srgbClr val="666666"/>
                </a:solidFill>
                <a:latin typeface="Courier"/>
              </a:rPr>
              <a:t>=</a:t>
            </a:r>
            <a:r>
              <a:rPr>
                <a:latin typeface="Courier"/>
              </a:rPr>
              <a:t> </a:t>
            </a:r>
            <a:r>
              <a:rPr>
                <a:solidFill>
                  <a:srgbClr val="40A070"/>
                </a:solidFill>
                <a:latin typeface="Courier"/>
              </a:rPr>
              <a:t>3.0</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2.5.1 面向对象编程：代码片段（6/27）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因为Int和Double是默认数字类型</a:t>
            </a:r>
          </a:p>
          <a:p>
            <a:pPr lvl="0"/>
            <a:r>
              <a:rPr/>
              <a:t>先对照代码理解 对于大数</a:t>
            </a:r>
          </a:p>
          <a:p>
            <a:pPr lvl="0"/>
            <a:r>
              <a:rPr/>
              <a:t>通常可以使用隐式形式进行声明</a:t>
            </a:r>
          </a:p>
          <a:p>
            <a:pPr lvl="0"/>
            <a:r>
              <a:rPr/>
              <a:t>先对照代码理解 如上例所示</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i </a:t>
            </a:r>
            <a:r>
              <a:rPr>
                <a:solidFill>
                  <a:srgbClr val="666666"/>
                </a:solidFill>
                <a:latin typeface="Courier"/>
              </a:rPr>
              <a:t>=</a:t>
            </a:r>
            <a:r>
              <a:rPr>
                <a:latin typeface="Courier"/>
              </a:rPr>
              <a:t> </a:t>
            </a:r>
            <a:r>
              <a:rPr>
                <a:solidFill>
                  <a:srgbClr val="40A070"/>
                </a:solidFill>
                <a:latin typeface="Courier"/>
              </a:rPr>
              <a:t>123</a:t>
            </a:r>
            <a:br/>
            <a:r>
              <a:rPr>
                <a:latin typeface="Courier"/>
              </a:rPr>
              <a:t>i</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t>
            </a:r>
            <a:r>
              <a:rPr>
                <a:solidFill>
                  <a:srgbClr val="40A070"/>
                </a:solidFill>
                <a:latin typeface="Courier"/>
              </a:rPr>
              <a:t>123</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x </a:t>
            </a:r>
            <a:r>
              <a:rPr>
                <a:solidFill>
                  <a:srgbClr val="666666"/>
                </a:solidFill>
                <a:latin typeface="Courier"/>
              </a:rPr>
              <a:t>=</a:t>
            </a:r>
            <a:r>
              <a:rPr>
                <a:latin typeface="Courier"/>
              </a:rPr>
              <a:t> </a:t>
            </a:r>
            <a:r>
              <a:rPr>
                <a:solidFill>
                  <a:srgbClr val="40A070"/>
                </a:solidFill>
                <a:latin typeface="Courier"/>
              </a:rPr>
              <a:t>1.0</a:t>
            </a:r>
            <a:br/>
            <a:r>
              <a:rPr>
                <a:latin typeface="Courier"/>
              </a:rPr>
              <a:t>x</a:t>
            </a:r>
            <a:r>
              <a:rPr>
                <a:solidFill>
                  <a:srgbClr val="666666"/>
                </a:solidFill>
                <a:latin typeface="Courier"/>
              </a:rPr>
              <a:t>:</a:t>
            </a:r>
            <a:r>
              <a:rPr>
                <a:latin typeface="Courier"/>
              </a:rPr>
              <a:t> Double </a:t>
            </a:r>
            <a:r>
              <a:rPr>
                <a:solidFill>
                  <a:srgbClr val="666666"/>
                </a:solidFill>
                <a:latin typeface="Courier"/>
              </a:rPr>
              <a:t>=</a:t>
            </a:r>
            <a:r>
              <a:rPr>
                <a:latin typeface="Courier"/>
              </a:rPr>
              <a:t> </a:t>
            </a:r>
            <a:r>
              <a:rPr>
                <a:solidFill>
                  <a:srgbClr val="40A070"/>
                </a:solidFill>
                <a:latin typeface="Courier"/>
              </a:rPr>
              <a:t>1.0</a:t>
            </a:r>
          </a:p>
          <a:p>
            <a:pPr lvl="0" indent="0" marL="0">
              <a:buNone/>
            </a:pPr>
            <a:r>
              <a:rPr/>
              <a:t>片段 2</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var</a:t>
            </a:r>
            <a:r>
              <a:rPr>
                <a:latin typeface="Courier"/>
              </a:rPr>
              <a:t> b </a:t>
            </a:r>
            <a:r>
              <a:rPr>
                <a:solidFill>
                  <a:srgbClr val="666666"/>
                </a:solidFill>
                <a:latin typeface="Courier"/>
              </a:rPr>
              <a:t>=</a:t>
            </a:r>
            <a:r>
              <a:rPr>
                <a:latin typeface="Courier"/>
              </a:rPr>
              <a:t> </a:t>
            </a:r>
            <a:r>
              <a:rPr>
                <a:solidFill>
                  <a:srgbClr val="06287E"/>
                </a:solidFill>
                <a:latin typeface="Courier"/>
              </a:rPr>
              <a:t>BigInt</a:t>
            </a:r>
            <a:r>
              <a:rPr>
                <a:solidFill>
                  <a:srgbClr val="666666"/>
                </a:solidFill>
                <a:latin typeface="Courier"/>
              </a:rPr>
              <a:t>(</a:t>
            </a:r>
            <a:r>
              <a:rPr>
                <a:solidFill>
                  <a:srgbClr val="40A070"/>
                </a:solidFill>
                <a:latin typeface="Courier"/>
              </a:rPr>
              <a:t>1234567890</a:t>
            </a:r>
            <a:r>
              <a:rPr>
                <a:solidFill>
                  <a:srgbClr val="666666"/>
                </a:solidFill>
                <a:latin typeface="Courier"/>
              </a:rPr>
              <a:t>)</a:t>
            </a:r>
            <a:br/>
            <a:r>
              <a:rPr>
                <a:latin typeface="Courier"/>
              </a:rPr>
              <a:t>b</a:t>
            </a:r>
            <a:r>
              <a:rPr>
                <a:solidFill>
                  <a:srgbClr val="666666"/>
                </a:solidFill>
                <a:latin typeface="Courier"/>
              </a:rPr>
              <a:t>:</a:t>
            </a:r>
            <a:r>
              <a:rPr>
                <a:latin typeface="Courier"/>
              </a:rPr>
              <a:t> scala</a:t>
            </a:r>
            <a:r>
              <a:rPr>
                <a:solidFill>
                  <a:srgbClr val="666666"/>
                </a:solidFill>
                <a:latin typeface="Courier"/>
              </a:rPr>
              <a:t>.</a:t>
            </a:r>
            <a:r>
              <a:rPr>
                <a:latin typeface="Courier"/>
              </a:rPr>
              <a:t>math</a:t>
            </a:r>
            <a:r>
              <a:rPr>
                <a:solidFill>
                  <a:srgbClr val="666666"/>
                </a:solidFill>
                <a:latin typeface="Courier"/>
              </a:rPr>
              <a:t>.</a:t>
            </a:r>
            <a:r>
              <a:rPr>
                <a:latin typeface="Courier"/>
              </a:rPr>
              <a:t>BigInt </a:t>
            </a:r>
            <a:r>
              <a:rPr>
                <a:solidFill>
                  <a:srgbClr val="666666"/>
                </a:solidFill>
                <a:latin typeface="Courier"/>
              </a:rPr>
              <a:t>=</a:t>
            </a:r>
            <a:r>
              <a:rPr>
                <a:latin typeface="Courier"/>
              </a:rPr>
              <a:t> </a:t>
            </a:r>
            <a:r>
              <a:rPr>
                <a:solidFill>
                  <a:srgbClr val="40A070"/>
                </a:solidFill>
                <a:latin typeface="Courier"/>
              </a:rPr>
              <a:t>1234567890</a:t>
            </a:r>
            <a:br/>
            <a:r>
              <a:rPr>
                <a:latin typeface="Courier"/>
              </a:rPr>
              <a:t>scala</a:t>
            </a:r>
            <a:r>
              <a:rPr>
                <a:solidFill>
                  <a:srgbClr val="666666"/>
                </a:solidFill>
                <a:latin typeface="Courier"/>
              </a:rPr>
              <a:t>&gt;</a:t>
            </a:r>
            <a:r>
              <a:rPr>
                <a:latin typeface="Courier"/>
              </a:rPr>
              <a:t> </a:t>
            </a:r>
            <a:r>
              <a:rPr b="1">
                <a:solidFill>
                  <a:srgbClr val="007020"/>
                </a:solidFill>
                <a:latin typeface="Courier"/>
              </a:rPr>
              <a:t>var</a:t>
            </a:r>
            <a:r>
              <a:rPr>
                <a:latin typeface="Courier"/>
              </a:rPr>
              <a:t> b </a:t>
            </a:r>
            <a:r>
              <a:rPr>
                <a:solidFill>
                  <a:srgbClr val="666666"/>
                </a:solidFill>
                <a:latin typeface="Courier"/>
              </a:rPr>
              <a:t>=</a:t>
            </a:r>
            <a:r>
              <a:rPr>
                <a:latin typeface="Courier"/>
              </a:rPr>
              <a:t> BigDecimal</a:t>
            </a:r>
            <a:r>
              <a:rPr>
                <a:solidFill>
                  <a:srgbClr val="666666"/>
                </a:solidFill>
                <a:latin typeface="Courier"/>
              </a:rPr>
              <a:t>(</a:t>
            </a:r>
            <a:r>
              <a:rPr>
                <a:solidFill>
                  <a:srgbClr val="40A070"/>
                </a:solidFill>
                <a:latin typeface="Courier"/>
              </a:rPr>
              <a:t>123456.789</a:t>
            </a:r>
            <a:r>
              <a:rPr>
                <a:solidFill>
                  <a:srgbClr val="666666"/>
                </a:solidFill>
                <a:latin typeface="Courier"/>
              </a:rPr>
              <a:t>)</a:t>
            </a:r>
            <a:br/>
            <a:r>
              <a:rPr>
                <a:latin typeface="Courier"/>
              </a:rPr>
              <a:t>b</a:t>
            </a:r>
            <a:r>
              <a:rPr>
                <a:solidFill>
                  <a:srgbClr val="666666"/>
                </a:solidFill>
                <a:latin typeface="Courier"/>
              </a:rPr>
              <a:t>:</a:t>
            </a:r>
            <a:r>
              <a:rPr>
                <a:latin typeface="Courier"/>
              </a:rPr>
              <a:t> scala</a:t>
            </a:r>
            <a:r>
              <a:rPr>
                <a:solidFill>
                  <a:srgbClr val="666666"/>
                </a:solidFill>
                <a:latin typeface="Courier"/>
              </a:rPr>
              <a:t>.</a:t>
            </a:r>
            <a:r>
              <a:rPr>
                <a:latin typeface="Courier"/>
              </a:rPr>
              <a:t>math</a:t>
            </a:r>
            <a:r>
              <a:rPr>
                <a:solidFill>
                  <a:srgbClr val="666666"/>
                </a:solidFill>
                <a:latin typeface="Courier"/>
              </a:rPr>
              <a:t>.</a:t>
            </a:r>
            <a:r>
              <a:rPr>
                <a:latin typeface="Courier"/>
              </a:rPr>
              <a:t>BigDecimal </a:t>
            </a:r>
            <a:r>
              <a:rPr>
                <a:solidFill>
                  <a:srgbClr val="666666"/>
                </a:solidFill>
                <a:latin typeface="Courier"/>
              </a:rPr>
              <a:t>=</a:t>
            </a:r>
            <a:r>
              <a:rPr>
                <a:latin typeface="Courier"/>
              </a:rPr>
              <a:t> </a:t>
            </a:r>
            <a:r>
              <a:rPr>
                <a:solidFill>
                  <a:srgbClr val="40A070"/>
                </a:solidFill>
                <a:latin typeface="Courier"/>
              </a:rPr>
              <a:t>123456.789</a:t>
            </a:r>
          </a:p>
          <a:p>
            <a:pPr lvl="0" indent="0" marL="0">
              <a:buNone/>
            </a:pPr>
            <a:r>
              <a:rPr/>
              <a:t>片段 3</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name </a:t>
            </a:r>
            <a:r>
              <a:rPr>
                <a:solidFill>
                  <a:srgbClr val="666666"/>
                </a:solidFill>
                <a:latin typeface="Courier"/>
              </a:rPr>
              <a:t>=</a:t>
            </a:r>
            <a:r>
              <a:rPr>
                <a:latin typeface="Courier"/>
              </a:rPr>
              <a:t> </a:t>
            </a:r>
            <a:r>
              <a:rPr>
                <a:solidFill>
                  <a:srgbClr val="4070A0"/>
                </a:solidFill>
                <a:latin typeface="Courier"/>
              </a:rPr>
              <a:t>"Bill"</a:t>
            </a:r>
            <a:br/>
            <a:r>
              <a:rPr>
                <a:latin typeface="Courier"/>
              </a:rPr>
              <a:t>name</a:t>
            </a:r>
            <a:r>
              <a:rPr>
                <a:solidFill>
                  <a:srgbClr val="666666"/>
                </a:solidFill>
                <a:latin typeface="Courier"/>
              </a:rPr>
              <a:t>:</a:t>
            </a:r>
            <a:r>
              <a:rPr>
                <a:latin typeface="Courier"/>
              </a:rPr>
              <a:t> String </a:t>
            </a:r>
            <a:r>
              <a:rPr>
                <a:solidFill>
                  <a:srgbClr val="666666"/>
                </a:solidFill>
                <a:latin typeface="Courier"/>
              </a:rPr>
              <a:t>=</a:t>
            </a:r>
            <a:r>
              <a:rPr>
                <a:latin typeface="Courier"/>
              </a:rPr>
              <a:t> Bill</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c </a:t>
            </a:r>
            <a:r>
              <a:rPr>
                <a:solidFill>
                  <a:srgbClr val="666666"/>
                </a:solidFill>
                <a:latin typeface="Courier"/>
              </a:rPr>
              <a:t>=</a:t>
            </a:r>
            <a:r>
              <a:rPr>
                <a:latin typeface="Courier"/>
              </a:rPr>
              <a:t> </a:t>
            </a:r>
            <a:r>
              <a:rPr>
                <a:solidFill>
                  <a:srgbClr val="4070A0"/>
                </a:solidFill>
                <a:latin typeface="Courier"/>
              </a:rPr>
              <a:t>'a'</a:t>
            </a:r>
            <a:br/>
            <a:r>
              <a:rPr>
                <a:latin typeface="Courier"/>
              </a:rPr>
              <a:t>c</a:t>
            </a:r>
            <a:r>
              <a:rPr>
                <a:solidFill>
                  <a:srgbClr val="666666"/>
                </a:solidFill>
                <a:latin typeface="Courier"/>
              </a:rPr>
              <a:t>:</a:t>
            </a:r>
            <a:r>
              <a:rPr>
                <a:latin typeface="Courier"/>
              </a:rPr>
              <a:t> </a:t>
            </a:r>
            <a:r>
              <a:rPr>
                <a:solidFill>
                  <a:srgbClr val="008000"/>
                </a:solidFill>
                <a:latin typeface="Courier"/>
              </a:rPr>
              <a:t>Char</a:t>
            </a:r>
            <a:r>
              <a:rPr>
                <a:latin typeface="Courier"/>
              </a:rPr>
              <a:t> </a:t>
            </a:r>
            <a:r>
              <a:rPr>
                <a:solidFill>
                  <a:srgbClr val="666666"/>
                </a:solidFill>
                <a:latin typeface="Courier"/>
              </a:rPr>
              <a:t>=</a:t>
            </a:r>
            <a:r>
              <a:rPr>
                <a:latin typeface="Courier"/>
              </a:rPr>
              <a:t> a</a:t>
            </a:r>
          </a:p>
          <a:p>
            <a:pPr lvl="0" indent="0" marL="0">
              <a:buNone/>
            </a:pPr>
            <a:r>
              <a:rPr/>
              <a:t>片段 4</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firstName </a:t>
            </a:r>
            <a:r>
              <a:rPr>
                <a:solidFill>
                  <a:srgbClr val="666666"/>
                </a:solidFill>
                <a:latin typeface="Courier"/>
              </a:rPr>
              <a:t>=</a:t>
            </a:r>
            <a:r>
              <a:rPr>
                <a:latin typeface="Courier"/>
              </a:rPr>
              <a:t> </a:t>
            </a:r>
            <a:r>
              <a:rPr>
                <a:solidFill>
                  <a:srgbClr val="4070A0"/>
                </a:solidFill>
                <a:latin typeface="Courier"/>
              </a:rPr>
              <a:t>"John"</a:t>
            </a:r>
            <a:br/>
            <a:r>
              <a:rPr>
                <a:latin typeface="Courier"/>
              </a:rPr>
              <a:t>firstName</a:t>
            </a:r>
            <a:r>
              <a:rPr>
                <a:solidFill>
                  <a:srgbClr val="666666"/>
                </a:solidFill>
                <a:latin typeface="Courier"/>
              </a:rPr>
              <a:t>:</a:t>
            </a:r>
            <a:r>
              <a:rPr>
                <a:latin typeface="Courier"/>
              </a:rPr>
              <a:t> String </a:t>
            </a:r>
            <a:r>
              <a:rPr>
                <a:solidFill>
                  <a:srgbClr val="666666"/>
                </a:solidFill>
                <a:latin typeface="Courier"/>
              </a:rPr>
              <a:t>=</a:t>
            </a:r>
            <a:r>
              <a:rPr>
                <a:latin typeface="Courier"/>
              </a:rPr>
              <a:t> John</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mi </a:t>
            </a:r>
            <a:r>
              <a:rPr>
                <a:solidFill>
                  <a:srgbClr val="666666"/>
                </a:solidFill>
                <a:latin typeface="Courier"/>
              </a:rPr>
              <a:t>=</a:t>
            </a:r>
            <a:r>
              <a:rPr>
                <a:latin typeface="Courier"/>
              </a:rPr>
              <a:t> </a:t>
            </a:r>
            <a:r>
              <a:rPr>
                <a:solidFill>
                  <a:srgbClr val="4070A0"/>
                </a:solidFill>
                <a:latin typeface="Courier"/>
              </a:rPr>
              <a:t>'C'</a:t>
            </a:r>
            <a:br/>
            <a:r>
              <a:rPr i="1">
                <a:solidFill>
                  <a:srgbClr val="60A0B0"/>
                </a:solidFill>
                <a:latin typeface="Courier"/>
              </a:rPr>
              <a:t>// ...</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2.5.1 面向对象编程：代码片段（7/27）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可以按以下方式将它们附加在一起： 的执行步骤</a:t>
            </a:r>
          </a:p>
          <a:p>
            <a:pPr lvl="0"/>
            <a:r>
              <a:rPr/>
              <a:t>先对照代码理解 但是，Scala提供了以下更方便的形式： 的执行步骤</a:t>
            </a:r>
          </a:p>
          <a:p>
            <a:pPr lvl="0"/>
            <a:r>
              <a:rPr/>
              <a:t>先对照代码理解 这种形式创建了一种非常易读的方式来打印包含变量的字符串</a:t>
            </a:r>
          </a:p>
          <a:p>
            <a:pPr lvl="0"/>
            <a:r>
              <a:rPr/>
              <a:t>先对照代码理解 如图所示</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name </a:t>
            </a:r>
            <a:r>
              <a:rPr>
                <a:solidFill>
                  <a:srgbClr val="666666"/>
                </a:solidFill>
                <a:latin typeface="Courier"/>
              </a:rPr>
              <a:t>=</a:t>
            </a:r>
            <a:r>
              <a:rPr>
                <a:latin typeface="Courier"/>
              </a:rPr>
              <a:t> firstName </a:t>
            </a:r>
            <a:r>
              <a:rPr>
                <a:solidFill>
                  <a:srgbClr val="666666"/>
                </a:solidFill>
                <a:latin typeface="Courier"/>
              </a:rPr>
              <a:t>+</a:t>
            </a:r>
            <a:r>
              <a:rPr>
                <a:latin typeface="Courier"/>
              </a:rPr>
              <a:t> </a:t>
            </a:r>
            <a:r>
              <a:rPr>
                <a:solidFill>
                  <a:srgbClr val="4070A0"/>
                </a:solidFill>
                <a:latin typeface="Courier"/>
              </a:rPr>
              <a:t>" "</a:t>
            </a:r>
            <a:r>
              <a:rPr>
                <a:latin typeface="Courier"/>
              </a:rPr>
              <a:t> </a:t>
            </a:r>
            <a:r>
              <a:rPr>
                <a:solidFill>
                  <a:srgbClr val="666666"/>
                </a:solidFill>
                <a:latin typeface="Courier"/>
              </a:rPr>
              <a:t>+</a:t>
            </a:r>
            <a:r>
              <a:rPr>
                <a:latin typeface="Courier"/>
              </a:rPr>
              <a:t> mi </a:t>
            </a:r>
            <a:r>
              <a:rPr>
                <a:solidFill>
                  <a:srgbClr val="666666"/>
                </a:solidFill>
                <a:latin typeface="Courier"/>
              </a:rPr>
              <a:t>+</a:t>
            </a:r>
            <a:r>
              <a:rPr>
                <a:latin typeface="Courier"/>
              </a:rPr>
              <a:t> </a:t>
            </a:r>
            <a:r>
              <a:rPr>
                <a:solidFill>
                  <a:srgbClr val="4070A0"/>
                </a:solidFill>
                <a:latin typeface="Courier"/>
              </a:rPr>
              <a:t>" "</a:t>
            </a:r>
            <a:r>
              <a:rPr>
                <a:latin typeface="Courier"/>
              </a:rPr>
              <a:t> </a:t>
            </a:r>
            <a:r>
              <a:rPr>
                <a:solidFill>
                  <a:srgbClr val="666666"/>
                </a:solidFill>
                <a:latin typeface="Courier"/>
              </a:rPr>
              <a:t>+</a:t>
            </a:r>
            <a:r>
              <a:rPr>
                <a:latin typeface="Courier"/>
              </a:rPr>
              <a:t> lastName</a:t>
            </a:r>
            <a:br/>
            <a:r>
              <a:rPr>
                <a:latin typeface="Courier"/>
              </a:rPr>
              <a:t>name</a:t>
            </a:r>
            <a:r>
              <a:rPr>
                <a:solidFill>
                  <a:srgbClr val="666666"/>
                </a:solidFill>
                <a:latin typeface="Courier"/>
              </a:rPr>
              <a:t>:</a:t>
            </a:r>
            <a:r>
              <a:rPr>
                <a:latin typeface="Courier"/>
              </a:rPr>
              <a:t> String </a:t>
            </a:r>
            <a:r>
              <a:rPr>
                <a:solidFill>
                  <a:srgbClr val="666666"/>
                </a:solidFill>
                <a:latin typeface="Courier"/>
              </a:rPr>
              <a:t>=</a:t>
            </a:r>
            <a:r>
              <a:rPr>
                <a:latin typeface="Courier"/>
              </a:rPr>
              <a:t> John C Doe</a:t>
            </a:r>
          </a:p>
          <a:p>
            <a:pPr lvl="0" indent="0" marL="0">
              <a:buNone/>
            </a:pPr>
            <a:r>
              <a:rPr/>
              <a:t>片段 2</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name </a:t>
            </a:r>
            <a:r>
              <a:rPr>
                <a:solidFill>
                  <a:srgbClr val="666666"/>
                </a:solidFill>
                <a:latin typeface="Courier"/>
              </a:rPr>
              <a:t>=</a:t>
            </a:r>
            <a:r>
              <a:rPr>
                <a:latin typeface="Courier"/>
              </a:rPr>
              <a:t> </a:t>
            </a:r>
            <a:r>
              <a:rPr>
                <a:solidFill>
                  <a:srgbClr val="BB6688"/>
                </a:solidFill>
                <a:latin typeface="Courier"/>
              </a:rPr>
              <a:t>s"$firstName</a:t>
            </a:r>
            <a:r>
              <a:rPr>
                <a:solidFill>
                  <a:srgbClr val="4070A0"/>
                </a:solidFill>
                <a:latin typeface="Courier"/>
              </a:rPr>
              <a:t> </a:t>
            </a:r>
            <a:r>
              <a:rPr>
                <a:solidFill>
                  <a:srgbClr val="BB6688"/>
                </a:solidFill>
                <a:latin typeface="Courier"/>
              </a:rPr>
              <a:t>$mi</a:t>
            </a:r>
            <a:r>
              <a:rPr>
                <a:solidFill>
                  <a:srgbClr val="4070A0"/>
                </a:solidFill>
                <a:latin typeface="Courier"/>
              </a:rPr>
              <a:t> </a:t>
            </a:r>
            <a:r>
              <a:rPr>
                <a:solidFill>
                  <a:srgbClr val="BB6688"/>
                </a:solidFill>
                <a:latin typeface="Courier"/>
              </a:rPr>
              <a:t>$lastName"</a:t>
            </a:r>
            <a:br/>
            <a:r>
              <a:rPr>
                <a:latin typeface="Courier"/>
              </a:rPr>
              <a:t>name</a:t>
            </a:r>
            <a:r>
              <a:rPr>
                <a:solidFill>
                  <a:srgbClr val="666666"/>
                </a:solidFill>
                <a:latin typeface="Courier"/>
              </a:rPr>
              <a:t>:</a:t>
            </a:r>
            <a:r>
              <a:rPr>
                <a:latin typeface="Courier"/>
              </a:rPr>
              <a:t> String </a:t>
            </a:r>
            <a:r>
              <a:rPr>
                <a:solidFill>
                  <a:srgbClr val="666666"/>
                </a:solidFill>
                <a:latin typeface="Courier"/>
              </a:rPr>
              <a:t>=</a:t>
            </a:r>
            <a:r>
              <a:rPr>
                <a:latin typeface="Courier"/>
              </a:rPr>
              <a:t> John C Doe</a:t>
            </a:r>
          </a:p>
          <a:p>
            <a:pPr lvl="0" indent="0" marL="0">
              <a:buNone/>
            </a:pPr>
            <a:r>
              <a:rPr/>
              <a:t>片段 3</a:t>
            </a:r>
          </a:p>
          <a:p>
            <a:pPr lvl="0" indent="0">
              <a:buNone/>
            </a:pPr>
            <a:r>
              <a:rPr>
                <a:latin typeface="Courier"/>
              </a:rPr>
              <a:t>scala</a:t>
            </a:r>
            <a:r>
              <a:rPr>
                <a:solidFill>
                  <a:srgbClr val="666666"/>
                </a:solidFill>
                <a:latin typeface="Courier"/>
              </a:rPr>
              <a:t>&gt;</a:t>
            </a:r>
            <a:r>
              <a:rPr>
                <a:latin typeface="Courier"/>
              </a:rPr>
              <a:t> </a:t>
            </a:r>
            <a:r>
              <a:rPr>
                <a:solidFill>
                  <a:srgbClr val="06287E"/>
                </a:solidFill>
                <a:latin typeface="Courier"/>
              </a:rPr>
              <a:t>println</a:t>
            </a:r>
            <a:r>
              <a:rPr>
                <a:solidFill>
                  <a:srgbClr val="666666"/>
                </a:solidFill>
                <a:latin typeface="Courier"/>
              </a:rPr>
              <a:t>(</a:t>
            </a:r>
            <a:r>
              <a:rPr>
                <a:solidFill>
                  <a:srgbClr val="BB6688"/>
                </a:solidFill>
                <a:latin typeface="Courier"/>
              </a:rPr>
              <a:t>s"</a:t>
            </a:r>
            <a:r>
              <a:rPr>
                <a:solidFill>
                  <a:srgbClr val="4070A0"/>
                </a:solidFill>
                <a:latin typeface="Courier"/>
              </a:rPr>
              <a:t>Name: </a:t>
            </a:r>
            <a:r>
              <a:rPr>
                <a:solidFill>
                  <a:srgbClr val="BB6688"/>
                </a:solidFill>
                <a:latin typeface="Courier"/>
              </a:rPr>
              <a:t>$firstName</a:t>
            </a:r>
            <a:r>
              <a:rPr>
                <a:solidFill>
                  <a:srgbClr val="4070A0"/>
                </a:solidFill>
                <a:latin typeface="Courier"/>
              </a:rPr>
              <a:t> </a:t>
            </a:r>
            <a:r>
              <a:rPr>
                <a:solidFill>
                  <a:srgbClr val="BB6688"/>
                </a:solidFill>
                <a:latin typeface="Courier"/>
              </a:rPr>
              <a:t>$mi</a:t>
            </a:r>
            <a:r>
              <a:rPr>
                <a:solidFill>
                  <a:srgbClr val="4070A0"/>
                </a:solidFill>
                <a:latin typeface="Courier"/>
              </a:rPr>
              <a:t> </a:t>
            </a:r>
            <a:r>
              <a:rPr>
                <a:solidFill>
                  <a:srgbClr val="BB6688"/>
                </a:solidFill>
                <a:latin typeface="Courier"/>
              </a:rPr>
              <a:t>$lastName"</a:t>
            </a:r>
            <a:r>
              <a:rPr>
                <a:solidFill>
                  <a:srgbClr val="666666"/>
                </a:solidFill>
                <a:latin typeface="Courier"/>
              </a:rPr>
              <a:t>)</a:t>
            </a:r>
            <a:br/>
            <a:r>
              <a:rPr>
                <a:latin typeface="Courier"/>
              </a:rPr>
              <a:t>Name</a:t>
            </a:r>
            <a:r>
              <a:rPr>
                <a:solidFill>
                  <a:srgbClr val="666666"/>
                </a:solidFill>
                <a:latin typeface="Courier"/>
              </a:rPr>
              <a:t>:</a:t>
            </a:r>
            <a:r>
              <a:rPr>
                <a:latin typeface="Courier"/>
              </a:rPr>
              <a:t> John C Doe</a:t>
            </a:r>
          </a:p>
          <a:p>
            <a:pPr lvl="0" indent="0" marL="0">
              <a:buNone/>
            </a:pPr>
            <a:r>
              <a:rPr/>
              <a:t>片段 4</a:t>
            </a:r>
          </a:p>
          <a:p>
            <a:pPr lvl="0" indent="0">
              <a:buNone/>
            </a:pPr>
            <a:r>
              <a:rPr>
                <a:latin typeface="Courier"/>
              </a:rPr>
              <a:t>scala</a:t>
            </a:r>
            <a:r>
              <a:rPr>
                <a:solidFill>
                  <a:srgbClr val="666666"/>
                </a:solidFill>
                <a:latin typeface="Courier"/>
              </a:rPr>
              <a:t>&gt;</a:t>
            </a:r>
            <a:r>
              <a:rPr>
                <a:latin typeface="Courier"/>
              </a:rPr>
              <a:t> </a:t>
            </a:r>
            <a:r>
              <a:rPr>
                <a:solidFill>
                  <a:srgbClr val="06287E"/>
                </a:solidFill>
                <a:latin typeface="Courier"/>
              </a:rPr>
              <a:t>println</a:t>
            </a:r>
            <a:r>
              <a:rPr>
                <a:solidFill>
                  <a:srgbClr val="666666"/>
                </a:solidFill>
                <a:latin typeface="Courier"/>
              </a:rPr>
              <a:t>(</a:t>
            </a:r>
            <a:r>
              <a:rPr>
                <a:solidFill>
                  <a:srgbClr val="BB6688"/>
                </a:solidFill>
                <a:latin typeface="Courier"/>
              </a:rPr>
              <a:t>s"</a:t>
            </a:r>
            <a:r>
              <a:rPr>
                <a:solidFill>
                  <a:srgbClr val="4070A0"/>
                </a:solidFill>
                <a:latin typeface="Courier"/>
              </a:rPr>
              <a:t>Name: </a:t>
            </a:r>
            <a:r>
              <a:rPr>
                <a:solidFill>
                  <a:srgbClr val="BB6688"/>
                </a:solidFill>
                <a:latin typeface="Courier"/>
              </a:rPr>
              <a:t>${</a:t>
            </a:r>
            <a:r>
              <a:rPr>
                <a:latin typeface="Courier"/>
              </a:rPr>
              <a:t>firstName</a:t>
            </a:r>
            <a:r>
              <a:rPr>
                <a:solidFill>
                  <a:srgbClr val="BB6688"/>
                </a:solidFill>
                <a:latin typeface="Courier"/>
              </a:rPr>
              <a:t>}</a:t>
            </a:r>
            <a:r>
              <a:rPr>
                <a:solidFill>
                  <a:srgbClr val="4070A0"/>
                </a:solidFill>
                <a:latin typeface="Courier"/>
              </a:rPr>
              <a:t> </a:t>
            </a:r>
            <a:r>
              <a:rPr>
                <a:solidFill>
                  <a:srgbClr val="BB6688"/>
                </a:solidFill>
                <a:latin typeface="Courier"/>
              </a:rPr>
              <a:t>${</a:t>
            </a:r>
            <a:r>
              <a:rPr>
                <a:latin typeface="Courier"/>
              </a:rPr>
              <a:t>mi</a:t>
            </a:r>
            <a:r>
              <a:rPr>
                <a:solidFill>
                  <a:srgbClr val="BB6688"/>
                </a:solidFill>
                <a:latin typeface="Courier"/>
              </a:rPr>
              <a:t>}</a:t>
            </a:r>
            <a:r>
              <a:rPr>
                <a:solidFill>
                  <a:srgbClr val="4070A0"/>
                </a:solidFill>
                <a:latin typeface="Courier"/>
              </a:rPr>
              <a:t> </a:t>
            </a:r>
            <a:r>
              <a:rPr>
                <a:solidFill>
                  <a:srgbClr val="BB6688"/>
                </a:solidFill>
                <a:latin typeface="Courier"/>
              </a:rPr>
              <a:t>${</a:t>
            </a:r>
            <a:r>
              <a:rPr>
                <a:latin typeface="Courier"/>
              </a:rPr>
              <a:t>lastName</a:t>
            </a:r>
            <a:r>
              <a:rPr>
                <a:solidFill>
                  <a:srgbClr val="BB6688"/>
                </a:solidFill>
                <a:latin typeface="Courier"/>
              </a:rPr>
              <a:t>}"</a:t>
            </a:r>
            <a:r>
              <a:rPr>
                <a:solidFill>
                  <a:srgbClr val="666666"/>
                </a:solidFill>
                <a:latin typeface="Courier"/>
              </a:rPr>
              <a:t>)</a:t>
            </a:r>
            <a:br/>
            <a:r>
              <a:rPr>
                <a:latin typeface="Courier"/>
              </a:rPr>
              <a:t>Name</a:t>
            </a:r>
            <a:r>
              <a:rPr>
                <a:solidFill>
                  <a:srgbClr val="666666"/>
                </a:solidFill>
                <a:latin typeface="Courier"/>
              </a:rPr>
              <a:t>:</a:t>
            </a:r>
            <a:r>
              <a:rPr>
                <a:latin typeface="Courier"/>
              </a:rPr>
              <a:t> John C Doe</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2.5.1 面向对象编程：代码片段（8/27）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对于一些人来说这种格式较易读</a:t>
            </a:r>
          </a:p>
          <a:p>
            <a:pPr lvl="0"/>
            <a:r>
              <a:rPr/>
              <a:t>先对照代码理解 使用字符串插值可以在字符串前面加上字母f</a:t>
            </a:r>
          </a:p>
          <a:p>
            <a:pPr lvl="0"/>
            <a:r>
              <a:rPr/>
              <a:t>先对照代码理解 当您需要使用多行字符串时</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a:t>
            </a:r>
            <a:r>
              <a:rPr>
                <a:solidFill>
                  <a:srgbClr val="06287E"/>
                </a:solidFill>
                <a:latin typeface="Courier"/>
              </a:rPr>
              <a:t>println</a:t>
            </a:r>
            <a:r>
              <a:rPr>
                <a:solidFill>
                  <a:srgbClr val="666666"/>
                </a:solidFill>
                <a:latin typeface="Courier"/>
              </a:rPr>
              <a:t>(</a:t>
            </a:r>
            <a:r>
              <a:rPr>
                <a:solidFill>
                  <a:srgbClr val="BB6688"/>
                </a:solidFill>
                <a:latin typeface="Courier"/>
              </a:rPr>
              <a:t>s"</a:t>
            </a:r>
            <a:r>
              <a:rPr>
                <a:solidFill>
                  <a:srgbClr val="4070A0"/>
                </a:solidFill>
                <a:latin typeface="Courier"/>
              </a:rPr>
              <a:t>1+1 = </a:t>
            </a:r>
            <a:r>
              <a:rPr>
                <a:solidFill>
                  <a:srgbClr val="BB6688"/>
                </a:solidFill>
                <a:latin typeface="Courier"/>
              </a:rPr>
              <a:t>${</a:t>
            </a:r>
            <a:r>
              <a:rPr>
                <a:solidFill>
                  <a:srgbClr val="40A070"/>
                </a:solidFill>
                <a:latin typeface="Courier"/>
              </a:rPr>
              <a:t>1</a:t>
            </a:r>
            <a:r>
              <a:rPr>
                <a:solidFill>
                  <a:srgbClr val="666666"/>
                </a:solidFill>
                <a:latin typeface="Courier"/>
              </a:rPr>
              <a:t>+</a:t>
            </a:r>
            <a:r>
              <a:rPr>
                <a:solidFill>
                  <a:srgbClr val="40A070"/>
                </a:solidFill>
                <a:latin typeface="Courier"/>
              </a:rPr>
              <a:t>1</a:t>
            </a:r>
            <a:r>
              <a:rPr>
                <a:solidFill>
                  <a:srgbClr val="BB6688"/>
                </a:solidFill>
                <a:latin typeface="Courier"/>
              </a:rPr>
              <a:t>}"</a:t>
            </a:r>
            <a:r>
              <a:rPr>
                <a:solidFill>
                  <a:srgbClr val="666666"/>
                </a:solidFill>
                <a:latin typeface="Courier"/>
              </a:rPr>
              <a:t>)</a:t>
            </a:r>
            <a:br/>
            <a:r>
              <a:rPr>
                <a:solidFill>
                  <a:srgbClr val="40A070"/>
                </a:solidFill>
                <a:latin typeface="Courier"/>
              </a:rPr>
              <a:t>1</a:t>
            </a:r>
            <a:r>
              <a:rPr>
                <a:solidFill>
                  <a:srgbClr val="666666"/>
                </a:solidFill>
                <a:latin typeface="Courier"/>
              </a:rPr>
              <a:t>+</a:t>
            </a:r>
            <a:r>
              <a:rPr>
                <a:solidFill>
                  <a:srgbClr val="40A070"/>
                </a:solidFill>
                <a:latin typeface="Courier"/>
              </a:rPr>
              <a:t>1</a:t>
            </a:r>
            <a:r>
              <a:rPr>
                <a:latin typeface="Courier"/>
              </a:rPr>
              <a:t> </a:t>
            </a:r>
            <a:r>
              <a:rPr>
                <a:solidFill>
                  <a:srgbClr val="666666"/>
                </a:solidFill>
                <a:latin typeface="Courier"/>
              </a:rPr>
              <a:t>=</a:t>
            </a:r>
            <a:r>
              <a:rPr>
                <a:latin typeface="Courier"/>
              </a:rPr>
              <a:t> </a:t>
            </a:r>
            <a:r>
              <a:rPr>
                <a:solidFill>
                  <a:srgbClr val="40A070"/>
                </a:solidFill>
                <a:latin typeface="Courier"/>
              </a:rPr>
              <a:t>2</a:t>
            </a:r>
          </a:p>
          <a:p>
            <a:pPr lvl="0" indent="0" marL="0">
              <a:buNone/>
            </a:pPr>
            <a:r>
              <a:rPr/>
              <a:t>片段 2</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speech </a:t>
            </a:r>
            <a:r>
              <a:rPr>
                <a:solidFill>
                  <a:srgbClr val="666666"/>
                </a:solidFill>
                <a:latin typeface="Courier"/>
              </a:rPr>
              <a:t>=</a:t>
            </a:r>
            <a:r>
              <a:rPr>
                <a:latin typeface="Courier"/>
              </a:rPr>
              <a:t> </a:t>
            </a:r>
            <a:r>
              <a:rPr>
                <a:solidFill>
                  <a:srgbClr val="4070A0"/>
                </a:solidFill>
                <a:latin typeface="Courier"/>
              </a:rPr>
              <a:t>"""Four score and</a:t>
            </a:r>
            <a:br/>
            <a:r>
              <a:rPr>
                <a:solidFill>
                  <a:srgbClr val="4070A0"/>
                </a:solidFill>
                <a:latin typeface="Courier"/>
              </a:rPr>
              <a:t>| seven years ago</a:t>
            </a:r>
            <a:br/>
            <a:r>
              <a:rPr>
                <a:solidFill>
                  <a:srgbClr val="4070A0"/>
                </a:solidFill>
                <a:latin typeface="Courier"/>
              </a:rPr>
              <a:t>| our fathers ..."""</a:t>
            </a:r>
            <a:br/>
            <a:r>
              <a:rPr>
                <a:latin typeface="Courier"/>
              </a:rPr>
              <a:t>speech</a:t>
            </a:r>
            <a:r>
              <a:rPr>
                <a:solidFill>
                  <a:srgbClr val="666666"/>
                </a:solidFill>
                <a:latin typeface="Courier"/>
              </a:rPr>
              <a:t>:</a:t>
            </a:r>
            <a:r>
              <a:rPr>
                <a:latin typeface="Courier"/>
              </a:rPr>
              <a:t> String </a:t>
            </a:r>
            <a:r>
              <a:rPr>
                <a:solidFill>
                  <a:srgbClr val="666666"/>
                </a:solidFill>
                <a:latin typeface="Courier"/>
              </a:rPr>
              <a:t>=</a:t>
            </a:r>
            <a:br/>
            <a:r>
              <a:rPr i="1">
                <a:solidFill>
                  <a:srgbClr val="60A0B0"/>
                </a:solidFill>
                <a:latin typeface="Courier"/>
              </a:rPr>
              <a:t>// ...</a:t>
            </a:r>
          </a:p>
          <a:p>
            <a:pPr lvl="0" indent="0" marL="0">
              <a:buNone/>
            </a:pPr>
            <a:r>
              <a:rPr/>
              <a:t>片段 3</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speech </a:t>
            </a:r>
            <a:r>
              <a:rPr>
                <a:solidFill>
                  <a:srgbClr val="666666"/>
                </a:solidFill>
                <a:latin typeface="Courier"/>
              </a:rPr>
              <a:t>=</a:t>
            </a:r>
            <a:r>
              <a:rPr>
                <a:latin typeface="Courier"/>
              </a:rPr>
              <a:t> </a:t>
            </a:r>
            <a:r>
              <a:rPr>
                <a:solidFill>
                  <a:srgbClr val="4070A0"/>
                </a:solidFill>
                <a:latin typeface="Courier"/>
              </a:rPr>
              <a:t>"""Four score and</a:t>
            </a:r>
            <a:br/>
            <a:r>
              <a:rPr>
                <a:solidFill>
                  <a:srgbClr val="4070A0"/>
                </a:solidFill>
                <a:latin typeface="Courier"/>
              </a:rPr>
              <a:t>| |seven years ago</a:t>
            </a:r>
            <a:br/>
            <a:r>
              <a:rPr>
                <a:solidFill>
                  <a:srgbClr val="4070A0"/>
                </a:solidFill>
                <a:latin typeface="Courier"/>
              </a:rPr>
              <a:t>| |our fathers ..."""</a:t>
            </a:r>
            <a:r>
              <a:rPr>
                <a:solidFill>
                  <a:srgbClr val="666666"/>
                </a:solidFill>
                <a:latin typeface="Courier"/>
              </a:rPr>
              <a:t>.</a:t>
            </a:r>
            <a:r>
              <a:rPr>
                <a:latin typeface="Courier"/>
              </a:rPr>
              <a:t>stripMargin</a:t>
            </a:r>
            <a:br/>
            <a:r>
              <a:rPr>
                <a:latin typeface="Courier"/>
              </a:rPr>
              <a:t>speech</a:t>
            </a:r>
            <a:r>
              <a:rPr>
                <a:solidFill>
                  <a:srgbClr val="666666"/>
                </a:solidFill>
                <a:latin typeface="Courier"/>
              </a:rPr>
              <a:t>:</a:t>
            </a:r>
            <a:r>
              <a:rPr>
                <a:latin typeface="Courier"/>
              </a:rPr>
              <a:t> String </a:t>
            </a:r>
            <a:r>
              <a:rPr>
                <a:solidFill>
                  <a:srgbClr val="666666"/>
                </a:solidFill>
                <a:latin typeface="Courier"/>
              </a:rPr>
              <a:t>=</a:t>
            </a:r>
            <a:br/>
            <a:r>
              <a:rPr i="1">
                <a:solidFill>
                  <a:srgbClr val="60A0B0"/>
                </a:solidFill>
                <a:latin typeface="Courier"/>
              </a:rPr>
              <a:t>// ...</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2.5.1 面向对象编程：代码片段（9/27）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下面让我们看一下如何使用Scala处理命令行输入和输出。如前所述</a:t>
            </a:r>
          </a:p>
          <a:p>
            <a:pPr lvl="0"/>
            <a:r>
              <a:rPr/>
              <a:t>先对照代码理解 因为println是常用方法</a:t>
            </a:r>
          </a:p>
          <a:p>
            <a:pPr lvl="0"/>
            <a:r>
              <a:rPr/>
              <a:t>先对照代码理解 Scala if构造总是返回结果</a:t>
            </a:r>
          </a:p>
          <a:p>
            <a:pPr lvl="0"/>
            <a:r>
              <a:rPr/>
              <a:t>然后遍历它们并打印出它们的值</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a:t>
            </a:r>
            <a:r>
              <a:rPr>
                <a:solidFill>
                  <a:srgbClr val="06287E"/>
                </a:solidFill>
                <a:latin typeface="Courier"/>
              </a:rPr>
              <a:t>println</a:t>
            </a:r>
            <a:r>
              <a:rPr>
                <a:solidFill>
                  <a:srgbClr val="666666"/>
                </a:solidFill>
                <a:latin typeface="Courier"/>
              </a:rPr>
              <a:t>(</a:t>
            </a:r>
            <a:r>
              <a:rPr>
                <a:solidFill>
                  <a:srgbClr val="4070A0"/>
                </a:solidFill>
                <a:latin typeface="Courier"/>
              </a:rPr>
              <a:t>"Hello, world"</a:t>
            </a:r>
            <a:r>
              <a:rPr>
                <a:solidFill>
                  <a:srgbClr val="666666"/>
                </a:solidFill>
                <a:latin typeface="Courier"/>
              </a:rPr>
              <a:t>)</a:t>
            </a:r>
            <a:br/>
            <a:r>
              <a:rPr>
                <a:latin typeface="Courier"/>
              </a:rPr>
              <a:t>Hello</a:t>
            </a:r>
            <a:r>
              <a:rPr>
                <a:solidFill>
                  <a:srgbClr val="666666"/>
                </a:solidFill>
                <a:latin typeface="Courier"/>
              </a:rPr>
              <a:t>,</a:t>
            </a:r>
            <a:r>
              <a:rPr>
                <a:latin typeface="Courier"/>
              </a:rPr>
              <a:t> world</a:t>
            </a:r>
            <a:br/>
            <a:r>
              <a:rPr>
                <a:latin typeface="Courier"/>
              </a:rPr>
              <a:t>scala</a:t>
            </a:r>
            <a:r>
              <a:rPr>
                <a:solidFill>
                  <a:srgbClr val="666666"/>
                </a:solidFill>
                <a:latin typeface="Courier"/>
              </a:rPr>
              <a:t>&gt;</a:t>
            </a:r>
            <a:r>
              <a:rPr>
                <a:latin typeface="Courier"/>
              </a:rPr>
              <a:t> </a:t>
            </a:r>
            <a:r>
              <a:rPr>
                <a:solidFill>
                  <a:srgbClr val="06287E"/>
                </a:solidFill>
                <a:latin typeface="Courier"/>
              </a:rPr>
              <a:t>print</a:t>
            </a:r>
            <a:r>
              <a:rPr>
                <a:solidFill>
                  <a:srgbClr val="666666"/>
                </a:solidFill>
                <a:latin typeface="Courier"/>
              </a:rPr>
              <a:t>(</a:t>
            </a:r>
            <a:r>
              <a:rPr>
                <a:solidFill>
                  <a:srgbClr val="4070A0"/>
                </a:solidFill>
                <a:latin typeface="Courier"/>
              </a:rPr>
              <a:t>"Hello without newline"</a:t>
            </a:r>
            <a:r>
              <a:rPr>
                <a:solidFill>
                  <a:srgbClr val="666666"/>
                </a:solidFill>
                <a:latin typeface="Courier"/>
              </a:rPr>
              <a:t>)</a:t>
            </a:r>
            <a:br/>
            <a:r>
              <a:rPr>
                <a:latin typeface="Courier"/>
              </a:rPr>
              <a:t>Hello without newline</a:t>
            </a:r>
          </a:p>
          <a:p>
            <a:pPr lvl="0" indent="0" marL="0">
              <a:buNone/>
            </a:pPr>
            <a:r>
              <a:rPr/>
              <a:t>片段 2</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import</a:t>
            </a:r>
            <a:r>
              <a:rPr>
                <a:latin typeface="Courier"/>
              </a:rPr>
              <a:t> scala</a:t>
            </a:r>
            <a:r>
              <a:rPr>
                <a:solidFill>
                  <a:srgbClr val="666666"/>
                </a:solidFill>
                <a:latin typeface="Courier"/>
              </a:rPr>
              <a:t>.</a:t>
            </a:r>
            <a:r>
              <a:rPr>
                <a:latin typeface="Courier"/>
              </a:rPr>
              <a:t>io</a:t>
            </a:r>
            <a:r>
              <a:rPr>
                <a:solidFill>
                  <a:srgbClr val="666666"/>
                </a:solidFill>
                <a:latin typeface="Courier"/>
              </a:rPr>
              <a:t>.</a:t>
            </a:r>
            <a:r>
              <a:rPr>
                <a:latin typeface="Courier"/>
              </a:rPr>
              <a:t>StdIn</a:t>
            </a:r>
            <a:r>
              <a:rPr>
                <a:solidFill>
                  <a:srgbClr val="666666"/>
                </a:solidFill>
                <a:latin typeface="Courier"/>
              </a:rPr>
              <a:t>.</a:t>
            </a:r>
            <a:r>
              <a:rPr>
                <a:latin typeface="Courier"/>
              </a:rPr>
              <a:t>readLine</a:t>
            </a:r>
            <a:br/>
            <a:r>
              <a:rPr b="1">
                <a:solidFill>
                  <a:srgbClr val="007020"/>
                </a:solidFill>
                <a:latin typeface="Courier"/>
              </a:rPr>
              <a:t>import</a:t>
            </a:r>
            <a:r>
              <a:rPr>
                <a:latin typeface="Courier"/>
              </a:rPr>
              <a:t> scala</a:t>
            </a:r>
            <a:r>
              <a:rPr>
                <a:solidFill>
                  <a:srgbClr val="666666"/>
                </a:solidFill>
                <a:latin typeface="Courier"/>
              </a:rPr>
              <a:t>.</a:t>
            </a:r>
            <a:r>
              <a:rPr>
                <a:latin typeface="Courier"/>
              </a:rPr>
              <a:t>io</a:t>
            </a:r>
            <a:r>
              <a:rPr>
                <a:solidFill>
                  <a:srgbClr val="666666"/>
                </a:solidFill>
                <a:latin typeface="Courier"/>
              </a:rPr>
              <a:t>.</a:t>
            </a:r>
            <a:r>
              <a:rPr>
                <a:latin typeface="Courier"/>
              </a:rPr>
              <a:t>StdIn</a:t>
            </a:r>
            <a:r>
              <a:rPr>
                <a:solidFill>
                  <a:srgbClr val="666666"/>
                </a:solidFill>
                <a:latin typeface="Courier"/>
              </a:rPr>
              <a:t>.</a:t>
            </a:r>
            <a:r>
              <a:rPr>
                <a:latin typeface="Courier"/>
              </a:rPr>
              <a:t>readLine</a:t>
            </a:r>
          </a:p>
          <a:p>
            <a:pPr lvl="0" indent="0" marL="0">
              <a:buNone/>
            </a:pPr>
            <a:r>
              <a:rPr/>
              <a:t>片段 3</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a</a:t>
            </a:r>
            <a:r>
              <a:rPr>
                <a:solidFill>
                  <a:srgbClr val="666666"/>
                </a:solidFill>
                <a:latin typeface="Courier"/>
              </a:rPr>
              <a:t>=</a:t>
            </a:r>
            <a:r>
              <a:rPr>
                <a:solidFill>
                  <a:srgbClr val="40A070"/>
                </a:solidFill>
                <a:latin typeface="Courier"/>
              </a:rPr>
              <a:t>1</a:t>
            </a:r>
            <a:br/>
            <a:r>
              <a:rPr>
                <a:latin typeface="Courier"/>
              </a:rPr>
              <a:t>a</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t>
            </a:r>
            <a:r>
              <a:rPr>
                <a:solidFill>
                  <a:srgbClr val="40A070"/>
                </a:solidFill>
                <a:latin typeface="Courier"/>
              </a:rPr>
              <a:t>1</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b</a:t>
            </a:r>
            <a:r>
              <a:rPr>
                <a:solidFill>
                  <a:srgbClr val="666666"/>
                </a:solidFill>
                <a:latin typeface="Courier"/>
              </a:rPr>
              <a:t>=</a:t>
            </a:r>
            <a:r>
              <a:rPr>
                <a:solidFill>
                  <a:srgbClr val="40A070"/>
                </a:solidFill>
                <a:latin typeface="Courier"/>
              </a:rPr>
              <a:t>2</a:t>
            </a:r>
            <a:br/>
            <a:r>
              <a:rPr i="1">
                <a:solidFill>
                  <a:srgbClr val="60A0B0"/>
                </a:solidFill>
                <a:latin typeface="Courier"/>
              </a:rPr>
              <a:t>// ...</a:t>
            </a:r>
          </a:p>
          <a:p>
            <a:pPr lvl="0" indent="0" marL="0">
              <a:buNone/>
            </a:pPr>
            <a:r>
              <a:rPr/>
              <a:t>片段 4</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nums </a:t>
            </a:r>
            <a:r>
              <a:rPr>
                <a:solidFill>
                  <a:srgbClr val="666666"/>
                </a:solidFill>
                <a:latin typeface="Courier"/>
              </a:rPr>
              <a:t>=</a:t>
            </a:r>
            <a:r>
              <a:rPr>
                <a:latin typeface="Courier"/>
              </a:rPr>
              <a:t> </a:t>
            </a:r>
            <a:r>
              <a:rPr>
                <a:solidFill>
                  <a:srgbClr val="008000"/>
                </a:solidFill>
                <a:latin typeface="Courier"/>
              </a:rPr>
              <a:t>Seq</a:t>
            </a:r>
            <a:r>
              <a:rPr>
                <a:solidFill>
                  <a:srgbClr val="666666"/>
                </a:solidFill>
                <a:latin typeface="Courier"/>
              </a:rPr>
              <a:t>(</a:t>
            </a:r>
            <a:r>
              <a:rPr>
                <a:solidFill>
                  <a:srgbClr val="40A070"/>
                </a:solidFill>
                <a:latin typeface="Courier"/>
              </a:rPr>
              <a:t>1</a:t>
            </a:r>
            <a:r>
              <a:rPr>
                <a:solidFill>
                  <a:srgbClr val="666666"/>
                </a:solidFill>
                <a:latin typeface="Courier"/>
              </a:rPr>
              <a:t>,</a:t>
            </a:r>
            <a:r>
              <a:rPr>
                <a:solidFill>
                  <a:srgbClr val="40A070"/>
                </a:solidFill>
                <a:latin typeface="Courier"/>
              </a:rPr>
              <a:t>2</a:t>
            </a:r>
            <a:r>
              <a:rPr>
                <a:solidFill>
                  <a:srgbClr val="666666"/>
                </a:solidFill>
                <a:latin typeface="Courier"/>
              </a:rPr>
              <a:t>,</a:t>
            </a:r>
            <a:r>
              <a:rPr>
                <a:solidFill>
                  <a:srgbClr val="40A070"/>
                </a:solidFill>
                <a:latin typeface="Courier"/>
              </a:rPr>
              <a:t>3</a:t>
            </a:r>
            <a:r>
              <a:rPr>
                <a:solidFill>
                  <a:srgbClr val="666666"/>
                </a:solidFill>
                <a:latin typeface="Courier"/>
              </a:rPr>
              <a:t>)</a:t>
            </a:r>
            <a:br/>
            <a:r>
              <a:rPr>
                <a:latin typeface="Courier"/>
              </a:rPr>
              <a:t>nums</a:t>
            </a:r>
            <a:r>
              <a:rPr>
                <a:solidFill>
                  <a:srgbClr val="666666"/>
                </a:solidFill>
                <a:latin typeface="Courier"/>
              </a:rPr>
              <a:t>:</a:t>
            </a:r>
            <a:r>
              <a:rPr>
                <a:latin typeface="Courier"/>
              </a:rPr>
              <a:t> </a:t>
            </a:r>
            <a:r>
              <a:rPr>
                <a:solidFill>
                  <a:srgbClr val="008000"/>
                </a:solidFill>
                <a:latin typeface="Courier"/>
              </a:rPr>
              <a:t>Seq</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List</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br/>
            <a:r>
              <a:rPr>
                <a:latin typeface="Courier"/>
              </a:rPr>
              <a:t>scala</a:t>
            </a:r>
            <a:r>
              <a:rPr>
                <a:solidFill>
                  <a:srgbClr val="666666"/>
                </a:solidFill>
                <a:latin typeface="Courier"/>
              </a:rPr>
              <a:t>&gt;</a:t>
            </a:r>
            <a:r>
              <a:rPr>
                <a:latin typeface="Courier"/>
              </a:rPr>
              <a:t> </a:t>
            </a:r>
            <a:r>
              <a:rPr b="1">
                <a:solidFill>
                  <a:srgbClr val="007020"/>
                </a:solidFill>
                <a:latin typeface="Courier"/>
              </a:rPr>
              <a:t>for</a:t>
            </a:r>
            <a:r>
              <a:rPr>
                <a:latin typeface="Courier"/>
              </a:rPr>
              <a:t> </a:t>
            </a:r>
            <a:r>
              <a:rPr>
                <a:solidFill>
                  <a:srgbClr val="666666"/>
                </a:solidFill>
                <a:latin typeface="Courier"/>
              </a:rPr>
              <a:t>(</a:t>
            </a:r>
            <a:r>
              <a:rPr>
                <a:latin typeface="Courier"/>
              </a:rPr>
              <a:t>n </a:t>
            </a:r>
            <a:r>
              <a:rPr>
                <a:solidFill>
                  <a:srgbClr val="666666"/>
                </a:solidFill>
                <a:latin typeface="Courier"/>
              </a:rPr>
              <a:t>&lt;-</a:t>
            </a:r>
            <a:r>
              <a:rPr>
                <a:latin typeface="Courier"/>
              </a:rPr>
              <a:t> nums</a:t>
            </a:r>
            <a:r>
              <a:rPr>
                <a:solidFill>
                  <a:srgbClr val="666666"/>
                </a:solidFill>
                <a:latin typeface="Courier"/>
              </a:rPr>
              <a:t>)</a:t>
            </a:r>
            <a:r>
              <a:rPr>
                <a:latin typeface="Courier"/>
              </a:rPr>
              <a:t> </a:t>
            </a:r>
            <a:r>
              <a:rPr>
                <a:solidFill>
                  <a:srgbClr val="06287E"/>
                </a:solidFill>
                <a:latin typeface="Courier"/>
              </a:rPr>
              <a:t>println</a:t>
            </a:r>
            <a:r>
              <a:rPr>
                <a:solidFill>
                  <a:srgbClr val="666666"/>
                </a:solidFill>
                <a:latin typeface="Courier"/>
              </a:rPr>
              <a:t>(</a:t>
            </a:r>
            <a:r>
              <a:rPr>
                <a:latin typeface="Courier"/>
              </a:rPr>
              <a:t>n</a:t>
            </a:r>
            <a:r>
              <a:rPr>
                <a:solidFill>
                  <a:srgbClr val="666666"/>
                </a:solidFill>
                <a:latin typeface="Courier"/>
              </a:rPr>
              <a:t>)</a:t>
            </a:r>
            <a:br/>
            <a:r>
              <a:rPr i="1">
                <a:solidFill>
                  <a:srgbClr val="60A0B0"/>
                </a:solidFill>
                <a:latin typeface="Courier"/>
              </a:rPr>
              <a:t>// ...</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2.5.1 面向对象编程：代码片段（10/27）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上面的示例使用整数序列</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people </a:t>
            </a:r>
            <a:r>
              <a:rPr>
                <a:solidFill>
                  <a:srgbClr val="666666"/>
                </a:solidFill>
                <a:latin typeface="Courier"/>
              </a:rPr>
              <a:t>=</a:t>
            </a:r>
            <a:r>
              <a:rPr>
                <a:latin typeface="Courier"/>
              </a:rPr>
              <a:t> List</a:t>
            </a:r>
            <a:r>
              <a:rPr>
                <a:solidFill>
                  <a:srgbClr val="666666"/>
                </a:solidFill>
                <a:latin typeface="Courier"/>
              </a:rPr>
              <a:t>(</a:t>
            </a:r>
            <a:br/>
            <a:r>
              <a:rPr>
                <a:solidFill>
                  <a:srgbClr val="666666"/>
                </a:solidFill>
                <a:latin typeface="Courier"/>
              </a:rPr>
              <a:t>|</a:t>
            </a:r>
            <a:r>
              <a:rPr>
                <a:latin typeface="Courier"/>
              </a:rPr>
              <a:t> </a:t>
            </a:r>
            <a:r>
              <a:rPr>
                <a:solidFill>
                  <a:srgbClr val="4070A0"/>
                </a:solidFill>
                <a:latin typeface="Courier"/>
              </a:rPr>
              <a:t>"Bill"</a:t>
            </a:r>
            <a:r>
              <a:rPr>
                <a:solidFill>
                  <a:srgbClr val="666666"/>
                </a:solidFill>
                <a:latin typeface="Courier"/>
              </a:rPr>
              <a:t>,</a:t>
            </a:r>
            <a:br/>
            <a:r>
              <a:rPr>
                <a:solidFill>
                  <a:srgbClr val="666666"/>
                </a:solidFill>
                <a:latin typeface="Courier"/>
              </a:rPr>
              <a:t>|</a:t>
            </a:r>
            <a:r>
              <a:rPr>
                <a:latin typeface="Courier"/>
              </a:rPr>
              <a:t> </a:t>
            </a:r>
            <a:r>
              <a:rPr>
                <a:solidFill>
                  <a:srgbClr val="4070A0"/>
                </a:solidFill>
                <a:latin typeface="Courier"/>
              </a:rPr>
              <a:t>"Candy"</a:t>
            </a:r>
            <a:r>
              <a:rPr>
                <a:solidFill>
                  <a:srgbClr val="666666"/>
                </a:solidFill>
                <a:latin typeface="Courier"/>
              </a:rPr>
              <a:t>,</a:t>
            </a:r>
            <a:br/>
            <a:r>
              <a:rPr>
                <a:solidFill>
                  <a:srgbClr val="666666"/>
                </a:solidFill>
                <a:latin typeface="Courier"/>
              </a:rPr>
              <a:t>|</a:t>
            </a:r>
            <a:r>
              <a:rPr>
                <a:latin typeface="Courier"/>
              </a:rPr>
              <a:t> </a:t>
            </a:r>
            <a:r>
              <a:rPr>
                <a:solidFill>
                  <a:srgbClr val="4070A0"/>
                </a:solidFill>
                <a:latin typeface="Courier"/>
              </a:rPr>
              <a:t>"Karen"</a:t>
            </a:r>
            <a:r>
              <a:rPr>
                <a:solidFill>
                  <a:srgbClr val="666666"/>
                </a:solidFill>
                <a:latin typeface="Courier"/>
              </a:rPr>
              <a:t>,</a:t>
            </a:r>
            <a:br/>
            <a:r>
              <a:rPr>
                <a:solidFill>
                  <a:srgbClr val="666666"/>
                </a:solidFill>
                <a:latin typeface="Courier"/>
              </a:rPr>
              <a:t>|</a:t>
            </a:r>
            <a:r>
              <a:rPr>
                <a:latin typeface="Courier"/>
              </a:rPr>
              <a:t> </a:t>
            </a:r>
            <a:r>
              <a:rPr>
                <a:solidFill>
                  <a:srgbClr val="4070A0"/>
                </a:solidFill>
                <a:latin typeface="Courier"/>
              </a:rPr>
              <a:t>"Leo"</a:t>
            </a:r>
            <a:r>
              <a:rPr>
                <a:solidFill>
                  <a:srgbClr val="666666"/>
                </a:solidFill>
                <a:latin typeface="Courier"/>
              </a:rPr>
              <a:t>,</a:t>
            </a:r>
            <a:br/>
            <a:r>
              <a:rPr>
                <a:solidFill>
                  <a:srgbClr val="666666"/>
                </a:solidFill>
                <a:latin typeface="Courier"/>
              </a:rPr>
              <a:t>|</a:t>
            </a:r>
            <a:r>
              <a:rPr>
                <a:latin typeface="Courier"/>
              </a:rPr>
              <a:t> </a:t>
            </a:r>
            <a:r>
              <a:rPr>
                <a:solidFill>
                  <a:srgbClr val="4070A0"/>
                </a:solidFill>
                <a:latin typeface="Courier"/>
              </a:rPr>
              <a:t>"Regina"</a:t>
            </a:r>
            <a:br/>
            <a:r>
              <a:rPr>
                <a:solidFill>
                  <a:srgbClr val="666666"/>
                </a:solidFill>
                <a:latin typeface="Courier"/>
              </a:rPr>
              <a:t>|</a:t>
            </a:r>
            <a:r>
              <a:rPr>
                <a:latin typeface="Courier"/>
              </a:rPr>
              <a:t> </a:t>
            </a:r>
            <a:r>
              <a:rPr>
                <a:solidFill>
                  <a:srgbClr val="666666"/>
                </a:solidFill>
                <a:latin typeface="Courier"/>
              </a:rPr>
              <a:t>)</a:t>
            </a:r>
            <a:br/>
            <a:r>
              <a:rPr>
                <a:latin typeface="Courier"/>
              </a:rPr>
              <a:t>people</a:t>
            </a:r>
            <a:r>
              <a:rPr>
                <a:solidFill>
                  <a:srgbClr val="666666"/>
                </a:solidFill>
                <a:latin typeface="Courier"/>
              </a:rPr>
              <a:t>:</a:t>
            </a:r>
            <a:r>
              <a:rPr>
                <a:latin typeface="Courier"/>
              </a:rPr>
              <a:t> List</a:t>
            </a:r>
            <a:r>
              <a:rPr>
                <a:solidFill>
                  <a:srgbClr val="666666"/>
                </a:solidFill>
                <a:latin typeface="Courier"/>
              </a:rPr>
              <a:t>[</a:t>
            </a:r>
            <a:r>
              <a:rPr>
                <a:latin typeface="Courier"/>
              </a:rPr>
              <a:t>String</a:t>
            </a:r>
            <a:r>
              <a:rPr>
                <a:solidFill>
                  <a:srgbClr val="666666"/>
                </a:solidFill>
                <a:latin typeface="Courier"/>
              </a:rPr>
              <a:t>]</a:t>
            </a:r>
            <a:r>
              <a:rPr>
                <a:latin typeface="Courier"/>
              </a:rPr>
              <a:t> </a:t>
            </a:r>
            <a:r>
              <a:rPr>
                <a:solidFill>
                  <a:srgbClr val="666666"/>
                </a:solidFill>
                <a:latin typeface="Courier"/>
              </a:rPr>
              <a:t>=</a:t>
            </a:r>
            <a:r>
              <a:rPr>
                <a:latin typeface="Courier"/>
              </a:rPr>
              <a:t> List</a:t>
            </a:r>
            <a:r>
              <a:rPr>
                <a:solidFill>
                  <a:srgbClr val="666666"/>
                </a:solidFill>
                <a:latin typeface="Courier"/>
              </a:rPr>
              <a:t>(</a:t>
            </a:r>
            <a:r>
              <a:rPr>
                <a:latin typeface="Courier"/>
              </a:rPr>
              <a:t>Bill</a:t>
            </a:r>
            <a:r>
              <a:rPr>
                <a:solidFill>
                  <a:srgbClr val="666666"/>
                </a:solidFill>
                <a:latin typeface="Courier"/>
              </a:rPr>
              <a:t>,</a:t>
            </a:r>
            <a:r>
              <a:rPr>
                <a:latin typeface="Courier"/>
              </a:rPr>
              <a:t> Candy</a:t>
            </a:r>
            <a:r>
              <a:rPr>
                <a:solidFill>
                  <a:srgbClr val="666666"/>
                </a:solidFill>
                <a:latin typeface="Courier"/>
              </a:rPr>
              <a:t>,</a:t>
            </a:r>
            <a:r>
              <a:rPr>
                <a:latin typeface="Courier"/>
              </a:rPr>
              <a:t> Karen</a:t>
            </a:r>
            <a:r>
              <a:rPr>
                <a:solidFill>
                  <a:srgbClr val="666666"/>
                </a:solidFill>
                <a:latin typeface="Courier"/>
              </a:rPr>
              <a:t>,</a:t>
            </a:r>
            <a:r>
              <a:rPr>
                <a:latin typeface="Courier"/>
              </a:rPr>
              <a:t> Leo</a:t>
            </a:r>
            <a:r>
              <a:rPr>
                <a:solidFill>
                  <a:srgbClr val="666666"/>
                </a:solidFill>
                <a:latin typeface="Courier"/>
              </a:rPr>
              <a:t>,</a:t>
            </a:r>
            <a:r>
              <a:rPr>
                <a:latin typeface="Courier"/>
              </a:rPr>
              <a:t> Regina</a:t>
            </a:r>
            <a:r>
              <a:rPr>
                <a:solidFill>
                  <a:srgbClr val="666666"/>
                </a:solidFill>
                <a:latin typeface="Courier"/>
              </a:rPr>
              <a:t>)</a:t>
            </a:r>
            <a:br/>
            <a:r>
              <a:rPr>
                <a:latin typeface="Courier"/>
              </a:rPr>
              <a:t>scala</a:t>
            </a:r>
            <a:r>
              <a:rPr>
                <a:solidFill>
                  <a:srgbClr val="666666"/>
                </a:solidFill>
                <a:latin typeface="Courier"/>
              </a:rPr>
              <a:t>&gt;</a:t>
            </a:r>
            <a:r>
              <a:rPr>
                <a:latin typeface="Courier"/>
              </a:rPr>
              <a:t> </a:t>
            </a:r>
            <a:r>
              <a:rPr b="1">
                <a:solidFill>
                  <a:srgbClr val="007020"/>
                </a:solidFill>
                <a:latin typeface="Courier"/>
              </a:rPr>
              <a:t>for</a:t>
            </a:r>
            <a:r>
              <a:rPr>
                <a:latin typeface="Courier"/>
              </a:rPr>
              <a:t> </a:t>
            </a:r>
            <a:r>
              <a:rPr>
                <a:solidFill>
                  <a:srgbClr val="666666"/>
                </a:solidFill>
                <a:latin typeface="Courier"/>
              </a:rPr>
              <a:t>(</a:t>
            </a:r>
            <a:r>
              <a:rPr>
                <a:latin typeface="Courier"/>
              </a:rPr>
              <a:t>p </a:t>
            </a:r>
            <a:r>
              <a:rPr>
                <a:solidFill>
                  <a:srgbClr val="666666"/>
                </a:solidFill>
                <a:latin typeface="Courier"/>
              </a:rPr>
              <a:t>&lt;-</a:t>
            </a:r>
            <a:r>
              <a:rPr>
                <a:latin typeface="Courier"/>
              </a:rPr>
              <a:t> people</a:t>
            </a:r>
            <a:r>
              <a:rPr>
                <a:solidFill>
                  <a:srgbClr val="666666"/>
                </a:solidFill>
                <a:latin typeface="Courier"/>
              </a:rPr>
              <a:t>)</a:t>
            </a:r>
            <a:r>
              <a:rPr>
                <a:latin typeface="Courier"/>
              </a:rPr>
              <a:t> </a:t>
            </a:r>
            <a:r>
              <a:rPr>
                <a:solidFill>
                  <a:srgbClr val="06287E"/>
                </a:solidFill>
                <a:latin typeface="Courier"/>
              </a:rPr>
              <a:t>println</a:t>
            </a:r>
            <a:r>
              <a:rPr>
                <a:solidFill>
                  <a:srgbClr val="666666"/>
                </a:solidFill>
                <a:latin typeface="Courier"/>
              </a:rPr>
              <a:t>(</a:t>
            </a:r>
            <a:r>
              <a:rPr>
                <a:latin typeface="Courier"/>
              </a:rPr>
              <a:t>p</a:t>
            </a:r>
            <a:r>
              <a:rPr>
                <a:solidFill>
                  <a:srgbClr val="666666"/>
                </a:solidFill>
                <a:latin typeface="Courier"/>
              </a:rPr>
              <a:t>)</a:t>
            </a:r>
            <a:br/>
            <a:r>
              <a:rPr>
                <a:latin typeface="Courier"/>
              </a:rPr>
              <a:t>Bill</a:t>
            </a:r>
            <a:br/>
            <a:r>
              <a:rPr>
                <a:latin typeface="Courier"/>
              </a:rPr>
              <a:t>Candy</a:t>
            </a:r>
            <a:br/>
            <a:r>
              <a:rPr i="1">
                <a:solidFill>
                  <a:srgbClr val="60A0B0"/>
                </a:solidFill>
                <a:latin typeface="Courier"/>
              </a:rPr>
              <a:t>// ...</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2.5.1 面向对象编程：代码片段（11/27）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Seq和List是线性集合的两种类型。在Scala中</a:t>
            </a:r>
          </a:p>
          <a:p>
            <a:pPr lvl="0" indent="0">
              <a:buNone/>
            </a:pPr>
            <a:r>
              <a:rPr>
                <a:latin typeface="Courier"/>
              </a:rPr>
              <a:t>scala</a:t>
            </a:r>
            <a:r>
              <a:rPr>
                <a:solidFill>
                  <a:srgbClr val="666666"/>
                </a:solidFill>
                <a:latin typeface="Courier"/>
              </a:rPr>
              <a:t>&gt;</a:t>
            </a:r>
            <a:r>
              <a:rPr>
                <a:latin typeface="Courier"/>
              </a:rPr>
              <a:t> people</a:t>
            </a:r>
            <a:r>
              <a:rPr>
                <a:solidFill>
                  <a:srgbClr val="666666"/>
                </a:solidFill>
                <a:latin typeface="Courier"/>
              </a:rPr>
              <a:t>.</a:t>
            </a:r>
            <a:r>
              <a:rPr>
                <a:solidFill>
                  <a:srgbClr val="06287E"/>
                </a:solidFill>
                <a:latin typeface="Courier"/>
              </a:rPr>
              <a:t>foreach</a:t>
            </a:r>
            <a:r>
              <a:rPr>
                <a:solidFill>
                  <a:srgbClr val="666666"/>
                </a:solidFill>
                <a:latin typeface="Courier"/>
              </a:rPr>
              <a:t>(</a:t>
            </a:r>
            <a:r>
              <a:rPr>
                <a:latin typeface="Courier"/>
              </a:rPr>
              <a:t>println</a:t>
            </a:r>
            <a:r>
              <a:rPr>
                <a:solidFill>
                  <a:srgbClr val="666666"/>
                </a:solidFill>
                <a:latin typeface="Courier"/>
              </a:rPr>
              <a:t>)</a:t>
            </a:r>
            <a:br/>
            <a:r>
              <a:rPr>
                <a:latin typeface="Courier"/>
              </a:rPr>
              <a:t>Bill</a:t>
            </a:r>
            <a:br/>
            <a:r>
              <a:rPr>
                <a:latin typeface="Courier"/>
              </a:rPr>
              <a:t>Candy</a:t>
            </a:r>
            <a:br/>
            <a:r>
              <a:rPr>
                <a:latin typeface="Courier"/>
              </a:rPr>
              <a:t>Karen</a:t>
            </a:r>
            <a:br/>
            <a:r>
              <a:rPr>
                <a:latin typeface="Courier"/>
              </a:rPr>
              <a:t>Leo</a:t>
            </a:r>
            <a:br/>
            <a:r>
              <a:rPr>
                <a:latin typeface="Courier"/>
              </a:rPr>
              <a:t>Regina</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2.5.1 面向对象编程：代码片段（12/27）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foreach 可用于大多数集合类</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ratings </a:t>
            </a:r>
            <a:r>
              <a:rPr>
                <a:solidFill>
                  <a:srgbClr val="666666"/>
                </a:solidFill>
                <a:latin typeface="Courier"/>
              </a:rPr>
              <a:t>=</a:t>
            </a:r>
            <a:r>
              <a:rPr>
                <a:latin typeface="Courier"/>
              </a:rPr>
              <a:t> Map</a:t>
            </a:r>
            <a:r>
              <a:rPr>
                <a:solidFill>
                  <a:srgbClr val="666666"/>
                </a:solidFill>
                <a:latin typeface="Courier"/>
              </a:rPr>
              <a:t>(</a:t>
            </a:r>
            <a:br/>
            <a:r>
              <a:rPr>
                <a:solidFill>
                  <a:srgbClr val="666666"/>
                </a:solidFill>
                <a:latin typeface="Courier"/>
              </a:rPr>
              <a:t>|</a:t>
            </a:r>
            <a:r>
              <a:rPr>
                <a:latin typeface="Courier"/>
              </a:rPr>
              <a:t> </a:t>
            </a:r>
            <a:r>
              <a:rPr>
                <a:solidFill>
                  <a:srgbClr val="4070A0"/>
                </a:solidFill>
                <a:latin typeface="Courier"/>
              </a:rPr>
              <a:t>"Lady in the Water"</a:t>
            </a:r>
            <a:r>
              <a:rPr>
                <a:latin typeface="Courier"/>
              </a:rPr>
              <a:t> </a:t>
            </a:r>
            <a:r>
              <a:rPr>
                <a:solidFill>
                  <a:srgbClr val="666666"/>
                </a:solidFill>
                <a:latin typeface="Courier"/>
              </a:rPr>
              <a:t>-&gt;</a:t>
            </a:r>
            <a:r>
              <a:rPr>
                <a:latin typeface="Courier"/>
              </a:rPr>
              <a:t> </a:t>
            </a:r>
            <a:r>
              <a:rPr>
                <a:solidFill>
                  <a:srgbClr val="40A070"/>
                </a:solidFill>
                <a:latin typeface="Courier"/>
              </a:rPr>
              <a:t>3.0</a:t>
            </a:r>
            <a:r>
              <a:rPr>
                <a:solidFill>
                  <a:srgbClr val="666666"/>
                </a:solidFill>
                <a:latin typeface="Courier"/>
              </a:rPr>
              <a:t>,</a:t>
            </a:r>
            <a:br/>
            <a:r>
              <a:rPr>
                <a:solidFill>
                  <a:srgbClr val="666666"/>
                </a:solidFill>
                <a:latin typeface="Courier"/>
              </a:rPr>
              <a:t>|</a:t>
            </a:r>
            <a:r>
              <a:rPr>
                <a:latin typeface="Courier"/>
              </a:rPr>
              <a:t> </a:t>
            </a:r>
            <a:r>
              <a:rPr>
                <a:solidFill>
                  <a:srgbClr val="4070A0"/>
                </a:solidFill>
                <a:latin typeface="Courier"/>
              </a:rPr>
              <a:t>"Snakes on a Plane"</a:t>
            </a:r>
            <a:r>
              <a:rPr>
                <a:latin typeface="Courier"/>
              </a:rPr>
              <a:t> </a:t>
            </a:r>
            <a:r>
              <a:rPr>
                <a:solidFill>
                  <a:srgbClr val="666666"/>
                </a:solidFill>
                <a:latin typeface="Courier"/>
              </a:rPr>
              <a:t>-&gt;</a:t>
            </a:r>
            <a:r>
              <a:rPr>
                <a:latin typeface="Courier"/>
              </a:rPr>
              <a:t> </a:t>
            </a:r>
            <a:r>
              <a:rPr>
                <a:solidFill>
                  <a:srgbClr val="40A070"/>
                </a:solidFill>
                <a:latin typeface="Courier"/>
              </a:rPr>
              <a:t>4.0</a:t>
            </a:r>
            <a:r>
              <a:rPr>
                <a:solidFill>
                  <a:srgbClr val="666666"/>
                </a:solidFill>
                <a:latin typeface="Courier"/>
              </a:rPr>
              <a:t>,</a:t>
            </a:r>
            <a:br/>
            <a:r>
              <a:rPr>
                <a:solidFill>
                  <a:srgbClr val="666666"/>
                </a:solidFill>
                <a:latin typeface="Courier"/>
              </a:rPr>
              <a:t>|</a:t>
            </a:r>
            <a:r>
              <a:rPr>
                <a:latin typeface="Courier"/>
              </a:rPr>
              <a:t> </a:t>
            </a:r>
            <a:r>
              <a:rPr>
                <a:solidFill>
                  <a:srgbClr val="4070A0"/>
                </a:solidFill>
                <a:latin typeface="Courier"/>
              </a:rPr>
              <a:t>"You, Me and Dupree"</a:t>
            </a:r>
            <a:r>
              <a:rPr>
                <a:latin typeface="Courier"/>
              </a:rPr>
              <a:t> </a:t>
            </a:r>
            <a:r>
              <a:rPr>
                <a:solidFill>
                  <a:srgbClr val="666666"/>
                </a:solidFill>
                <a:latin typeface="Courier"/>
              </a:rPr>
              <a:t>-&gt;</a:t>
            </a:r>
            <a:r>
              <a:rPr>
                <a:latin typeface="Courier"/>
              </a:rPr>
              <a:t> </a:t>
            </a:r>
            <a:r>
              <a:rPr>
                <a:solidFill>
                  <a:srgbClr val="40A070"/>
                </a:solidFill>
                <a:latin typeface="Courier"/>
              </a:rPr>
              <a:t>3.5</a:t>
            </a:r>
            <a:br/>
            <a:r>
              <a:rPr>
                <a:solidFill>
                  <a:srgbClr val="666666"/>
                </a:solidFill>
                <a:latin typeface="Courier"/>
              </a:rPr>
              <a:t>|</a:t>
            </a:r>
            <a:r>
              <a:rPr>
                <a:latin typeface="Courier"/>
              </a:rPr>
              <a:t> </a:t>
            </a:r>
            <a:r>
              <a:rPr>
                <a:solidFill>
                  <a:srgbClr val="666666"/>
                </a:solidFill>
                <a:latin typeface="Courier"/>
              </a:rPr>
              <a:t>)</a:t>
            </a:r>
            <a:br/>
            <a:r>
              <a:rPr>
                <a:latin typeface="Courier"/>
              </a:rPr>
              <a:t>ratings</a:t>
            </a:r>
            <a:r>
              <a:rPr>
                <a:solidFill>
                  <a:srgbClr val="666666"/>
                </a:solidFill>
                <a:latin typeface="Courier"/>
              </a:rPr>
              <a:t>:</a:t>
            </a:r>
            <a:r>
              <a:rPr>
                <a:latin typeface="Courier"/>
              </a:rPr>
              <a:t> scala</a:t>
            </a:r>
            <a:r>
              <a:rPr>
                <a:solidFill>
                  <a:srgbClr val="666666"/>
                </a:solidFill>
                <a:latin typeface="Courier"/>
              </a:rPr>
              <a:t>.</a:t>
            </a:r>
            <a:r>
              <a:rPr>
                <a:latin typeface="Courier"/>
              </a:rPr>
              <a:t>collection</a:t>
            </a:r>
            <a:r>
              <a:rPr>
                <a:solidFill>
                  <a:srgbClr val="666666"/>
                </a:solidFill>
                <a:latin typeface="Courier"/>
              </a:rPr>
              <a:t>.</a:t>
            </a:r>
            <a:r>
              <a:rPr>
                <a:latin typeface="Courier"/>
              </a:rPr>
              <a:t>immutable</a:t>
            </a:r>
            <a:r>
              <a:rPr>
                <a:solidFill>
                  <a:srgbClr val="666666"/>
                </a:solidFill>
                <a:latin typeface="Courier"/>
              </a:rPr>
              <a:t>.</a:t>
            </a:r>
            <a:r>
              <a:rPr>
                <a:latin typeface="Courier"/>
              </a:rPr>
              <a:t>Map</a:t>
            </a:r>
            <a:r>
              <a:rPr>
                <a:solidFill>
                  <a:srgbClr val="666666"/>
                </a:solidFill>
                <a:latin typeface="Courier"/>
              </a:rPr>
              <a:t>[</a:t>
            </a:r>
            <a:r>
              <a:rPr>
                <a:latin typeface="Courier"/>
              </a:rPr>
              <a:t>String</a:t>
            </a:r>
            <a:r>
              <a:rPr>
                <a:solidFill>
                  <a:srgbClr val="666666"/>
                </a:solidFill>
                <a:latin typeface="Courier"/>
              </a:rPr>
              <a:t>,</a:t>
            </a:r>
            <a:r>
              <a:rPr>
                <a:latin typeface="Courier"/>
              </a:rPr>
              <a:t>Double</a:t>
            </a:r>
            <a:r>
              <a:rPr>
                <a:solidFill>
                  <a:srgbClr val="666666"/>
                </a:solidFill>
                <a:latin typeface="Courier"/>
              </a:rPr>
              <a:t>]</a:t>
            </a:r>
            <a:r>
              <a:rPr>
                <a:latin typeface="Courier"/>
              </a:rPr>
              <a:t> </a:t>
            </a:r>
            <a:r>
              <a:rPr>
                <a:solidFill>
                  <a:srgbClr val="666666"/>
                </a:solidFill>
                <a:latin typeface="Courier"/>
              </a:rPr>
              <a:t>=</a:t>
            </a:r>
            <a:r>
              <a:rPr>
                <a:latin typeface="Courier"/>
              </a:rPr>
              <a:t> Map</a:t>
            </a:r>
            <a:r>
              <a:rPr>
                <a:solidFill>
                  <a:srgbClr val="666666"/>
                </a:solidFill>
                <a:latin typeface="Courier"/>
              </a:rPr>
              <a:t>(</a:t>
            </a:r>
            <a:r>
              <a:rPr>
                <a:latin typeface="Courier"/>
              </a:rPr>
              <a:t>Lady in</a:t>
            </a:r>
            <a:br/>
            <a:r>
              <a:rPr>
                <a:latin typeface="Courier"/>
              </a:rPr>
              <a:t>the Water </a:t>
            </a:r>
            <a:r>
              <a:rPr>
                <a:solidFill>
                  <a:srgbClr val="666666"/>
                </a:solidFill>
                <a:latin typeface="Courier"/>
              </a:rPr>
              <a:t>-&gt;</a:t>
            </a:r>
            <a:r>
              <a:rPr>
                <a:latin typeface="Courier"/>
              </a:rPr>
              <a:t> </a:t>
            </a:r>
            <a:r>
              <a:rPr>
                <a:solidFill>
                  <a:srgbClr val="40A070"/>
                </a:solidFill>
                <a:latin typeface="Courier"/>
              </a:rPr>
              <a:t>3.0</a:t>
            </a:r>
            <a:r>
              <a:rPr>
                <a:solidFill>
                  <a:srgbClr val="666666"/>
                </a:solidFill>
                <a:latin typeface="Courier"/>
              </a:rPr>
              <a:t>,</a:t>
            </a:r>
            <a:r>
              <a:rPr>
                <a:latin typeface="Courier"/>
              </a:rPr>
              <a:t> Snakes on a Plane </a:t>
            </a:r>
            <a:r>
              <a:rPr>
                <a:solidFill>
                  <a:srgbClr val="666666"/>
                </a:solidFill>
                <a:latin typeface="Courier"/>
              </a:rPr>
              <a:t>-&gt;</a:t>
            </a:r>
            <a:r>
              <a:rPr>
                <a:latin typeface="Courier"/>
              </a:rPr>
              <a:t> </a:t>
            </a:r>
            <a:r>
              <a:rPr>
                <a:solidFill>
                  <a:srgbClr val="40A070"/>
                </a:solidFill>
                <a:latin typeface="Courier"/>
              </a:rPr>
              <a:t>4.0</a:t>
            </a:r>
            <a:r>
              <a:rPr>
                <a:solidFill>
                  <a:srgbClr val="666666"/>
                </a:solidFill>
                <a:latin typeface="Courier"/>
              </a:rPr>
              <a:t>,</a:t>
            </a:r>
            <a:r>
              <a:rPr>
                <a:latin typeface="Courier"/>
              </a:rPr>
              <a:t> You</a:t>
            </a:r>
            <a:r>
              <a:rPr>
                <a:solidFill>
                  <a:srgbClr val="666666"/>
                </a:solidFill>
                <a:latin typeface="Courier"/>
              </a:rPr>
              <a:t>,</a:t>
            </a:r>
            <a:r>
              <a:rPr>
                <a:latin typeface="Courier"/>
              </a:rPr>
              <a:t> Me and Dupree </a:t>
            </a:r>
            <a:r>
              <a:rPr>
                <a:solidFill>
                  <a:srgbClr val="666666"/>
                </a:solidFill>
                <a:latin typeface="Courier"/>
              </a:rPr>
              <a:t>-&gt;</a:t>
            </a:r>
            <a:br/>
            <a:r>
              <a:rPr>
                <a:solidFill>
                  <a:srgbClr val="40A070"/>
                </a:solidFill>
                <a:latin typeface="Courier"/>
              </a:rPr>
              <a:t>3.5</a:t>
            </a:r>
            <a:r>
              <a:rPr>
                <a:solidFill>
                  <a:srgbClr val="666666"/>
                </a:solidFill>
                <a:latin typeface="Courier"/>
              </a:rPr>
              <a:t>)</a:t>
            </a:r>
            <a:br/>
            <a:r>
              <a:rPr>
                <a:latin typeface="Courier"/>
              </a:rPr>
              <a:t>scala</a:t>
            </a:r>
            <a:r>
              <a:rPr>
                <a:solidFill>
                  <a:srgbClr val="666666"/>
                </a:solidFill>
                <a:latin typeface="Courier"/>
              </a:rPr>
              <a:t>&gt;</a:t>
            </a:r>
            <a:r>
              <a:rPr>
                <a:latin typeface="Courier"/>
              </a:rPr>
              <a:t> </a:t>
            </a:r>
            <a:r>
              <a:rPr b="1">
                <a:solidFill>
                  <a:srgbClr val="007020"/>
                </a:solidFill>
                <a:latin typeface="Courier"/>
              </a:rPr>
              <a:t>for</a:t>
            </a:r>
            <a:r>
              <a:rPr>
                <a:latin typeface="Courier"/>
              </a:rPr>
              <a:t> </a:t>
            </a:r>
            <a:r>
              <a:rPr>
                <a:solidFill>
                  <a:srgbClr val="666666"/>
                </a:solidFill>
                <a:latin typeface="Courier"/>
              </a:rPr>
              <a:t>((</a:t>
            </a:r>
            <a:r>
              <a:rPr>
                <a:latin typeface="Courier"/>
              </a:rPr>
              <a:t>name</a:t>
            </a:r>
            <a:r>
              <a:rPr>
                <a:solidFill>
                  <a:srgbClr val="666666"/>
                </a:solidFill>
                <a:latin typeface="Courier"/>
              </a:rPr>
              <a:t>,</a:t>
            </a:r>
            <a:r>
              <a:rPr>
                <a:latin typeface="Courier"/>
              </a:rPr>
              <a:t>rating</a:t>
            </a:r>
            <a:r>
              <a:rPr>
                <a:solidFill>
                  <a:srgbClr val="666666"/>
                </a:solidFill>
                <a:latin typeface="Courier"/>
              </a:rPr>
              <a:t>)</a:t>
            </a:r>
            <a:r>
              <a:rPr>
                <a:latin typeface="Courier"/>
              </a:rPr>
              <a:t> </a:t>
            </a:r>
            <a:r>
              <a:rPr>
                <a:solidFill>
                  <a:srgbClr val="666666"/>
                </a:solidFill>
                <a:latin typeface="Courier"/>
              </a:rPr>
              <a:t>&lt;-</a:t>
            </a:r>
            <a:r>
              <a:rPr>
                <a:latin typeface="Courier"/>
              </a:rPr>
              <a:t> ratings</a:t>
            </a:r>
            <a:r>
              <a:rPr>
                <a:solidFill>
                  <a:srgbClr val="666666"/>
                </a:solidFill>
                <a:latin typeface="Courier"/>
              </a:rPr>
              <a:t>)</a:t>
            </a:r>
            <a:r>
              <a:rPr>
                <a:latin typeface="Courier"/>
              </a:rPr>
              <a:t> </a:t>
            </a:r>
            <a:r>
              <a:rPr>
                <a:solidFill>
                  <a:srgbClr val="06287E"/>
                </a:solidFill>
                <a:latin typeface="Courier"/>
              </a:rPr>
              <a:t>println</a:t>
            </a:r>
            <a:r>
              <a:rPr>
                <a:solidFill>
                  <a:srgbClr val="666666"/>
                </a:solidFill>
                <a:latin typeface="Courier"/>
              </a:rPr>
              <a:t>(</a:t>
            </a:r>
            <a:r>
              <a:rPr>
                <a:solidFill>
                  <a:srgbClr val="BB6688"/>
                </a:solidFill>
                <a:latin typeface="Courier"/>
              </a:rPr>
              <a:t>s"</a:t>
            </a:r>
            <a:r>
              <a:rPr>
                <a:solidFill>
                  <a:srgbClr val="4070A0"/>
                </a:solidFill>
                <a:latin typeface="Courier"/>
              </a:rPr>
              <a:t>Movie: </a:t>
            </a:r>
            <a:r>
              <a:rPr>
                <a:solidFill>
                  <a:srgbClr val="BB6688"/>
                </a:solidFill>
                <a:latin typeface="Courier"/>
              </a:rPr>
              <a:t>$name</a:t>
            </a:r>
            <a:r>
              <a:rPr>
                <a:solidFill>
                  <a:srgbClr val="4070A0"/>
                </a:solidFill>
                <a:latin typeface="Courier"/>
              </a:rPr>
              <a:t>, Rating:</a:t>
            </a:r>
            <a:br/>
            <a:r>
              <a:rPr>
                <a:latin typeface="Courier"/>
              </a:rPr>
              <a:t>$rating</a:t>
            </a:r>
            <a:r>
              <a:rPr>
                <a:solidFill>
                  <a:srgbClr val="4070A0"/>
                </a:solidFill>
                <a:latin typeface="Courier"/>
              </a:rPr>
              <a:t>")</a:t>
            </a:r>
            <a:br/>
            <a:r>
              <a:rPr>
                <a:latin typeface="Courier"/>
              </a:rPr>
              <a:t>Movie</a:t>
            </a:r>
            <a:r>
              <a:rPr>
                <a:solidFill>
                  <a:srgbClr val="666666"/>
                </a:solidFill>
                <a:latin typeface="Courier"/>
              </a:rPr>
              <a:t>:</a:t>
            </a:r>
            <a:r>
              <a:rPr>
                <a:latin typeface="Courier"/>
              </a:rPr>
              <a:t> Lady in the Water</a:t>
            </a:r>
            <a:r>
              <a:rPr>
                <a:solidFill>
                  <a:srgbClr val="666666"/>
                </a:solidFill>
                <a:latin typeface="Courier"/>
              </a:rPr>
              <a:t>,</a:t>
            </a:r>
            <a:r>
              <a:rPr>
                <a:latin typeface="Courier"/>
              </a:rPr>
              <a:t> Rating</a:t>
            </a:r>
            <a:r>
              <a:rPr>
                <a:solidFill>
                  <a:srgbClr val="666666"/>
                </a:solidFill>
                <a:latin typeface="Courier"/>
              </a:rPr>
              <a:t>:</a:t>
            </a:r>
            <a:r>
              <a:rPr>
                <a:latin typeface="Courier"/>
              </a:rPr>
              <a:t> </a:t>
            </a:r>
            <a:r>
              <a:rPr>
                <a:solidFill>
                  <a:srgbClr val="40A070"/>
                </a:solidFill>
                <a:latin typeface="Courier"/>
              </a:rPr>
              <a:t>3.0</a:t>
            </a:r>
            <a:br/>
            <a:r>
              <a:rPr i="1">
                <a:solidFill>
                  <a:srgbClr val="60A0B0"/>
                </a:solidFill>
                <a:latin typeface="Courier"/>
              </a:rPr>
              <a:t>// ...</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2.5.1 面向对象编程：代码片段（13/27）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在此示例中</a:t>
            </a:r>
          </a:p>
          <a:p>
            <a:pPr lvl="0"/>
            <a:r>
              <a:rPr/>
              <a:t>先对照代码理解 该表达式可以理解为</a:t>
            </a:r>
          </a:p>
          <a:p>
            <a:pPr lvl="0"/>
            <a:r>
              <a:rPr/>
              <a:t>先对照代码理解 上面两个for表达式都使用yield关键字</a:t>
            </a:r>
          </a:p>
          <a:p>
            <a:pPr lvl="0"/>
            <a:r>
              <a:rPr/>
              <a:t>先对照代码理解 假设我们要创建一个包含每个大写姓名的新列表。为此</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nums </a:t>
            </a:r>
            <a:r>
              <a:rPr>
                <a:solidFill>
                  <a:srgbClr val="666666"/>
                </a:solidFill>
                <a:latin typeface="Courier"/>
              </a:rPr>
              <a:t>=</a:t>
            </a:r>
            <a:r>
              <a:rPr>
                <a:latin typeface="Courier"/>
              </a:rPr>
              <a:t> </a:t>
            </a:r>
            <a:r>
              <a:rPr>
                <a:solidFill>
                  <a:srgbClr val="008000"/>
                </a:solidFill>
                <a:latin typeface="Courier"/>
              </a:rPr>
              <a:t>Seq</a:t>
            </a:r>
            <a:r>
              <a:rPr>
                <a:solidFill>
                  <a:srgbClr val="666666"/>
                </a:solidFill>
                <a:latin typeface="Courier"/>
              </a:rPr>
              <a:t>(</a:t>
            </a:r>
            <a:r>
              <a:rPr>
                <a:solidFill>
                  <a:srgbClr val="40A070"/>
                </a:solidFill>
                <a:latin typeface="Courier"/>
              </a:rPr>
              <a:t>1</a:t>
            </a:r>
            <a:r>
              <a:rPr>
                <a:solidFill>
                  <a:srgbClr val="666666"/>
                </a:solidFill>
                <a:latin typeface="Courier"/>
              </a:rPr>
              <a:t>,</a:t>
            </a:r>
            <a:r>
              <a:rPr>
                <a:solidFill>
                  <a:srgbClr val="40A070"/>
                </a:solidFill>
                <a:latin typeface="Courier"/>
              </a:rPr>
              <a:t>2</a:t>
            </a:r>
            <a:r>
              <a:rPr>
                <a:solidFill>
                  <a:srgbClr val="666666"/>
                </a:solidFill>
                <a:latin typeface="Courier"/>
              </a:rPr>
              <a:t>,</a:t>
            </a:r>
            <a:r>
              <a:rPr>
                <a:solidFill>
                  <a:srgbClr val="40A070"/>
                </a:solidFill>
                <a:latin typeface="Courier"/>
              </a:rPr>
              <a:t>3</a:t>
            </a:r>
            <a:r>
              <a:rPr>
                <a:solidFill>
                  <a:srgbClr val="666666"/>
                </a:solidFill>
                <a:latin typeface="Courier"/>
              </a:rPr>
              <a:t>)</a:t>
            </a:r>
            <a:br/>
            <a:r>
              <a:rPr>
                <a:latin typeface="Courier"/>
              </a:rPr>
              <a:t>nums</a:t>
            </a:r>
            <a:r>
              <a:rPr>
                <a:solidFill>
                  <a:srgbClr val="666666"/>
                </a:solidFill>
                <a:latin typeface="Courier"/>
              </a:rPr>
              <a:t>:</a:t>
            </a:r>
            <a:r>
              <a:rPr>
                <a:latin typeface="Courier"/>
              </a:rPr>
              <a:t> </a:t>
            </a:r>
            <a:r>
              <a:rPr>
                <a:solidFill>
                  <a:srgbClr val="008000"/>
                </a:solidFill>
                <a:latin typeface="Courier"/>
              </a:rPr>
              <a:t>Seq</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List</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doubledNums </a:t>
            </a:r>
            <a:r>
              <a:rPr>
                <a:solidFill>
                  <a:srgbClr val="666666"/>
                </a:solidFill>
                <a:latin typeface="Courier"/>
              </a:rPr>
              <a:t>=</a:t>
            </a:r>
            <a:r>
              <a:rPr>
                <a:latin typeface="Courier"/>
              </a:rPr>
              <a:t> </a:t>
            </a:r>
            <a:r>
              <a:rPr b="1">
                <a:solidFill>
                  <a:srgbClr val="007020"/>
                </a:solidFill>
                <a:latin typeface="Courier"/>
              </a:rPr>
              <a:t>for</a:t>
            </a:r>
            <a:r>
              <a:rPr>
                <a:latin typeface="Courier"/>
              </a:rPr>
              <a:t> </a:t>
            </a:r>
            <a:r>
              <a:rPr>
                <a:solidFill>
                  <a:srgbClr val="666666"/>
                </a:solidFill>
                <a:latin typeface="Courier"/>
              </a:rPr>
              <a:t>(</a:t>
            </a:r>
            <a:r>
              <a:rPr>
                <a:latin typeface="Courier"/>
              </a:rPr>
              <a:t>n </a:t>
            </a:r>
            <a:r>
              <a:rPr>
                <a:solidFill>
                  <a:srgbClr val="666666"/>
                </a:solidFill>
                <a:latin typeface="Courier"/>
              </a:rPr>
              <a:t>&lt;-</a:t>
            </a:r>
            <a:r>
              <a:rPr>
                <a:latin typeface="Courier"/>
              </a:rPr>
              <a:t> nums</a:t>
            </a:r>
            <a:r>
              <a:rPr>
                <a:solidFill>
                  <a:srgbClr val="666666"/>
                </a:solidFill>
                <a:latin typeface="Courier"/>
              </a:rPr>
              <a:t>)</a:t>
            </a:r>
            <a:r>
              <a:rPr>
                <a:latin typeface="Courier"/>
              </a:rPr>
              <a:t> </a:t>
            </a:r>
            <a:r>
              <a:rPr b="1">
                <a:solidFill>
                  <a:srgbClr val="007020"/>
                </a:solidFill>
                <a:latin typeface="Courier"/>
              </a:rPr>
              <a:t>yield</a:t>
            </a:r>
            <a:r>
              <a:rPr>
                <a:latin typeface="Courier"/>
              </a:rPr>
              <a:t> n </a:t>
            </a:r>
            <a:r>
              <a:rPr>
                <a:solidFill>
                  <a:srgbClr val="666666"/>
                </a:solidFill>
                <a:latin typeface="Courier"/>
              </a:rPr>
              <a:t>*</a:t>
            </a:r>
            <a:r>
              <a:rPr>
                <a:latin typeface="Courier"/>
              </a:rPr>
              <a:t> </a:t>
            </a:r>
            <a:r>
              <a:rPr>
                <a:solidFill>
                  <a:srgbClr val="40A070"/>
                </a:solidFill>
                <a:latin typeface="Courier"/>
              </a:rPr>
              <a:t>2</a:t>
            </a:r>
            <a:br/>
            <a:r>
              <a:rPr>
                <a:latin typeface="Courier"/>
              </a:rPr>
              <a:t>doubledNums</a:t>
            </a:r>
            <a:r>
              <a:rPr>
                <a:solidFill>
                  <a:srgbClr val="666666"/>
                </a:solidFill>
                <a:latin typeface="Courier"/>
              </a:rPr>
              <a:t>:</a:t>
            </a:r>
            <a:r>
              <a:rPr>
                <a:latin typeface="Courier"/>
              </a:rPr>
              <a:t> </a:t>
            </a:r>
            <a:r>
              <a:rPr>
                <a:solidFill>
                  <a:srgbClr val="008000"/>
                </a:solidFill>
                <a:latin typeface="Courier"/>
              </a:rPr>
              <a:t>Seq</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List</a:t>
            </a:r>
            <a:r>
              <a:rPr>
                <a:solidFill>
                  <a:srgbClr val="666666"/>
                </a:solidFill>
                <a:latin typeface="Courier"/>
              </a:rPr>
              <a:t>(</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4</a:t>
            </a:r>
            <a:r>
              <a:rPr>
                <a:solidFill>
                  <a:srgbClr val="666666"/>
                </a:solidFill>
                <a:latin typeface="Courier"/>
              </a:rPr>
              <a:t>,</a:t>
            </a:r>
            <a:r>
              <a:rPr>
                <a:latin typeface="Courier"/>
              </a:rPr>
              <a:t> </a:t>
            </a:r>
            <a:r>
              <a:rPr>
                <a:solidFill>
                  <a:srgbClr val="40A070"/>
                </a:solidFill>
                <a:latin typeface="Courier"/>
              </a:rPr>
              <a:t>6</a:t>
            </a:r>
            <a:r>
              <a:rPr>
                <a:solidFill>
                  <a:srgbClr val="666666"/>
                </a:solidFill>
                <a:latin typeface="Courier"/>
              </a:rPr>
              <a:t>)</a:t>
            </a:r>
          </a:p>
          <a:p>
            <a:pPr lvl="0" indent="0" marL="0">
              <a:buNone/>
            </a:pPr>
            <a:r>
              <a:rPr/>
              <a:t>片段 2</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names </a:t>
            </a:r>
            <a:r>
              <a:rPr>
                <a:solidFill>
                  <a:srgbClr val="666666"/>
                </a:solidFill>
                <a:latin typeface="Courier"/>
              </a:rPr>
              <a:t>=</a:t>
            </a:r>
            <a:r>
              <a:rPr>
                <a:latin typeface="Courier"/>
              </a:rPr>
              <a:t> List</a:t>
            </a:r>
            <a:r>
              <a:rPr>
                <a:solidFill>
                  <a:srgbClr val="666666"/>
                </a:solidFill>
                <a:latin typeface="Courier"/>
              </a:rPr>
              <a:t>(</a:t>
            </a:r>
            <a:r>
              <a:rPr>
                <a:solidFill>
                  <a:srgbClr val="4070A0"/>
                </a:solidFill>
                <a:latin typeface="Courier"/>
              </a:rPr>
              <a:t>"adam"</a:t>
            </a:r>
            <a:r>
              <a:rPr>
                <a:solidFill>
                  <a:srgbClr val="666666"/>
                </a:solidFill>
                <a:latin typeface="Courier"/>
              </a:rPr>
              <a:t>,</a:t>
            </a:r>
            <a:r>
              <a:rPr>
                <a:latin typeface="Courier"/>
              </a:rPr>
              <a:t> </a:t>
            </a:r>
            <a:r>
              <a:rPr>
                <a:solidFill>
                  <a:srgbClr val="4070A0"/>
                </a:solidFill>
                <a:latin typeface="Courier"/>
              </a:rPr>
              <a:t>"david"</a:t>
            </a:r>
            <a:r>
              <a:rPr>
                <a:solidFill>
                  <a:srgbClr val="666666"/>
                </a:solidFill>
                <a:latin typeface="Courier"/>
              </a:rPr>
              <a:t>,</a:t>
            </a:r>
            <a:r>
              <a:rPr>
                <a:latin typeface="Courier"/>
              </a:rPr>
              <a:t> </a:t>
            </a:r>
            <a:r>
              <a:rPr>
                <a:solidFill>
                  <a:srgbClr val="4070A0"/>
                </a:solidFill>
                <a:latin typeface="Courier"/>
              </a:rPr>
              <a:t>"frank"</a:t>
            </a:r>
            <a:r>
              <a:rPr>
                <a:solidFill>
                  <a:srgbClr val="666666"/>
                </a:solidFill>
                <a:latin typeface="Courier"/>
              </a:rPr>
              <a:t>)</a:t>
            </a:r>
            <a:br/>
            <a:r>
              <a:rPr>
                <a:latin typeface="Courier"/>
              </a:rPr>
              <a:t>names</a:t>
            </a:r>
            <a:r>
              <a:rPr>
                <a:solidFill>
                  <a:srgbClr val="666666"/>
                </a:solidFill>
                <a:latin typeface="Courier"/>
              </a:rPr>
              <a:t>:</a:t>
            </a:r>
            <a:r>
              <a:rPr>
                <a:latin typeface="Courier"/>
              </a:rPr>
              <a:t> List</a:t>
            </a:r>
            <a:r>
              <a:rPr>
                <a:solidFill>
                  <a:srgbClr val="666666"/>
                </a:solidFill>
                <a:latin typeface="Courier"/>
              </a:rPr>
              <a:t>[</a:t>
            </a:r>
            <a:r>
              <a:rPr>
                <a:latin typeface="Courier"/>
              </a:rPr>
              <a:t>String</a:t>
            </a:r>
            <a:r>
              <a:rPr>
                <a:solidFill>
                  <a:srgbClr val="666666"/>
                </a:solidFill>
                <a:latin typeface="Courier"/>
              </a:rPr>
              <a:t>]</a:t>
            </a:r>
            <a:r>
              <a:rPr>
                <a:latin typeface="Courier"/>
              </a:rPr>
              <a:t> </a:t>
            </a:r>
            <a:r>
              <a:rPr>
                <a:solidFill>
                  <a:srgbClr val="666666"/>
                </a:solidFill>
                <a:latin typeface="Courier"/>
              </a:rPr>
              <a:t>=</a:t>
            </a:r>
            <a:r>
              <a:rPr>
                <a:latin typeface="Courier"/>
              </a:rPr>
              <a:t> List</a:t>
            </a:r>
            <a:r>
              <a:rPr>
                <a:solidFill>
                  <a:srgbClr val="666666"/>
                </a:solidFill>
                <a:latin typeface="Courier"/>
              </a:rPr>
              <a:t>(</a:t>
            </a:r>
            <a:r>
              <a:rPr>
                <a:latin typeface="Courier"/>
              </a:rPr>
              <a:t>adam</a:t>
            </a:r>
            <a:r>
              <a:rPr>
                <a:solidFill>
                  <a:srgbClr val="666666"/>
                </a:solidFill>
                <a:latin typeface="Courier"/>
              </a:rPr>
              <a:t>,</a:t>
            </a:r>
            <a:r>
              <a:rPr>
                <a:latin typeface="Courier"/>
              </a:rPr>
              <a:t> david</a:t>
            </a:r>
            <a:r>
              <a:rPr>
                <a:solidFill>
                  <a:srgbClr val="666666"/>
                </a:solidFill>
                <a:latin typeface="Courier"/>
              </a:rPr>
              <a:t>,</a:t>
            </a:r>
            <a:r>
              <a:rPr>
                <a:latin typeface="Courier"/>
              </a:rPr>
              <a:t> frank</a:t>
            </a:r>
            <a:r>
              <a:rPr>
                <a:solidFill>
                  <a:srgbClr val="666666"/>
                </a:solidFill>
                <a:latin typeface="Courier"/>
              </a:rPr>
              <a:t>)</a:t>
            </a:r>
            <a:br/>
            <a:r>
              <a:rPr>
                <a:latin typeface="Courier"/>
              </a:rPr>
              <a:t>scala</a:t>
            </a:r>
            <a:r>
              <a:rPr>
                <a:solidFill>
                  <a:srgbClr val="666666"/>
                </a:solidFill>
                <a:latin typeface="Courier"/>
              </a:rPr>
              <a:t>&gt;</a:t>
            </a:r>
            <a:br/>
            <a:r>
              <a:rPr i="1">
                <a:solidFill>
                  <a:srgbClr val="60A0B0"/>
                </a:solidFill>
                <a:latin typeface="Courier"/>
              </a:rPr>
              <a:t>// ...</a:t>
            </a:r>
          </a:p>
          <a:p>
            <a:pPr lvl="0" indent="0" marL="0">
              <a:buNone/>
            </a:pPr>
            <a:r>
              <a:rPr/>
              <a:t>片段 3</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names </a:t>
            </a:r>
            <a:r>
              <a:rPr>
                <a:solidFill>
                  <a:srgbClr val="666666"/>
                </a:solidFill>
                <a:latin typeface="Courier"/>
              </a:rPr>
              <a:t>=</a:t>
            </a:r>
            <a:r>
              <a:rPr>
                <a:latin typeface="Courier"/>
              </a:rPr>
              <a:t> List</a:t>
            </a:r>
            <a:r>
              <a:rPr>
                <a:solidFill>
                  <a:srgbClr val="666666"/>
                </a:solidFill>
                <a:latin typeface="Courier"/>
              </a:rPr>
              <a:t>(</a:t>
            </a:r>
            <a:r>
              <a:rPr>
                <a:solidFill>
                  <a:srgbClr val="4070A0"/>
                </a:solidFill>
                <a:latin typeface="Courier"/>
              </a:rPr>
              <a:t>"_adam"</a:t>
            </a:r>
            <a:r>
              <a:rPr>
                <a:solidFill>
                  <a:srgbClr val="666666"/>
                </a:solidFill>
                <a:latin typeface="Courier"/>
              </a:rPr>
              <a:t>,</a:t>
            </a:r>
            <a:r>
              <a:rPr>
                <a:latin typeface="Courier"/>
              </a:rPr>
              <a:t> </a:t>
            </a:r>
            <a:r>
              <a:rPr>
                <a:solidFill>
                  <a:srgbClr val="4070A0"/>
                </a:solidFill>
                <a:latin typeface="Courier"/>
              </a:rPr>
              <a:t>"_david"</a:t>
            </a:r>
            <a:r>
              <a:rPr>
                <a:solidFill>
                  <a:srgbClr val="666666"/>
                </a:solidFill>
                <a:latin typeface="Courier"/>
              </a:rPr>
              <a:t>,</a:t>
            </a:r>
            <a:r>
              <a:rPr>
                <a:latin typeface="Courier"/>
              </a:rPr>
              <a:t> </a:t>
            </a:r>
            <a:r>
              <a:rPr>
                <a:solidFill>
                  <a:srgbClr val="4070A0"/>
                </a:solidFill>
                <a:latin typeface="Courier"/>
              </a:rPr>
              <a:t>"_frank"</a:t>
            </a:r>
            <a:r>
              <a:rPr>
                <a:solidFill>
                  <a:srgbClr val="666666"/>
                </a:solidFill>
                <a:latin typeface="Courier"/>
              </a:rPr>
              <a:t>)</a:t>
            </a:r>
            <a:br/>
            <a:r>
              <a:rPr>
                <a:latin typeface="Courier"/>
              </a:rPr>
              <a:t>names</a:t>
            </a:r>
            <a:r>
              <a:rPr>
                <a:solidFill>
                  <a:srgbClr val="666666"/>
                </a:solidFill>
                <a:latin typeface="Courier"/>
              </a:rPr>
              <a:t>:</a:t>
            </a:r>
            <a:r>
              <a:rPr>
                <a:latin typeface="Courier"/>
              </a:rPr>
              <a:t> List</a:t>
            </a:r>
            <a:r>
              <a:rPr>
                <a:solidFill>
                  <a:srgbClr val="666666"/>
                </a:solidFill>
                <a:latin typeface="Courier"/>
              </a:rPr>
              <a:t>[</a:t>
            </a:r>
            <a:r>
              <a:rPr>
                <a:latin typeface="Courier"/>
              </a:rPr>
              <a:t>String</a:t>
            </a:r>
            <a:r>
              <a:rPr>
                <a:solidFill>
                  <a:srgbClr val="666666"/>
                </a:solidFill>
                <a:latin typeface="Courier"/>
              </a:rPr>
              <a:t>]</a:t>
            </a:r>
            <a:r>
              <a:rPr>
                <a:latin typeface="Courier"/>
              </a:rPr>
              <a:t> </a:t>
            </a:r>
            <a:r>
              <a:rPr>
                <a:solidFill>
                  <a:srgbClr val="666666"/>
                </a:solidFill>
                <a:latin typeface="Courier"/>
              </a:rPr>
              <a:t>=</a:t>
            </a:r>
            <a:r>
              <a:rPr>
                <a:latin typeface="Courier"/>
              </a:rPr>
              <a:t> List</a:t>
            </a:r>
            <a:r>
              <a:rPr>
                <a:solidFill>
                  <a:srgbClr val="666666"/>
                </a:solidFill>
                <a:latin typeface="Courier"/>
              </a:rPr>
              <a:t>(</a:t>
            </a:r>
            <a:r>
              <a:rPr>
                <a:latin typeface="Courier"/>
              </a:rPr>
              <a:t>_adam</a:t>
            </a:r>
            <a:r>
              <a:rPr>
                <a:solidFill>
                  <a:srgbClr val="666666"/>
                </a:solidFill>
                <a:latin typeface="Courier"/>
              </a:rPr>
              <a:t>,</a:t>
            </a:r>
            <a:r>
              <a:rPr>
                <a:latin typeface="Courier"/>
              </a:rPr>
              <a:t> _david</a:t>
            </a:r>
            <a:r>
              <a:rPr>
                <a:solidFill>
                  <a:srgbClr val="666666"/>
                </a:solidFill>
                <a:latin typeface="Courier"/>
              </a:rPr>
              <a:t>,</a:t>
            </a:r>
            <a:r>
              <a:rPr>
                <a:latin typeface="Courier"/>
              </a:rPr>
              <a:t> _frank</a:t>
            </a:r>
            <a:r>
              <a:rPr>
                <a:solidFill>
                  <a:srgbClr val="666666"/>
                </a:solidFill>
                <a:latin typeface="Courier"/>
              </a:rPr>
              <a:t>)</a:t>
            </a:r>
          </a:p>
          <a:p>
            <a:pPr lvl="0" indent="0" marL="0">
              <a:buNone/>
            </a:pPr>
            <a:r>
              <a:rPr/>
              <a:t>片段 4</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capNames </a:t>
            </a:r>
            <a:r>
              <a:rPr>
                <a:solidFill>
                  <a:srgbClr val="666666"/>
                </a:solidFill>
                <a:latin typeface="Courier"/>
              </a:rPr>
              <a:t>=</a:t>
            </a:r>
            <a:r>
              <a:rPr>
                <a:latin typeface="Courier"/>
              </a:rPr>
              <a:t> </a:t>
            </a:r>
            <a:r>
              <a:rPr b="1">
                <a:solidFill>
                  <a:srgbClr val="007020"/>
                </a:solidFill>
                <a:latin typeface="Courier"/>
              </a:rPr>
              <a:t>for</a:t>
            </a:r>
            <a:r>
              <a:rPr>
                <a:latin typeface="Courier"/>
              </a:rPr>
              <a:t> </a:t>
            </a:r>
            <a:r>
              <a:rPr>
                <a:solidFill>
                  <a:srgbClr val="666666"/>
                </a:solidFill>
                <a:latin typeface="Courier"/>
              </a:rPr>
              <a:t>(</a:t>
            </a:r>
            <a:r>
              <a:rPr>
                <a:latin typeface="Courier"/>
              </a:rPr>
              <a:t>name </a:t>
            </a:r>
            <a:r>
              <a:rPr>
                <a:solidFill>
                  <a:srgbClr val="666666"/>
                </a:solidFill>
                <a:latin typeface="Courier"/>
              </a:rPr>
              <a:t>&lt;-</a:t>
            </a:r>
            <a:r>
              <a:rPr>
                <a:latin typeface="Courier"/>
              </a:rPr>
              <a:t> names</a:t>
            </a:r>
            <a:r>
              <a:rPr>
                <a:solidFill>
                  <a:srgbClr val="666666"/>
                </a:solidFill>
                <a:latin typeface="Courier"/>
              </a:rPr>
              <a:t>)</a:t>
            </a:r>
            <a:r>
              <a:rPr>
                <a:latin typeface="Courier"/>
              </a:rPr>
              <a:t> </a:t>
            </a:r>
            <a:r>
              <a:rPr b="1">
                <a:solidFill>
                  <a:srgbClr val="007020"/>
                </a:solidFill>
                <a:latin typeface="Courier"/>
              </a:rPr>
              <a:t>yield</a:t>
            </a:r>
            <a:r>
              <a:rPr>
                <a:latin typeface="Courier"/>
              </a:rPr>
              <a:t> </a:t>
            </a:r>
            <a:r>
              <a:rPr>
                <a:solidFill>
                  <a:srgbClr val="666666"/>
                </a:solidFill>
                <a:latin typeface="Courier"/>
              </a:rPr>
              <a:t>{</a:t>
            </a:r>
            <a:br/>
            <a:r>
              <a:rPr>
                <a:solidFill>
                  <a:srgbClr val="666666"/>
                </a:solidFill>
                <a:latin typeface="Courier"/>
              </a:rPr>
              <a:t>|</a:t>
            </a:r>
            <a:r>
              <a:rPr>
                <a:latin typeface="Courier"/>
              </a:rPr>
              <a:t> </a:t>
            </a:r>
            <a:r>
              <a:rPr b="1">
                <a:solidFill>
                  <a:srgbClr val="007020"/>
                </a:solidFill>
                <a:latin typeface="Courier"/>
              </a:rPr>
              <a:t>val</a:t>
            </a:r>
            <a:r>
              <a:rPr>
                <a:latin typeface="Courier"/>
              </a:rPr>
              <a:t> nameWithoutUnderscore </a:t>
            </a:r>
            <a:r>
              <a:rPr>
                <a:solidFill>
                  <a:srgbClr val="666666"/>
                </a:solidFill>
                <a:latin typeface="Courier"/>
              </a:rPr>
              <a:t>=</a:t>
            </a:r>
            <a:r>
              <a:rPr>
                <a:latin typeface="Courier"/>
              </a:rPr>
              <a:t> name</a:t>
            </a:r>
            <a:r>
              <a:rPr>
                <a:solidFill>
                  <a:srgbClr val="666666"/>
                </a:solidFill>
                <a:latin typeface="Courier"/>
              </a:rPr>
              <a:t>.</a:t>
            </a:r>
            <a:r>
              <a:rPr>
                <a:solidFill>
                  <a:srgbClr val="06287E"/>
                </a:solidFill>
                <a:latin typeface="Courier"/>
              </a:rPr>
              <a:t>drop</a:t>
            </a:r>
            <a:r>
              <a:rPr>
                <a:solidFill>
                  <a:srgbClr val="666666"/>
                </a:solidFill>
                <a:latin typeface="Courier"/>
              </a:rPr>
              <a:t>(</a:t>
            </a:r>
            <a:r>
              <a:rPr>
                <a:solidFill>
                  <a:srgbClr val="40A070"/>
                </a:solidFill>
                <a:latin typeface="Courier"/>
              </a:rPr>
              <a:t>1</a:t>
            </a:r>
            <a:r>
              <a:rPr>
                <a:solidFill>
                  <a:srgbClr val="666666"/>
                </a:solidFill>
                <a:latin typeface="Courier"/>
              </a:rPr>
              <a:t>)</a:t>
            </a:r>
            <a:br/>
            <a:r>
              <a:rPr>
                <a:solidFill>
                  <a:srgbClr val="666666"/>
                </a:solidFill>
                <a:latin typeface="Courier"/>
              </a:rPr>
              <a:t>|</a:t>
            </a:r>
            <a:r>
              <a:rPr>
                <a:latin typeface="Courier"/>
              </a:rPr>
              <a:t> </a:t>
            </a:r>
            <a:r>
              <a:rPr b="1">
                <a:solidFill>
                  <a:srgbClr val="007020"/>
                </a:solidFill>
                <a:latin typeface="Courier"/>
              </a:rPr>
              <a:t>val</a:t>
            </a:r>
            <a:r>
              <a:rPr>
                <a:latin typeface="Courier"/>
              </a:rPr>
              <a:t> capName </a:t>
            </a:r>
            <a:r>
              <a:rPr>
                <a:solidFill>
                  <a:srgbClr val="666666"/>
                </a:solidFill>
                <a:latin typeface="Courier"/>
              </a:rPr>
              <a:t>=</a:t>
            </a:r>
            <a:r>
              <a:rPr>
                <a:latin typeface="Courier"/>
              </a:rPr>
              <a:t> nameWithoutUnderscore</a:t>
            </a:r>
            <a:r>
              <a:rPr>
                <a:solidFill>
                  <a:srgbClr val="666666"/>
                </a:solidFill>
                <a:latin typeface="Courier"/>
              </a:rPr>
              <a:t>.</a:t>
            </a:r>
            <a:r>
              <a:rPr>
                <a:latin typeface="Courier"/>
              </a:rPr>
              <a:t>capitalize</a:t>
            </a:r>
            <a:br/>
            <a:r>
              <a:rPr i="1">
                <a:solidFill>
                  <a:srgbClr val="60A0B0"/>
                </a:solidFill>
                <a:latin typeface="Courier"/>
              </a:rPr>
              <a:t>// ...</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2.5.1 面向对象编程：代码片段（14/27）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我们在该示例中显示了一种比较繁琐解决方案</a:t>
            </a:r>
          </a:p>
          <a:p>
            <a:pPr lvl="0"/>
            <a:r>
              <a:rPr/>
              <a:t>先对照代码理解 还可以在算法周围加上花括号： 的执行步骤</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capNames </a:t>
            </a:r>
            <a:r>
              <a:rPr>
                <a:solidFill>
                  <a:srgbClr val="666666"/>
                </a:solidFill>
                <a:latin typeface="Courier"/>
              </a:rPr>
              <a:t>=</a:t>
            </a:r>
            <a:r>
              <a:rPr>
                <a:latin typeface="Courier"/>
              </a:rPr>
              <a:t> </a:t>
            </a:r>
            <a:r>
              <a:rPr b="1">
                <a:solidFill>
                  <a:srgbClr val="007020"/>
                </a:solidFill>
                <a:latin typeface="Courier"/>
              </a:rPr>
              <a:t>for</a:t>
            </a:r>
            <a:r>
              <a:rPr>
                <a:latin typeface="Courier"/>
              </a:rPr>
              <a:t> </a:t>
            </a:r>
            <a:r>
              <a:rPr>
                <a:solidFill>
                  <a:srgbClr val="666666"/>
                </a:solidFill>
                <a:latin typeface="Courier"/>
              </a:rPr>
              <a:t>(</a:t>
            </a:r>
            <a:r>
              <a:rPr>
                <a:latin typeface="Courier"/>
              </a:rPr>
              <a:t>name </a:t>
            </a:r>
            <a:r>
              <a:rPr>
                <a:solidFill>
                  <a:srgbClr val="666666"/>
                </a:solidFill>
                <a:latin typeface="Courier"/>
              </a:rPr>
              <a:t>&lt;-</a:t>
            </a:r>
            <a:r>
              <a:rPr>
                <a:latin typeface="Courier"/>
              </a:rPr>
              <a:t> names</a:t>
            </a:r>
            <a:r>
              <a:rPr>
                <a:solidFill>
                  <a:srgbClr val="666666"/>
                </a:solidFill>
                <a:latin typeface="Courier"/>
              </a:rPr>
              <a:t>)</a:t>
            </a:r>
            <a:r>
              <a:rPr>
                <a:latin typeface="Courier"/>
              </a:rPr>
              <a:t> </a:t>
            </a:r>
            <a:r>
              <a:rPr b="1">
                <a:solidFill>
                  <a:srgbClr val="007020"/>
                </a:solidFill>
                <a:latin typeface="Courier"/>
              </a:rPr>
              <a:t>yield</a:t>
            </a:r>
            <a:br/>
            <a:r>
              <a:rPr>
                <a:latin typeface="Courier"/>
              </a:rPr>
              <a:t>name</a:t>
            </a:r>
            <a:r>
              <a:rPr>
                <a:solidFill>
                  <a:srgbClr val="666666"/>
                </a:solidFill>
                <a:latin typeface="Courier"/>
              </a:rPr>
              <a:t>.</a:t>
            </a:r>
            <a:r>
              <a:rPr>
                <a:solidFill>
                  <a:srgbClr val="06287E"/>
                </a:solidFill>
                <a:latin typeface="Courier"/>
              </a:rPr>
              <a:t>drop</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capitalize</a:t>
            </a:r>
            <a:br/>
            <a:r>
              <a:rPr>
                <a:latin typeface="Courier"/>
              </a:rPr>
              <a:t>capNames</a:t>
            </a:r>
            <a:r>
              <a:rPr>
                <a:solidFill>
                  <a:srgbClr val="666666"/>
                </a:solidFill>
                <a:latin typeface="Courier"/>
              </a:rPr>
              <a:t>:</a:t>
            </a:r>
            <a:r>
              <a:rPr>
                <a:latin typeface="Courier"/>
              </a:rPr>
              <a:t> List</a:t>
            </a:r>
            <a:r>
              <a:rPr>
                <a:solidFill>
                  <a:srgbClr val="666666"/>
                </a:solidFill>
                <a:latin typeface="Courier"/>
              </a:rPr>
              <a:t>[</a:t>
            </a:r>
            <a:r>
              <a:rPr>
                <a:latin typeface="Courier"/>
              </a:rPr>
              <a:t>String</a:t>
            </a:r>
            <a:r>
              <a:rPr>
                <a:solidFill>
                  <a:srgbClr val="666666"/>
                </a:solidFill>
                <a:latin typeface="Courier"/>
              </a:rPr>
              <a:t>]</a:t>
            </a:r>
            <a:r>
              <a:rPr>
                <a:latin typeface="Courier"/>
              </a:rPr>
              <a:t> </a:t>
            </a:r>
            <a:r>
              <a:rPr>
                <a:solidFill>
                  <a:srgbClr val="666666"/>
                </a:solidFill>
                <a:latin typeface="Courier"/>
              </a:rPr>
              <a:t>=</a:t>
            </a:r>
            <a:r>
              <a:rPr>
                <a:latin typeface="Courier"/>
              </a:rPr>
              <a:t> List</a:t>
            </a:r>
            <a:r>
              <a:rPr>
                <a:solidFill>
                  <a:srgbClr val="666666"/>
                </a:solidFill>
                <a:latin typeface="Courier"/>
              </a:rPr>
              <a:t>(</a:t>
            </a:r>
            <a:r>
              <a:rPr>
                <a:latin typeface="Courier"/>
              </a:rPr>
              <a:t>Adam</a:t>
            </a:r>
            <a:r>
              <a:rPr>
                <a:solidFill>
                  <a:srgbClr val="666666"/>
                </a:solidFill>
                <a:latin typeface="Courier"/>
              </a:rPr>
              <a:t>,</a:t>
            </a:r>
            <a:r>
              <a:rPr>
                <a:latin typeface="Courier"/>
              </a:rPr>
              <a:t> David</a:t>
            </a:r>
            <a:r>
              <a:rPr>
                <a:solidFill>
                  <a:srgbClr val="666666"/>
                </a:solidFill>
                <a:latin typeface="Courier"/>
              </a:rPr>
              <a:t>,</a:t>
            </a:r>
            <a:r>
              <a:rPr>
                <a:latin typeface="Courier"/>
              </a:rPr>
              <a:t> Frank</a:t>
            </a:r>
            <a:r>
              <a:rPr>
                <a:solidFill>
                  <a:srgbClr val="666666"/>
                </a:solidFill>
                <a:latin typeface="Courier"/>
              </a:rPr>
              <a:t>)</a:t>
            </a:r>
          </a:p>
          <a:p>
            <a:pPr lvl="0" indent="0" marL="0">
              <a:buNone/>
            </a:pPr>
            <a:r>
              <a:rPr/>
              <a:t>片段 2</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capNames </a:t>
            </a:r>
            <a:r>
              <a:rPr>
                <a:solidFill>
                  <a:srgbClr val="666666"/>
                </a:solidFill>
                <a:latin typeface="Courier"/>
              </a:rPr>
              <a:t>=</a:t>
            </a:r>
            <a:r>
              <a:rPr>
                <a:latin typeface="Courier"/>
              </a:rPr>
              <a:t> </a:t>
            </a:r>
            <a:r>
              <a:rPr b="1">
                <a:solidFill>
                  <a:srgbClr val="007020"/>
                </a:solidFill>
                <a:latin typeface="Courier"/>
              </a:rPr>
              <a:t>for</a:t>
            </a:r>
            <a:r>
              <a:rPr>
                <a:latin typeface="Courier"/>
              </a:rPr>
              <a:t> </a:t>
            </a:r>
            <a:r>
              <a:rPr>
                <a:solidFill>
                  <a:srgbClr val="666666"/>
                </a:solidFill>
                <a:latin typeface="Courier"/>
              </a:rPr>
              <a:t>(</a:t>
            </a:r>
            <a:r>
              <a:rPr>
                <a:latin typeface="Courier"/>
              </a:rPr>
              <a:t>name </a:t>
            </a:r>
            <a:r>
              <a:rPr>
                <a:solidFill>
                  <a:srgbClr val="666666"/>
                </a:solidFill>
                <a:latin typeface="Courier"/>
              </a:rPr>
              <a:t>&lt;-</a:t>
            </a:r>
            <a:r>
              <a:rPr>
                <a:latin typeface="Courier"/>
              </a:rPr>
              <a:t> names</a:t>
            </a:r>
            <a:r>
              <a:rPr>
                <a:solidFill>
                  <a:srgbClr val="666666"/>
                </a:solidFill>
                <a:latin typeface="Courier"/>
              </a:rPr>
              <a:t>)</a:t>
            </a:r>
            <a:r>
              <a:rPr>
                <a:latin typeface="Courier"/>
              </a:rPr>
              <a:t> </a:t>
            </a:r>
            <a:r>
              <a:rPr b="1">
                <a:solidFill>
                  <a:srgbClr val="007020"/>
                </a:solidFill>
                <a:latin typeface="Courier"/>
              </a:rPr>
              <a:t>yield</a:t>
            </a:r>
            <a:r>
              <a:rPr>
                <a:latin typeface="Courier"/>
              </a:rPr>
              <a:t> </a:t>
            </a:r>
            <a:r>
              <a:rPr>
                <a:solidFill>
                  <a:srgbClr val="666666"/>
                </a:solidFill>
                <a:latin typeface="Courier"/>
              </a:rPr>
              <a:t>{</a:t>
            </a:r>
            <a:br/>
            <a:r>
              <a:rPr>
                <a:latin typeface="Courier"/>
              </a:rPr>
              <a:t>name</a:t>
            </a:r>
            <a:r>
              <a:rPr>
                <a:solidFill>
                  <a:srgbClr val="666666"/>
                </a:solidFill>
                <a:latin typeface="Courier"/>
              </a:rPr>
              <a:t>.</a:t>
            </a:r>
            <a:r>
              <a:rPr>
                <a:solidFill>
                  <a:srgbClr val="06287E"/>
                </a:solidFill>
                <a:latin typeface="Courier"/>
              </a:rPr>
              <a:t>drop</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capitalize </a:t>
            </a:r>
            <a:r>
              <a:rPr>
                <a:solidFill>
                  <a:srgbClr val="666666"/>
                </a:solidFill>
                <a:latin typeface="Courier"/>
              </a:rPr>
              <a:t>}</a:t>
            </a:r>
            <a:br/>
            <a:r>
              <a:rPr>
                <a:latin typeface="Courier"/>
              </a:rPr>
              <a:t>capNames</a:t>
            </a:r>
            <a:r>
              <a:rPr>
                <a:solidFill>
                  <a:srgbClr val="666666"/>
                </a:solidFill>
                <a:latin typeface="Courier"/>
              </a:rPr>
              <a:t>:</a:t>
            </a:r>
            <a:r>
              <a:rPr>
                <a:latin typeface="Courier"/>
              </a:rPr>
              <a:t> List</a:t>
            </a:r>
            <a:r>
              <a:rPr>
                <a:solidFill>
                  <a:srgbClr val="666666"/>
                </a:solidFill>
                <a:latin typeface="Courier"/>
              </a:rPr>
              <a:t>[</a:t>
            </a:r>
            <a:r>
              <a:rPr>
                <a:latin typeface="Courier"/>
              </a:rPr>
              <a:t>String</a:t>
            </a:r>
            <a:r>
              <a:rPr>
                <a:solidFill>
                  <a:srgbClr val="666666"/>
                </a:solidFill>
                <a:latin typeface="Courier"/>
              </a:rPr>
              <a:t>]</a:t>
            </a:r>
            <a:r>
              <a:rPr>
                <a:latin typeface="Courier"/>
              </a:rPr>
              <a:t> </a:t>
            </a:r>
            <a:r>
              <a:rPr>
                <a:solidFill>
                  <a:srgbClr val="666666"/>
                </a:solidFill>
                <a:latin typeface="Courier"/>
              </a:rPr>
              <a:t>=</a:t>
            </a:r>
            <a:r>
              <a:rPr>
                <a:latin typeface="Courier"/>
              </a:rPr>
              <a:t> List</a:t>
            </a:r>
            <a:r>
              <a:rPr>
                <a:solidFill>
                  <a:srgbClr val="666666"/>
                </a:solidFill>
                <a:latin typeface="Courier"/>
              </a:rPr>
              <a:t>(</a:t>
            </a:r>
            <a:r>
              <a:rPr>
                <a:latin typeface="Courier"/>
              </a:rPr>
              <a:t>Adam</a:t>
            </a:r>
            <a:r>
              <a:rPr>
                <a:solidFill>
                  <a:srgbClr val="666666"/>
                </a:solidFill>
                <a:latin typeface="Courier"/>
              </a:rPr>
              <a:t>,</a:t>
            </a:r>
            <a:r>
              <a:rPr>
                <a:latin typeface="Courier"/>
              </a:rPr>
              <a:t> David</a:t>
            </a:r>
            <a:r>
              <a:rPr>
                <a:solidFill>
                  <a:srgbClr val="666666"/>
                </a:solidFill>
                <a:latin typeface="Courier"/>
              </a:rPr>
              <a:t>,</a:t>
            </a:r>
            <a:r>
              <a:rPr>
                <a:latin typeface="Courier"/>
              </a:rPr>
              <a:t> Frank</a:t>
            </a:r>
            <a:r>
              <a:rPr>
                <a:solidFill>
                  <a:srgbClr val="666666"/>
                </a:solidFill>
                <a:latin typeface="Courier"/>
              </a:rPr>
              <a:t>)</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2.5.1 面向对象编程：代码片段（15/27）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Scala还有一个match表达式的概念。在最简单的情况下</a:t>
            </a:r>
          </a:p>
          <a:p>
            <a:pPr lvl="0" indent="0">
              <a:buNone/>
            </a:pPr>
            <a:r>
              <a:rPr b="1">
                <a:solidFill>
                  <a:srgbClr val="007020"/>
                </a:solidFill>
                <a:latin typeface="Courier"/>
              </a:rPr>
              <a:t>val</a:t>
            </a:r>
            <a:r>
              <a:rPr>
                <a:latin typeface="Courier"/>
              </a:rPr>
              <a:t> monthName </a:t>
            </a:r>
            <a:r>
              <a:rPr>
                <a:solidFill>
                  <a:srgbClr val="666666"/>
                </a:solidFill>
                <a:latin typeface="Courier"/>
              </a:rPr>
              <a:t>=</a:t>
            </a:r>
            <a:r>
              <a:rPr>
                <a:latin typeface="Courier"/>
              </a:rPr>
              <a:t> i </a:t>
            </a:r>
            <a:r>
              <a:rPr b="1">
                <a:solidFill>
                  <a:srgbClr val="007020"/>
                </a:solidFill>
                <a:latin typeface="Courier"/>
              </a:rPr>
              <a:t>match</a:t>
            </a:r>
            <a:r>
              <a:rPr>
                <a:latin typeface="Courier"/>
              </a:rPr>
              <a:t> </a:t>
            </a:r>
            <a:r>
              <a:rPr>
                <a:solidFill>
                  <a:srgbClr val="666666"/>
                </a:solidFill>
                <a:latin typeface="Courier"/>
              </a:rPr>
              <a:t>{</a:t>
            </a:r>
            <a:br/>
            <a:r>
              <a:rPr>
                <a:latin typeface="Courier"/>
              </a:rPr>
              <a:t>  </a:t>
            </a:r>
            <a:r>
              <a:rPr b="1">
                <a:solidFill>
                  <a:srgbClr val="007020"/>
                </a:solidFill>
                <a:latin typeface="Courier"/>
              </a:rPr>
              <a:t>case</a:t>
            </a:r>
            <a:r>
              <a:rPr>
                <a:latin typeface="Courier"/>
              </a:rPr>
              <a:t> </a:t>
            </a:r>
            <a:r>
              <a:rPr>
                <a:solidFill>
                  <a:srgbClr val="40A070"/>
                </a:solidFill>
                <a:latin typeface="Courier"/>
              </a:rPr>
              <a:t>1</a:t>
            </a:r>
            <a:r>
              <a:rPr>
                <a:latin typeface="Courier"/>
              </a:rPr>
              <a:t>  </a:t>
            </a:r>
            <a:r>
              <a:rPr>
                <a:solidFill>
                  <a:srgbClr val="666666"/>
                </a:solidFill>
                <a:latin typeface="Courier"/>
              </a:rPr>
              <a:t>=&gt;</a:t>
            </a:r>
            <a:r>
              <a:rPr>
                <a:latin typeface="Courier"/>
              </a:rPr>
              <a:t> </a:t>
            </a:r>
            <a:r>
              <a:rPr>
                <a:solidFill>
                  <a:srgbClr val="4070A0"/>
                </a:solidFill>
                <a:latin typeface="Courier"/>
              </a:rPr>
              <a:t>"January"</a:t>
            </a:r>
            <a:br/>
            <a:r>
              <a:rPr>
                <a:latin typeface="Courier"/>
              </a:rPr>
              <a:t>  </a:t>
            </a:r>
            <a:r>
              <a:rPr b="1">
                <a:solidFill>
                  <a:srgbClr val="007020"/>
                </a:solidFill>
                <a:latin typeface="Courier"/>
              </a:rPr>
              <a:t>case</a:t>
            </a:r>
            <a:r>
              <a:rPr>
                <a:latin typeface="Courier"/>
              </a:rPr>
              <a:t> </a:t>
            </a:r>
            <a:r>
              <a:rPr>
                <a:solidFill>
                  <a:srgbClr val="40A070"/>
                </a:solidFill>
                <a:latin typeface="Courier"/>
              </a:rPr>
              <a:t>2</a:t>
            </a:r>
            <a:r>
              <a:rPr>
                <a:latin typeface="Courier"/>
              </a:rPr>
              <a:t>  </a:t>
            </a:r>
            <a:r>
              <a:rPr>
                <a:solidFill>
                  <a:srgbClr val="666666"/>
                </a:solidFill>
                <a:latin typeface="Courier"/>
              </a:rPr>
              <a:t>=&gt;</a:t>
            </a:r>
            <a:r>
              <a:rPr>
                <a:latin typeface="Courier"/>
              </a:rPr>
              <a:t> </a:t>
            </a:r>
            <a:r>
              <a:rPr>
                <a:solidFill>
                  <a:srgbClr val="4070A0"/>
                </a:solidFill>
                <a:latin typeface="Courier"/>
              </a:rPr>
              <a:t>"February"</a:t>
            </a:r>
            <a:br/>
            <a:r>
              <a:rPr>
                <a:latin typeface="Courier"/>
              </a:rPr>
              <a:t>  </a:t>
            </a:r>
            <a:r>
              <a:rPr b="1">
                <a:solidFill>
                  <a:srgbClr val="007020"/>
                </a:solidFill>
                <a:latin typeface="Courier"/>
              </a:rPr>
              <a:t>case</a:t>
            </a:r>
            <a:r>
              <a:rPr>
                <a:latin typeface="Courier"/>
              </a:rPr>
              <a:t> </a:t>
            </a:r>
            <a:r>
              <a:rPr>
                <a:solidFill>
                  <a:srgbClr val="40A070"/>
                </a:solidFill>
                <a:latin typeface="Courier"/>
              </a:rPr>
              <a:t>3</a:t>
            </a:r>
            <a:r>
              <a:rPr>
                <a:latin typeface="Courier"/>
              </a:rPr>
              <a:t>  </a:t>
            </a:r>
            <a:r>
              <a:rPr>
                <a:solidFill>
                  <a:srgbClr val="666666"/>
                </a:solidFill>
                <a:latin typeface="Courier"/>
              </a:rPr>
              <a:t>=&gt;</a:t>
            </a:r>
            <a:r>
              <a:rPr>
                <a:latin typeface="Courier"/>
              </a:rPr>
              <a:t> </a:t>
            </a:r>
            <a:r>
              <a:rPr>
                <a:solidFill>
                  <a:srgbClr val="4070A0"/>
                </a:solidFill>
                <a:latin typeface="Courier"/>
              </a:rPr>
              <a:t>"March"</a:t>
            </a:r>
            <a:br/>
            <a:r>
              <a:rPr>
                <a:latin typeface="Courier"/>
              </a:rPr>
              <a:t>  </a:t>
            </a:r>
            <a:r>
              <a:rPr b="1">
                <a:solidFill>
                  <a:srgbClr val="007020"/>
                </a:solidFill>
                <a:latin typeface="Courier"/>
              </a:rPr>
              <a:t>case</a:t>
            </a:r>
            <a:r>
              <a:rPr>
                <a:latin typeface="Courier"/>
              </a:rPr>
              <a:t> </a:t>
            </a:r>
            <a:r>
              <a:rPr>
                <a:solidFill>
                  <a:srgbClr val="40A070"/>
                </a:solidFill>
                <a:latin typeface="Courier"/>
              </a:rPr>
              <a:t>4</a:t>
            </a:r>
            <a:r>
              <a:rPr>
                <a:latin typeface="Courier"/>
              </a:rPr>
              <a:t>  </a:t>
            </a:r>
            <a:r>
              <a:rPr>
                <a:solidFill>
                  <a:srgbClr val="666666"/>
                </a:solidFill>
                <a:latin typeface="Courier"/>
              </a:rPr>
              <a:t>=&gt;</a:t>
            </a:r>
            <a:r>
              <a:rPr>
                <a:latin typeface="Courier"/>
              </a:rPr>
              <a:t> </a:t>
            </a:r>
            <a:r>
              <a:rPr>
                <a:solidFill>
                  <a:srgbClr val="4070A0"/>
                </a:solidFill>
                <a:latin typeface="Courier"/>
              </a:rPr>
              <a:t>"April"</a:t>
            </a:r>
            <a:br/>
            <a:r>
              <a:rPr>
                <a:latin typeface="Courier"/>
              </a:rPr>
              <a:t>  </a:t>
            </a:r>
            <a:r>
              <a:rPr b="1">
                <a:solidFill>
                  <a:srgbClr val="007020"/>
                </a:solidFill>
                <a:latin typeface="Courier"/>
              </a:rPr>
              <a:t>case</a:t>
            </a:r>
            <a:r>
              <a:rPr>
                <a:latin typeface="Courier"/>
              </a:rPr>
              <a:t> </a:t>
            </a:r>
            <a:r>
              <a:rPr>
                <a:solidFill>
                  <a:srgbClr val="40A070"/>
                </a:solidFill>
                <a:latin typeface="Courier"/>
              </a:rPr>
              <a:t>5</a:t>
            </a:r>
            <a:r>
              <a:rPr>
                <a:latin typeface="Courier"/>
              </a:rPr>
              <a:t>  </a:t>
            </a:r>
            <a:r>
              <a:rPr>
                <a:solidFill>
                  <a:srgbClr val="666666"/>
                </a:solidFill>
                <a:latin typeface="Courier"/>
              </a:rPr>
              <a:t>=&gt;</a:t>
            </a:r>
            <a:r>
              <a:rPr>
                <a:latin typeface="Courier"/>
              </a:rPr>
              <a:t> </a:t>
            </a:r>
            <a:r>
              <a:rPr>
                <a:solidFill>
                  <a:srgbClr val="4070A0"/>
                </a:solidFill>
                <a:latin typeface="Courier"/>
              </a:rPr>
              <a:t>"May"</a:t>
            </a:r>
            <a:br/>
            <a:r>
              <a:rPr>
                <a:latin typeface="Courier"/>
              </a:rPr>
              <a:t>  </a:t>
            </a:r>
            <a:r>
              <a:rPr b="1">
                <a:solidFill>
                  <a:srgbClr val="007020"/>
                </a:solidFill>
                <a:latin typeface="Courier"/>
              </a:rPr>
              <a:t>case</a:t>
            </a:r>
            <a:r>
              <a:rPr>
                <a:latin typeface="Courier"/>
              </a:rPr>
              <a:t> </a:t>
            </a:r>
            <a:r>
              <a:rPr>
                <a:solidFill>
                  <a:srgbClr val="40A070"/>
                </a:solidFill>
                <a:latin typeface="Courier"/>
              </a:rPr>
              <a:t>6</a:t>
            </a:r>
            <a:r>
              <a:rPr>
                <a:latin typeface="Courier"/>
              </a:rPr>
              <a:t>  </a:t>
            </a:r>
            <a:r>
              <a:rPr>
                <a:solidFill>
                  <a:srgbClr val="666666"/>
                </a:solidFill>
                <a:latin typeface="Courier"/>
              </a:rPr>
              <a:t>=&gt;</a:t>
            </a:r>
            <a:r>
              <a:rPr>
                <a:latin typeface="Courier"/>
              </a:rPr>
              <a:t> </a:t>
            </a:r>
            <a:r>
              <a:rPr>
                <a:solidFill>
                  <a:srgbClr val="4070A0"/>
                </a:solidFill>
                <a:latin typeface="Courier"/>
              </a:rPr>
              <a:t>"June"</a:t>
            </a:r>
            <a:br/>
            <a:r>
              <a:rPr>
                <a:latin typeface="Courier"/>
              </a:rPr>
              <a:t>  </a:t>
            </a:r>
            <a:r>
              <a:rPr b="1">
                <a:solidFill>
                  <a:srgbClr val="007020"/>
                </a:solidFill>
                <a:latin typeface="Courier"/>
              </a:rPr>
              <a:t>case</a:t>
            </a:r>
            <a:r>
              <a:rPr>
                <a:latin typeface="Courier"/>
              </a:rPr>
              <a:t> </a:t>
            </a:r>
            <a:r>
              <a:rPr>
                <a:solidFill>
                  <a:srgbClr val="40A070"/>
                </a:solidFill>
                <a:latin typeface="Courier"/>
              </a:rPr>
              <a:t>7</a:t>
            </a:r>
            <a:r>
              <a:rPr>
                <a:latin typeface="Courier"/>
              </a:rPr>
              <a:t>  </a:t>
            </a:r>
            <a:r>
              <a:rPr>
                <a:solidFill>
                  <a:srgbClr val="666666"/>
                </a:solidFill>
                <a:latin typeface="Courier"/>
              </a:rPr>
              <a:t>=&gt;</a:t>
            </a:r>
            <a:r>
              <a:rPr>
                <a:latin typeface="Courier"/>
              </a:rPr>
              <a:t> </a:t>
            </a:r>
            <a:r>
              <a:rPr>
                <a:solidFill>
                  <a:srgbClr val="4070A0"/>
                </a:solidFill>
                <a:latin typeface="Courier"/>
              </a:rPr>
              <a:t>"July"</a:t>
            </a:r>
            <a:br/>
            <a:r>
              <a:rPr>
                <a:latin typeface="Courier"/>
              </a:rPr>
              <a:t>  </a:t>
            </a:r>
            <a:r>
              <a:rPr b="1">
                <a:solidFill>
                  <a:srgbClr val="007020"/>
                </a:solidFill>
                <a:latin typeface="Courier"/>
              </a:rPr>
              <a:t>case</a:t>
            </a:r>
            <a:r>
              <a:rPr>
                <a:latin typeface="Courier"/>
              </a:rPr>
              <a:t> </a:t>
            </a:r>
            <a:r>
              <a:rPr>
                <a:solidFill>
                  <a:srgbClr val="40A070"/>
                </a:solidFill>
                <a:latin typeface="Courier"/>
              </a:rPr>
              <a:t>8</a:t>
            </a:r>
            <a:r>
              <a:rPr>
                <a:latin typeface="Courier"/>
              </a:rPr>
              <a:t>  </a:t>
            </a:r>
            <a:r>
              <a:rPr>
                <a:solidFill>
                  <a:srgbClr val="666666"/>
                </a:solidFill>
                <a:latin typeface="Courier"/>
              </a:rPr>
              <a:t>=&gt;</a:t>
            </a:r>
            <a:r>
              <a:rPr>
                <a:latin typeface="Courier"/>
              </a:rPr>
              <a:t> </a:t>
            </a:r>
            <a:r>
              <a:rPr>
                <a:solidFill>
                  <a:srgbClr val="4070A0"/>
                </a:solidFill>
                <a:latin typeface="Courier"/>
              </a:rPr>
              <a:t>"August"</a:t>
            </a:r>
            <a:br/>
            <a:r>
              <a:rPr>
                <a:latin typeface="Courier"/>
              </a:rPr>
              <a:t>  </a:t>
            </a:r>
            <a:r>
              <a:rPr b="1">
                <a:solidFill>
                  <a:srgbClr val="007020"/>
                </a:solidFill>
                <a:latin typeface="Courier"/>
              </a:rPr>
              <a:t>case</a:t>
            </a:r>
            <a:r>
              <a:rPr>
                <a:latin typeface="Courier"/>
              </a:rPr>
              <a:t> </a:t>
            </a:r>
            <a:r>
              <a:rPr>
                <a:solidFill>
                  <a:srgbClr val="40A070"/>
                </a:solidFill>
                <a:latin typeface="Courier"/>
              </a:rPr>
              <a:t>9</a:t>
            </a:r>
            <a:r>
              <a:rPr>
                <a:latin typeface="Courier"/>
              </a:rPr>
              <a:t>  </a:t>
            </a:r>
            <a:r>
              <a:rPr>
                <a:solidFill>
                  <a:srgbClr val="666666"/>
                </a:solidFill>
                <a:latin typeface="Courier"/>
              </a:rPr>
              <a:t>=&gt;</a:t>
            </a:r>
            <a:r>
              <a:rPr>
                <a:latin typeface="Courier"/>
              </a:rPr>
              <a:t> </a:t>
            </a:r>
            <a:r>
              <a:rPr>
                <a:solidFill>
                  <a:srgbClr val="4070A0"/>
                </a:solidFill>
                <a:latin typeface="Courier"/>
              </a:rPr>
              <a:t>"September"</a:t>
            </a:r>
            <a:br/>
            <a:r>
              <a:rPr>
                <a:latin typeface="Courier"/>
              </a:rPr>
              <a:t>  </a:t>
            </a:r>
            <a:r>
              <a:rPr b="1">
                <a:solidFill>
                  <a:srgbClr val="007020"/>
                </a:solidFill>
                <a:latin typeface="Courier"/>
              </a:rPr>
              <a:t>case</a:t>
            </a:r>
            <a:r>
              <a:rPr>
                <a:latin typeface="Courier"/>
              </a:rPr>
              <a:t> </a:t>
            </a:r>
            <a:r>
              <a:rPr>
                <a:solidFill>
                  <a:srgbClr val="40A070"/>
                </a:solidFill>
                <a:latin typeface="Courier"/>
              </a:rPr>
              <a:t>10</a:t>
            </a:r>
            <a:r>
              <a:rPr>
                <a:latin typeface="Courier"/>
              </a:rPr>
              <a:t> </a:t>
            </a:r>
            <a:r>
              <a:rPr>
                <a:solidFill>
                  <a:srgbClr val="666666"/>
                </a:solidFill>
                <a:latin typeface="Courier"/>
              </a:rPr>
              <a:t>=&gt;</a:t>
            </a:r>
            <a:r>
              <a:rPr>
                <a:latin typeface="Courier"/>
              </a:rPr>
              <a:t> </a:t>
            </a:r>
            <a:r>
              <a:rPr>
                <a:solidFill>
                  <a:srgbClr val="4070A0"/>
                </a:solidFill>
                <a:latin typeface="Courier"/>
              </a:rPr>
              <a:t>"October"</a:t>
            </a:r>
            <a:br/>
            <a:r>
              <a:rPr i="1">
                <a:solidFill>
                  <a:srgbClr val="60A0B0"/>
                </a:solidFill>
                <a:latin typeface="Courier"/>
              </a:rPr>
              <a:t>// ...</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2.5.1 面向对象编程：代码片段（16/27）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另外</a:t>
            </a:r>
          </a:p>
          <a:p>
            <a:pPr lvl="0"/>
            <a:r>
              <a:rPr/>
              <a:t>先对照代码理解 这些示例说明了为它提供布尔值true和false时它是如何工作的</a:t>
            </a:r>
          </a:p>
          <a:p>
            <a:pPr lvl="0"/>
            <a:r>
              <a:rPr/>
              <a:t>先对照代码理解 下面是第二个示例</a:t>
            </a:r>
          </a:p>
          <a:p>
            <a:pPr lvl="0"/>
            <a:r>
              <a:rPr/>
              <a:t>先对照代码理解 该方法的主体只有两个case语句</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def</a:t>
            </a:r>
            <a:r>
              <a:rPr>
                <a:latin typeface="Courier"/>
              </a:rPr>
              <a:t> </a:t>
            </a:r>
            <a:r>
              <a:rPr>
                <a:solidFill>
                  <a:srgbClr val="06287E"/>
                </a:solidFill>
                <a:latin typeface="Courier"/>
              </a:rPr>
              <a:t>convertBooleanToStringMessage</a:t>
            </a:r>
            <a:r>
              <a:rPr>
                <a:solidFill>
                  <a:srgbClr val="666666"/>
                </a:solidFill>
                <a:latin typeface="Courier"/>
              </a:rPr>
              <a:t>(</a:t>
            </a:r>
            <a:r>
              <a:rPr>
                <a:latin typeface="Courier"/>
              </a:rPr>
              <a:t>bool</a:t>
            </a:r>
            <a:r>
              <a:rPr>
                <a:solidFill>
                  <a:srgbClr val="666666"/>
                </a:solidFill>
                <a:latin typeface="Courier"/>
              </a:rPr>
              <a:t>:</a:t>
            </a:r>
            <a:r>
              <a:rPr>
                <a:latin typeface="Courier"/>
              </a:rPr>
              <a:t> Boolean</a:t>
            </a:r>
            <a:r>
              <a:rPr>
                <a:solidFill>
                  <a:srgbClr val="666666"/>
                </a:solidFill>
                <a:latin typeface="Courier"/>
              </a:rPr>
              <a:t>):</a:t>
            </a:r>
            <a:r>
              <a:rPr>
                <a:latin typeface="Courier"/>
              </a:rPr>
              <a:t> String </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r>
              <a:rPr>
                <a:latin typeface="Courier"/>
              </a:rPr>
              <a:t> </a:t>
            </a:r>
            <a:r>
              <a:rPr b="1">
                <a:solidFill>
                  <a:srgbClr val="007020"/>
                </a:solidFill>
                <a:latin typeface="Courier"/>
              </a:rPr>
              <a:t>if</a:t>
            </a:r>
            <a:r>
              <a:rPr>
                <a:latin typeface="Courier"/>
              </a:rPr>
              <a:t> </a:t>
            </a:r>
            <a:r>
              <a:rPr>
                <a:solidFill>
                  <a:srgbClr val="666666"/>
                </a:solidFill>
                <a:latin typeface="Courier"/>
              </a:rPr>
              <a:t>(</a:t>
            </a:r>
            <a:r>
              <a:rPr>
                <a:latin typeface="Courier"/>
              </a:rPr>
              <a:t>bool</a:t>
            </a:r>
            <a:r>
              <a:rPr>
                <a:solidFill>
                  <a:srgbClr val="666666"/>
                </a:solidFill>
                <a:latin typeface="Courier"/>
              </a:rPr>
              <a:t>)</a:t>
            </a:r>
            <a:r>
              <a:rPr>
                <a:latin typeface="Courier"/>
              </a:rPr>
              <a:t> </a:t>
            </a:r>
            <a:r>
              <a:rPr>
                <a:solidFill>
                  <a:srgbClr val="4070A0"/>
                </a:solidFill>
                <a:latin typeface="Courier"/>
              </a:rPr>
              <a:t>"true"</a:t>
            </a:r>
            <a:r>
              <a:rPr>
                <a:latin typeface="Courier"/>
              </a:rPr>
              <a:t> </a:t>
            </a:r>
            <a:r>
              <a:rPr b="1">
                <a:solidFill>
                  <a:srgbClr val="007020"/>
                </a:solidFill>
                <a:latin typeface="Courier"/>
              </a:rPr>
              <a:t>else</a:t>
            </a:r>
            <a:r>
              <a:rPr>
                <a:latin typeface="Courier"/>
              </a:rPr>
              <a:t> </a:t>
            </a:r>
            <a:r>
              <a:rPr>
                <a:solidFill>
                  <a:srgbClr val="4070A0"/>
                </a:solidFill>
                <a:latin typeface="Courier"/>
              </a:rPr>
              <a:t>"false"</a:t>
            </a:r>
            <a:br/>
            <a:r>
              <a:rPr>
                <a:solidFill>
                  <a:srgbClr val="666666"/>
                </a:solidFill>
                <a:latin typeface="Courier"/>
              </a:rPr>
              <a:t>|</a:t>
            </a:r>
            <a:r>
              <a:rPr>
                <a:latin typeface="Courier"/>
              </a:rPr>
              <a:t> </a:t>
            </a:r>
            <a:r>
              <a:rPr>
                <a:solidFill>
                  <a:srgbClr val="666666"/>
                </a:solidFill>
                <a:latin typeface="Courier"/>
              </a:rPr>
              <a:t>}</a:t>
            </a:r>
            <a:br/>
            <a:r>
              <a:rPr>
                <a:latin typeface="Courier"/>
              </a:rPr>
              <a:t>convertBooleanToStringMessage</a:t>
            </a:r>
            <a:r>
              <a:rPr>
                <a:solidFill>
                  <a:srgbClr val="666666"/>
                </a:solidFill>
                <a:latin typeface="Courier"/>
              </a:rPr>
              <a:t>:</a:t>
            </a:r>
            <a:r>
              <a:rPr>
                <a:latin typeface="Courier"/>
              </a:rPr>
              <a:t> </a:t>
            </a:r>
            <a:r>
              <a:rPr>
                <a:solidFill>
                  <a:srgbClr val="666666"/>
                </a:solidFill>
                <a:latin typeface="Courier"/>
              </a:rPr>
              <a:t>(</a:t>
            </a:r>
            <a:r>
              <a:rPr>
                <a:latin typeface="Courier"/>
              </a:rPr>
              <a:t>bool</a:t>
            </a:r>
            <a:r>
              <a:rPr>
                <a:solidFill>
                  <a:srgbClr val="666666"/>
                </a:solidFill>
                <a:latin typeface="Courier"/>
              </a:rPr>
              <a:t>:</a:t>
            </a:r>
            <a:r>
              <a:rPr>
                <a:latin typeface="Courier"/>
              </a:rPr>
              <a:t> Boolean</a:t>
            </a:r>
            <a:r>
              <a:rPr>
                <a:solidFill>
                  <a:srgbClr val="666666"/>
                </a:solidFill>
                <a:latin typeface="Courier"/>
              </a:rPr>
              <a:t>)</a:t>
            </a:r>
            <a:r>
              <a:rPr>
                <a:latin typeface="Courier"/>
              </a:rPr>
              <a:t>String</a:t>
            </a:r>
          </a:p>
          <a:p>
            <a:pPr lvl="0" indent="0" marL="0">
              <a:buNone/>
            </a:pPr>
            <a:r>
              <a:rPr/>
              <a:t>片段 2</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answer </a:t>
            </a:r>
            <a:r>
              <a:rPr>
                <a:solidFill>
                  <a:srgbClr val="666666"/>
                </a:solidFill>
                <a:latin typeface="Courier"/>
              </a:rPr>
              <a:t>=</a:t>
            </a:r>
            <a:r>
              <a:rPr>
                <a:latin typeface="Courier"/>
              </a:rPr>
              <a:t> </a:t>
            </a:r>
            <a:r>
              <a:rPr>
                <a:solidFill>
                  <a:srgbClr val="06287E"/>
                </a:solidFill>
                <a:latin typeface="Courier"/>
              </a:rPr>
              <a:t>convertBooleanToStringMessage</a:t>
            </a:r>
            <a:r>
              <a:rPr>
                <a:solidFill>
                  <a:srgbClr val="666666"/>
                </a:solidFill>
                <a:latin typeface="Courier"/>
              </a:rPr>
              <a:t>(</a:t>
            </a:r>
            <a:r>
              <a:rPr b="1">
                <a:solidFill>
                  <a:srgbClr val="007020"/>
                </a:solidFill>
                <a:latin typeface="Courier"/>
              </a:rPr>
              <a:t>true</a:t>
            </a:r>
            <a:r>
              <a:rPr>
                <a:solidFill>
                  <a:srgbClr val="666666"/>
                </a:solidFill>
                <a:latin typeface="Courier"/>
              </a:rPr>
              <a:t>)</a:t>
            </a:r>
            <a:br/>
            <a:r>
              <a:rPr>
                <a:latin typeface="Courier"/>
              </a:rPr>
              <a:t>answer</a:t>
            </a:r>
            <a:r>
              <a:rPr>
                <a:solidFill>
                  <a:srgbClr val="666666"/>
                </a:solidFill>
                <a:latin typeface="Courier"/>
              </a:rPr>
              <a:t>:</a:t>
            </a:r>
            <a:r>
              <a:rPr>
                <a:latin typeface="Courier"/>
              </a:rPr>
              <a:t> String </a:t>
            </a:r>
            <a:r>
              <a:rPr>
                <a:solidFill>
                  <a:srgbClr val="666666"/>
                </a:solidFill>
                <a:latin typeface="Courier"/>
              </a:rPr>
              <a:t>=</a:t>
            </a:r>
            <a:r>
              <a:rPr>
                <a:latin typeface="Courier"/>
              </a:rPr>
              <a:t> </a:t>
            </a:r>
            <a:r>
              <a:rPr b="1">
                <a:solidFill>
                  <a:srgbClr val="007020"/>
                </a:solidFill>
                <a:latin typeface="Courier"/>
              </a:rPr>
              <a:t>true</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answer </a:t>
            </a:r>
            <a:r>
              <a:rPr>
                <a:solidFill>
                  <a:srgbClr val="666666"/>
                </a:solidFill>
                <a:latin typeface="Courier"/>
              </a:rPr>
              <a:t>=</a:t>
            </a:r>
            <a:r>
              <a:rPr>
                <a:latin typeface="Courier"/>
              </a:rPr>
              <a:t> </a:t>
            </a:r>
            <a:r>
              <a:rPr>
                <a:solidFill>
                  <a:srgbClr val="06287E"/>
                </a:solidFill>
                <a:latin typeface="Courier"/>
              </a:rPr>
              <a:t>convertBooleanToStringMessage</a:t>
            </a:r>
            <a:r>
              <a:rPr>
                <a:solidFill>
                  <a:srgbClr val="666666"/>
                </a:solidFill>
                <a:latin typeface="Courier"/>
              </a:rPr>
              <a:t>(</a:t>
            </a:r>
            <a:r>
              <a:rPr b="1">
                <a:solidFill>
                  <a:srgbClr val="007020"/>
                </a:solidFill>
                <a:latin typeface="Courier"/>
              </a:rPr>
              <a:t>false</a:t>
            </a:r>
            <a:r>
              <a:rPr>
                <a:solidFill>
                  <a:srgbClr val="666666"/>
                </a:solidFill>
                <a:latin typeface="Courier"/>
              </a:rPr>
              <a:t>)</a:t>
            </a:r>
            <a:br/>
            <a:r>
              <a:rPr>
                <a:latin typeface="Courier"/>
              </a:rPr>
              <a:t>answer</a:t>
            </a:r>
            <a:r>
              <a:rPr>
                <a:solidFill>
                  <a:srgbClr val="666666"/>
                </a:solidFill>
                <a:latin typeface="Courier"/>
              </a:rPr>
              <a:t>:</a:t>
            </a:r>
            <a:r>
              <a:rPr>
                <a:latin typeface="Courier"/>
              </a:rPr>
              <a:t> String </a:t>
            </a:r>
            <a:r>
              <a:rPr>
                <a:solidFill>
                  <a:srgbClr val="666666"/>
                </a:solidFill>
                <a:latin typeface="Courier"/>
              </a:rPr>
              <a:t>=</a:t>
            </a:r>
            <a:r>
              <a:rPr>
                <a:latin typeface="Courier"/>
              </a:rPr>
              <a:t> </a:t>
            </a:r>
            <a:r>
              <a:rPr b="1">
                <a:solidFill>
                  <a:srgbClr val="007020"/>
                </a:solidFill>
                <a:latin typeface="Courier"/>
              </a:rPr>
              <a:t>false</a:t>
            </a:r>
          </a:p>
          <a:p>
            <a:pPr lvl="0" indent="0" marL="0">
              <a:buNone/>
            </a:pPr>
            <a:r>
              <a:rPr/>
              <a:t>片段 3</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def</a:t>
            </a:r>
            <a:r>
              <a:rPr>
                <a:latin typeface="Courier"/>
              </a:rPr>
              <a:t> </a:t>
            </a:r>
            <a:r>
              <a:rPr>
                <a:solidFill>
                  <a:srgbClr val="06287E"/>
                </a:solidFill>
                <a:latin typeface="Courier"/>
              </a:rPr>
              <a:t>convertBooleanToStringMessage</a:t>
            </a:r>
            <a:r>
              <a:rPr>
                <a:solidFill>
                  <a:srgbClr val="666666"/>
                </a:solidFill>
                <a:latin typeface="Courier"/>
              </a:rPr>
              <a:t>(</a:t>
            </a:r>
            <a:r>
              <a:rPr>
                <a:latin typeface="Courier"/>
              </a:rPr>
              <a:t>bool</a:t>
            </a:r>
            <a:r>
              <a:rPr>
                <a:solidFill>
                  <a:srgbClr val="666666"/>
                </a:solidFill>
                <a:latin typeface="Courier"/>
              </a:rPr>
              <a:t>:</a:t>
            </a:r>
            <a:r>
              <a:rPr>
                <a:latin typeface="Courier"/>
              </a:rPr>
              <a:t> Boolean</a:t>
            </a:r>
            <a:r>
              <a:rPr>
                <a:solidFill>
                  <a:srgbClr val="666666"/>
                </a:solidFill>
                <a:latin typeface="Courier"/>
              </a:rPr>
              <a:t>):</a:t>
            </a:r>
            <a:r>
              <a:rPr>
                <a:latin typeface="Courier"/>
              </a:rPr>
              <a:t> String </a:t>
            </a:r>
            <a:r>
              <a:rPr>
                <a:solidFill>
                  <a:srgbClr val="666666"/>
                </a:solidFill>
                <a:latin typeface="Courier"/>
              </a:rPr>
              <a:t>=</a:t>
            </a:r>
            <a:r>
              <a:rPr>
                <a:latin typeface="Courier"/>
              </a:rPr>
              <a:t> bool</a:t>
            </a:r>
            <a:br/>
            <a:r>
              <a:rPr b="1">
                <a:solidFill>
                  <a:srgbClr val="007020"/>
                </a:solidFill>
                <a:latin typeface="Courier"/>
              </a:rPr>
              <a:t>match</a:t>
            </a:r>
            <a:r>
              <a:rPr>
                <a:latin typeface="Courier"/>
              </a:rPr>
              <a:t> </a:t>
            </a:r>
            <a:r>
              <a:rPr>
                <a:solidFill>
                  <a:srgbClr val="666666"/>
                </a:solidFill>
                <a:latin typeface="Courier"/>
              </a:rPr>
              <a:t>{</a:t>
            </a:r>
            <a:br/>
            <a:r>
              <a:rPr>
                <a:solidFill>
                  <a:srgbClr val="666666"/>
                </a:solidFill>
                <a:latin typeface="Courier"/>
              </a:rPr>
              <a:t>|</a:t>
            </a:r>
            <a:r>
              <a:rPr>
                <a:latin typeface="Courier"/>
              </a:rPr>
              <a:t> </a:t>
            </a:r>
            <a:r>
              <a:rPr b="1">
                <a:solidFill>
                  <a:srgbClr val="007020"/>
                </a:solidFill>
                <a:latin typeface="Courier"/>
              </a:rPr>
              <a:t>case</a:t>
            </a:r>
            <a:r>
              <a:rPr>
                <a:latin typeface="Courier"/>
              </a:rPr>
              <a:t> </a:t>
            </a:r>
            <a:r>
              <a:rPr b="1">
                <a:solidFill>
                  <a:srgbClr val="007020"/>
                </a:solidFill>
                <a:latin typeface="Courier"/>
              </a:rPr>
              <a:t>true</a:t>
            </a:r>
            <a:r>
              <a:rPr>
                <a:latin typeface="Courier"/>
              </a:rPr>
              <a:t> </a:t>
            </a:r>
            <a:r>
              <a:rPr>
                <a:solidFill>
                  <a:srgbClr val="666666"/>
                </a:solidFill>
                <a:latin typeface="Courier"/>
              </a:rPr>
              <a:t>=&gt;</a:t>
            </a:r>
            <a:r>
              <a:rPr>
                <a:latin typeface="Courier"/>
              </a:rPr>
              <a:t> </a:t>
            </a:r>
            <a:r>
              <a:rPr>
                <a:solidFill>
                  <a:srgbClr val="4070A0"/>
                </a:solidFill>
                <a:latin typeface="Courier"/>
              </a:rPr>
              <a:t>"you said true"</a:t>
            </a:r>
            <a:br/>
            <a:r>
              <a:rPr i="1">
                <a:solidFill>
                  <a:srgbClr val="60A0B0"/>
                </a:solidFill>
                <a:latin typeface="Courier"/>
              </a:rPr>
              <a:t>// ...</a:t>
            </a:r>
          </a:p>
          <a:p>
            <a:pPr lvl="0" indent="0" marL="0">
              <a:buNone/>
            </a:pPr>
            <a:r>
              <a:rPr/>
              <a:t>片段 4</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result </a:t>
            </a:r>
            <a:r>
              <a:rPr>
                <a:solidFill>
                  <a:srgbClr val="666666"/>
                </a:solidFill>
                <a:latin typeface="Courier"/>
              </a:rPr>
              <a:t>=</a:t>
            </a:r>
            <a:r>
              <a:rPr>
                <a:latin typeface="Courier"/>
              </a:rPr>
              <a:t> </a:t>
            </a:r>
            <a:r>
              <a:rPr>
                <a:solidFill>
                  <a:srgbClr val="06287E"/>
                </a:solidFill>
                <a:latin typeface="Courier"/>
              </a:rPr>
              <a:t>convertBooleanToStringMessage</a:t>
            </a:r>
            <a:r>
              <a:rPr>
                <a:solidFill>
                  <a:srgbClr val="666666"/>
                </a:solidFill>
                <a:latin typeface="Courier"/>
              </a:rPr>
              <a:t>(</a:t>
            </a:r>
            <a:r>
              <a:rPr b="1">
                <a:solidFill>
                  <a:srgbClr val="007020"/>
                </a:solidFill>
                <a:latin typeface="Courier"/>
              </a:rPr>
              <a:t>true</a:t>
            </a:r>
            <a:r>
              <a:rPr>
                <a:solidFill>
                  <a:srgbClr val="666666"/>
                </a:solidFill>
                <a:latin typeface="Courier"/>
              </a:rPr>
              <a:t>)</a:t>
            </a:r>
            <a:br/>
            <a:r>
              <a:rPr>
                <a:latin typeface="Courier"/>
              </a:rPr>
              <a:t>result</a:t>
            </a:r>
            <a:r>
              <a:rPr>
                <a:solidFill>
                  <a:srgbClr val="666666"/>
                </a:solidFill>
                <a:latin typeface="Courier"/>
              </a:rPr>
              <a:t>:</a:t>
            </a:r>
            <a:r>
              <a:rPr>
                <a:latin typeface="Courier"/>
              </a:rPr>
              <a:t> String </a:t>
            </a:r>
            <a:r>
              <a:rPr>
                <a:solidFill>
                  <a:srgbClr val="666666"/>
                </a:solidFill>
                <a:latin typeface="Courier"/>
              </a:rPr>
              <a:t>=</a:t>
            </a:r>
            <a:r>
              <a:rPr>
                <a:latin typeface="Courier"/>
              </a:rPr>
              <a:t> you said </a:t>
            </a:r>
            <a:r>
              <a:rPr b="1">
                <a:solidFill>
                  <a:srgbClr val="007020"/>
                </a:solidFill>
                <a:latin typeface="Courier"/>
              </a:rPr>
              <a:t>true</a:t>
            </a:r>
            <a:br/>
            <a:r>
              <a:rPr>
                <a:latin typeface="Courier"/>
              </a:rPr>
              <a:t>scala</a:t>
            </a:r>
            <a:r>
              <a:rPr>
                <a:solidFill>
                  <a:srgbClr val="666666"/>
                </a:solidFill>
                <a:latin typeface="Courier"/>
              </a:rPr>
              <a:t>&gt;</a:t>
            </a:r>
            <a:r>
              <a:rPr>
                <a:latin typeface="Courier"/>
              </a:rPr>
              <a:t> </a:t>
            </a:r>
            <a:r>
              <a:rPr>
                <a:solidFill>
                  <a:srgbClr val="06287E"/>
                </a:solidFill>
                <a:latin typeface="Courier"/>
              </a:rPr>
              <a:t>println</a:t>
            </a:r>
            <a:r>
              <a:rPr>
                <a:solidFill>
                  <a:srgbClr val="666666"/>
                </a:solidFill>
                <a:latin typeface="Courier"/>
              </a:rPr>
              <a:t>(</a:t>
            </a:r>
            <a:r>
              <a:rPr>
                <a:latin typeface="Courier"/>
              </a:rPr>
              <a:t>result</a:t>
            </a:r>
            <a:r>
              <a:rPr>
                <a:solidFill>
                  <a:srgbClr val="666666"/>
                </a:solidFill>
                <a:latin typeface="Courier"/>
              </a:rPr>
              <a:t>)</a:t>
            </a:r>
            <a:br/>
            <a:r>
              <a:rPr>
                <a:latin typeface="Courier"/>
              </a:rPr>
              <a:t>you said </a:t>
            </a:r>
            <a:r>
              <a:rPr b="1">
                <a:solidFill>
                  <a:srgbClr val="007020"/>
                </a:solidFill>
                <a:latin typeface="Courier"/>
              </a:rPr>
              <a:t>true</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2.5.1 面向对象编程：代码片段（17/27）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为了说明这一点</a:t>
            </a:r>
          </a:p>
          <a:p>
            <a:pPr lvl="0"/>
            <a:r>
              <a:rPr/>
              <a:t>先对照代码理解 因为将输入参数a定义为Any类型</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def</a:t>
            </a:r>
            <a:r>
              <a:rPr>
                <a:latin typeface="Courier"/>
              </a:rPr>
              <a:t> </a:t>
            </a:r>
            <a:r>
              <a:rPr>
                <a:solidFill>
                  <a:srgbClr val="06287E"/>
                </a:solidFill>
                <a:latin typeface="Courier"/>
              </a:rPr>
              <a:t>isTrue</a:t>
            </a:r>
            <a:r>
              <a:rPr>
                <a:solidFill>
                  <a:srgbClr val="666666"/>
                </a:solidFill>
                <a:latin typeface="Courier"/>
              </a:rPr>
              <a:t>(</a:t>
            </a:r>
            <a:r>
              <a:rPr>
                <a:latin typeface="Courier"/>
              </a:rPr>
              <a:t>a</a:t>
            </a:r>
            <a:r>
              <a:rPr>
                <a:solidFill>
                  <a:srgbClr val="666666"/>
                </a:solidFill>
                <a:latin typeface="Courier"/>
              </a:rPr>
              <a:t>:</a:t>
            </a:r>
            <a:r>
              <a:rPr>
                <a:latin typeface="Courier"/>
              </a:rPr>
              <a:t> Any</a:t>
            </a:r>
            <a:r>
              <a:rPr>
                <a:solidFill>
                  <a:srgbClr val="666666"/>
                </a:solidFill>
                <a:latin typeface="Courier"/>
              </a:rPr>
              <a:t>)</a:t>
            </a:r>
            <a:r>
              <a:rPr>
                <a:latin typeface="Courier"/>
              </a:rPr>
              <a:t> </a:t>
            </a:r>
            <a:r>
              <a:rPr>
                <a:solidFill>
                  <a:srgbClr val="666666"/>
                </a:solidFill>
                <a:latin typeface="Courier"/>
              </a:rPr>
              <a:t>=</a:t>
            </a:r>
            <a:r>
              <a:rPr>
                <a:latin typeface="Courier"/>
              </a:rPr>
              <a:t> a </a:t>
            </a:r>
            <a:r>
              <a:rPr b="1">
                <a:solidFill>
                  <a:srgbClr val="007020"/>
                </a:solidFill>
                <a:latin typeface="Courier"/>
              </a:rPr>
              <a:t>match</a:t>
            </a:r>
            <a:r>
              <a:rPr>
                <a:latin typeface="Courier"/>
              </a:rPr>
              <a:t> </a:t>
            </a:r>
            <a:r>
              <a:rPr>
                <a:solidFill>
                  <a:srgbClr val="666666"/>
                </a:solidFill>
                <a:latin typeface="Courier"/>
              </a:rPr>
              <a:t>{</a:t>
            </a:r>
            <a:br/>
            <a:r>
              <a:rPr>
                <a:solidFill>
                  <a:srgbClr val="666666"/>
                </a:solidFill>
                <a:latin typeface="Courier"/>
              </a:rPr>
              <a:t>|</a:t>
            </a:r>
            <a:r>
              <a:rPr>
                <a:latin typeface="Courier"/>
              </a:rPr>
              <a:t> </a:t>
            </a:r>
            <a:r>
              <a:rPr b="1">
                <a:solidFill>
                  <a:srgbClr val="007020"/>
                </a:solidFill>
                <a:latin typeface="Courier"/>
              </a:rPr>
              <a:t>case</a:t>
            </a:r>
            <a:r>
              <a:rPr>
                <a:latin typeface="Courier"/>
              </a:rPr>
              <a:t> </a:t>
            </a:r>
            <a:r>
              <a:rPr>
                <a:solidFill>
                  <a:srgbClr val="40A070"/>
                </a:solidFill>
                <a:latin typeface="Courier"/>
              </a:rPr>
              <a:t>0</a:t>
            </a:r>
            <a:r>
              <a:rPr>
                <a:latin typeface="Courier"/>
              </a:rPr>
              <a:t> </a:t>
            </a:r>
            <a:r>
              <a:rPr>
                <a:solidFill>
                  <a:srgbClr val="666666"/>
                </a:solidFill>
                <a:latin typeface="Courier"/>
              </a:rPr>
              <a:t>|</a:t>
            </a:r>
            <a:r>
              <a:rPr>
                <a:latin typeface="Courier"/>
              </a:rPr>
              <a:t> </a:t>
            </a:r>
            <a:r>
              <a:rPr>
                <a:solidFill>
                  <a:srgbClr val="4070A0"/>
                </a:solidFill>
                <a:latin typeface="Courier"/>
              </a:rPr>
              <a:t>""</a:t>
            </a:r>
            <a:r>
              <a:rPr>
                <a:latin typeface="Courier"/>
              </a:rPr>
              <a:t> </a:t>
            </a:r>
            <a:r>
              <a:rPr>
                <a:solidFill>
                  <a:srgbClr val="666666"/>
                </a:solidFill>
                <a:latin typeface="Courier"/>
              </a:rPr>
              <a:t>=&gt;</a:t>
            </a:r>
            <a:r>
              <a:rPr>
                <a:latin typeface="Courier"/>
              </a:rPr>
              <a:t> </a:t>
            </a:r>
            <a:r>
              <a:rPr b="1">
                <a:solidFill>
                  <a:srgbClr val="007020"/>
                </a:solidFill>
                <a:latin typeface="Courier"/>
              </a:rPr>
              <a:t>false</a:t>
            </a:r>
            <a:br/>
            <a:r>
              <a:rPr>
                <a:solidFill>
                  <a:srgbClr val="666666"/>
                </a:solidFill>
                <a:latin typeface="Courier"/>
              </a:rPr>
              <a:t>|</a:t>
            </a:r>
            <a:r>
              <a:rPr>
                <a:latin typeface="Courier"/>
              </a:rPr>
              <a:t> </a:t>
            </a:r>
            <a:r>
              <a:rPr b="1">
                <a:solidFill>
                  <a:srgbClr val="007020"/>
                </a:solidFill>
                <a:latin typeface="Courier"/>
              </a:rPr>
              <a:t>case</a:t>
            </a:r>
            <a:r>
              <a:rPr>
                <a:latin typeface="Courier"/>
              </a:rPr>
              <a:t> _ </a:t>
            </a:r>
            <a:r>
              <a:rPr>
                <a:solidFill>
                  <a:srgbClr val="666666"/>
                </a:solidFill>
                <a:latin typeface="Courier"/>
              </a:rPr>
              <a:t>=&gt;</a:t>
            </a:r>
            <a:r>
              <a:rPr>
                <a:latin typeface="Courier"/>
              </a:rPr>
              <a:t> </a:t>
            </a:r>
            <a:r>
              <a:rPr b="1">
                <a:solidFill>
                  <a:srgbClr val="007020"/>
                </a:solidFill>
                <a:latin typeface="Courier"/>
              </a:rPr>
              <a:t>true</a:t>
            </a:r>
            <a:br/>
            <a:r>
              <a:rPr>
                <a:solidFill>
                  <a:srgbClr val="666666"/>
                </a:solidFill>
                <a:latin typeface="Courier"/>
              </a:rPr>
              <a:t>|</a:t>
            </a:r>
            <a:r>
              <a:rPr>
                <a:latin typeface="Courier"/>
              </a:rPr>
              <a:t> </a:t>
            </a:r>
            <a:r>
              <a:rPr>
                <a:solidFill>
                  <a:srgbClr val="666666"/>
                </a:solidFill>
                <a:latin typeface="Courier"/>
              </a:rPr>
              <a:t>}</a:t>
            </a:r>
            <a:br/>
            <a:r>
              <a:rPr>
                <a:latin typeface="Courier"/>
              </a:rPr>
              <a:t>isTrue</a:t>
            </a:r>
            <a:r>
              <a:rPr>
                <a:solidFill>
                  <a:srgbClr val="666666"/>
                </a:solidFill>
                <a:latin typeface="Courier"/>
              </a:rPr>
              <a:t>:</a:t>
            </a:r>
            <a:r>
              <a:rPr>
                <a:latin typeface="Courier"/>
              </a:rPr>
              <a:t> </a:t>
            </a:r>
            <a:r>
              <a:rPr>
                <a:solidFill>
                  <a:srgbClr val="666666"/>
                </a:solidFill>
                <a:latin typeface="Courier"/>
              </a:rPr>
              <a:t>(</a:t>
            </a:r>
            <a:r>
              <a:rPr>
                <a:latin typeface="Courier"/>
              </a:rPr>
              <a:t>a</a:t>
            </a:r>
            <a:r>
              <a:rPr>
                <a:solidFill>
                  <a:srgbClr val="666666"/>
                </a:solidFill>
                <a:latin typeface="Courier"/>
              </a:rPr>
              <a:t>:</a:t>
            </a:r>
            <a:r>
              <a:rPr>
                <a:latin typeface="Courier"/>
              </a:rPr>
              <a:t> Any</a:t>
            </a:r>
            <a:r>
              <a:rPr>
                <a:solidFill>
                  <a:srgbClr val="666666"/>
                </a:solidFill>
                <a:latin typeface="Courier"/>
              </a:rPr>
              <a:t>)</a:t>
            </a:r>
            <a:r>
              <a:rPr>
                <a:latin typeface="Courier"/>
              </a:rPr>
              <a:t>Boolean</a:t>
            </a:r>
          </a:p>
          <a:p>
            <a:pPr lvl="0" indent="0" marL="0">
              <a:buNone/>
            </a:pPr>
            <a:r>
              <a:rPr/>
              <a:t>片段 2</a:t>
            </a:r>
          </a:p>
          <a:p>
            <a:pPr lvl="0" indent="0">
              <a:buNone/>
            </a:pPr>
            <a:r>
              <a:rPr>
                <a:latin typeface="Courier"/>
              </a:rPr>
              <a:t>scala</a:t>
            </a:r>
            <a:r>
              <a:rPr>
                <a:solidFill>
                  <a:srgbClr val="666666"/>
                </a:solidFill>
                <a:latin typeface="Courier"/>
              </a:rPr>
              <a:t>&gt;</a:t>
            </a:r>
            <a:r>
              <a:rPr>
                <a:latin typeface="Courier"/>
              </a:rPr>
              <a:t> </a:t>
            </a:r>
            <a:r>
              <a:rPr>
                <a:solidFill>
                  <a:srgbClr val="06287E"/>
                </a:solidFill>
                <a:latin typeface="Courier"/>
              </a:rPr>
              <a:t>isTrue</a:t>
            </a:r>
            <a:r>
              <a:rPr>
                <a:solidFill>
                  <a:srgbClr val="666666"/>
                </a:solidFill>
                <a:latin typeface="Courier"/>
              </a:rPr>
              <a:t>(</a:t>
            </a:r>
            <a:r>
              <a:rPr>
                <a:solidFill>
                  <a:srgbClr val="40A070"/>
                </a:solidFill>
                <a:latin typeface="Courier"/>
              </a:rPr>
              <a:t>0</a:t>
            </a:r>
            <a:r>
              <a:rPr>
                <a:solidFill>
                  <a:srgbClr val="666666"/>
                </a:solidFill>
                <a:latin typeface="Courier"/>
              </a:rPr>
              <a:t>)</a:t>
            </a:r>
            <a:br/>
            <a:r>
              <a:rPr>
                <a:latin typeface="Courier"/>
              </a:rPr>
              <a:t>res0</a:t>
            </a:r>
            <a:r>
              <a:rPr>
                <a:solidFill>
                  <a:srgbClr val="666666"/>
                </a:solidFill>
                <a:latin typeface="Courier"/>
              </a:rPr>
              <a:t>:</a:t>
            </a:r>
            <a:r>
              <a:rPr>
                <a:latin typeface="Courier"/>
              </a:rPr>
              <a:t> Boolean </a:t>
            </a:r>
            <a:r>
              <a:rPr>
                <a:solidFill>
                  <a:srgbClr val="666666"/>
                </a:solidFill>
                <a:latin typeface="Courier"/>
              </a:rPr>
              <a:t>=</a:t>
            </a:r>
            <a:r>
              <a:rPr>
                <a:latin typeface="Courier"/>
              </a:rPr>
              <a:t> </a:t>
            </a:r>
            <a:r>
              <a:rPr b="1">
                <a:solidFill>
                  <a:srgbClr val="007020"/>
                </a:solidFill>
                <a:latin typeface="Courier"/>
              </a:rPr>
              <a:t>false</a:t>
            </a:r>
            <a:br/>
            <a:r>
              <a:rPr>
                <a:latin typeface="Courier"/>
              </a:rPr>
              <a:t>scala</a:t>
            </a:r>
            <a:r>
              <a:rPr>
                <a:solidFill>
                  <a:srgbClr val="666666"/>
                </a:solidFill>
                <a:latin typeface="Courier"/>
              </a:rPr>
              <a:t>&gt;</a:t>
            </a:r>
            <a:r>
              <a:rPr>
                <a:latin typeface="Courier"/>
              </a:rPr>
              <a:t> </a:t>
            </a:r>
            <a:r>
              <a:rPr>
                <a:solidFill>
                  <a:srgbClr val="06287E"/>
                </a:solidFill>
                <a:latin typeface="Courier"/>
              </a:rPr>
              <a:t>isTrue</a:t>
            </a:r>
            <a:r>
              <a:rPr>
                <a:solidFill>
                  <a:srgbClr val="666666"/>
                </a:solidFill>
                <a:latin typeface="Courier"/>
              </a:rPr>
              <a:t>(</a:t>
            </a:r>
            <a:r>
              <a:rPr>
                <a:solidFill>
                  <a:srgbClr val="4070A0"/>
                </a:solidFill>
                <a:latin typeface="Courier"/>
              </a:rPr>
              <a:t>""</a:t>
            </a:r>
            <a:r>
              <a:rPr>
                <a:solidFill>
                  <a:srgbClr val="666666"/>
                </a:solidFill>
                <a:latin typeface="Courier"/>
              </a:rPr>
              <a:t>)</a:t>
            </a:r>
            <a:br/>
            <a:r>
              <a:rPr>
                <a:latin typeface="Courier"/>
              </a:rPr>
              <a:t>res1</a:t>
            </a:r>
            <a:r>
              <a:rPr>
                <a:solidFill>
                  <a:srgbClr val="666666"/>
                </a:solidFill>
                <a:latin typeface="Courier"/>
              </a:rPr>
              <a:t>:</a:t>
            </a:r>
            <a:r>
              <a:rPr>
                <a:latin typeface="Courier"/>
              </a:rPr>
              <a:t> Boolean </a:t>
            </a:r>
            <a:r>
              <a:rPr>
                <a:solidFill>
                  <a:srgbClr val="666666"/>
                </a:solidFill>
                <a:latin typeface="Courier"/>
              </a:rPr>
              <a:t>=</a:t>
            </a:r>
            <a:r>
              <a:rPr>
                <a:latin typeface="Courier"/>
              </a:rPr>
              <a:t> </a:t>
            </a:r>
            <a:r>
              <a:rPr b="1">
                <a:solidFill>
                  <a:srgbClr val="007020"/>
                </a:solidFill>
                <a:latin typeface="Courier"/>
              </a:rPr>
              <a:t>false</a:t>
            </a:r>
            <a:br/>
            <a:r>
              <a:rPr>
                <a:latin typeface="Courier"/>
              </a:rPr>
              <a:t>scala</a:t>
            </a:r>
            <a:r>
              <a:rPr>
                <a:solidFill>
                  <a:srgbClr val="666666"/>
                </a:solidFill>
                <a:latin typeface="Courier"/>
              </a:rPr>
              <a:t>&gt;</a:t>
            </a:r>
            <a:r>
              <a:rPr>
                <a:latin typeface="Courier"/>
              </a:rPr>
              <a:t> </a:t>
            </a:r>
            <a:r>
              <a:rPr>
                <a:solidFill>
                  <a:srgbClr val="06287E"/>
                </a:solidFill>
                <a:latin typeface="Courier"/>
              </a:rPr>
              <a:t>isTrue</a:t>
            </a:r>
            <a:r>
              <a:rPr>
                <a:solidFill>
                  <a:srgbClr val="666666"/>
                </a:solidFill>
                <a:latin typeface="Courier"/>
              </a:rPr>
              <a:t>(</a:t>
            </a:r>
            <a:r>
              <a:rPr>
                <a:solidFill>
                  <a:srgbClr val="40A070"/>
                </a:solidFill>
                <a:latin typeface="Courier"/>
              </a:rPr>
              <a:t>1.1F</a:t>
            </a:r>
            <a:r>
              <a:rPr>
                <a:solidFill>
                  <a:srgbClr val="666666"/>
                </a:solidFill>
                <a:latin typeface="Courier"/>
              </a:rPr>
              <a:t>)</a:t>
            </a:r>
            <a:br/>
            <a:r>
              <a:rPr i="1">
                <a:solidFill>
                  <a:srgbClr val="60A0B0"/>
                </a:solidFill>
                <a:latin typeface="Courier"/>
              </a:rPr>
              <a:t>// ...</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2.5.1 面向对象编程：代码片段（18/27）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match表达式的另一个优点是</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count</a:t>
            </a:r>
            <a:r>
              <a:rPr>
                <a:solidFill>
                  <a:srgbClr val="666666"/>
                </a:solidFill>
                <a:latin typeface="Courier"/>
              </a:rPr>
              <a:t>=</a:t>
            </a:r>
            <a:r>
              <a:rPr>
                <a:solidFill>
                  <a:srgbClr val="40A070"/>
                </a:solidFill>
                <a:latin typeface="Courier"/>
              </a:rPr>
              <a:t>1</a:t>
            </a:r>
            <a:br/>
            <a:r>
              <a:rPr>
                <a:latin typeface="Courier"/>
              </a:rPr>
              <a:t>count</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t>
            </a:r>
            <a:r>
              <a:rPr>
                <a:solidFill>
                  <a:srgbClr val="40A070"/>
                </a:solidFill>
                <a:latin typeface="Courier"/>
              </a:rPr>
              <a:t>1</a:t>
            </a:r>
            <a:br/>
            <a:r>
              <a:rPr>
                <a:latin typeface="Courier"/>
              </a:rPr>
              <a:t>scala</a:t>
            </a:r>
            <a:r>
              <a:rPr>
                <a:solidFill>
                  <a:srgbClr val="666666"/>
                </a:solidFill>
                <a:latin typeface="Courier"/>
              </a:rPr>
              <a:t>&gt;</a:t>
            </a:r>
            <a:r>
              <a:rPr>
                <a:latin typeface="Courier"/>
              </a:rPr>
              <a:t> count </a:t>
            </a:r>
            <a:r>
              <a:rPr b="1">
                <a:solidFill>
                  <a:srgbClr val="007020"/>
                </a:solidFill>
                <a:latin typeface="Courier"/>
              </a:rPr>
              <a:t>match</a:t>
            </a:r>
            <a:r>
              <a:rPr>
                <a:latin typeface="Courier"/>
              </a:rPr>
              <a:t> </a:t>
            </a:r>
            <a:r>
              <a:rPr>
                <a:solidFill>
                  <a:srgbClr val="666666"/>
                </a:solidFill>
                <a:latin typeface="Courier"/>
              </a:rPr>
              <a:t>{</a:t>
            </a:r>
            <a:br/>
            <a:r>
              <a:rPr>
                <a:solidFill>
                  <a:srgbClr val="666666"/>
                </a:solidFill>
                <a:latin typeface="Courier"/>
              </a:rPr>
              <a:t>|</a:t>
            </a:r>
            <a:r>
              <a:rPr>
                <a:latin typeface="Courier"/>
              </a:rPr>
              <a:t> </a:t>
            </a:r>
            <a:r>
              <a:rPr b="1">
                <a:solidFill>
                  <a:srgbClr val="007020"/>
                </a:solidFill>
                <a:latin typeface="Courier"/>
              </a:rPr>
              <a:t>case</a:t>
            </a:r>
            <a:r>
              <a:rPr>
                <a:latin typeface="Courier"/>
              </a:rPr>
              <a:t> </a:t>
            </a:r>
            <a:r>
              <a:rPr>
                <a:solidFill>
                  <a:srgbClr val="40A070"/>
                </a:solidFill>
                <a:latin typeface="Courier"/>
              </a:rPr>
              <a:t>1</a:t>
            </a:r>
            <a:r>
              <a:rPr>
                <a:latin typeface="Courier"/>
              </a:rPr>
              <a:t> </a:t>
            </a:r>
            <a:r>
              <a:rPr>
                <a:solidFill>
                  <a:srgbClr val="666666"/>
                </a:solidFill>
                <a:latin typeface="Courier"/>
              </a:rPr>
              <a:t>=&gt;</a:t>
            </a:r>
            <a:r>
              <a:rPr>
                <a:latin typeface="Courier"/>
              </a:rPr>
              <a:t> </a:t>
            </a:r>
            <a:r>
              <a:rPr>
                <a:solidFill>
                  <a:srgbClr val="06287E"/>
                </a:solidFill>
                <a:latin typeface="Courier"/>
              </a:rPr>
              <a:t>println</a:t>
            </a:r>
            <a:r>
              <a:rPr>
                <a:solidFill>
                  <a:srgbClr val="666666"/>
                </a:solidFill>
                <a:latin typeface="Courier"/>
              </a:rPr>
              <a:t>(</a:t>
            </a:r>
            <a:r>
              <a:rPr>
                <a:solidFill>
                  <a:srgbClr val="4070A0"/>
                </a:solidFill>
                <a:latin typeface="Courier"/>
              </a:rPr>
              <a:t>"one, a lonely number"</a:t>
            </a:r>
            <a:r>
              <a:rPr>
                <a:solidFill>
                  <a:srgbClr val="666666"/>
                </a:solidFill>
                <a:latin typeface="Courier"/>
              </a:rPr>
              <a:t>)</a:t>
            </a:r>
            <a:br/>
            <a:r>
              <a:rPr>
                <a:solidFill>
                  <a:srgbClr val="666666"/>
                </a:solidFill>
                <a:latin typeface="Courier"/>
              </a:rPr>
              <a:t>|</a:t>
            </a:r>
            <a:r>
              <a:rPr>
                <a:latin typeface="Courier"/>
              </a:rPr>
              <a:t> </a:t>
            </a:r>
            <a:r>
              <a:rPr b="1">
                <a:solidFill>
                  <a:srgbClr val="007020"/>
                </a:solidFill>
                <a:latin typeface="Courier"/>
              </a:rPr>
              <a:t>case</a:t>
            </a:r>
            <a:r>
              <a:rPr>
                <a:latin typeface="Courier"/>
              </a:rPr>
              <a:t> x </a:t>
            </a:r>
            <a:r>
              <a:rPr b="1">
                <a:solidFill>
                  <a:srgbClr val="007020"/>
                </a:solidFill>
                <a:latin typeface="Courier"/>
              </a:rPr>
              <a:t>if</a:t>
            </a:r>
            <a:r>
              <a:rPr>
                <a:latin typeface="Courier"/>
              </a:rPr>
              <a:t> x </a:t>
            </a:r>
            <a:r>
              <a:rPr>
                <a:solidFill>
                  <a:srgbClr val="666666"/>
                </a:solidFill>
                <a:latin typeface="Courier"/>
              </a:rPr>
              <a:t>==</a:t>
            </a:r>
            <a:r>
              <a:rPr>
                <a:latin typeface="Courier"/>
              </a:rPr>
              <a:t> </a:t>
            </a:r>
            <a:r>
              <a:rPr>
                <a:solidFill>
                  <a:srgbClr val="40A070"/>
                </a:solidFill>
                <a:latin typeface="Courier"/>
              </a:rPr>
              <a:t>2</a:t>
            </a:r>
            <a:r>
              <a:rPr>
                <a:latin typeface="Courier"/>
              </a:rPr>
              <a:t> </a:t>
            </a:r>
            <a:r>
              <a:rPr>
                <a:solidFill>
                  <a:srgbClr val="666666"/>
                </a:solidFill>
                <a:latin typeface="Courier"/>
              </a:rPr>
              <a:t>||</a:t>
            </a:r>
            <a:r>
              <a:rPr>
                <a:latin typeface="Courier"/>
              </a:rPr>
              <a:t> x </a:t>
            </a:r>
            <a:r>
              <a:rPr>
                <a:solidFill>
                  <a:srgbClr val="666666"/>
                </a:solidFill>
                <a:latin typeface="Courier"/>
              </a:rPr>
              <a:t>==</a:t>
            </a:r>
            <a:r>
              <a:rPr>
                <a:latin typeface="Courier"/>
              </a:rPr>
              <a:t> </a:t>
            </a:r>
            <a:r>
              <a:rPr>
                <a:solidFill>
                  <a:srgbClr val="40A070"/>
                </a:solidFill>
                <a:latin typeface="Courier"/>
              </a:rPr>
              <a:t>3</a:t>
            </a:r>
            <a:r>
              <a:rPr>
                <a:latin typeface="Courier"/>
              </a:rPr>
              <a:t> </a:t>
            </a:r>
            <a:r>
              <a:rPr>
                <a:solidFill>
                  <a:srgbClr val="666666"/>
                </a:solidFill>
                <a:latin typeface="Courier"/>
              </a:rPr>
              <a:t>=&gt;</a:t>
            </a:r>
            <a:r>
              <a:rPr>
                <a:latin typeface="Courier"/>
              </a:rPr>
              <a:t> </a:t>
            </a:r>
            <a:r>
              <a:rPr>
                <a:solidFill>
                  <a:srgbClr val="06287E"/>
                </a:solidFill>
                <a:latin typeface="Courier"/>
              </a:rPr>
              <a:t>println</a:t>
            </a:r>
            <a:r>
              <a:rPr>
                <a:solidFill>
                  <a:srgbClr val="666666"/>
                </a:solidFill>
                <a:latin typeface="Courier"/>
              </a:rPr>
              <a:t>(</a:t>
            </a:r>
            <a:r>
              <a:rPr>
                <a:solidFill>
                  <a:srgbClr val="4070A0"/>
                </a:solidFill>
                <a:latin typeface="Courier"/>
              </a:rPr>
              <a:t>"two's company, three's a</a:t>
            </a:r>
            <a:br/>
            <a:r>
              <a:rPr>
                <a:latin typeface="Courier"/>
              </a:rPr>
              <a:t>crowd</a:t>
            </a:r>
            <a:r>
              <a:rPr>
                <a:solidFill>
                  <a:srgbClr val="4070A0"/>
                </a:solidFill>
                <a:latin typeface="Courier"/>
              </a:rPr>
              <a:t>")</a:t>
            </a:r>
            <a:br/>
            <a:r>
              <a:rPr>
                <a:solidFill>
                  <a:srgbClr val="666666"/>
                </a:solidFill>
                <a:latin typeface="Courier"/>
              </a:rPr>
              <a:t>|</a:t>
            </a:r>
            <a:r>
              <a:rPr>
                <a:latin typeface="Courier"/>
              </a:rPr>
              <a:t> </a:t>
            </a:r>
            <a:r>
              <a:rPr b="1">
                <a:solidFill>
                  <a:srgbClr val="007020"/>
                </a:solidFill>
                <a:latin typeface="Courier"/>
              </a:rPr>
              <a:t>case</a:t>
            </a:r>
            <a:r>
              <a:rPr>
                <a:latin typeface="Courier"/>
              </a:rPr>
              <a:t> x </a:t>
            </a:r>
            <a:r>
              <a:rPr b="1">
                <a:solidFill>
                  <a:srgbClr val="007020"/>
                </a:solidFill>
                <a:latin typeface="Courier"/>
              </a:rPr>
              <a:t>if</a:t>
            </a:r>
            <a:r>
              <a:rPr>
                <a:latin typeface="Courier"/>
              </a:rPr>
              <a:t> x </a:t>
            </a:r>
            <a:r>
              <a:rPr>
                <a:solidFill>
                  <a:srgbClr val="666666"/>
                </a:solidFill>
                <a:latin typeface="Courier"/>
              </a:rPr>
              <a:t>&gt;</a:t>
            </a:r>
            <a:r>
              <a:rPr>
                <a:latin typeface="Courier"/>
              </a:rPr>
              <a:t> </a:t>
            </a:r>
            <a:r>
              <a:rPr>
                <a:solidFill>
                  <a:srgbClr val="40A070"/>
                </a:solidFill>
                <a:latin typeface="Courier"/>
              </a:rPr>
              <a:t>3</a:t>
            </a:r>
            <a:r>
              <a:rPr>
                <a:latin typeface="Courier"/>
              </a:rPr>
              <a:t> </a:t>
            </a:r>
            <a:r>
              <a:rPr>
                <a:solidFill>
                  <a:srgbClr val="666666"/>
                </a:solidFill>
                <a:latin typeface="Courier"/>
              </a:rPr>
              <a:t>=&gt;</a:t>
            </a:r>
            <a:r>
              <a:rPr>
                <a:latin typeface="Courier"/>
              </a:rPr>
              <a:t> </a:t>
            </a:r>
            <a:r>
              <a:rPr>
                <a:solidFill>
                  <a:srgbClr val="06287E"/>
                </a:solidFill>
                <a:latin typeface="Courier"/>
              </a:rPr>
              <a:t>println</a:t>
            </a:r>
            <a:r>
              <a:rPr>
                <a:solidFill>
                  <a:srgbClr val="666666"/>
                </a:solidFill>
                <a:latin typeface="Courier"/>
              </a:rPr>
              <a:t>(</a:t>
            </a:r>
            <a:r>
              <a:rPr>
                <a:solidFill>
                  <a:srgbClr val="4070A0"/>
                </a:solidFill>
                <a:latin typeface="Courier"/>
              </a:rPr>
              <a:t>"4+, that's a party"</a:t>
            </a:r>
            <a:r>
              <a:rPr>
                <a:solidFill>
                  <a:srgbClr val="666666"/>
                </a:solidFill>
                <a:latin typeface="Courier"/>
              </a:rPr>
              <a:t>)</a:t>
            </a:r>
            <a:br/>
            <a:r>
              <a:rPr>
                <a:solidFill>
                  <a:srgbClr val="666666"/>
                </a:solidFill>
                <a:latin typeface="Courier"/>
              </a:rPr>
              <a:t>|</a:t>
            </a:r>
            <a:r>
              <a:rPr>
                <a:latin typeface="Courier"/>
              </a:rPr>
              <a:t> </a:t>
            </a:r>
            <a:r>
              <a:rPr b="1">
                <a:solidFill>
                  <a:srgbClr val="007020"/>
                </a:solidFill>
                <a:latin typeface="Courier"/>
              </a:rPr>
              <a:t>case</a:t>
            </a:r>
            <a:r>
              <a:rPr>
                <a:latin typeface="Courier"/>
              </a:rPr>
              <a:t> _ </a:t>
            </a:r>
            <a:r>
              <a:rPr>
                <a:solidFill>
                  <a:srgbClr val="666666"/>
                </a:solidFill>
                <a:latin typeface="Courier"/>
              </a:rPr>
              <a:t>=&gt;</a:t>
            </a:r>
            <a:r>
              <a:rPr>
                <a:latin typeface="Courier"/>
              </a:rPr>
              <a:t> </a:t>
            </a:r>
            <a:r>
              <a:rPr>
                <a:solidFill>
                  <a:srgbClr val="06287E"/>
                </a:solidFill>
                <a:latin typeface="Courier"/>
              </a:rPr>
              <a:t>println</a:t>
            </a:r>
            <a:r>
              <a:rPr>
                <a:solidFill>
                  <a:srgbClr val="666666"/>
                </a:solidFill>
                <a:latin typeface="Courier"/>
              </a:rPr>
              <a:t>(</a:t>
            </a:r>
            <a:r>
              <a:rPr>
                <a:solidFill>
                  <a:srgbClr val="4070A0"/>
                </a:solidFill>
                <a:latin typeface="Courier"/>
              </a:rPr>
              <a:t>"i'm guessing your number is zero or less"</a:t>
            </a:r>
            <a:r>
              <a:rPr>
                <a:solidFill>
                  <a:srgbClr val="666666"/>
                </a:solidFill>
                <a:latin typeface="Courier"/>
              </a:rPr>
              <a:t>)</a:t>
            </a:r>
            <a:br/>
            <a:r>
              <a:rPr>
                <a:solidFill>
                  <a:srgbClr val="666666"/>
                </a:solidFill>
                <a:latin typeface="Courier"/>
              </a:rPr>
              <a:t>|</a:t>
            </a:r>
            <a:r>
              <a:rPr>
                <a:latin typeface="Courier"/>
              </a:rPr>
              <a:t> </a:t>
            </a:r>
            <a:r>
              <a:rPr>
                <a:solidFill>
                  <a:srgbClr val="666666"/>
                </a:solidFill>
                <a:latin typeface="Courier"/>
              </a:rPr>
              <a:t>}</a:t>
            </a:r>
            <a:br/>
            <a:r>
              <a:rPr>
                <a:latin typeface="Courier"/>
              </a:rPr>
              <a:t>one</a:t>
            </a:r>
            <a:r>
              <a:rPr>
                <a:solidFill>
                  <a:srgbClr val="666666"/>
                </a:solidFill>
                <a:latin typeface="Courier"/>
              </a:rPr>
              <a:t>,</a:t>
            </a:r>
            <a:r>
              <a:rPr>
                <a:latin typeface="Courier"/>
              </a:rPr>
              <a:t> a lonely number</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2.5.1 面向对象编程：代码片段（19/27）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为了支持面向对象编程</a:t>
            </a:r>
          </a:p>
          <a:p>
            <a:pPr lvl="0"/>
            <a:r>
              <a:rPr/>
              <a:t>先对照代码理解 有了这个定义，可以创建如下的新Person实例： 的执行步骤</a:t>
            </a:r>
          </a:p>
          <a:p>
            <a:pPr lvl="0"/>
            <a:r>
              <a:rPr/>
              <a:t>先对照代码理解 在类构造函数中定义参数会自动在类中创建字段</a:t>
            </a:r>
          </a:p>
          <a:p>
            <a:pPr lvl="0"/>
            <a:r>
              <a:rPr/>
              <a:t>先对照代码理解 在此示例中</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class</a:t>
            </a:r>
            <a:r>
              <a:rPr>
                <a:latin typeface="Courier"/>
              </a:rPr>
              <a:t> </a:t>
            </a:r>
            <a:r>
              <a:rPr>
                <a:solidFill>
                  <a:srgbClr val="06287E"/>
                </a:solidFill>
                <a:latin typeface="Courier"/>
              </a:rPr>
              <a:t>Person</a:t>
            </a:r>
            <a:r>
              <a:rPr>
                <a:solidFill>
                  <a:srgbClr val="666666"/>
                </a:solidFill>
                <a:latin typeface="Courier"/>
              </a:rPr>
              <a:t>(</a:t>
            </a:r>
            <a:r>
              <a:rPr b="1">
                <a:solidFill>
                  <a:srgbClr val="007020"/>
                </a:solidFill>
                <a:latin typeface="Courier"/>
              </a:rPr>
              <a:t>var</a:t>
            </a:r>
            <a:r>
              <a:rPr>
                <a:latin typeface="Courier"/>
              </a:rPr>
              <a:t> firstName</a:t>
            </a:r>
            <a:r>
              <a:rPr>
                <a:solidFill>
                  <a:srgbClr val="666666"/>
                </a:solidFill>
                <a:latin typeface="Courier"/>
              </a:rPr>
              <a:t>:</a:t>
            </a:r>
            <a:r>
              <a:rPr>
                <a:latin typeface="Courier"/>
              </a:rPr>
              <a:t> String</a:t>
            </a:r>
            <a:r>
              <a:rPr>
                <a:solidFill>
                  <a:srgbClr val="666666"/>
                </a:solidFill>
                <a:latin typeface="Courier"/>
              </a:rPr>
              <a:t>,</a:t>
            </a:r>
            <a:r>
              <a:rPr>
                <a:latin typeface="Courier"/>
              </a:rPr>
              <a:t> </a:t>
            </a:r>
            <a:r>
              <a:rPr b="1">
                <a:solidFill>
                  <a:srgbClr val="007020"/>
                </a:solidFill>
                <a:latin typeface="Courier"/>
              </a:rPr>
              <a:t>var</a:t>
            </a:r>
            <a:r>
              <a:rPr>
                <a:latin typeface="Courier"/>
              </a:rPr>
              <a:t> lastName</a:t>
            </a:r>
            <a:r>
              <a:rPr>
                <a:solidFill>
                  <a:srgbClr val="666666"/>
                </a:solidFill>
                <a:latin typeface="Courier"/>
              </a:rPr>
              <a:t>:</a:t>
            </a:r>
            <a:r>
              <a:rPr>
                <a:latin typeface="Courier"/>
              </a:rPr>
              <a:t> String</a:t>
            </a:r>
            <a:r>
              <a:rPr>
                <a:solidFill>
                  <a:srgbClr val="666666"/>
                </a:solidFill>
                <a:latin typeface="Courier"/>
              </a:rPr>
              <a:t>)</a:t>
            </a:r>
            <a:br/>
            <a:r>
              <a:rPr>
                <a:latin typeface="Courier"/>
              </a:rPr>
              <a:t>defined </a:t>
            </a:r>
            <a:r>
              <a:rPr b="1">
                <a:solidFill>
                  <a:srgbClr val="007020"/>
                </a:solidFill>
                <a:latin typeface="Courier"/>
              </a:rPr>
              <a:t>class</a:t>
            </a:r>
            <a:r>
              <a:rPr>
                <a:latin typeface="Courier"/>
              </a:rPr>
              <a:t> Person</a:t>
            </a:r>
          </a:p>
          <a:p>
            <a:pPr lvl="0" indent="0" marL="0">
              <a:buNone/>
            </a:pPr>
            <a:r>
              <a:rPr/>
              <a:t>片段 2</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p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Person</a:t>
            </a:r>
            <a:r>
              <a:rPr>
                <a:solidFill>
                  <a:srgbClr val="666666"/>
                </a:solidFill>
                <a:latin typeface="Courier"/>
              </a:rPr>
              <a:t>(</a:t>
            </a:r>
            <a:r>
              <a:rPr>
                <a:solidFill>
                  <a:srgbClr val="4070A0"/>
                </a:solidFill>
                <a:latin typeface="Courier"/>
              </a:rPr>
              <a:t>"Bill"</a:t>
            </a:r>
            <a:r>
              <a:rPr>
                <a:solidFill>
                  <a:srgbClr val="666666"/>
                </a:solidFill>
                <a:latin typeface="Courier"/>
              </a:rPr>
              <a:t>,</a:t>
            </a:r>
            <a:r>
              <a:rPr>
                <a:latin typeface="Courier"/>
              </a:rPr>
              <a:t> </a:t>
            </a:r>
            <a:r>
              <a:rPr>
                <a:solidFill>
                  <a:srgbClr val="4070A0"/>
                </a:solidFill>
                <a:latin typeface="Courier"/>
              </a:rPr>
              <a:t>"Panner"</a:t>
            </a:r>
            <a:r>
              <a:rPr>
                <a:solidFill>
                  <a:srgbClr val="666666"/>
                </a:solidFill>
                <a:latin typeface="Courier"/>
              </a:rPr>
              <a:t>)</a:t>
            </a:r>
            <a:br/>
            <a:r>
              <a:rPr>
                <a:latin typeface="Courier"/>
              </a:rPr>
              <a:t>p</a:t>
            </a:r>
            <a:r>
              <a:rPr>
                <a:solidFill>
                  <a:srgbClr val="666666"/>
                </a:solidFill>
                <a:latin typeface="Courier"/>
              </a:rPr>
              <a:t>:</a:t>
            </a:r>
            <a:r>
              <a:rPr>
                <a:latin typeface="Courier"/>
              </a:rPr>
              <a:t> Person </a:t>
            </a:r>
            <a:r>
              <a:rPr>
                <a:solidFill>
                  <a:srgbClr val="666666"/>
                </a:solidFill>
                <a:latin typeface="Courier"/>
              </a:rPr>
              <a:t>=</a:t>
            </a:r>
            <a:r>
              <a:rPr>
                <a:latin typeface="Courier"/>
              </a:rPr>
              <a:t> Person@</a:t>
            </a:r>
            <a:r>
              <a:rPr>
                <a:solidFill>
                  <a:srgbClr val="40A070"/>
                </a:solidFill>
                <a:latin typeface="Courier"/>
              </a:rPr>
              <a:t>4e52d</a:t>
            </a:r>
            <a:r>
              <a:rPr>
                <a:latin typeface="Courier"/>
              </a:rPr>
              <a:t>2f2</a:t>
            </a:r>
          </a:p>
          <a:p>
            <a:pPr lvl="0" indent="0" marL="0">
              <a:buNone/>
            </a:pPr>
            <a:r>
              <a:rPr/>
              <a:t>片段 3</a:t>
            </a:r>
          </a:p>
          <a:p>
            <a:pPr lvl="0" indent="0">
              <a:buNone/>
            </a:pPr>
            <a:r>
              <a:rPr>
                <a:latin typeface="Courier"/>
              </a:rPr>
              <a:t>scala</a:t>
            </a:r>
            <a:r>
              <a:rPr>
                <a:solidFill>
                  <a:srgbClr val="666666"/>
                </a:solidFill>
                <a:latin typeface="Courier"/>
              </a:rPr>
              <a:t>&gt;</a:t>
            </a:r>
            <a:r>
              <a:rPr>
                <a:latin typeface="Courier"/>
              </a:rPr>
              <a:t> </a:t>
            </a:r>
            <a:r>
              <a:rPr>
                <a:solidFill>
                  <a:srgbClr val="06287E"/>
                </a:solidFill>
                <a:latin typeface="Courier"/>
              </a:rPr>
              <a:t>println</a:t>
            </a:r>
            <a:r>
              <a:rPr>
                <a:solidFill>
                  <a:srgbClr val="666666"/>
                </a:solidFill>
                <a:latin typeface="Courier"/>
              </a:rPr>
              <a:t>(</a:t>
            </a:r>
            <a:r>
              <a:rPr>
                <a:latin typeface="Courier"/>
              </a:rPr>
              <a:t>p</a:t>
            </a:r>
            <a:r>
              <a:rPr>
                <a:solidFill>
                  <a:srgbClr val="666666"/>
                </a:solidFill>
                <a:latin typeface="Courier"/>
              </a:rPr>
              <a:t>.</a:t>
            </a:r>
            <a:r>
              <a:rPr>
                <a:latin typeface="Courier"/>
              </a:rPr>
              <a:t>firstName </a:t>
            </a:r>
            <a:r>
              <a:rPr>
                <a:solidFill>
                  <a:srgbClr val="666666"/>
                </a:solidFill>
                <a:latin typeface="Courier"/>
              </a:rPr>
              <a:t>+</a:t>
            </a:r>
            <a:r>
              <a:rPr>
                <a:latin typeface="Courier"/>
              </a:rPr>
              <a:t> </a:t>
            </a:r>
            <a:r>
              <a:rPr>
                <a:solidFill>
                  <a:srgbClr val="4070A0"/>
                </a:solidFill>
                <a:latin typeface="Courier"/>
              </a:rPr>
              <a:t>" "</a:t>
            </a:r>
            <a:r>
              <a:rPr>
                <a:latin typeface="Courier"/>
              </a:rPr>
              <a:t> </a:t>
            </a:r>
            <a:r>
              <a:rPr>
                <a:solidFill>
                  <a:srgbClr val="666666"/>
                </a:solidFill>
                <a:latin typeface="Courier"/>
              </a:rPr>
              <a:t>+</a:t>
            </a:r>
            <a:r>
              <a:rPr>
                <a:latin typeface="Courier"/>
              </a:rPr>
              <a:t> p</a:t>
            </a:r>
            <a:r>
              <a:rPr>
                <a:solidFill>
                  <a:srgbClr val="666666"/>
                </a:solidFill>
                <a:latin typeface="Courier"/>
              </a:rPr>
              <a:t>.</a:t>
            </a:r>
            <a:r>
              <a:rPr>
                <a:latin typeface="Courier"/>
              </a:rPr>
              <a:t>lastName</a:t>
            </a:r>
            <a:r>
              <a:rPr>
                <a:solidFill>
                  <a:srgbClr val="666666"/>
                </a:solidFill>
                <a:latin typeface="Courier"/>
              </a:rPr>
              <a:t>)</a:t>
            </a:r>
            <a:br/>
            <a:r>
              <a:rPr>
                <a:latin typeface="Courier"/>
              </a:rPr>
              <a:t>Bill Panner</a:t>
            </a:r>
          </a:p>
          <a:p>
            <a:pPr lvl="0" indent="0" marL="0">
              <a:buNone/>
            </a:pPr>
            <a:r>
              <a:rPr/>
              <a:t>片段 4</a:t>
            </a:r>
          </a:p>
          <a:p>
            <a:pPr lvl="0" indent="0">
              <a:buNone/>
            </a:pPr>
            <a:r>
              <a:rPr>
                <a:latin typeface="Courier"/>
              </a:rPr>
              <a:t>scala</a:t>
            </a:r>
            <a:r>
              <a:rPr>
                <a:solidFill>
                  <a:srgbClr val="666666"/>
                </a:solidFill>
                <a:latin typeface="Courier"/>
              </a:rPr>
              <a:t>&gt;</a:t>
            </a:r>
            <a:r>
              <a:rPr>
                <a:latin typeface="Courier"/>
              </a:rPr>
              <a:t> p</a:t>
            </a:r>
            <a:r>
              <a:rPr>
                <a:solidFill>
                  <a:srgbClr val="666666"/>
                </a:solidFill>
                <a:latin typeface="Courier"/>
              </a:rPr>
              <a:t>.</a:t>
            </a:r>
            <a:r>
              <a:rPr>
                <a:latin typeface="Courier"/>
              </a:rPr>
              <a:t>firstName </a:t>
            </a:r>
            <a:r>
              <a:rPr>
                <a:solidFill>
                  <a:srgbClr val="666666"/>
                </a:solidFill>
                <a:latin typeface="Courier"/>
              </a:rPr>
              <a:t>=</a:t>
            </a:r>
            <a:r>
              <a:rPr>
                <a:latin typeface="Courier"/>
              </a:rPr>
              <a:t> </a:t>
            </a:r>
            <a:r>
              <a:rPr>
                <a:solidFill>
                  <a:srgbClr val="4070A0"/>
                </a:solidFill>
                <a:latin typeface="Courier"/>
              </a:rPr>
              <a:t>"Ivan"</a:t>
            </a:r>
            <a:br/>
            <a:r>
              <a:rPr>
                <a:latin typeface="Courier"/>
              </a:rPr>
              <a:t>p</a:t>
            </a:r>
            <a:r>
              <a:rPr>
                <a:solidFill>
                  <a:srgbClr val="666666"/>
                </a:solidFill>
                <a:latin typeface="Courier"/>
              </a:rPr>
              <a:t>.</a:t>
            </a:r>
            <a:r>
              <a:rPr>
                <a:latin typeface="Courier"/>
              </a:rPr>
              <a:t>firstName</a:t>
            </a:r>
            <a:r>
              <a:rPr>
                <a:solidFill>
                  <a:srgbClr val="666666"/>
                </a:solidFill>
                <a:latin typeface="Courier"/>
              </a:rPr>
              <a:t>:</a:t>
            </a:r>
            <a:r>
              <a:rPr>
                <a:latin typeface="Courier"/>
              </a:rPr>
              <a:t> String </a:t>
            </a:r>
            <a:r>
              <a:rPr>
                <a:solidFill>
                  <a:srgbClr val="666666"/>
                </a:solidFill>
                <a:latin typeface="Courier"/>
              </a:rPr>
              <a:t>=</a:t>
            </a:r>
            <a:r>
              <a:rPr>
                <a:latin typeface="Courier"/>
              </a:rPr>
              <a:t> Ivan</a:t>
            </a:r>
            <a:br/>
            <a:r>
              <a:rPr>
                <a:latin typeface="Courier"/>
              </a:rPr>
              <a:t>scala</a:t>
            </a:r>
            <a:r>
              <a:rPr>
                <a:solidFill>
                  <a:srgbClr val="666666"/>
                </a:solidFill>
                <a:latin typeface="Courier"/>
              </a:rPr>
              <a:t>&gt;</a:t>
            </a:r>
            <a:r>
              <a:rPr>
                <a:latin typeface="Courier"/>
              </a:rPr>
              <a:t> p</a:t>
            </a:r>
            <a:r>
              <a:rPr>
                <a:solidFill>
                  <a:srgbClr val="666666"/>
                </a:solidFill>
                <a:latin typeface="Courier"/>
              </a:rPr>
              <a:t>.</a:t>
            </a:r>
            <a:r>
              <a:rPr>
                <a:latin typeface="Courier"/>
              </a:rPr>
              <a:t>lastName </a:t>
            </a:r>
            <a:r>
              <a:rPr>
                <a:solidFill>
                  <a:srgbClr val="666666"/>
                </a:solidFill>
                <a:latin typeface="Courier"/>
              </a:rPr>
              <a:t>=</a:t>
            </a:r>
            <a:r>
              <a:rPr>
                <a:latin typeface="Courier"/>
              </a:rPr>
              <a:t> </a:t>
            </a:r>
            <a:r>
              <a:rPr>
                <a:solidFill>
                  <a:srgbClr val="4070A0"/>
                </a:solidFill>
                <a:latin typeface="Courier"/>
              </a:rPr>
              <a:t>"Lee"</a:t>
            </a:r>
            <a:br/>
            <a:r>
              <a:rPr>
                <a:latin typeface="Courier"/>
              </a:rPr>
              <a:t>p</a:t>
            </a:r>
            <a:r>
              <a:rPr>
                <a:solidFill>
                  <a:srgbClr val="666666"/>
                </a:solidFill>
                <a:latin typeface="Courier"/>
              </a:rPr>
              <a:t>.</a:t>
            </a:r>
            <a:r>
              <a:rPr>
                <a:latin typeface="Courier"/>
              </a:rPr>
              <a:t>lastName</a:t>
            </a:r>
            <a:r>
              <a:rPr>
                <a:solidFill>
                  <a:srgbClr val="666666"/>
                </a:solidFill>
                <a:latin typeface="Courier"/>
              </a:rPr>
              <a:t>:</a:t>
            </a:r>
            <a:r>
              <a:rPr>
                <a:latin typeface="Courier"/>
              </a:rPr>
              <a:t> String </a:t>
            </a:r>
            <a:r>
              <a:rPr>
                <a:solidFill>
                  <a:srgbClr val="666666"/>
                </a:solidFill>
                <a:latin typeface="Courier"/>
              </a:rPr>
              <a:t>=</a:t>
            </a:r>
            <a:r>
              <a:rPr>
                <a:latin typeface="Courier"/>
              </a:rPr>
              <a:t> Lee</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2.5.1 面向对象编程：代码片段（20/27）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在上面的示例中</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class</a:t>
            </a:r>
            <a:r>
              <a:rPr>
                <a:latin typeface="Courier"/>
              </a:rPr>
              <a:t> </a:t>
            </a:r>
            <a:r>
              <a:rPr>
                <a:solidFill>
                  <a:srgbClr val="06287E"/>
                </a:solidFill>
                <a:latin typeface="Courier"/>
              </a:rPr>
              <a:t>Person</a:t>
            </a:r>
            <a:r>
              <a:rPr>
                <a:solidFill>
                  <a:srgbClr val="666666"/>
                </a:solidFill>
                <a:latin typeface="Courier"/>
              </a:rPr>
              <a:t>(</a:t>
            </a:r>
            <a:r>
              <a:rPr b="1">
                <a:solidFill>
                  <a:srgbClr val="007020"/>
                </a:solidFill>
                <a:latin typeface="Courier"/>
              </a:rPr>
              <a:t>val</a:t>
            </a:r>
            <a:r>
              <a:rPr>
                <a:latin typeface="Courier"/>
              </a:rPr>
              <a:t> firstName</a:t>
            </a:r>
            <a:r>
              <a:rPr>
                <a:solidFill>
                  <a:srgbClr val="666666"/>
                </a:solidFill>
                <a:latin typeface="Courier"/>
              </a:rPr>
              <a:t>:</a:t>
            </a:r>
            <a:r>
              <a:rPr>
                <a:latin typeface="Courier"/>
              </a:rPr>
              <a:t> String</a:t>
            </a:r>
            <a:r>
              <a:rPr>
                <a:solidFill>
                  <a:srgbClr val="666666"/>
                </a:solidFill>
                <a:latin typeface="Courier"/>
              </a:rPr>
              <a:t>,</a:t>
            </a:r>
            <a:r>
              <a:rPr>
                <a:latin typeface="Courier"/>
              </a:rPr>
              <a:t> </a:t>
            </a:r>
            <a:r>
              <a:rPr b="1">
                <a:solidFill>
                  <a:srgbClr val="007020"/>
                </a:solidFill>
                <a:latin typeface="Courier"/>
              </a:rPr>
              <a:t>val</a:t>
            </a:r>
            <a:r>
              <a:rPr>
                <a:latin typeface="Courier"/>
              </a:rPr>
              <a:t> lastName</a:t>
            </a:r>
            <a:r>
              <a:rPr>
                <a:solidFill>
                  <a:srgbClr val="666666"/>
                </a:solidFill>
                <a:latin typeface="Courier"/>
              </a:rPr>
              <a:t>:</a:t>
            </a:r>
            <a:r>
              <a:rPr>
                <a:latin typeface="Courier"/>
              </a:rPr>
              <a:t> String</a:t>
            </a:r>
            <a:r>
              <a:rPr>
                <a:solidFill>
                  <a:srgbClr val="666666"/>
                </a:solidFill>
                <a:latin typeface="Courier"/>
              </a:rPr>
              <a:t>)</a:t>
            </a:r>
            <a:br/>
            <a:r>
              <a:rPr>
                <a:latin typeface="Courier"/>
              </a:rPr>
              <a:t>defined </a:t>
            </a:r>
            <a:r>
              <a:rPr b="1">
                <a:solidFill>
                  <a:srgbClr val="007020"/>
                </a:solidFill>
                <a:latin typeface="Courier"/>
              </a:rPr>
              <a:t>class</a:t>
            </a:r>
            <a:r>
              <a:rPr>
                <a:latin typeface="Courier"/>
              </a:rPr>
              <a:t> Person</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p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Person</a:t>
            </a:r>
            <a:r>
              <a:rPr>
                <a:solidFill>
                  <a:srgbClr val="666666"/>
                </a:solidFill>
                <a:latin typeface="Courier"/>
              </a:rPr>
              <a:t>(</a:t>
            </a:r>
            <a:r>
              <a:rPr>
                <a:solidFill>
                  <a:srgbClr val="4070A0"/>
                </a:solidFill>
                <a:latin typeface="Courier"/>
              </a:rPr>
              <a:t>"Bill"</a:t>
            </a:r>
            <a:r>
              <a:rPr>
                <a:solidFill>
                  <a:srgbClr val="666666"/>
                </a:solidFill>
                <a:latin typeface="Courier"/>
              </a:rPr>
              <a:t>,</a:t>
            </a:r>
            <a:r>
              <a:rPr>
                <a:latin typeface="Courier"/>
              </a:rPr>
              <a:t> </a:t>
            </a:r>
            <a:r>
              <a:rPr>
                <a:solidFill>
                  <a:srgbClr val="4070A0"/>
                </a:solidFill>
                <a:latin typeface="Courier"/>
              </a:rPr>
              <a:t>"Panner"</a:t>
            </a:r>
            <a:r>
              <a:rPr>
                <a:solidFill>
                  <a:srgbClr val="666666"/>
                </a:solidFill>
                <a:latin typeface="Courier"/>
              </a:rPr>
              <a:t>)</a:t>
            </a:r>
            <a:br/>
            <a:r>
              <a:rPr>
                <a:latin typeface="Courier"/>
              </a:rPr>
              <a:t>p</a:t>
            </a:r>
            <a:r>
              <a:rPr>
                <a:solidFill>
                  <a:srgbClr val="666666"/>
                </a:solidFill>
                <a:latin typeface="Courier"/>
              </a:rPr>
              <a:t>:</a:t>
            </a:r>
            <a:r>
              <a:rPr>
                <a:latin typeface="Courier"/>
              </a:rPr>
              <a:t> Person </a:t>
            </a:r>
            <a:r>
              <a:rPr>
                <a:solidFill>
                  <a:srgbClr val="666666"/>
                </a:solidFill>
                <a:latin typeface="Courier"/>
              </a:rPr>
              <a:t>=</a:t>
            </a:r>
            <a:r>
              <a:rPr>
                <a:latin typeface="Courier"/>
              </a:rPr>
              <a:t> Person@</a:t>
            </a:r>
            <a:r>
              <a:rPr>
                <a:solidFill>
                  <a:srgbClr val="40A070"/>
                </a:solidFill>
                <a:latin typeface="Courier"/>
              </a:rPr>
              <a:t>496</a:t>
            </a:r>
            <a:r>
              <a:rPr>
                <a:latin typeface="Courier"/>
              </a:rPr>
              <a:t>c6d94</a:t>
            </a:r>
            <a:br/>
            <a:r>
              <a:rPr>
                <a:latin typeface="Courier"/>
              </a:rPr>
              <a:t>scala</a:t>
            </a:r>
            <a:r>
              <a:rPr>
                <a:solidFill>
                  <a:srgbClr val="666666"/>
                </a:solidFill>
                <a:latin typeface="Courier"/>
              </a:rPr>
              <a:t>&gt;</a:t>
            </a:r>
            <a:r>
              <a:rPr>
                <a:latin typeface="Courier"/>
              </a:rPr>
              <a:t> p</a:t>
            </a:r>
            <a:r>
              <a:rPr>
                <a:solidFill>
                  <a:srgbClr val="666666"/>
                </a:solidFill>
                <a:latin typeface="Courier"/>
              </a:rPr>
              <a:t>.</a:t>
            </a:r>
            <a:r>
              <a:rPr>
                <a:latin typeface="Courier"/>
              </a:rPr>
              <a:t>firstName </a:t>
            </a:r>
            <a:r>
              <a:rPr>
                <a:solidFill>
                  <a:srgbClr val="666666"/>
                </a:solidFill>
                <a:latin typeface="Courier"/>
              </a:rPr>
              <a:t>=</a:t>
            </a:r>
            <a:r>
              <a:rPr>
                <a:latin typeface="Courier"/>
              </a:rPr>
              <a:t> </a:t>
            </a:r>
            <a:r>
              <a:rPr>
                <a:solidFill>
                  <a:srgbClr val="4070A0"/>
                </a:solidFill>
                <a:latin typeface="Courier"/>
              </a:rPr>
              <a:t>"Fred"</a:t>
            </a:r>
            <a:br/>
            <a:r>
              <a:rPr>
                <a:latin typeface="Courier"/>
              </a:rPr>
              <a:t>\</a:t>
            </a:r>
            <a:r>
              <a:rPr>
                <a:solidFill>
                  <a:srgbClr val="666666"/>
                </a:solidFill>
                <a:latin typeface="Courier"/>
              </a:rPr>
              <a:t>&lt;</a:t>
            </a:r>
            <a:r>
              <a:rPr>
                <a:latin typeface="Courier"/>
              </a:rPr>
              <a:t>console\</a:t>
            </a:r>
            <a:r>
              <a:rPr>
                <a:solidFill>
                  <a:srgbClr val="666666"/>
                </a:solidFill>
                <a:latin typeface="Courier"/>
              </a:rPr>
              <a:t>&gt;:</a:t>
            </a:r>
            <a:r>
              <a:rPr>
                <a:solidFill>
                  <a:srgbClr val="40A070"/>
                </a:solidFill>
                <a:latin typeface="Courier"/>
              </a:rPr>
              <a:t>12</a:t>
            </a:r>
            <a:r>
              <a:rPr>
                <a:solidFill>
                  <a:srgbClr val="666666"/>
                </a:solidFill>
                <a:latin typeface="Courier"/>
              </a:rPr>
              <a:t>:</a:t>
            </a:r>
            <a:r>
              <a:rPr>
                <a:latin typeface="Courier"/>
              </a:rPr>
              <a:t> error</a:t>
            </a:r>
            <a:r>
              <a:rPr>
                <a:solidFill>
                  <a:srgbClr val="666666"/>
                </a:solidFill>
                <a:latin typeface="Courier"/>
              </a:rPr>
              <a:t>:</a:t>
            </a:r>
            <a:r>
              <a:rPr>
                <a:latin typeface="Courier"/>
              </a:rPr>
              <a:t> reassignment to </a:t>
            </a:r>
            <a:r>
              <a:rPr b="1">
                <a:solidFill>
                  <a:srgbClr val="007020"/>
                </a:solidFill>
                <a:latin typeface="Courier"/>
              </a:rPr>
              <a:t>val</a:t>
            </a:r>
            <a:br/>
            <a:r>
              <a:rPr>
                <a:latin typeface="Courier"/>
              </a:rPr>
              <a:t>p</a:t>
            </a:r>
            <a:r>
              <a:rPr>
                <a:solidFill>
                  <a:srgbClr val="666666"/>
                </a:solidFill>
                <a:latin typeface="Courier"/>
              </a:rPr>
              <a:t>.</a:t>
            </a:r>
            <a:r>
              <a:rPr>
                <a:latin typeface="Courier"/>
              </a:rPr>
              <a:t>firstName </a:t>
            </a:r>
            <a:r>
              <a:rPr>
                <a:solidFill>
                  <a:srgbClr val="666666"/>
                </a:solidFill>
                <a:latin typeface="Courier"/>
              </a:rPr>
              <a:t>=</a:t>
            </a:r>
            <a:r>
              <a:rPr>
                <a:latin typeface="Courier"/>
              </a:rPr>
              <a:t> </a:t>
            </a:r>
            <a:r>
              <a:rPr>
                <a:solidFill>
                  <a:srgbClr val="4070A0"/>
                </a:solidFill>
                <a:latin typeface="Courier"/>
              </a:rPr>
              <a:t>"Fred"</a:t>
            </a:r>
            <a:br/>
            <a:r>
              <a:rPr>
                <a:solidFill>
                  <a:srgbClr val="666666"/>
                </a:solidFill>
                <a:latin typeface="Courier"/>
              </a:rPr>
              <a:t>^</a:t>
            </a:r>
            <a:br/>
            <a:r>
              <a:rPr>
                <a:latin typeface="Courier"/>
              </a:rPr>
              <a:t>scala</a:t>
            </a:r>
            <a:r>
              <a:rPr>
                <a:solidFill>
                  <a:srgbClr val="666666"/>
                </a:solidFill>
                <a:latin typeface="Courier"/>
              </a:rPr>
              <a:t>&gt;</a:t>
            </a:r>
            <a:r>
              <a:rPr>
                <a:latin typeface="Courier"/>
              </a:rPr>
              <a:t> p</a:t>
            </a:r>
            <a:r>
              <a:rPr>
                <a:solidFill>
                  <a:srgbClr val="666666"/>
                </a:solidFill>
                <a:latin typeface="Courier"/>
              </a:rPr>
              <a:t>.</a:t>
            </a:r>
            <a:r>
              <a:rPr>
                <a:latin typeface="Courier"/>
              </a:rPr>
              <a:t>lastName </a:t>
            </a:r>
            <a:r>
              <a:rPr>
                <a:solidFill>
                  <a:srgbClr val="666666"/>
                </a:solidFill>
                <a:latin typeface="Courier"/>
              </a:rPr>
              <a:t>=</a:t>
            </a:r>
            <a:r>
              <a:rPr>
                <a:latin typeface="Courier"/>
              </a:rPr>
              <a:t> </a:t>
            </a:r>
            <a:r>
              <a:rPr>
                <a:solidFill>
                  <a:srgbClr val="4070A0"/>
                </a:solidFill>
                <a:latin typeface="Courier"/>
              </a:rPr>
              <a:t>"Jones"</a:t>
            </a:r>
            <a:br/>
            <a:r>
              <a:rPr>
                <a:latin typeface="Courier"/>
              </a:rPr>
              <a:t>\</a:t>
            </a:r>
            <a:r>
              <a:rPr>
                <a:solidFill>
                  <a:srgbClr val="666666"/>
                </a:solidFill>
                <a:latin typeface="Courier"/>
              </a:rPr>
              <a:t>&lt;</a:t>
            </a:r>
            <a:r>
              <a:rPr>
                <a:latin typeface="Courier"/>
              </a:rPr>
              <a:t>console\</a:t>
            </a:r>
            <a:r>
              <a:rPr>
                <a:solidFill>
                  <a:srgbClr val="666666"/>
                </a:solidFill>
                <a:latin typeface="Courier"/>
              </a:rPr>
              <a:t>&gt;:</a:t>
            </a:r>
            <a:r>
              <a:rPr>
                <a:solidFill>
                  <a:srgbClr val="40A070"/>
                </a:solidFill>
                <a:latin typeface="Courier"/>
              </a:rPr>
              <a:t>12</a:t>
            </a:r>
            <a:r>
              <a:rPr>
                <a:solidFill>
                  <a:srgbClr val="666666"/>
                </a:solidFill>
                <a:latin typeface="Courier"/>
              </a:rPr>
              <a:t>:</a:t>
            </a:r>
            <a:r>
              <a:rPr>
                <a:latin typeface="Courier"/>
              </a:rPr>
              <a:t> error</a:t>
            </a:r>
            <a:r>
              <a:rPr>
                <a:solidFill>
                  <a:srgbClr val="666666"/>
                </a:solidFill>
                <a:latin typeface="Courier"/>
              </a:rPr>
              <a:t>:</a:t>
            </a:r>
            <a:r>
              <a:rPr>
                <a:latin typeface="Courier"/>
              </a:rPr>
              <a:t> reassignment to </a:t>
            </a:r>
            <a:r>
              <a:rPr b="1">
                <a:solidFill>
                  <a:srgbClr val="007020"/>
                </a:solidFill>
                <a:latin typeface="Courier"/>
              </a:rPr>
              <a:t>val</a:t>
            </a:r>
            <a:br/>
            <a:r>
              <a:rPr>
                <a:latin typeface="Courier"/>
              </a:rPr>
              <a:t>p</a:t>
            </a:r>
            <a:r>
              <a:rPr>
                <a:solidFill>
                  <a:srgbClr val="666666"/>
                </a:solidFill>
                <a:latin typeface="Courier"/>
              </a:rPr>
              <a:t>.</a:t>
            </a:r>
            <a:r>
              <a:rPr>
                <a:latin typeface="Courier"/>
              </a:rPr>
              <a:t>lastName </a:t>
            </a:r>
            <a:r>
              <a:rPr>
                <a:solidFill>
                  <a:srgbClr val="666666"/>
                </a:solidFill>
                <a:latin typeface="Courier"/>
              </a:rPr>
              <a:t>=</a:t>
            </a:r>
            <a:r>
              <a:rPr>
                <a:latin typeface="Courier"/>
              </a:rPr>
              <a:t> </a:t>
            </a:r>
            <a:r>
              <a:rPr>
                <a:solidFill>
                  <a:srgbClr val="4070A0"/>
                </a:solidFill>
                <a:latin typeface="Courier"/>
              </a:rPr>
              <a:t>"Jones"</a:t>
            </a:r>
            <a:br/>
            <a:r>
              <a:rPr>
                <a:solidFill>
                  <a:srgbClr val="666666"/>
                </a:solidFill>
                <a:latin typeface="Courier"/>
              </a:rPr>
              <a:t>^</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2.5.1 面向对象编程：代码片段（21/27）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在Scala中</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class</a:t>
            </a:r>
            <a:r>
              <a:rPr>
                <a:latin typeface="Courier"/>
              </a:rPr>
              <a:t> </a:t>
            </a:r>
            <a:r>
              <a:rPr>
                <a:solidFill>
                  <a:srgbClr val="06287E"/>
                </a:solidFill>
                <a:latin typeface="Courier"/>
              </a:rPr>
              <a:t>Person</a:t>
            </a:r>
            <a:r>
              <a:rPr>
                <a:solidFill>
                  <a:srgbClr val="666666"/>
                </a:solidFill>
                <a:latin typeface="Courier"/>
              </a:rPr>
              <a:t>(</a:t>
            </a:r>
            <a:r>
              <a:rPr b="1">
                <a:solidFill>
                  <a:srgbClr val="007020"/>
                </a:solidFill>
                <a:latin typeface="Courier"/>
              </a:rPr>
              <a:t>var</a:t>
            </a:r>
            <a:r>
              <a:rPr>
                <a:latin typeface="Courier"/>
              </a:rPr>
              <a:t> firstName</a:t>
            </a:r>
            <a:r>
              <a:rPr>
                <a:solidFill>
                  <a:srgbClr val="666666"/>
                </a:solidFill>
                <a:latin typeface="Courier"/>
              </a:rPr>
              <a:t>:</a:t>
            </a:r>
            <a:r>
              <a:rPr>
                <a:latin typeface="Courier"/>
              </a:rPr>
              <a:t> String</a:t>
            </a:r>
            <a:r>
              <a:rPr>
                <a:solidFill>
                  <a:srgbClr val="666666"/>
                </a:solidFill>
                <a:latin typeface="Courier"/>
              </a:rPr>
              <a:t>,</a:t>
            </a:r>
            <a:r>
              <a:rPr>
                <a:latin typeface="Courier"/>
              </a:rPr>
              <a:t> </a:t>
            </a:r>
            <a:r>
              <a:rPr b="1">
                <a:solidFill>
                  <a:srgbClr val="007020"/>
                </a:solidFill>
                <a:latin typeface="Courier"/>
              </a:rPr>
              <a:t>var</a:t>
            </a:r>
            <a:r>
              <a:rPr>
                <a:latin typeface="Courier"/>
              </a:rPr>
              <a:t> lastName</a:t>
            </a:r>
            <a:r>
              <a:rPr>
                <a:solidFill>
                  <a:srgbClr val="666666"/>
                </a:solidFill>
                <a:latin typeface="Courier"/>
              </a:rPr>
              <a:t>:</a:t>
            </a:r>
            <a:r>
              <a:rPr>
                <a:latin typeface="Courier"/>
              </a:rPr>
              <a:t> String</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br/>
            <a:r>
              <a:rPr>
                <a:solidFill>
                  <a:srgbClr val="666666"/>
                </a:solidFill>
                <a:latin typeface="Courier"/>
              </a:rPr>
              <a:t>|</a:t>
            </a:r>
            <a:r>
              <a:rPr>
                <a:latin typeface="Courier"/>
              </a:rPr>
              <a:t> </a:t>
            </a:r>
            <a:r>
              <a:rPr>
                <a:solidFill>
                  <a:srgbClr val="06287E"/>
                </a:solidFill>
                <a:latin typeface="Courier"/>
              </a:rPr>
              <a:t>println</a:t>
            </a:r>
            <a:r>
              <a:rPr>
                <a:solidFill>
                  <a:srgbClr val="666666"/>
                </a:solidFill>
                <a:latin typeface="Courier"/>
              </a:rPr>
              <a:t>(</a:t>
            </a:r>
            <a:r>
              <a:rPr>
                <a:solidFill>
                  <a:srgbClr val="4070A0"/>
                </a:solidFill>
                <a:latin typeface="Courier"/>
              </a:rPr>
              <a:t>"the constructor begins"</a:t>
            </a:r>
            <a:r>
              <a:rPr>
                <a:solidFill>
                  <a:srgbClr val="666666"/>
                </a:solidFill>
                <a:latin typeface="Courier"/>
              </a:rPr>
              <a:t>)</a:t>
            </a:r>
            <a:br/>
            <a:r>
              <a:rPr>
                <a:solidFill>
                  <a:srgbClr val="666666"/>
                </a:solidFill>
                <a:latin typeface="Courier"/>
              </a:rPr>
              <a:t>|</a:t>
            </a:r>
            <a:br/>
            <a:r>
              <a:rPr>
                <a:solidFill>
                  <a:srgbClr val="666666"/>
                </a:solidFill>
                <a:latin typeface="Courier"/>
              </a:rPr>
              <a:t>|</a:t>
            </a:r>
            <a:r>
              <a:rPr>
                <a:latin typeface="Courier"/>
              </a:rPr>
              <a:t> </a:t>
            </a:r>
            <a:r>
              <a:rPr i="1">
                <a:solidFill>
                  <a:srgbClr val="60A0B0"/>
                </a:solidFill>
                <a:latin typeface="Courier"/>
              </a:rPr>
              <a:t>// 'public' access by default</a:t>
            </a:r>
            <a:br/>
            <a:r>
              <a:rPr>
                <a:solidFill>
                  <a:srgbClr val="666666"/>
                </a:solidFill>
                <a:latin typeface="Courier"/>
              </a:rPr>
              <a:t>|</a:t>
            </a:r>
            <a:r>
              <a:rPr>
                <a:latin typeface="Courier"/>
              </a:rPr>
              <a:t> </a:t>
            </a:r>
            <a:r>
              <a:rPr b="1">
                <a:solidFill>
                  <a:srgbClr val="007020"/>
                </a:solidFill>
                <a:latin typeface="Courier"/>
              </a:rPr>
              <a:t>var</a:t>
            </a:r>
            <a:r>
              <a:rPr>
                <a:latin typeface="Courier"/>
              </a:rPr>
              <a:t> age </a:t>
            </a:r>
            <a:r>
              <a:rPr>
                <a:solidFill>
                  <a:srgbClr val="666666"/>
                </a:solidFill>
                <a:latin typeface="Courier"/>
              </a:rPr>
              <a:t>=</a:t>
            </a:r>
            <a:r>
              <a:rPr>
                <a:latin typeface="Courier"/>
              </a:rPr>
              <a:t> </a:t>
            </a:r>
            <a:r>
              <a:rPr>
                <a:solidFill>
                  <a:srgbClr val="40A070"/>
                </a:solidFill>
                <a:latin typeface="Courier"/>
              </a:rPr>
              <a:t>0</a:t>
            </a:r>
            <a:br/>
            <a:r>
              <a:rPr>
                <a:solidFill>
                  <a:srgbClr val="666666"/>
                </a:solidFill>
                <a:latin typeface="Courier"/>
              </a:rPr>
              <a:t>|</a:t>
            </a:r>
            <a:br/>
            <a:r>
              <a:rPr>
                <a:solidFill>
                  <a:srgbClr val="666666"/>
                </a:solidFill>
                <a:latin typeface="Courier"/>
              </a:rPr>
              <a:t>|</a:t>
            </a:r>
            <a:r>
              <a:rPr>
                <a:latin typeface="Courier"/>
              </a:rPr>
              <a:t> </a:t>
            </a:r>
            <a:r>
              <a:rPr i="1">
                <a:solidFill>
                  <a:srgbClr val="60A0B0"/>
                </a:solidFill>
                <a:latin typeface="Courier"/>
              </a:rPr>
              <a:t>// some class fields</a:t>
            </a:r>
            <a:br/>
            <a:r>
              <a:rPr>
                <a:solidFill>
                  <a:srgbClr val="666666"/>
                </a:solidFill>
                <a:latin typeface="Courier"/>
              </a:rPr>
              <a:t>|</a:t>
            </a:r>
            <a:r>
              <a:rPr>
                <a:latin typeface="Courier"/>
              </a:rPr>
              <a:t> </a:t>
            </a:r>
            <a:r>
              <a:rPr b="1">
                <a:solidFill>
                  <a:srgbClr val="007020"/>
                </a:solidFill>
                <a:latin typeface="Courier"/>
              </a:rPr>
              <a:t>private</a:t>
            </a:r>
            <a:r>
              <a:rPr>
                <a:latin typeface="Courier"/>
              </a:rPr>
              <a:t> </a:t>
            </a:r>
            <a:r>
              <a:rPr b="1">
                <a:solidFill>
                  <a:srgbClr val="007020"/>
                </a:solidFill>
                <a:latin typeface="Courier"/>
              </a:rPr>
              <a:t>val</a:t>
            </a:r>
            <a:r>
              <a:rPr>
                <a:latin typeface="Courier"/>
              </a:rPr>
              <a:t> HOME </a:t>
            </a:r>
            <a:r>
              <a:rPr>
                <a:solidFill>
                  <a:srgbClr val="666666"/>
                </a:solidFill>
                <a:latin typeface="Courier"/>
              </a:rPr>
              <a:t>=</a:t>
            </a:r>
            <a:r>
              <a:rPr>
                <a:latin typeface="Courier"/>
              </a:rPr>
              <a:t> System</a:t>
            </a:r>
            <a:r>
              <a:rPr>
                <a:solidFill>
                  <a:srgbClr val="666666"/>
                </a:solidFill>
                <a:latin typeface="Courier"/>
              </a:rPr>
              <a:t>.</a:t>
            </a:r>
            <a:r>
              <a:rPr>
                <a:solidFill>
                  <a:srgbClr val="06287E"/>
                </a:solidFill>
                <a:latin typeface="Courier"/>
              </a:rPr>
              <a:t>getProperty</a:t>
            </a:r>
            <a:r>
              <a:rPr>
                <a:solidFill>
                  <a:srgbClr val="666666"/>
                </a:solidFill>
                <a:latin typeface="Courier"/>
              </a:rPr>
              <a:t>(</a:t>
            </a:r>
            <a:r>
              <a:rPr>
                <a:solidFill>
                  <a:srgbClr val="4070A0"/>
                </a:solidFill>
                <a:latin typeface="Courier"/>
              </a:rPr>
              <a:t>"user.home"</a:t>
            </a:r>
            <a:r>
              <a:rPr>
                <a:solidFill>
                  <a:srgbClr val="666666"/>
                </a:solidFill>
                <a:latin typeface="Courier"/>
              </a:rPr>
              <a:t>)</a:t>
            </a:r>
            <a:br/>
            <a:r>
              <a:rPr>
                <a:solidFill>
                  <a:srgbClr val="666666"/>
                </a:solidFill>
                <a:latin typeface="Courier"/>
              </a:rPr>
              <a:t>|</a:t>
            </a:r>
            <a:br/>
            <a:r>
              <a:rPr>
                <a:solidFill>
                  <a:srgbClr val="666666"/>
                </a:solidFill>
                <a:latin typeface="Courier"/>
              </a:rPr>
              <a:t>|</a:t>
            </a:r>
            <a:r>
              <a:rPr>
                <a:latin typeface="Courier"/>
              </a:rPr>
              <a:t> </a:t>
            </a:r>
            <a:r>
              <a:rPr i="1">
                <a:solidFill>
                  <a:srgbClr val="60A0B0"/>
                </a:solidFill>
                <a:latin typeface="Courier"/>
              </a:rPr>
              <a:t>// some methods</a:t>
            </a:r>
            <a:br/>
            <a:r>
              <a:rPr i="1">
                <a:solidFill>
                  <a:srgbClr val="60A0B0"/>
                </a:solidFill>
                <a:latin typeface="Courier"/>
              </a:rPr>
              <a:t>// ...</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2.5.1 面向对象编程：代码片段（22/27）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Scala REPL中的以下代码演示了该类的工作方式</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p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Person</a:t>
            </a:r>
            <a:r>
              <a:rPr>
                <a:solidFill>
                  <a:srgbClr val="666666"/>
                </a:solidFill>
                <a:latin typeface="Courier"/>
              </a:rPr>
              <a:t>(</a:t>
            </a:r>
            <a:r>
              <a:rPr>
                <a:solidFill>
                  <a:srgbClr val="4070A0"/>
                </a:solidFill>
                <a:latin typeface="Courier"/>
              </a:rPr>
              <a:t>"Kim"</a:t>
            </a:r>
            <a:r>
              <a:rPr>
                <a:solidFill>
                  <a:srgbClr val="666666"/>
                </a:solidFill>
                <a:latin typeface="Courier"/>
              </a:rPr>
              <a:t>,</a:t>
            </a:r>
            <a:r>
              <a:rPr>
                <a:latin typeface="Courier"/>
              </a:rPr>
              <a:t> </a:t>
            </a:r>
            <a:r>
              <a:rPr>
                <a:solidFill>
                  <a:srgbClr val="4070A0"/>
                </a:solidFill>
                <a:latin typeface="Courier"/>
              </a:rPr>
              <a:t>"Carnes"</a:t>
            </a:r>
            <a:r>
              <a:rPr>
                <a:solidFill>
                  <a:srgbClr val="666666"/>
                </a:solidFill>
                <a:latin typeface="Courier"/>
              </a:rPr>
              <a:t>)</a:t>
            </a:r>
            <a:br/>
            <a:r>
              <a:rPr>
                <a:latin typeface="Courier"/>
              </a:rPr>
              <a:t>the constructor begins</a:t>
            </a:r>
            <a:br/>
            <a:r>
              <a:rPr>
                <a:latin typeface="Courier"/>
              </a:rPr>
              <a:t>HOME </a:t>
            </a:r>
            <a:r>
              <a:rPr>
                <a:solidFill>
                  <a:srgbClr val="666666"/>
                </a:solidFill>
                <a:latin typeface="Courier"/>
              </a:rPr>
              <a:t>=</a:t>
            </a:r>
            <a:r>
              <a:rPr>
                <a:latin typeface="Courier"/>
              </a:rPr>
              <a:t> </a:t>
            </a:r>
            <a:r>
              <a:rPr>
                <a:solidFill>
                  <a:srgbClr val="666666"/>
                </a:solidFill>
                <a:latin typeface="Courier"/>
              </a:rPr>
              <a:t>/</a:t>
            </a:r>
            <a:r>
              <a:rPr>
                <a:latin typeface="Courier"/>
              </a:rPr>
              <a:t>Users</a:t>
            </a:r>
            <a:r>
              <a:rPr>
                <a:solidFill>
                  <a:srgbClr val="666666"/>
                </a:solidFill>
                <a:latin typeface="Courier"/>
              </a:rPr>
              <a:t>/</a:t>
            </a:r>
            <a:r>
              <a:rPr>
                <a:latin typeface="Courier"/>
              </a:rPr>
              <a:t>al</a:t>
            </a:r>
            <a:br/>
            <a:r>
              <a:rPr>
                <a:latin typeface="Courier"/>
              </a:rPr>
              <a:t>Kim Carnes is </a:t>
            </a:r>
            <a:r>
              <a:rPr>
                <a:solidFill>
                  <a:srgbClr val="40A070"/>
                </a:solidFill>
                <a:latin typeface="Courier"/>
              </a:rPr>
              <a:t>0</a:t>
            </a:r>
            <a:r>
              <a:rPr>
                <a:latin typeface="Courier"/>
              </a:rPr>
              <a:t> years old</a:t>
            </a:r>
            <a:br/>
            <a:r>
              <a:rPr>
                <a:latin typeface="Courier"/>
              </a:rPr>
              <a:t>you</a:t>
            </a:r>
            <a:r>
              <a:rPr b="1">
                <a:solidFill>
                  <a:srgbClr val="FF0000"/>
                </a:solidFill>
                <a:latin typeface="Courier"/>
              </a:rPr>
              <a:t>'</a:t>
            </a:r>
            <a:r>
              <a:rPr>
                <a:latin typeface="Courier"/>
              </a:rPr>
              <a:t>ve reached the end of the constructor</a:t>
            </a:r>
            <a:br/>
            <a:r>
              <a:rPr>
                <a:latin typeface="Courier"/>
              </a:rPr>
              <a:t>p</a:t>
            </a:r>
            <a:r>
              <a:rPr>
                <a:solidFill>
                  <a:srgbClr val="666666"/>
                </a:solidFill>
                <a:latin typeface="Courier"/>
              </a:rPr>
              <a:t>:</a:t>
            </a:r>
            <a:r>
              <a:rPr>
                <a:latin typeface="Courier"/>
              </a:rPr>
              <a:t> Person </a:t>
            </a:r>
            <a:r>
              <a:rPr>
                <a:solidFill>
                  <a:srgbClr val="666666"/>
                </a:solidFill>
                <a:latin typeface="Courier"/>
              </a:rPr>
              <a:t>=</a:t>
            </a:r>
            <a:r>
              <a:rPr>
                <a:latin typeface="Courier"/>
              </a:rPr>
              <a:t> Kim Carnes is </a:t>
            </a:r>
            <a:r>
              <a:rPr>
                <a:solidFill>
                  <a:srgbClr val="40A070"/>
                </a:solidFill>
                <a:latin typeface="Courier"/>
              </a:rPr>
              <a:t>0</a:t>
            </a:r>
            <a:r>
              <a:rPr>
                <a:latin typeface="Courier"/>
              </a:rPr>
              <a:t> years old</a:t>
            </a:r>
            <a:br/>
            <a:r>
              <a:rPr>
                <a:latin typeface="Courier"/>
              </a:rPr>
              <a:t>scala</a:t>
            </a:r>
            <a:r>
              <a:rPr>
                <a:solidFill>
                  <a:srgbClr val="666666"/>
                </a:solidFill>
                <a:latin typeface="Courier"/>
              </a:rPr>
              <a:t>&gt;</a:t>
            </a:r>
            <a:r>
              <a:rPr>
                <a:latin typeface="Courier"/>
              </a:rPr>
              <a:t> p</a:t>
            </a:r>
            <a:r>
              <a:rPr>
                <a:solidFill>
                  <a:srgbClr val="666666"/>
                </a:solidFill>
                <a:latin typeface="Courier"/>
              </a:rPr>
              <a:t>.</a:t>
            </a:r>
            <a:r>
              <a:rPr>
                <a:latin typeface="Courier"/>
              </a:rPr>
              <a:t>age</a:t>
            </a:r>
            <a:br/>
            <a:r>
              <a:rPr>
                <a:latin typeface="Courier"/>
              </a:rPr>
              <a:t>res0</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t>
            </a:r>
            <a:r>
              <a:rPr>
                <a:solidFill>
                  <a:srgbClr val="40A070"/>
                </a:solidFill>
                <a:latin typeface="Courier"/>
              </a:rPr>
              <a:t>0</a:t>
            </a:r>
            <a:br/>
            <a:r>
              <a:rPr>
                <a:latin typeface="Courier"/>
              </a:rPr>
              <a:t>scala</a:t>
            </a:r>
            <a:r>
              <a:rPr>
                <a:solidFill>
                  <a:srgbClr val="666666"/>
                </a:solidFill>
                <a:latin typeface="Courier"/>
              </a:rPr>
              <a:t>&gt;</a:t>
            </a:r>
            <a:r>
              <a:rPr>
                <a:latin typeface="Courier"/>
              </a:rPr>
              <a:t> p</a:t>
            </a:r>
            <a:r>
              <a:rPr>
                <a:solidFill>
                  <a:srgbClr val="666666"/>
                </a:solidFill>
                <a:latin typeface="Courier"/>
              </a:rPr>
              <a:t>.</a:t>
            </a:r>
            <a:r>
              <a:rPr>
                <a:latin typeface="Courier"/>
              </a:rPr>
              <a:t>age </a:t>
            </a:r>
            <a:r>
              <a:rPr>
                <a:solidFill>
                  <a:srgbClr val="666666"/>
                </a:solidFill>
                <a:latin typeface="Courier"/>
              </a:rPr>
              <a:t>=</a:t>
            </a:r>
            <a:r>
              <a:rPr>
                <a:latin typeface="Courier"/>
              </a:rPr>
              <a:t> </a:t>
            </a:r>
            <a:r>
              <a:rPr>
                <a:solidFill>
                  <a:srgbClr val="40A070"/>
                </a:solidFill>
                <a:latin typeface="Courier"/>
              </a:rPr>
              <a:t>36</a:t>
            </a:r>
            <a:br/>
            <a:r>
              <a:rPr>
                <a:latin typeface="Courier"/>
              </a:rPr>
              <a:t>p</a:t>
            </a:r>
            <a:r>
              <a:rPr>
                <a:solidFill>
                  <a:srgbClr val="666666"/>
                </a:solidFill>
                <a:latin typeface="Courier"/>
              </a:rPr>
              <a:t>.</a:t>
            </a:r>
            <a:r>
              <a:rPr>
                <a:latin typeface="Courier"/>
              </a:rPr>
              <a:t>age</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t>
            </a:r>
            <a:r>
              <a:rPr>
                <a:solidFill>
                  <a:srgbClr val="40A070"/>
                </a:solidFill>
                <a:latin typeface="Courier"/>
              </a:rPr>
              <a:t>36</a:t>
            </a:r>
            <a:br/>
            <a:r>
              <a:rPr>
                <a:latin typeface="Courier"/>
              </a:rPr>
              <a:t>scala</a:t>
            </a:r>
            <a:r>
              <a:rPr>
                <a:solidFill>
                  <a:srgbClr val="666666"/>
                </a:solidFill>
                <a:latin typeface="Courier"/>
              </a:rPr>
              <a:t>&gt;</a:t>
            </a:r>
            <a:r>
              <a:rPr>
                <a:latin typeface="Courier"/>
              </a:rPr>
              <a:t> p</a:t>
            </a:r>
            <a:br/>
            <a:r>
              <a:rPr i="1">
                <a:solidFill>
                  <a:srgbClr val="60A0B0"/>
                </a:solidFill>
                <a:latin typeface="Courier"/>
              </a:rPr>
              <a:t>// ...</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2.5.1 面向对象编程：代码片段（23/27）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在Scala中</a:t>
            </a:r>
          </a:p>
          <a:p>
            <a:pPr lvl="0"/>
            <a:r>
              <a:rPr/>
              <a:t>先对照代码理解 def是用于定义方法的关键字</a:t>
            </a:r>
          </a:p>
          <a:p>
            <a:pPr lvl="0"/>
            <a:r>
              <a:rPr/>
              <a:t>先对照代码理解 上一个示例未显示该方法的返回类型，但是可以显示它： 的执行步骤</a:t>
            </a:r>
          </a:p>
          <a:p>
            <a:pPr lvl="0"/>
            <a:r>
              <a:rPr/>
              <a:t>因为它使代码更容易维护。如果将该方法粘贴到REPL中</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def</a:t>
            </a:r>
            <a:r>
              <a:rPr>
                <a:latin typeface="Courier"/>
              </a:rPr>
              <a:t> </a:t>
            </a:r>
            <a:r>
              <a:rPr>
                <a:solidFill>
                  <a:srgbClr val="902000"/>
                </a:solidFill>
                <a:latin typeface="Courier"/>
              </a:rPr>
              <a:t>double</a:t>
            </a:r>
            <a:r>
              <a:rPr>
                <a:solidFill>
                  <a:srgbClr val="666666"/>
                </a:solidFill>
                <a:latin typeface="Courier"/>
              </a:rPr>
              <a:t>(</a:t>
            </a:r>
            <a:r>
              <a:rPr>
                <a:latin typeface="Courier"/>
              </a:rPr>
              <a:t>a</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a </a:t>
            </a:r>
            <a:r>
              <a:rPr>
                <a:solidFill>
                  <a:srgbClr val="666666"/>
                </a:solidFill>
                <a:latin typeface="Courier"/>
              </a:rPr>
              <a:t>*</a:t>
            </a:r>
            <a:r>
              <a:rPr>
                <a:latin typeface="Courier"/>
              </a:rPr>
              <a:t> </a:t>
            </a:r>
            <a:r>
              <a:rPr>
                <a:solidFill>
                  <a:srgbClr val="40A070"/>
                </a:solidFill>
                <a:latin typeface="Courier"/>
              </a:rPr>
              <a:t>2</a:t>
            </a:r>
            <a:br/>
            <a:r>
              <a:rPr>
                <a:solidFill>
                  <a:srgbClr val="902000"/>
                </a:solidFill>
                <a:latin typeface="Courier"/>
              </a:rPr>
              <a:t>double</a:t>
            </a:r>
            <a:r>
              <a:rPr>
                <a:solidFill>
                  <a:srgbClr val="666666"/>
                </a:solidFill>
                <a:latin typeface="Courier"/>
              </a:rPr>
              <a:t>:</a:t>
            </a:r>
            <a:r>
              <a:rPr>
                <a:latin typeface="Courier"/>
              </a:rPr>
              <a:t> </a:t>
            </a:r>
            <a:r>
              <a:rPr>
                <a:solidFill>
                  <a:srgbClr val="666666"/>
                </a:solidFill>
                <a:latin typeface="Courier"/>
              </a:rPr>
              <a:t>(</a:t>
            </a:r>
            <a:r>
              <a:rPr>
                <a:latin typeface="Courier"/>
              </a:rPr>
              <a:t>a</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solidFill>
                  <a:srgbClr val="008000"/>
                </a:solidFill>
                <a:latin typeface="Courier"/>
              </a:rPr>
              <a:t>Int</a:t>
            </a:r>
          </a:p>
          <a:p>
            <a:pPr lvl="0" indent="0" marL="0">
              <a:buNone/>
            </a:pPr>
            <a:r>
              <a:rPr/>
              <a:t>片段 2</a:t>
            </a:r>
          </a:p>
          <a:p>
            <a:pPr lvl="0" indent="0">
              <a:buNone/>
            </a:pPr>
            <a:r>
              <a:rPr>
                <a:latin typeface="Courier"/>
              </a:rPr>
              <a:t>scala</a:t>
            </a:r>
            <a:r>
              <a:rPr>
                <a:solidFill>
                  <a:srgbClr val="666666"/>
                </a:solidFill>
                <a:latin typeface="Courier"/>
              </a:rPr>
              <a:t>&gt;</a:t>
            </a:r>
            <a:r>
              <a:rPr>
                <a:latin typeface="Courier"/>
              </a:rPr>
              <a:t> </a:t>
            </a:r>
            <a:r>
              <a:rPr>
                <a:solidFill>
                  <a:srgbClr val="902000"/>
                </a:solidFill>
                <a:latin typeface="Courier"/>
              </a:rPr>
              <a:t>double</a:t>
            </a:r>
            <a:r>
              <a:rPr>
                <a:solidFill>
                  <a:srgbClr val="666666"/>
                </a:solidFill>
                <a:latin typeface="Courier"/>
              </a:rPr>
              <a:t>(</a:t>
            </a:r>
            <a:r>
              <a:rPr>
                <a:solidFill>
                  <a:srgbClr val="40A070"/>
                </a:solidFill>
                <a:latin typeface="Courier"/>
              </a:rPr>
              <a:t>2</a:t>
            </a:r>
            <a:r>
              <a:rPr>
                <a:solidFill>
                  <a:srgbClr val="666666"/>
                </a:solidFill>
                <a:latin typeface="Courier"/>
              </a:rPr>
              <a:t>)</a:t>
            </a:r>
            <a:br/>
            <a:r>
              <a:rPr>
                <a:latin typeface="Courier"/>
              </a:rPr>
              <a:t>res0</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t>
            </a:r>
            <a:r>
              <a:rPr>
                <a:solidFill>
                  <a:srgbClr val="40A070"/>
                </a:solidFill>
                <a:latin typeface="Courier"/>
              </a:rPr>
              <a:t>4</a:t>
            </a:r>
            <a:br/>
            <a:r>
              <a:rPr>
                <a:latin typeface="Courier"/>
              </a:rPr>
              <a:t>scala</a:t>
            </a:r>
            <a:r>
              <a:rPr>
                <a:solidFill>
                  <a:srgbClr val="666666"/>
                </a:solidFill>
                <a:latin typeface="Courier"/>
              </a:rPr>
              <a:t>&gt;</a:t>
            </a:r>
            <a:r>
              <a:rPr>
                <a:latin typeface="Courier"/>
              </a:rPr>
              <a:t> </a:t>
            </a:r>
            <a:r>
              <a:rPr>
                <a:solidFill>
                  <a:srgbClr val="902000"/>
                </a:solidFill>
                <a:latin typeface="Courier"/>
              </a:rPr>
              <a:t>double</a:t>
            </a:r>
            <a:r>
              <a:rPr>
                <a:solidFill>
                  <a:srgbClr val="666666"/>
                </a:solidFill>
                <a:latin typeface="Courier"/>
              </a:rPr>
              <a:t>(</a:t>
            </a:r>
            <a:r>
              <a:rPr>
                <a:solidFill>
                  <a:srgbClr val="40A070"/>
                </a:solidFill>
                <a:latin typeface="Courier"/>
              </a:rPr>
              <a:t>10</a:t>
            </a:r>
            <a:r>
              <a:rPr>
                <a:solidFill>
                  <a:srgbClr val="666666"/>
                </a:solidFill>
                <a:latin typeface="Courier"/>
              </a:rPr>
              <a:t>)</a:t>
            </a:r>
            <a:br/>
            <a:r>
              <a:rPr>
                <a:latin typeface="Courier"/>
              </a:rPr>
              <a:t>res1</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t>
            </a:r>
            <a:r>
              <a:rPr>
                <a:solidFill>
                  <a:srgbClr val="40A070"/>
                </a:solidFill>
                <a:latin typeface="Courier"/>
              </a:rPr>
              <a:t>20</a:t>
            </a:r>
          </a:p>
          <a:p>
            <a:pPr lvl="0" indent="0" marL="0">
              <a:buNone/>
            </a:pPr>
            <a:r>
              <a:rPr/>
              <a:t>片段 3</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def</a:t>
            </a:r>
            <a:r>
              <a:rPr>
                <a:latin typeface="Courier"/>
              </a:rPr>
              <a:t> </a:t>
            </a:r>
            <a:r>
              <a:rPr>
                <a:solidFill>
                  <a:srgbClr val="902000"/>
                </a:solidFill>
                <a:latin typeface="Courier"/>
              </a:rPr>
              <a:t>double</a:t>
            </a:r>
            <a:r>
              <a:rPr>
                <a:solidFill>
                  <a:srgbClr val="666666"/>
                </a:solidFill>
                <a:latin typeface="Courier"/>
              </a:rPr>
              <a:t>(</a:t>
            </a:r>
            <a:r>
              <a:rPr>
                <a:latin typeface="Courier"/>
              </a:rPr>
              <a:t>a</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 </a:t>
            </a:r>
            <a:r>
              <a:rPr>
                <a:solidFill>
                  <a:srgbClr val="666666"/>
                </a:solidFill>
                <a:latin typeface="Courier"/>
              </a:rPr>
              <a:t>*</a:t>
            </a:r>
            <a:r>
              <a:rPr>
                <a:latin typeface="Courier"/>
              </a:rPr>
              <a:t> </a:t>
            </a:r>
            <a:r>
              <a:rPr>
                <a:solidFill>
                  <a:srgbClr val="40A070"/>
                </a:solidFill>
                <a:latin typeface="Courier"/>
              </a:rPr>
              <a:t>2</a:t>
            </a:r>
            <a:br/>
            <a:r>
              <a:rPr>
                <a:solidFill>
                  <a:srgbClr val="902000"/>
                </a:solidFill>
                <a:latin typeface="Courier"/>
              </a:rPr>
              <a:t>double</a:t>
            </a:r>
            <a:r>
              <a:rPr>
                <a:solidFill>
                  <a:srgbClr val="666666"/>
                </a:solidFill>
                <a:latin typeface="Courier"/>
              </a:rPr>
              <a:t>:</a:t>
            </a:r>
            <a:r>
              <a:rPr>
                <a:latin typeface="Courier"/>
              </a:rPr>
              <a:t> </a:t>
            </a:r>
            <a:r>
              <a:rPr>
                <a:solidFill>
                  <a:srgbClr val="666666"/>
                </a:solidFill>
                <a:latin typeface="Courier"/>
              </a:rPr>
              <a:t>(</a:t>
            </a:r>
            <a:r>
              <a:rPr>
                <a:latin typeface="Courier"/>
              </a:rPr>
              <a:t>a</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solidFill>
                  <a:srgbClr val="008000"/>
                </a:solidFill>
                <a:latin typeface="Courier"/>
              </a:rPr>
              <a:t>Int</a:t>
            </a:r>
          </a:p>
          <a:p>
            <a:pPr lvl="0" indent="0" marL="0">
              <a:buNone/>
            </a:pPr>
            <a:r>
              <a:rPr/>
              <a:t>片段 4</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def</a:t>
            </a:r>
            <a:r>
              <a:rPr>
                <a:latin typeface="Courier"/>
              </a:rPr>
              <a:t> </a:t>
            </a:r>
            <a:r>
              <a:rPr>
                <a:solidFill>
                  <a:srgbClr val="06287E"/>
                </a:solidFill>
                <a:latin typeface="Courier"/>
              </a:rPr>
              <a:t>add</a:t>
            </a:r>
            <a:r>
              <a:rPr>
                <a:solidFill>
                  <a:srgbClr val="666666"/>
                </a:solidFill>
                <a:latin typeface="Courier"/>
              </a:rPr>
              <a:t>(</a:t>
            </a:r>
            <a:r>
              <a:rPr>
                <a:latin typeface="Courier"/>
              </a:rPr>
              <a:t>a</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b</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a </a:t>
            </a:r>
            <a:r>
              <a:rPr>
                <a:solidFill>
                  <a:srgbClr val="666666"/>
                </a:solidFill>
                <a:latin typeface="Courier"/>
              </a:rPr>
              <a:t>+</a:t>
            </a:r>
            <a:r>
              <a:rPr>
                <a:latin typeface="Courier"/>
              </a:rPr>
              <a:t> b</a:t>
            </a:r>
            <a:br/>
            <a:r>
              <a:rPr>
                <a:latin typeface="Courier"/>
              </a:rPr>
              <a:t>add</a:t>
            </a:r>
            <a:r>
              <a:rPr>
                <a:solidFill>
                  <a:srgbClr val="666666"/>
                </a:solidFill>
                <a:latin typeface="Courier"/>
              </a:rPr>
              <a:t>:</a:t>
            </a:r>
            <a:r>
              <a:rPr>
                <a:latin typeface="Courier"/>
              </a:rPr>
              <a:t> </a:t>
            </a:r>
            <a:r>
              <a:rPr>
                <a:solidFill>
                  <a:srgbClr val="666666"/>
                </a:solidFill>
                <a:latin typeface="Courier"/>
              </a:rPr>
              <a:t>(</a:t>
            </a:r>
            <a:r>
              <a:rPr>
                <a:latin typeface="Courier"/>
              </a:rPr>
              <a:t>a</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b</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solidFill>
                  <a:srgbClr val="008000"/>
                </a:solidFill>
                <a:latin typeface="Courier"/>
              </a:rPr>
              <a:t>Int</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2.5.1 面向对象编程：代码片段（24/27）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当一个方法只有一行</a:t>
            </a:r>
          </a:p>
          <a:p>
            <a:pPr lvl="0"/>
            <a:r>
              <a:rPr/>
              <a:t>先对照代码理解 Scala特质是该语言的一大特色</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def</a:t>
            </a:r>
            <a:r>
              <a:rPr>
                <a:latin typeface="Courier"/>
              </a:rPr>
              <a:t> </a:t>
            </a:r>
            <a:r>
              <a:rPr>
                <a:solidFill>
                  <a:srgbClr val="06287E"/>
                </a:solidFill>
                <a:latin typeface="Courier"/>
              </a:rPr>
              <a:t>addThenDouble</a:t>
            </a:r>
            <a:r>
              <a:rPr>
                <a:solidFill>
                  <a:srgbClr val="666666"/>
                </a:solidFill>
                <a:latin typeface="Courier"/>
              </a:rPr>
              <a:t>(</a:t>
            </a:r>
            <a:r>
              <a:rPr>
                <a:latin typeface="Courier"/>
              </a:rPr>
              <a:t>a</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b</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r>
              <a:rPr>
                <a:latin typeface="Courier"/>
              </a:rPr>
              <a:t> </a:t>
            </a:r>
            <a:r>
              <a:rPr b="1">
                <a:solidFill>
                  <a:srgbClr val="007020"/>
                </a:solidFill>
                <a:latin typeface="Courier"/>
              </a:rPr>
              <a:t>val</a:t>
            </a:r>
            <a:r>
              <a:rPr>
                <a:latin typeface="Courier"/>
              </a:rPr>
              <a:t> sum </a:t>
            </a:r>
            <a:r>
              <a:rPr>
                <a:solidFill>
                  <a:srgbClr val="666666"/>
                </a:solidFill>
                <a:latin typeface="Courier"/>
              </a:rPr>
              <a:t>=</a:t>
            </a:r>
            <a:r>
              <a:rPr>
                <a:latin typeface="Courier"/>
              </a:rPr>
              <a:t> a </a:t>
            </a:r>
            <a:r>
              <a:rPr>
                <a:solidFill>
                  <a:srgbClr val="666666"/>
                </a:solidFill>
                <a:latin typeface="Courier"/>
              </a:rPr>
              <a:t>+</a:t>
            </a:r>
            <a:r>
              <a:rPr>
                <a:latin typeface="Courier"/>
              </a:rPr>
              <a:t> b</a:t>
            </a:r>
            <a:br/>
            <a:r>
              <a:rPr>
                <a:solidFill>
                  <a:srgbClr val="666666"/>
                </a:solidFill>
                <a:latin typeface="Courier"/>
              </a:rPr>
              <a:t>|</a:t>
            </a:r>
            <a:r>
              <a:rPr>
                <a:latin typeface="Courier"/>
              </a:rPr>
              <a:t> </a:t>
            </a:r>
            <a:r>
              <a:rPr b="1">
                <a:solidFill>
                  <a:srgbClr val="007020"/>
                </a:solidFill>
                <a:latin typeface="Courier"/>
              </a:rPr>
              <a:t>val</a:t>
            </a:r>
            <a:r>
              <a:rPr>
                <a:latin typeface="Courier"/>
              </a:rPr>
              <a:t> doubled </a:t>
            </a:r>
            <a:r>
              <a:rPr>
                <a:solidFill>
                  <a:srgbClr val="666666"/>
                </a:solidFill>
                <a:latin typeface="Courier"/>
              </a:rPr>
              <a:t>=</a:t>
            </a:r>
            <a:r>
              <a:rPr>
                <a:latin typeface="Courier"/>
              </a:rPr>
              <a:t> sum </a:t>
            </a:r>
            <a:r>
              <a:rPr>
                <a:solidFill>
                  <a:srgbClr val="666666"/>
                </a:solidFill>
                <a:latin typeface="Courier"/>
              </a:rPr>
              <a:t>*</a:t>
            </a:r>
            <a:r>
              <a:rPr>
                <a:latin typeface="Courier"/>
              </a:rPr>
              <a:t> </a:t>
            </a:r>
            <a:r>
              <a:rPr>
                <a:solidFill>
                  <a:srgbClr val="40A070"/>
                </a:solidFill>
                <a:latin typeface="Courier"/>
              </a:rPr>
              <a:t>2</a:t>
            </a:r>
            <a:br/>
            <a:r>
              <a:rPr>
                <a:solidFill>
                  <a:srgbClr val="666666"/>
                </a:solidFill>
                <a:latin typeface="Courier"/>
              </a:rPr>
              <a:t>|</a:t>
            </a:r>
            <a:r>
              <a:rPr>
                <a:latin typeface="Courier"/>
              </a:rPr>
              <a:t> doubled</a:t>
            </a:r>
            <a:br/>
            <a:r>
              <a:rPr>
                <a:solidFill>
                  <a:srgbClr val="666666"/>
                </a:solidFill>
                <a:latin typeface="Courier"/>
              </a:rPr>
              <a:t>|</a:t>
            </a:r>
            <a:r>
              <a:rPr>
                <a:latin typeface="Courier"/>
              </a:rPr>
              <a:t> </a:t>
            </a:r>
            <a:r>
              <a:rPr>
                <a:solidFill>
                  <a:srgbClr val="666666"/>
                </a:solidFill>
                <a:latin typeface="Courier"/>
              </a:rPr>
              <a:t>}</a:t>
            </a:r>
            <a:br/>
            <a:r>
              <a:rPr i="1">
                <a:solidFill>
                  <a:srgbClr val="60A0B0"/>
                </a:solidFill>
                <a:latin typeface="Courier"/>
              </a:rPr>
              <a:t>// ...</a:t>
            </a:r>
          </a:p>
          <a:p>
            <a:pPr lvl="0" indent="0" marL="0">
              <a:buNone/>
            </a:pPr>
            <a:r>
              <a:rPr/>
              <a:t>片段 2</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trait</a:t>
            </a:r>
            <a:r>
              <a:rPr>
                <a:latin typeface="Courier"/>
              </a:rPr>
              <a:t> TailWagger </a:t>
            </a:r>
            <a:r>
              <a:rPr>
                <a:solidFill>
                  <a:srgbClr val="666666"/>
                </a:solidFill>
                <a:latin typeface="Courier"/>
              </a:rPr>
              <a:t>{</a:t>
            </a:r>
            <a:br/>
            <a:r>
              <a:rPr>
                <a:solidFill>
                  <a:srgbClr val="666666"/>
                </a:solidFill>
                <a:latin typeface="Courier"/>
              </a:rPr>
              <a:t>|</a:t>
            </a:r>
            <a:r>
              <a:rPr>
                <a:latin typeface="Courier"/>
              </a:rPr>
              <a:t> </a:t>
            </a:r>
            <a:r>
              <a:rPr b="1">
                <a:solidFill>
                  <a:srgbClr val="007020"/>
                </a:solidFill>
                <a:latin typeface="Courier"/>
              </a:rPr>
              <a:t>def</a:t>
            </a:r>
            <a:r>
              <a:rPr>
                <a:latin typeface="Courier"/>
              </a:rPr>
              <a:t> </a:t>
            </a:r>
            <a:r>
              <a:rPr>
                <a:solidFill>
                  <a:srgbClr val="06287E"/>
                </a:solidFill>
                <a:latin typeface="Courier"/>
              </a:rPr>
              <a:t>startTail</a:t>
            </a:r>
            <a:r>
              <a:rPr>
                <a:solidFill>
                  <a:srgbClr val="666666"/>
                </a:solidFill>
                <a:latin typeface="Courier"/>
              </a:rPr>
              <a:t>():</a:t>
            </a:r>
            <a:r>
              <a:rPr>
                <a:latin typeface="Courier"/>
              </a:rPr>
              <a:t> </a:t>
            </a:r>
            <a:r>
              <a:rPr>
                <a:solidFill>
                  <a:srgbClr val="008000"/>
                </a:solidFill>
                <a:latin typeface="Courier"/>
              </a:rPr>
              <a:t>Unit</a:t>
            </a:r>
            <a:br/>
            <a:r>
              <a:rPr>
                <a:solidFill>
                  <a:srgbClr val="666666"/>
                </a:solidFill>
                <a:latin typeface="Courier"/>
              </a:rPr>
              <a:t>|</a:t>
            </a:r>
            <a:r>
              <a:rPr>
                <a:latin typeface="Courier"/>
              </a:rPr>
              <a:t> </a:t>
            </a:r>
            <a:r>
              <a:rPr b="1">
                <a:solidFill>
                  <a:srgbClr val="007020"/>
                </a:solidFill>
                <a:latin typeface="Courier"/>
              </a:rPr>
              <a:t>def</a:t>
            </a:r>
            <a:r>
              <a:rPr>
                <a:latin typeface="Courier"/>
              </a:rPr>
              <a:t> </a:t>
            </a:r>
            <a:r>
              <a:rPr>
                <a:solidFill>
                  <a:srgbClr val="06287E"/>
                </a:solidFill>
                <a:latin typeface="Courier"/>
              </a:rPr>
              <a:t>stopTail</a:t>
            </a:r>
            <a:r>
              <a:rPr>
                <a:solidFill>
                  <a:srgbClr val="666666"/>
                </a:solidFill>
                <a:latin typeface="Courier"/>
              </a:rPr>
              <a:t>():</a:t>
            </a:r>
            <a:r>
              <a:rPr>
                <a:latin typeface="Courier"/>
              </a:rPr>
              <a:t> </a:t>
            </a:r>
            <a:r>
              <a:rPr>
                <a:solidFill>
                  <a:srgbClr val="008000"/>
                </a:solidFill>
                <a:latin typeface="Courier"/>
              </a:rPr>
              <a:t>Unit</a:t>
            </a:r>
            <a:br/>
            <a:r>
              <a:rPr>
                <a:solidFill>
                  <a:srgbClr val="666666"/>
                </a:solidFill>
                <a:latin typeface="Courier"/>
              </a:rPr>
              <a:t>|</a:t>
            </a:r>
            <a:r>
              <a:rPr>
                <a:latin typeface="Courier"/>
              </a:rPr>
              <a:t> </a:t>
            </a:r>
            <a:r>
              <a:rPr>
                <a:solidFill>
                  <a:srgbClr val="666666"/>
                </a:solidFill>
                <a:latin typeface="Courier"/>
              </a:rPr>
              <a:t>}</a:t>
            </a:r>
            <a:br/>
            <a:r>
              <a:rPr>
                <a:latin typeface="Courier"/>
              </a:rPr>
              <a:t>defined </a:t>
            </a:r>
            <a:r>
              <a:rPr b="1">
                <a:solidFill>
                  <a:srgbClr val="007020"/>
                </a:solidFill>
                <a:latin typeface="Courier"/>
              </a:rPr>
              <a:t>trait</a:t>
            </a:r>
            <a:r>
              <a:rPr>
                <a:latin typeface="Courier"/>
              </a:rPr>
              <a:t> TailWagger</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2.5.1 面向对象编程：代码片段（25/27）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该代码声明了一个名为TailWagger的特质</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class</a:t>
            </a:r>
            <a:r>
              <a:rPr>
                <a:latin typeface="Courier"/>
              </a:rPr>
              <a:t> Dog </a:t>
            </a:r>
            <a:r>
              <a:rPr b="1">
                <a:solidFill>
                  <a:srgbClr val="007020"/>
                </a:solidFill>
                <a:latin typeface="Courier"/>
              </a:rPr>
              <a:t>extends</a:t>
            </a:r>
            <a:r>
              <a:rPr>
                <a:latin typeface="Courier"/>
              </a:rPr>
              <a:t> TailWagger </a:t>
            </a:r>
            <a:r>
              <a:rPr>
                <a:solidFill>
                  <a:srgbClr val="666666"/>
                </a:solidFill>
                <a:latin typeface="Courier"/>
              </a:rPr>
              <a:t>{</a:t>
            </a:r>
            <a:br/>
            <a:r>
              <a:rPr>
                <a:solidFill>
                  <a:srgbClr val="666666"/>
                </a:solidFill>
                <a:latin typeface="Courier"/>
              </a:rPr>
              <a:t>|</a:t>
            </a:r>
            <a:r>
              <a:rPr>
                <a:latin typeface="Courier"/>
              </a:rPr>
              <a:t> </a:t>
            </a:r>
            <a:r>
              <a:rPr i="1">
                <a:solidFill>
                  <a:srgbClr val="60A0B0"/>
                </a:solidFill>
                <a:latin typeface="Courier"/>
              </a:rPr>
              <a:t>// the implemented msethods</a:t>
            </a:r>
            <a:br/>
            <a:r>
              <a:rPr>
                <a:solidFill>
                  <a:srgbClr val="666666"/>
                </a:solidFill>
                <a:latin typeface="Courier"/>
              </a:rPr>
              <a:t>|</a:t>
            </a:r>
            <a:r>
              <a:rPr>
                <a:latin typeface="Courier"/>
              </a:rPr>
              <a:t> </a:t>
            </a:r>
            <a:r>
              <a:rPr b="1">
                <a:solidFill>
                  <a:srgbClr val="007020"/>
                </a:solidFill>
                <a:latin typeface="Courier"/>
              </a:rPr>
              <a:t>def</a:t>
            </a:r>
            <a:r>
              <a:rPr>
                <a:latin typeface="Courier"/>
              </a:rPr>
              <a:t> </a:t>
            </a:r>
            <a:r>
              <a:rPr>
                <a:solidFill>
                  <a:srgbClr val="06287E"/>
                </a:solidFill>
                <a:latin typeface="Courier"/>
              </a:rPr>
              <a:t>startTail</a:t>
            </a:r>
            <a:r>
              <a:rPr>
                <a:solidFill>
                  <a:srgbClr val="666666"/>
                </a:solidFill>
                <a:latin typeface="Courier"/>
              </a:rPr>
              <a:t>():</a:t>
            </a:r>
            <a:r>
              <a:rPr>
                <a:latin typeface="Courier"/>
              </a:rPr>
              <a:t> </a:t>
            </a:r>
            <a:r>
              <a:rPr>
                <a:solidFill>
                  <a:srgbClr val="008000"/>
                </a:solidFill>
                <a:latin typeface="Courier"/>
              </a:rPr>
              <a:t>Unit</a:t>
            </a:r>
            <a:r>
              <a:rPr>
                <a:latin typeface="Courier"/>
              </a:rPr>
              <a:t> </a:t>
            </a:r>
            <a:r>
              <a:rPr>
                <a:solidFill>
                  <a:srgbClr val="666666"/>
                </a:solidFill>
                <a:latin typeface="Courier"/>
              </a:rPr>
              <a:t>=</a:t>
            </a:r>
            <a:r>
              <a:rPr>
                <a:latin typeface="Courier"/>
              </a:rPr>
              <a:t> </a:t>
            </a:r>
            <a:r>
              <a:rPr>
                <a:solidFill>
                  <a:srgbClr val="06287E"/>
                </a:solidFill>
                <a:latin typeface="Courier"/>
              </a:rPr>
              <a:t>println</a:t>
            </a:r>
            <a:r>
              <a:rPr>
                <a:solidFill>
                  <a:srgbClr val="666666"/>
                </a:solidFill>
                <a:latin typeface="Courier"/>
              </a:rPr>
              <a:t>(</a:t>
            </a:r>
            <a:r>
              <a:rPr>
                <a:solidFill>
                  <a:srgbClr val="4070A0"/>
                </a:solidFill>
                <a:latin typeface="Courier"/>
              </a:rPr>
              <a:t>"tail is wagging"</a:t>
            </a:r>
            <a:r>
              <a:rPr>
                <a:solidFill>
                  <a:srgbClr val="666666"/>
                </a:solidFill>
                <a:latin typeface="Courier"/>
              </a:rPr>
              <a:t>)</a:t>
            </a:r>
            <a:br/>
            <a:r>
              <a:rPr>
                <a:solidFill>
                  <a:srgbClr val="666666"/>
                </a:solidFill>
                <a:latin typeface="Courier"/>
              </a:rPr>
              <a:t>|</a:t>
            </a:r>
            <a:r>
              <a:rPr>
                <a:latin typeface="Courier"/>
              </a:rPr>
              <a:t> </a:t>
            </a:r>
            <a:r>
              <a:rPr b="1">
                <a:solidFill>
                  <a:srgbClr val="007020"/>
                </a:solidFill>
                <a:latin typeface="Courier"/>
              </a:rPr>
              <a:t>def</a:t>
            </a:r>
            <a:r>
              <a:rPr>
                <a:latin typeface="Courier"/>
              </a:rPr>
              <a:t> </a:t>
            </a:r>
            <a:r>
              <a:rPr>
                <a:solidFill>
                  <a:srgbClr val="06287E"/>
                </a:solidFill>
                <a:latin typeface="Courier"/>
              </a:rPr>
              <a:t>stopTail</a:t>
            </a:r>
            <a:r>
              <a:rPr>
                <a:solidFill>
                  <a:srgbClr val="666666"/>
                </a:solidFill>
                <a:latin typeface="Courier"/>
              </a:rPr>
              <a:t>():</a:t>
            </a:r>
            <a:r>
              <a:rPr>
                <a:latin typeface="Courier"/>
              </a:rPr>
              <a:t> </a:t>
            </a:r>
            <a:r>
              <a:rPr>
                <a:solidFill>
                  <a:srgbClr val="008000"/>
                </a:solidFill>
                <a:latin typeface="Courier"/>
              </a:rPr>
              <a:t>Unit</a:t>
            </a:r>
            <a:r>
              <a:rPr>
                <a:latin typeface="Courier"/>
              </a:rPr>
              <a:t> </a:t>
            </a:r>
            <a:r>
              <a:rPr>
                <a:solidFill>
                  <a:srgbClr val="666666"/>
                </a:solidFill>
                <a:latin typeface="Courier"/>
              </a:rPr>
              <a:t>=</a:t>
            </a:r>
            <a:r>
              <a:rPr>
                <a:latin typeface="Courier"/>
              </a:rPr>
              <a:t> </a:t>
            </a:r>
            <a:r>
              <a:rPr>
                <a:solidFill>
                  <a:srgbClr val="06287E"/>
                </a:solidFill>
                <a:latin typeface="Courier"/>
              </a:rPr>
              <a:t>println</a:t>
            </a:r>
            <a:r>
              <a:rPr>
                <a:solidFill>
                  <a:srgbClr val="666666"/>
                </a:solidFill>
                <a:latin typeface="Courier"/>
              </a:rPr>
              <a:t>(</a:t>
            </a:r>
            <a:r>
              <a:rPr>
                <a:solidFill>
                  <a:srgbClr val="4070A0"/>
                </a:solidFill>
                <a:latin typeface="Courier"/>
              </a:rPr>
              <a:t>"tail is stopped"</a:t>
            </a:r>
            <a:r>
              <a:rPr>
                <a:solidFill>
                  <a:srgbClr val="666666"/>
                </a:solidFill>
                <a:latin typeface="Courier"/>
              </a:rPr>
              <a:t>)</a:t>
            </a:r>
            <a:br/>
            <a:r>
              <a:rPr>
                <a:solidFill>
                  <a:srgbClr val="666666"/>
                </a:solidFill>
                <a:latin typeface="Courier"/>
              </a:rPr>
              <a:t>|</a:t>
            </a:r>
            <a:r>
              <a:rPr>
                <a:latin typeface="Courier"/>
              </a:rPr>
              <a:t> </a:t>
            </a:r>
            <a:r>
              <a:rPr>
                <a:solidFill>
                  <a:srgbClr val="666666"/>
                </a:solidFill>
                <a:latin typeface="Courier"/>
              </a:rPr>
              <a:t>}</a:t>
            </a:r>
            <a:br/>
            <a:r>
              <a:rPr>
                <a:latin typeface="Courier"/>
              </a:rPr>
              <a:t>defined </a:t>
            </a:r>
            <a:r>
              <a:rPr b="1">
                <a:solidFill>
                  <a:srgbClr val="007020"/>
                </a:solidFill>
                <a:latin typeface="Courier"/>
              </a:rPr>
              <a:t>class</a:t>
            </a:r>
            <a:r>
              <a:rPr>
                <a:latin typeface="Courier"/>
              </a:rPr>
              <a:t> Dog</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d </a:t>
            </a:r>
            <a:r>
              <a:rPr>
                <a:solidFill>
                  <a:srgbClr val="666666"/>
                </a:solidFill>
                <a:latin typeface="Courier"/>
              </a:rPr>
              <a:t>=</a:t>
            </a:r>
            <a:r>
              <a:rPr>
                <a:latin typeface="Courier"/>
              </a:rPr>
              <a:t> </a:t>
            </a:r>
            <a:r>
              <a:rPr b="1">
                <a:solidFill>
                  <a:srgbClr val="007020"/>
                </a:solidFill>
                <a:latin typeface="Courier"/>
              </a:rPr>
              <a:t>new</a:t>
            </a:r>
            <a:r>
              <a:rPr>
                <a:latin typeface="Courier"/>
              </a:rPr>
              <a:t> Dog</a:t>
            </a:r>
            <a:br/>
            <a:r>
              <a:rPr>
                <a:latin typeface="Courier"/>
              </a:rPr>
              <a:t>d</a:t>
            </a:r>
            <a:r>
              <a:rPr>
                <a:solidFill>
                  <a:srgbClr val="666666"/>
                </a:solidFill>
                <a:latin typeface="Courier"/>
              </a:rPr>
              <a:t>:</a:t>
            </a:r>
            <a:r>
              <a:rPr>
                <a:latin typeface="Courier"/>
              </a:rPr>
              <a:t> Dog </a:t>
            </a:r>
            <a:r>
              <a:rPr>
                <a:solidFill>
                  <a:srgbClr val="666666"/>
                </a:solidFill>
                <a:latin typeface="Courier"/>
              </a:rPr>
              <a:t>=</a:t>
            </a:r>
            <a:r>
              <a:rPr>
                <a:latin typeface="Courier"/>
              </a:rPr>
              <a:t> Dog@</a:t>
            </a:r>
            <a:r>
              <a:rPr>
                <a:solidFill>
                  <a:srgbClr val="40A070"/>
                </a:solidFill>
                <a:latin typeface="Courier"/>
              </a:rPr>
              <a:t>5</a:t>
            </a:r>
            <a:r>
              <a:rPr>
                <a:latin typeface="Courier"/>
              </a:rPr>
              <a:t>b8572df</a:t>
            </a:r>
            <a:br/>
            <a:r>
              <a:rPr>
                <a:latin typeface="Courier"/>
              </a:rPr>
              <a:t>scala</a:t>
            </a:r>
            <a:r>
              <a:rPr>
                <a:solidFill>
                  <a:srgbClr val="666666"/>
                </a:solidFill>
                <a:latin typeface="Courier"/>
              </a:rPr>
              <a:t>&gt;</a:t>
            </a:r>
            <a:r>
              <a:rPr>
                <a:latin typeface="Courier"/>
              </a:rPr>
              <a:t> d</a:t>
            </a:r>
            <a:r>
              <a:rPr>
                <a:solidFill>
                  <a:srgbClr val="666666"/>
                </a:solidFill>
                <a:latin typeface="Courier"/>
              </a:rPr>
              <a:t>.</a:t>
            </a:r>
            <a:r>
              <a:rPr>
                <a:latin typeface="Courier"/>
              </a:rPr>
              <a:t>startTail</a:t>
            </a:r>
            <a:br/>
            <a:r>
              <a:rPr>
                <a:latin typeface="Courier"/>
              </a:rPr>
              <a:t>tail is wagging</a:t>
            </a:r>
            <a:br/>
            <a:r>
              <a:rPr>
                <a:latin typeface="Courier"/>
              </a:rPr>
              <a:t>scala</a:t>
            </a:r>
            <a:r>
              <a:rPr>
                <a:solidFill>
                  <a:srgbClr val="666666"/>
                </a:solidFill>
                <a:latin typeface="Courier"/>
              </a:rPr>
              <a:t>&gt;</a:t>
            </a:r>
            <a:r>
              <a:rPr>
                <a:latin typeface="Courier"/>
              </a:rPr>
              <a:t> d</a:t>
            </a:r>
            <a:r>
              <a:rPr>
                <a:solidFill>
                  <a:srgbClr val="666666"/>
                </a:solidFill>
                <a:latin typeface="Courier"/>
              </a:rPr>
              <a:t>.</a:t>
            </a:r>
            <a:r>
              <a:rPr>
                <a:latin typeface="Courier"/>
              </a:rPr>
              <a:t>stopTail</a:t>
            </a:r>
            <a:br/>
            <a:r>
              <a:rPr>
                <a:latin typeface="Courier"/>
              </a:rPr>
              <a:t>tail is stopped</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2.5.1 面向对象编程：代码片段（26/27）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我们可以使用extends关键字来创建扩展单个特征的类</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trait</a:t>
            </a:r>
            <a:r>
              <a:rPr>
                <a:latin typeface="Courier"/>
              </a:rPr>
              <a:t> Speaker </a:t>
            </a:r>
            <a:r>
              <a:rPr>
                <a:solidFill>
                  <a:srgbClr val="666666"/>
                </a:solidFill>
                <a:latin typeface="Courier"/>
              </a:rPr>
              <a:t>{</a:t>
            </a:r>
            <a:br/>
            <a:r>
              <a:rPr>
                <a:solidFill>
                  <a:srgbClr val="666666"/>
                </a:solidFill>
                <a:latin typeface="Courier"/>
              </a:rPr>
              <a:t>|</a:t>
            </a:r>
            <a:r>
              <a:rPr>
                <a:latin typeface="Courier"/>
              </a:rPr>
              <a:t> </a:t>
            </a:r>
            <a:r>
              <a:rPr b="1">
                <a:solidFill>
                  <a:srgbClr val="007020"/>
                </a:solidFill>
                <a:latin typeface="Courier"/>
              </a:rPr>
              <a:t>def</a:t>
            </a:r>
            <a:r>
              <a:rPr>
                <a:latin typeface="Courier"/>
              </a:rPr>
              <a:t> </a:t>
            </a:r>
            <a:r>
              <a:rPr>
                <a:solidFill>
                  <a:srgbClr val="06287E"/>
                </a:solidFill>
                <a:latin typeface="Courier"/>
              </a:rPr>
              <a:t>speak</a:t>
            </a:r>
            <a:r>
              <a:rPr>
                <a:solidFill>
                  <a:srgbClr val="666666"/>
                </a:solidFill>
                <a:latin typeface="Courier"/>
              </a:rPr>
              <a:t>():</a:t>
            </a:r>
            <a:r>
              <a:rPr>
                <a:latin typeface="Courier"/>
              </a:rPr>
              <a:t> String</a:t>
            </a:r>
            <a:br/>
            <a:r>
              <a:rPr>
                <a:solidFill>
                  <a:srgbClr val="666666"/>
                </a:solidFill>
                <a:latin typeface="Courier"/>
              </a:rPr>
              <a:t>|</a:t>
            </a:r>
            <a:r>
              <a:rPr>
                <a:latin typeface="Courier"/>
              </a:rPr>
              <a:t> </a:t>
            </a:r>
            <a:r>
              <a:rPr>
                <a:solidFill>
                  <a:srgbClr val="666666"/>
                </a:solidFill>
                <a:latin typeface="Courier"/>
              </a:rPr>
              <a:t>}</a:t>
            </a:r>
            <a:br/>
            <a:r>
              <a:rPr>
                <a:latin typeface="Courier"/>
              </a:rPr>
              <a:t>defined </a:t>
            </a:r>
            <a:r>
              <a:rPr b="1">
                <a:solidFill>
                  <a:srgbClr val="007020"/>
                </a:solidFill>
                <a:latin typeface="Courier"/>
              </a:rPr>
              <a:t>trait</a:t>
            </a:r>
            <a:r>
              <a:rPr>
                <a:latin typeface="Courier"/>
              </a:rPr>
              <a:t> Speaker</a:t>
            </a:r>
            <a:br/>
            <a:r>
              <a:rPr>
                <a:latin typeface="Courier"/>
              </a:rPr>
              <a:t>scala</a:t>
            </a:r>
            <a:r>
              <a:rPr>
                <a:solidFill>
                  <a:srgbClr val="666666"/>
                </a:solidFill>
                <a:latin typeface="Courier"/>
              </a:rPr>
              <a:t>&gt;</a:t>
            </a:r>
            <a:br/>
            <a:r>
              <a:rPr>
                <a:latin typeface="Courier"/>
              </a:rPr>
              <a:t>scala</a:t>
            </a:r>
            <a:r>
              <a:rPr>
                <a:solidFill>
                  <a:srgbClr val="666666"/>
                </a:solidFill>
                <a:latin typeface="Courier"/>
              </a:rPr>
              <a:t>&gt;</a:t>
            </a:r>
            <a:r>
              <a:rPr>
                <a:latin typeface="Courier"/>
              </a:rPr>
              <a:t> </a:t>
            </a:r>
            <a:r>
              <a:rPr b="1">
                <a:solidFill>
                  <a:srgbClr val="007020"/>
                </a:solidFill>
                <a:latin typeface="Courier"/>
              </a:rPr>
              <a:t>trait</a:t>
            </a:r>
            <a:r>
              <a:rPr>
                <a:latin typeface="Courier"/>
              </a:rPr>
              <a:t> TailWagger </a:t>
            </a:r>
            <a:r>
              <a:rPr>
                <a:solidFill>
                  <a:srgbClr val="666666"/>
                </a:solidFill>
                <a:latin typeface="Courier"/>
              </a:rPr>
              <a:t>{</a:t>
            </a:r>
            <a:br/>
            <a:r>
              <a:rPr>
                <a:solidFill>
                  <a:srgbClr val="666666"/>
                </a:solidFill>
                <a:latin typeface="Courier"/>
              </a:rPr>
              <a:t>|</a:t>
            </a:r>
            <a:r>
              <a:rPr>
                <a:latin typeface="Courier"/>
              </a:rPr>
              <a:t> </a:t>
            </a:r>
            <a:r>
              <a:rPr b="1">
                <a:solidFill>
                  <a:srgbClr val="007020"/>
                </a:solidFill>
                <a:latin typeface="Courier"/>
              </a:rPr>
              <a:t>def</a:t>
            </a:r>
            <a:r>
              <a:rPr>
                <a:latin typeface="Courier"/>
              </a:rPr>
              <a:t> </a:t>
            </a:r>
            <a:r>
              <a:rPr>
                <a:solidFill>
                  <a:srgbClr val="06287E"/>
                </a:solidFill>
                <a:latin typeface="Courier"/>
              </a:rPr>
              <a:t>startTail</a:t>
            </a:r>
            <a:r>
              <a:rPr>
                <a:solidFill>
                  <a:srgbClr val="666666"/>
                </a:solidFill>
                <a:latin typeface="Courier"/>
              </a:rPr>
              <a:t>():</a:t>
            </a:r>
            <a:r>
              <a:rPr>
                <a:latin typeface="Courier"/>
              </a:rPr>
              <a:t> </a:t>
            </a:r>
            <a:r>
              <a:rPr>
                <a:solidFill>
                  <a:srgbClr val="008000"/>
                </a:solidFill>
                <a:latin typeface="Courier"/>
              </a:rPr>
              <a:t>Unit</a:t>
            </a:r>
            <a:br/>
            <a:r>
              <a:rPr>
                <a:solidFill>
                  <a:srgbClr val="666666"/>
                </a:solidFill>
                <a:latin typeface="Courier"/>
              </a:rPr>
              <a:t>|</a:t>
            </a:r>
            <a:r>
              <a:rPr>
                <a:latin typeface="Courier"/>
              </a:rPr>
              <a:t> </a:t>
            </a:r>
            <a:r>
              <a:rPr b="1">
                <a:solidFill>
                  <a:srgbClr val="007020"/>
                </a:solidFill>
                <a:latin typeface="Courier"/>
              </a:rPr>
              <a:t>def</a:t>
            </a:r>
            <a:r>
              <a:rPr>
                <a:latin typeface="Courier"/>
              </a:rPr>
              <a:t> </a:t>
            </a:r>
            <a:r>
              <a:rPr>
                <a:solidFill>
                  <a:srgbClr val="06287E"/>
                </a:solidFill>
                <a:latin typeface="Courier"/>
              </a:rPr>
              <a:t>stopTail</a:t>
            </a:r>
            <a:r>
              <a:rPr>
                <a:solidFill>
                  <a:srgbClr val="666666"/>
                </a:solidFill>
                <a:latin typeface="Courier"/>
              </a:rPr>
              <a:t>():</a:t>
            </a:r>
            <a:r>
              <a:rPr>
                <a:latin typeface="Courier"/>
              </a:rPr>
              <a:t> </a:t>
            </a:r>
            <a:r>
              <a:rPr>
                <a:solidFill>
                  <a:srgbClr val="008000"/>
                </a:solidFill>
                <a:latin typeface="Courier"/>
              </a:rPr>
              <a:t>Unit</a:t>
            </a:r>
            <a:br/>
            <a:r>
              <a:rPr>
                <a:solidFill>
                  <a:srgbClr val="666666"/>
                </a:solidFill>
                <a:latin typeface="Courier"/>
              </a:rPr>
              <a:t>|</a:t>
            </a:r>
            <a:r>
              <a:rPr>
                <a:latin typeface="Courier"/>
              </a:rPr>
              <a:t> </a:t>
            </a:r>
            <a:r>
              <a:rPr>
                <a:solidFill>
                  <a:srgbClr val="666666"/>
                </a:solidFill>
                <a:latin typeface="Courier"/>
              </a:rPr>
              <a:t>}</a:t>
            </a:r>
            <a:br/>
            <a:r>
              <a:rPr>
                <a:latin typeface="Courier"/>
              </a:rPr>
              <a:t>defined </a:t>
            </a:r>
            <a:r>
              <a:rPr b="1">
                <a:solidFill>
                  <a:srgbClr val="007020"/>
                </a:solidFill>
                <a:latin typeface="Courier"/>
              </a:rPr>
              <a:t>trait</a:t>
            </a:r>
            <a:r>
              <a:rPr>
                <a:latin typeface="Courier"/>
              </a:rPr>
              <a:t> TailWagger</a:t>
            </a:r>
            <a:br/>
            <a:r>
              <a:rPr>
                <a:latin typeface="Courier"/>
              </a:rPr>
              <a:t>scala</a:t>
            </a:r>
            <a:r>
              <a:rPr>
                <a:solidFill>
                  <a:srgbClr val="666666"/>
                </a:solidFill>
                <a:latin typeface="Courier"/>
              </a:rPr>
              <a:t>&gt;</a:t>
            </a:r>
            <a:br/>
            <a:r>
              <a:rPr i="1">
                <a:solidFill>
                  <a:srgbClr val="60A0B0"/>
                </a:solidFill>
                <a:latin typeface="Courier"/>
              </a:rPr>
              <a:t>// ...</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2.5.1 面向对象编程：代码片段（27/27）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一旦有了这些小片段</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class</a:t>
            </a:r>
            <a:r>
              <a:rPr>
                <a:latin typeface="Courier"/>
              </a:rPr>
              <a:t> Dog </a:t>
            </a:r>
            <a:r>
              <a:rPr b="1">
                <a:solidFill>
                  <a:srgbClr val="007020"/>
                </a:solidFill>
                <a:latin typeface="Courier"/>
              </a:rPr>
              <a:t>extends</a:t>
            </a:r>
            <a:r>
              <a:rPr>
                <a:latin typeface="Courier"/>
              </a:rPr>
              <a:t> Speaker </a:t>
            </a:r>
            <a:r>
              <a:rPr b="1">
                <a:solidFill>
                  <a:srgbClr val="007020"/>
                </a:solidFill>
                <a:latin typeface="Courier"/>
              </a:rPr>
              <a:t>with</a:t>
            </a:r>
            <a:r>
              <a:rPr>
                <a:latin typeface="Courier"/>
              </a:rPr>
              <a:t> TailWagger </a:t>
            </a:r>
            <a:r>
              <a:rPr b="1">
                <a:solidFill>
                  <a:srgbClr val="007020"/>
                </a:solidFill>
                <a:latin typeface="Courier"/>
              </a:rPr>
              <a:t>with</a:t>
            </a:r>
            <a:r>
              <a:rPr>
                <a:latin typeface="Courier"/>
              </a:rPr>
              <a:t> Runner </a:t>
            </a:r>
            <a:r>
              <a:rPr>
                <a:solidFill>
                  <a:srgbClr val="666666"/>
                </a:solidFill>
                <a:latin typeface="Courier"/>
              </a:rPr>
              <a:t>{</a:t>
            </a:r>
            <a:br/>
            <a:r>
              <a:rPr>
                <a:solidFill>
                  <a:srgbClr val="666666"/>
                </a:solidFill>
                <a:latin typeface="Courier"/>
              </a:rPr>
              <a:t>|</a:t>
            </a:r>
            <a:br/>
            <a:r>
              <a:rPr>
                <a:solidFill>
                  <a:srgbClr val="666666"/>
                </a:solidFill>
                <a:latin typeface="Courier"/>
              </a:rPr>
              <a:t>|</a:t>
            </a:r>
            <a:r>
              <a:rPr>
                <a:latin typeface="Courier"/>
              </a:rPr>
              <a:t> </a:t>
            </a:r>
            <a:r>
              <a:rPr i="1">
                <a:solidFill>
                  <a:srgbClr val="60A0B0"/>
                </a:solidFill>
                <a:latin typeface="Courier"/>
              </a:rPr>
              <a:t>// Speaker</a:t>
            </a:r>
            <a:br/>
            <a:r>
              <a:rPr>
                <a:solidFill>
                  <a:srgbClr val="666666"/>
                </a:solidFill>
                <a:latin typeface="Courier"/>
              </a:rPr>
              <a:t>|</a:t>
            </a:r>
            <a:r>
              <a:rPr>
                <a:latin typeface="Courier"/>
              </a:rPr>
              <a:t> </a:t>
            </a:r>
            <a:r>
              <a:rPr b="1">
                <a:solidFill>
                  <a:srgbClr val="007020"/>
                </a:solidFill>
                <a:latin typeface="Courier"/>
              </a:rPr>
              <a:t>def</a:t>
            </a:r>
            <a:r>
              <a:rPr>
                <a:latin typeface="Courier"/>
              </a:rPr>
              <a:t> </a:t>
            </a:r>
            <a:r>
              <a:rPr>
                <a:solidFill>
                  <a:srgbClr val="06287E"/>
                </a:solidFill>
                <a:latin typeface="Courier"/>
              </a:rPr>
              <a:t>speak</a:t>
            </a:r>
            <a:r>
              <a:rPr>
                <a:solidFill>
                  <a:srgbClr val="666666"/>
                </a:solidFill>
                <a:latin typeface="Courier"/>
              </a:rPr>
              <a:t>():</a:t>
            </a:r>
            <a:r>
              <a:rPr>
                <a:latin typeface="Courier"/>
              </a:rPr>
              <a:t> String </a:t>
            </a:r>
            <a:r>
              <a:rPr>
                <a:solidFill>
                  <a:srgbClr val="666666"/>
                </a:solidFill>
                <a:latin typeface="Courier"/>
              </a:rPr>
              <a:t>=</a:t>
            </a:r>
            <a:r>
              <a:rPr>
                <a:latin typeface="Courier"/>
              </a:rPr>
              <a:t> </a:t>
            </a:r>
            <a:r>
              <a:rPr>
                <a:solidFill>
                  <a:srgbClr val="4070A0"/>
                </a:solidFill>
                <a:latin typeface="Courier"/>
              </a:rPr>
              <a:t>"Woof!"</a:t>
            </a:r>
            <a:br/>
            <a:r>
              <a:rPr>
                <a:solidFill>
                  <a:srgbClr val="666666"/>
                </a:solidFill>
                <a:latin typeface="Courier"/>
              </a:rPr>
              <a:t>|</a:t>
            </a:r>
            <a:br/>
            <a:r>
              <a:rPr>
                <a:solidFill>
                  <a:srgbClr val="666666"/>
                </a:solidFill>
                <a:latin typeface="Courier"/>
              </a:rPr>
              <a:t>|</a:t>
            </a:r>
            <a:r>
              <a:rPr>
                <a:latin typeface="Courier"/>
              </a:rPr>
              <a:t> </a:t>
            </a:r>
            <a:r>
              <a:rPr i="1">
                <a:solidFill>
                  <a:srgbClr val="60A0B0"/>
                </a:solidFill>
                <a:latin typeface="Courier"/>
              </a:rPr>
              <a:t>// TailWagger</a:t>
            </a:r>
            <a:br/>
            <a:r>
              <a:rPr>
                <a:solidFill>
                  <a:srgbClr val="666666"/>
                </a:solidFill>
                <a:latin typeface="Courier"/>
              </a:rPr>
              <a:t>|</a:t>
            </a:r>
            <a:r>
              <a:rPr>
                <a:latin typeface="Courier"/>
              </a:rPr>
              <a:t> </a:t>
            </a:r>
            <a:r>
              <a:rPr b="1">
                <a:solidFill>
                  <a:srgbClr val="007020"/>
                </a:solidFill>
                <a:latin typeface="Courier"/>
              </a:rPr>
              <a:t>def</a:t>
            </a:r>
            <a:r>
              <a:rPr>
                <a:latin typeface="Courier"/>
              </a:rPr>
              <a:t> </a:t>
            </a:r>
            <a:r>
              <a:rPr>
                <a:solidFill>
                  <a:srgbClr val="06287E"/>
                </a:solidFill>
                <a:latin typeface="Courier"/>
              </a:rPr>
              <a:t>startTail</a:t>
            </a:r>
            <a:r>
              <a:rPr>
                <a:solidFill>
                  <a:srgbClr val="666666"/>
                </a:solidFill>
                <a:latin typeface="Courier"/>
              </a:rPr>
              <a:t>():</a:t>
            </a:r>
            <a:r>
              <a:rPr>
                <a:latin typeface="Courier"/>
              </a:rPr>
              <a:t> </a:t>
            </a:r>
            <a:r>
              <a:rPr>
                <a:solidFill>
                  <a:srgbClr val="008000"/>
                </a:solidFill>
                <a:latin typeface="Courier"/>
              </a:rPr>
              <a:t>Unit</a:t>
            </a:r>
            <a:r>
              <a:rPr>
                <a:latin typeface="Courier"/>
              </a:rPr>
              <a:t> </a:t>
            </a:r>
            <a:r>
              <a:rPr>
                <a:solidFill>
                  <a:srgbClr val="666666"/>
                </a:solidFill>
                <a:latin typeface="Courier"/>
              </a:rPr>
              <a:t>=</a:t>
            </a:r>
            <a:r>
              <a:rPr>
                <a:latin typeface="Courier"/>
              </a:rPr>
              <a:t> </a:t>
            </a:r>
            <a:r>
              <a:rPr>
                <a:solidFill>
                  <a:srgbClr val="06287E"/>
                </a:solidFill>
                <a:latin typeface="Courier"/>
              </a:rPr>
              <a:t>println</a:t>
            </a:r>
            <a:r>
              <a:rPr>
                <a:solidFill>
                  <a:srgbClr val="666666"/>
                </a:solidFill>
                <a:latin typeface="Courier"/>
              </a:rPr>
              <a:t>(</a:t>
            </a:r>
            <a:r>
              <a:rPr>
                <a:solidFill>
                  <a:srgbClr val="4070A0"/>
                </a:solidFill>
                <a:latin typeface="Courier"/>
              </a:rPr>
              <a:t>"tail is wagging"</a:t>
            </a:r>
            <a:r>
              <a:rPr>
                <a:solidFill>
                  <a:srgbClr val="666666"/>
                </a:solidFill>
                <a:latin typeface="Courier"/>
              </a:rPr>
              <a:t>)</a:t>
            </a:r>
            <a:br/>
            <a:r>
              <a:rPr>
                <a:solidFill>
                  <a:srgbClr val="666666"/>
                </a:solidFill>
                <a:latin typeface="Courier"/>
              </a:rPr>
              <a:t>|</a:t>
            </a:r>
            <a:r>
              <a:rPr>
                <a:latin typeface="Courier"/>
              </a:rPr>
              <a:t> </a:t>
            </a:r>
            <a:r>
              <a:rPr b="1">
                <a:solidFill>
                  <a:srgbClr val="007020"/>
                </a:solidFill>
                <a:latin typeface="Courier"/>
              </a:rPr>
              <a:t>def</a:t>
            </a:r>
            <a:r>
              <a:rPr>
                <a:latin typeface="Courier"/>
              </a:rPr>
              <a:t> </a:t>
            </a:r>
            <a:r>
              <a:rPr>
                <a:solidFill>
                  <a:srgbClr val="06287E"/>
                </a:solidFill>
                <a:latin typeface="Courier"/>
              </a:rPr>
              <a:t>stopTail</a:t>
            </a:r>
            <a:r>
              <a:rPr>
                <a:solidFill>
                  <a:srgbClr val="666666"/>
                </a:solidFill>
                <a:latin typeface="Courier"/>
              </a:rPr>
              <a:t>():</a:t>
            </a:r>
            <a:r>
              <a:rPr>
                <a:latin typeface="Courier"/>
              </a:rPr>
              <a:t> </a:t>
            </a:r>
            <a:r>
              <a:rPr>
                <a:solidFill>
                  <a:srgbClr val="008000"/>
                </a:solidFill>
                <a:latin typeface="Courier"/>
              </a:rPr>
              <a:t>Unit</a:t>
            </a:r>
            <a:r>
              <a:rPr>
                <a:latin typeface="Courier"/>
              </a:rPr>
              <a:t> </a:t>
            </a:r>
            <a:r>
              <a:rPr>
                <a:solidFill>
                  <a:srgbClr val="666666"/>
                </a:solidFill>
                <a:latin typeface="Courier"/>
              </a:rPr>
              <a:t>=</a:t>
            </a:r>
            <a:r>
              <a:rPr>
                <a:latin typeface="Courier"/>
              </a:rPr>
              <a:t> </a:t>
            </a:r>
            <a:r>
              <a:rPr>
                <a:solidFill>
                  <a:srgbClr val="06287E"/>
                </a:solidFill>
                <a:latin typeface="Courier"/>
              </a:rPr>
              <a:t>println</a:t>
            </a:r>
            <a:r>
              <a:rPr>
                <a:solidFill>
                  <a:srgbClr val="666666"/>
                </a:solidFill>
                <a:latin typeface="Courier"/>
              </a:rPr>
              <a:t>(</a:t>
            </a:r>
            <a:r>
              <a:rPr>
                <a:solidFill>
                  <a:srgbClr val="4070A0"/>
                </a:solidFill>
                <a:latin typeface="Courier"/>
              </a:rPr>
              <a:t>"tail is stopped"</a:t>
            </a:r>
            <a:r>
              <a:rPr>
                <a:solidFill>
                  <a:srgbClr val="666666"/>
                </a:solidFill>
                <a:latin typeface="Courier"/>
              </a:rPr>
              <a:t>)</a:t>
            </a:r>
            <a:br/>
            <a:r>
              <a:rPr>
                <a:solidFill>
                  <a:srgbClr val="666666"/>
                </a:solidFill>
                <a:latin typeface="Courier"/>
              </a:rPr>
              <a:t>|</a:t>
            </a:r>
            <a:br/>
            <a:r>
              <a:rPr>
                <a:solidFill>
                  <a:srgbClr val="666666"/>
                </a:solidFill>
                <a:latin typeface="Courier"/>
              </a:rPr>
              <a:t>|</a:t>
            </a:r>
            <a:r>
              <a:rPr>
                <a:latin typeface="Courier"/>
              </a:rPr>
              <a:t> </a:t>
            </a:r>
            <a:r>
              <a:rPr i="1">
                <a:solidFill>
                  <a:srgbClr val="60A0B0"/>
                </a:solidFill>
                <a:latin typeface="Courier"/>
              </a:rPr>
              <a:t>// Runner</a:t>
            </a:r>
            <a:br/>
            <a:r>
              <a:rPr>
                <a:solidFill>
                  <a:srgbClr val="666666"/>
                </a:solidFill>
                <a:latin typeface="Courier"/>
              </a:rPr>
              <a:t>|</a:t>
            </a:r>
            <a:r>
              <a:rPr>
                <a:latin typeface="Courier"/>
              </a:rPr>
              <a:t> </a:t>
            </a:r>
            <a:r>
              <a:rPr b="1">
                <a:solidFill>
                  <a:srgbClr val="007020"/>
                </a:solidFill>
                <a:latin typeface="Courier"/>
              </a:rPr>
              <a:t>def</a:t>
            </a:r>
            <a:r>
              <a:rPr>
                <a:latin typeface="Courier"/>
              </a:rPr>
              <a:t> </a:t>
            </a:r>
            <a:r>
              <a:rPr>
                <a:solidFill>
                  <a:srgbClr val="06287E"/>
                </a:solidFill>
                <a:latin typeface="Courier"/>
              </a:rPr>
              <a:t>startRunning</a:t>
            </a:r>
            <a:r>
              <a:rPr>
                <a:solidFill>
                  <a:srgbClr val="666666"/>
                </a:solidFill>
                <a:latin typeface="Courier"/>
              </a:rPr>
              <a:t>():</a:t>
            </a:r>
            <a:r>
              <a:rPr>
                <a:latin typeface="Courier"/>
              </a:rPr>
              <a:t> </a:t>
            </a:r>
            <a:r>
              <a:rPr>
                <a:solidFill>
                  <a:srgbClr val="008000"/>
                </a:solidFill>
                <a:latin typeface="Courier"/>
              </a:rPr>
              <a:t>Unit</a:t>
            </a:r>
            <a:r>
              <a:rPr>
                <a:latin typeface="Courier"/>
              </a:rPr>
              <a:t> </a:t>
            </a:r>
            <a:r>
              <a:rPr>
                <a:solidFill>
                  <a:srgbClr val="666666"/>
                </a:solidFill>
                <a:latin typeface="Courier"/>
              </a:rPr>
              <a:t>=</a:t>
            </a:r>
            <a:r>
              <a:rPr>
                <a:latin typeface="Courier"/>
              </a:rPr>
              <a:t> </a:t>
            </a:r>
            <a:r>
              <a:rPr>
                <a:solidFill>
                  <a:srgbClr val="06287E"/>
                </a:solidFill>
                <a:latin typeface="Courier"/>
              </a:rPr>
              <a:t>println</a:t>
            </a:r>
            <a:r>
              <a:rPr>
                <a:solidFill>
                  <a:srgbClr val="666666"/>
                </a:solidFill>
                <a:latin typeface="Courier"/>
              </a:rPr>
              <a:t>(</a:t>
            </a:r>
            <a:r>
              <a:rPr>
                <a:solidFill>
                  <a:srgbClr val="4070A0"/>
                </a:solidFill>
                <a:latin typeface="Courier"/>
              </a:rPr>
              <a:t>"I'm running"</a:t>
            </a:r>
            <a:r>
              <a:rPr>
                <a:solidFill>
                  <a:srgbClr val="666666"/>
                </a:solidFill>
                <a:latin typeface="Courier"/>
              </a:rPr>
              <a:t>)</a:t>
            </a:r>
            <a:br/>
            <a:r>
              <a:rPr i="1">
                <a:solidFill>
                  <a:srgbClr val="60A0B0"/>
                </a:solidFill>
                <a:latin typeface="Courier"/>
              </a:rPr>
              <a:t>// ...</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2.5.2 函数式编程（1/2）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Scala允许我们将两种方法结合使用</a:t>
            </a:r>
          </a:p>
          <a:p>
            <a:pPr lvl="0"/>
            <a:r>
              <a:rPr/>
              <a:t>使用函数式编程更像是数据科学家通过定义数据公式解决问题</a:t>
            </a:r>
          </a:p>
          <a:p>
            <a:pPr lvl="0"/>
            <a:r>
              <a:rPr/>
              <a:t>它不会改变任何隐藏状态</a:t>
            </a:r>
          </a:p>
          <a:p>
            <a:pPr lvl="0"/>
            <a:r>
              <a:rPr/>
              <a:t>可以使用输入值2无限次调用double函数</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2.5.2 函数式编程（2/2）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与日期和时间相关的方法都不纯</a:t>
            </a:r>
          </a:p>
          <a:p>
            <a:pPr lvl="0"/>
            <a:r>
              <a:rPr/>
              <a:t>（1）读取隐藏的输入，访问未显式传递为输入参数的变量和数据</a:t>
            </a:r>
          </a:p>
          <a:p>
            <a:pPr lvl="0"/>
            <a:r>
              <a:rPr/>
              <a:t>（2）写隐藏的输出</a:t>
            </a:r>
          </a:p>
          <a:p>
            <a:pPr lvl="0"/>
            <a:r>
              <a:rPr/>
              <a:t>（3）改变它们给定的参数</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2.5.2 函数式编程：代码片段（1/8）</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当然应用程序不可能完全与外界没有输入输出</a:t>
            </a:r>
          </a:p>
          <a:p>
            <a:pPr lvl="0"/>
            <a:r>
              <a:rPr/>
              <a:t>用 map 把输入转换成后续要处理的结构</a:t>
            </a:r>
          </a:p>
          <a:p>
            <a:pPr lvl="0"/>
            <a:r>
              <a:rPr/>
              <a:t>先过滤出真正要参与计算的数据</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def</a:t>
            </a:r>
            <a:r>
              <a:rPr>
                <a:latin typeface="Courier"/>
              </a:rPr>
              <a:t> </a:t>
            </a:r>
            <a:r>
              <a:rPr>
                <a:solidFill>
                  <a:srgbClr val="902000"/>
                </a:solidFill>
                <a:latin typeface="Courier"/>
              </a:rPr>
              <a:t>double</a:t>
            </a:r>
            <a:r>
              <a:rPr>
                <a:solidFill>
                  <a:srgbClr val="666666"/>
                </a:solidFill>
                <a:latin typeface="Courier"/>
              </a:rPr>
              <a:t>(</a:t>
            </a:r>
            <a:r>
              <a:rPr>
                <a:latin typeface="Courier"/>
              </a:rPr>
              <a:t>i</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i </a:t>
            </a:r>
            <a:r>
              <a:rPr>
                <a:solidFill>
                  <a:srgbClr val="666666"/>
                </a:solidFill>
                <a:latin typeface="Courier"/>
              </a:rPr>
              <a:t>*</a:t>
            </a:r>
            <a:r>
              <a:rPr>
                <a:latin typeface="Courier"/>
              </a:rPr>
              <a:t> </a:t>
            </a:r>
            <a:r>
              <a:rPr>
                <a:solidFill>
                  <a:srgbClr val="40A070"/>
                </a:solidFill>
                <a:latin typeface="Courier"/>
              </a:rPr>
              <a:t>2</a:t>
            </a:r>
            <a:br/>
            <a:r>
              <a:rPr>
                <a:solidFill>
                  <a:srgbClr val="902000"/>
                </a:solidFill>
                <a:latin typeface="Courier"/>
              </a:rPr>
              <a:t>double</a:t>
            </a:r>
            <a:r>
              <a:rPr>
                <a:solidFill>
                  <a:srgbClr val="666666"/>
                </a:solidFill>
                <a:latin typeface="Courier"/>
              </a:rPr>
              <a:t>:</a:t>
            </a:r>
            <a:r>
              <a:rPr>
                <a:latin typeface="Courier"/>
              </a:rPr>
              <a:t> </a:t>
            </a:r>
            <a:r>
              <a:rPr>
                <a:solidFill>
                  <a:srgbClr val="666666"/>
                </a:solidFill>
                <a:latin typeface="Courier"/>
              </a:rPr>
              <a:t>(</a:t>
            </a:r>
            <a:r>
              <a:rPr>
                <a:latin typeface="Courier"/>
              </a:rPr>
              <a:t>i</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solidFill>
                  <a:srgbClr val="008000"/>
                </a:solidFill>
                <a:latin typeface="Courier"/>
              </a:rPr>
              <a:t>Int</a:t>
            </a:r>
          </a:p>
          <a:p>
            <a:pPr lvl="0" indent="0" marL="0">
              <a:buNone/>
            </a:pPr>
            <a:r>
              <a:rPr/>
              <a:t>片段 2</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nums </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1</a:t>
            </a:r>
            <a:r>
              <a:rPr>
                <a:latin typeface="Courier"/>
              </a:rPr>
              <a:t> to </a:t>
            </a:r>
            <a:r>
              <a:rPr>
                <a:solidFill>
                  <a:srgbClr val="40A070"/>
                </a:solidFill>
                <a:latin typeface="Courier"/>
              </a:rPr>
              <a:t>10</a:t>
            </a:r>
            <a:r>
              <a:rPr>
                <a:solidFill>
                  <a:srgbClr val="666666"/>
                </a:solidFill>
                <a:latin typeface="Courier"/>
              </a:rPr>
              <a:t>).</a:t>
            </a:r>
            <a:r>
              <a:rPr>
                <a:latin typeface="Courier"/>
              </a:rPr>
              <a:t>toList</a:t>
            </a:r>
            <a:br/>
            <a:r>
              <a:rPr>
                <a:latin typeface="Courier"/>
              </a:rPr>
              <a:t>nums</a:t>
            </a:r>
            <a:r>
              <a:rPr>
                <a:solidFill>
                  <a:srgbClr val="666666"/>
                </a:solidFill>
                <a:latin typeface="Courier"/>
              </a:rPr>
              <a:t>:</a:t>
            </a:r>
            <a:r>
              <a:rPr>
                <a:latin typeface="Courier"/>
              </a:rPr>
              <a:t> List</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List</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r>
              <a:rPr>
                <a:latin typeface="Courier"/>
              </a:rPr>
              <a:t> </a:t>
            </a:r>
            <a:r>
              <a:rPr>
                <a:solidFill>
                  <a:srgbClr val="40A070"/>
                </a:solidFill>
                <a:latin typeface="Courier"/>
              </a:rPr>
              <a:t>4</a:t>
            </a:r>
            <a:r>
              <a:rPr>
                <a:solidFill>
                  <a:srgbClr val="666666"/>
                </a:solidFill>
                <a:latin typeface="Courier"/>
              </a:rPr>
              <a:t>,</a:t>
            </a:r>
            <a:r>
              <a:rPr>
                <a:latin typeface="Courier"/>
              </a:rPr>
              <a:t> </a:t>
            </a:r>
            <a:r>
              <a:rPr>
                <a:solidFill>
                  <a:srgbClr val="40A070"/>
                </a:solidFill>
                <a:latin typeface="Courier"/>
              </a:rPr>
              <a:t>5</a:t>
            </a:r>
            <a:r>
              <a:rPr>
                <a:solidFill>
                  <a:srgbClr val="666666"/>
                </a:solidFill>
                <a:latin typeface="Courier"/>
              </a:rPr>
              <a:t>,</a:t>
            </a:r>
            <a:r>
              <a:rPr>
                <a:latin typeface="Courier"/>
              </a:rPr>
              <a:t> </a:t>
            </a:r>
            <a:r>
              <a:rPr>
                <a:solidFill>
                  <a:srgbClr val="40A070"/>
                </a:solidFill>
                <a:latin typeface="Courier"/>
              </a:rPr>
              <a:t>6</a:t>
            </a:r>
            <a:r>
              <a:rPr>
                <a:solidFill>
                  <a:srgbClr val="666666"/>
                </a:solidFill>
                <a:latin typeface="Courier"/>
              </a:rPr>
              <a:t>,</a:t>
            </a:r>
            <a:r>
              <a:rPr>
                <a:latin typeface="Courier"/>
              </a:rPr>
              <a:t> </a:t>
            </a:r>
            <a:r>
              <a:rPr>
                <a:solidFill>
                  <a:srgbClr val="40A070"/>
                </a:solidFill>
                <a:latin typeface="Courier"/>
              </a:rPr>
              <a:t>7</a:t>
            </a:r>
            <a:r>
              <a:rPr>
                <a:solidFill>
                  <a:srgbClr val="666666"/>
                </a:solidFill>
                <a:latin typeface="Courier"/>
              </a:rPr>
              <a:t>,</a:t>
            </a:r>
            <a:r>
              <a:rPr>
                <a:latin typeface="Courier"/>
              </a:rPr>
              <a:t> </a:t>
            </a:r>
            <a:r>
              <a:rPr>
                <a:solidFill>
                  <a:srgbClr val="40A070"/>
                </a:solidFill>
                <a:latin typeface="Courier"/>
              </a:rPr>
              <a:t>8</a:t>
            </a:r>
            <a:r>
              <a:rPr>
                <a:solidFill>
                  <a:srgbClr val="666666"/>
                </a:solidFill>
                <a:latin typeface="Courier"/>
              </a:rPr>
              <a:t>,</a:t>
            </a:r>
            <a:r>
              <a:rPr>
                <a:latin typeface="Courier"/>
              </a:rPr>
              <a:t> </a:t>
            </a:r>
            <a:r>
              <a:rPr>
                <a:solidFill>
                  <a:srgbClr val="40A070"/>
                </a:solidFill>
                <a:latin typeface="Courier"/>
              </a:rPr>
              <a:t>9</a:t>
            </a:r>
            <a:r>
              <a:rPr>
                <a:solidFill>
                  <a:srgbClr val="666666"/>
                </a:solidFill>
                <a:latin typeface="Courier"/>
              </a:rPr>
              <a:t>,</a:t>
            </a:r>
            <a:r>
              <a:rPr>
                <a:latin typeface="Courier"/>
              </a:rPr>
              <a:t> </a:t>
            </a:r>
            <a:r>
              <a:rPr>
                <a:solidFill>
                  <a:srgbClr val="40A070"/>
                </a:solidFill>
                <a:latin typeface="Courier"/>
              </a:rPr>
              <a:t>10</a:t>
            </a:r>
            <a:r>
              <a:rPr>
                <a:solidFill>
                  <a:srgbClr val="666666"/>
                </a:solidFill>
                <a:latin typeface="Courier"/>
              </a:rPr>
              <a:t>)</a:t>
            </a:r>
            <a:br/>
            <a:r>
              <a:rPr>
                <a:latin typeface="Courier"/>
              </a:rPr>
              <a:t>scala</a:t>
            </a:r>
            <a:r>
              <a:rPr>
                <a:solidFill>
                  <a:srgbClr val="666666"/>
                </a:solidFill>
                <a:latin typeface="Courier"/>
              </a:rPr>
              <a:t>&gt;</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doubles </a:t>
            </a:r>
            <a:r>
              <a:rPr>
                <a:solidFill>
                  <a:srgbClr val="666666"/>
                </a:solidFill>
                <a:latin typeface="Courier"/>
              </a:rPr>
              <a:t>=</a:t>
            </a:r>
            <a:r>
              <a:rPr>
                <a:latin typeface="Courier"/>
              </a:rPr>
              <a:t> nums</a:t>
            </a:r>
            <a:r>
              <a:rPr>
                <a:solidFill>
                  <a:srgbClr val="666666"/>
                </a:solidFill>
                <a:latin typeface="Courier"/>
              </a:rPr>
              <a:t>.</a:t>
            </a:r>
            <a:r>
              <a:rPr>
                <a:solidFill>
                  <a:srgbClr val="06287E"/>
                </a:solidFill>
                <a:latin typeface="Courier"/>
              </a:rPr>
              <a:t>map</a:t>
            </a:r>
            <a:r>
              <a:rPr>
                <a:solidFill>
                  <a:srgbClr val="666666"/>
                </a:solidFill>
                <a:latin typeface="Courier"/>
              </a:rPr>
              <a:t>(</a:t>
            </a:r>
            <a:r>
              <a:rPr>
                <a:latin typeface="Courier"/>
              </a:rPr>
              <a:t>_ </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br/>
            <a:r>
              <a:rPr>
                <a:latin typeface="Courier"/>
              </a:rPr>
              <a:t>doubles</a:t>
            </a:r>
            <a:r>
              <a:rPr>
                <a:solidFill>
                  <a:srgbClr val="666666"/>
                </a:solidFill>
                <a:latin typeface="Courier"/>
              </a:rPr>
              <a:t>:</a:t>
            </a:r>
            <a:r>
              <a:rPr>
                <a:latin typeface="Courier"/>
              </a:rPr>
              <a:t> List</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List</a:t>
            </a:r>
            <a:r>
              <a:rPr>
                <a:solidFill>
                  <a:srgbClr val="666666"/>
                </a:solidFill>
                <a:latin typeface="Courier"/>
              </a:rPr>
              <a:t>(</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4</a:t>
            </a:r>
            <a:r>
              <a:rPr>
                <a:solidFill>
                  <a:srgbClr val="666666"/>
                </a:solidFill>
                <a:latin typeface="Courier"/>
              </a:rPr>
              <a:t>,</a:t>
            </a:r>
            <a:r>
              <a:rPr>
                <a:latin typeface="Courier"/>
              </a:rPr>
              <a:t> </a:t>
            </a:r>
            <a:r>
              <a:rPr>
                <a:solidFill>
                  <a:srgbClr val="40A070"/>
                </a:solidFill>
                <a:latin typeface="Courier"/>
              </a:rPr>
              <a:t>6</a:t>
            </a:r>
            <a:r>
              <a:rPr>
                <a:solidFill>
                  <a:srgbClr val="666666"/>
                </a:solidFill>
                <a:latin typeface="Courier"/>
              </a:rPr>
              <a:t>,</a:t>
            </a:r>
            <a:r>
              <a:rPr>
                <a:latin typeface="Courier"/>
              </a:rPr>
              <a:t> </a:t>
            </a:r>
            <a:r>
              <a:rPr>
                <a:solidFill>
                  <a:srgbClr val="40A070"/>
                </a:solidFill>
                <a:latin typeface="Courier"/>
              </a:rPr>
              <a:t>8</a:t>
            </a:r>
            <a:r>
              <a:rPr>
                <a:solidFill>
                  <a:srgbClr val="666666"/>
                </a:solidFill>
                <a:latin typeface="Courier"/>
              </a:rPr>
              <a:t>,</a:t>
            </a:r>
            <a:r>
              <a:rPr>
                <a:latin typeface="Courier"/>
              </a:rPr>
              <a:t> </a:t>
            </a:r>
            <a:r>
              <a:rPr>
                <a:solidFill>
                  <a:srgbClr val="40A070"/>
                </a:solidFill>
                <a:latin typeface="Courier"/>
              </a:rPr>
              <a:t>10</a:t>
            </a:r>
            <a:r>
              <a:rPr>
                <a:solidFill>
                  <a:srgbClr val="666666"/>
                </a:solidFill>
                <a:latin typeface="Courier"/>
              </a:rPr>
              <a:t>,</a:t>
            </a:r>
            <a:r>
              <a:rPr>
                <a:latin typeface="Courier"/>
              </a:rPr>
              <a:t> </a:t>
            </a:r>
            <a:r>
              <a:rPr>
                <a:solidFill>
                  <a:srgbClr val="40A070"/>
                </a:solidFill>
                <a:latin typeface="Courier"/>
              </a:rPr>
              <a:t>12</a:t>
            </a:r>
            <a:r>
              <a:rPr>
                <a:solidFill>
                  <a:srgbClr val="666666"/>
                </a:solidFill>
                <a:latin typeface="Courier"/>
              </a:rPr>
              <a:t>,</a:t>
            </a:r>
            <a:r>
              <a:rPr>
                <a:latin typeface="Courier"/>
              </a:rPr>
              <a:t> </a:t>
            </a:r>
            <a:r>
              <a:rPr>
                <a:solidFill>
                  <a:srgbClr val="40A070"/>
                </a:solidFill>
                <a:latin typeface="Courier"/>
              </a:rPr>
              <a:t>14</a:t>
            </a:r>
            <a:r>
              <a:rPr>
                <a:solidFill>
                  <a:srgbClr val="666666"/>
                </a:solidFill>
                <a:latin typeface="Courier"/>
              </a:rPr>
              <a:t>,</a:t>
            </a:r>
            <a:r>
              <a:rPr>
                <a:latin typeface="Courier"/>
              </a:rPr>
              <a:t> </a:t>
            </a:r>
            <a:r>
              <a:rPr>
                <a:solidFill>
                  <a:srgbClr val="40A070"/>
                </a:solidFill>
                <a:latin typeface="Courier"/>
              </a:rPr>
              <a:t>16</a:t>
            </a:r>
            <a:r>
              <a:rPr>
                <a:solidFill>
                  <a:srgbClr val="666666"/>
                </a:solidFill>
                <a:latin typeface="Courier"/>
              </a:rPr>
              <a:t>,</a:t>
            </a:r>
            <a:r>
              <a:rPr>
                <a:latin typeface="Courier"/>
              </a:rPr>
              <a:t> </a:t>
            </a:r>
            <a:r>
              <a:rPr>
                <a:solidFill>
                  <a:srgbClr val="40A070"/>
                </a:solidFill>
                <a:latin typeface="Courier"/>
              </a:rPr>
              <a:t>18</a:t>
            </a:r>
            <a:r>
              <a:rPr>
                <a:solidFill>
                  <a:srgbClr val="666666"/>
                </a:solidFill>
                <a:latin typeface="Courier"/>
              </a:rPr>
              <a:t>,</a:t>
            </a:r>
            <a:r>
              <a:rPr>
                <a:latin typeface="Courier"/>
              </a:rPr>
              <a:t> </a:t>
            </a:r>
            <a:r>
              <a:rPr>
                <a:solidFill>
                  <a:srgbClr val="40A070"/>
                </a:solidFill>
                <a:latin typeface="Courier"/>
              </a:rPr>
              <a:t>20</a:t>
            </a:r>
            <a:r>
              <a:rPr>
                <a:solidFill>
                  <a:srgbClr val="666666"/>
                </a:solidFill>
                <a:latin typeface="Courier"/>
              </a:rPr>
              <a:t>)</a:t>
            </a:r>
            <a:br/>
            <a:r>
              <a:rPr i="1">
                <a:solidFill>
                  <a:srgbClr val="60A0B0"/>
                </a:solidFill>
                <a:latin typeface="Courier"/>
              </a:rPr>
              <a:t>// ...</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2.5.2 函数式编程：代码片段（2/8）</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用 map 把输入转换成后续要处理的结构</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def</a:t>
            </a:r>
            <a:r>
              <a:rPr>
                <a:latin typeface="Courier"/>
              </a:rPr>
              <a:t> </a:t>
            </a:r>
            <a:r>
              <a:rPr>
                <a:solidFill>
                  <a:srgbClr val="902000"/>
                </a:solidFill>
                <a:latin typeface="Courier"/>
              </a:rPr>
              <a:t>double</a:t>
            </a:r>
            <a:r>
              <a:rPr>
                <a:solidFill>
                  <a:srgbClr val="666666"/>
                </a:solidFill>
                <a:latin typeface="Courier"/>
              </a:rPr>
              <a:t>(</a:t>
            </a:r>
            <a:r>
              <a:rPr>
                <a:latin typeface="Courier"/>
              </a:rPr>
              <a:t>i</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i </a:t>
            </a:r>
            <a:r>
              <a:rPr>
                <a:solidFill>
                  <a:srgbClr val="666666"/>
                </a:solidFill>
                <a:latin typeface="Courier"/>
              </a:rPr>
              <a:t>*</a:t>
            </a:r>
            <a:r>
              <a:rPr>
                <a:latin typeface="Courier"/>
              </a:rPr>
              <a:t> </a:t>
            </a:r>
            <a:r>
              <a:rPr>
                <a:solidFill>
                  <a:srgbClr val="40A070"/>
                </a:solidFill>
                <a:latin typeface="Courier"/>
              </a:rPr>
              <a:t>2</a:t>
            </a:r>
            <a:br/>
            <a:r>
              <a:rPr>
                <a:solidFill>
                  <a:srgbClr val="902000"/>
                </a:solidFill>
                <a:latin typeface="Courier"/>
              </a:rPr>
              <a:t>double</a:t>
            </a:r>
            <a:r>
              <a:rPr>
                <a:solidFill>
                  <a:srgbClr val="666666"/>
                </a:solidFill>
                <a:latin typeface="Courier"/>
              </a:rPr>
              <a:t>:</a:t>
            </a:r>
            <a:r>
              <a:rPr>
                <a:latin typeface="Courier"/>
              </a:rPr>
              <a:t> </a:t>
            </a:r>
            <a:r>
              <a:rPr>
                <a:solidFill>
                  <a:srgbClr val="666666"/>
                </a:solidFill>
                <a:latin typeface="Courier"/>
              </a:rPr>
              <a:t>(</a:t>
            </a:r>
            <a:r>
              <a:rPr>
                <a:latin typeface="Courier"/>
              </a:rPr>
              <a:t>i</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solidFill>
                  <a:srgbClr val="008000"/>
                </a:solidFill>
                <a:latin typeface="Courier"/>
              </a:rPr>
              <a:t>Int</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doubles </a:t>
            </a:r>
            <a:r>
              <a:rPr>
                <a:solidFill>
                  <a:srgbClr val="666666"/>
                </a:solidFill>
                <a:latin typeface="Courier"/>
              </a:rPr>
              <a:t>=</a:t>
            </a:r>
            <a:r>
              <a:rPr>
                <a:latin typeface="Courier"/>
              </a:rPr>
              <a:t> nums</a:t>
            </a:r>
            <a:r>
              <a:rPr>
                <a:solidFill>
                  <a:srgbClr val="666666"/>
                </a:solidFill>
                <a:latin typeface="Courier"/>
              </a:rPr>
              <a:t>.</a:t>
            </a:r>
            <a:r>
              <a:rPr>
                <a:solidFill>
                  <a:srgbClr val="06287E"/>
                </a:solidFill>
                <a:latin typeface="Courier"/>
              </a:rPr>
              <a:t>map</a:t>
            </a:r>
            <a:r>
              <a:rPr>
                <a:solidFill>
                  <a:srgbClr val="666666"/>
                </a:solidFill>
                <a:latin typeface="Courier"/>
              </a:rPr>
              <a:t>(</a:t>
            </a:r>
            <a:r>
              <a:rPr>
                <a:solidFill>
                  <a:srgbClr val="902000"/>
                </a:solidFill>
                <a:latin typeface="Courier"/>
              </a:rPr>
              <a:t>double</a:t>
            </a:r>
            <a:r>
              <a:rPr>
                <a:solidFill>
                  <a:srgbClr val="666666"/>
                </a:solidFill>
                <a:latin typeface="Courier"/>
              </a:rPr>
              <a:t>)</a:t>
            </a:r>
            <a:br/>
            <a:r>
              <a:rPr>
                <a:latin typeface="Courier"/>
              </a:rPr>
              <a:t>doubles</a:t>
            </a:r>
            <a:r>
              <a:rPr>
                <a:solidFill>
                  <a:srgbClr val="666666"/>
                </a:solidFill>
                <a:latin typeface="Courier"/>
              </a:rPr>
              <a:t>:</a:t>
            </a:r>
            <a:r>
              <a:rPr>
                <a:latin typeface="Courier"/>
              </a:rPr>
              <a:t> List</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List</a:t>
            </a:r>
            <a:r>
              <a:rPr>
                <a:solidFill>
                  <a:srgbClr val="666666"/>
                </a:solidFill>
                <a:latin typeface="Courier"/>
              </a:rPr>
              <a:t>(</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4</a:t>
            </a:r>
            <a:r>
              <a:rPr>
                <a:solidFill>
                  <a:srgbClr val="666666"/>
                </a:solidFill>
                <a:latin typeface="Courier"/>
              </a:rPr>
              <a:t>,</a:t>
            </a:r>
            <a:r>
              <a:rPr>
                <a:latin typeface="Courier"/>
              </a:rPr>
              <a:t> </a:t>
            </a:r>
            <a:r>
              <a:rPr>
                <a:solidFill>
                  <a:srgbClr val="40A070"/>
                </a:solidFill>
                <a:latin typeface="Courier"/>
              </a:rPr>
              <a:t>6</a:t>
            </a:r>
            <a:r>
              <a:rPr>
                <a:solidFill>
                  <a:srgbClr val="666666"/>
                </a:solidFill>
                <a:latin typeface="Courier"/>
              </a:rPr>
              <a:t>,</a:t>
            </a:r>
            <a:r>
              <a:rPr>
                <a:latin typeface="Courier"/>
              </a:rPr>
              <a:t> </a:t>
            </a:r>
            <a:r>
              <a:rPr>
                <a:solidFill>
                  <a:srgbClr val="40A070"/>
                </a:solidFill>
                <a:latin typeface="Courier"/>
              </a:rPr>
              <a:t>8</a:t>
            </a:r>
            <a:r>
              <a:rPr>
                <a:solidFill>
                  <a:srgbClr val="666666"/>
                </a:solidFill>
                <a:latin typeface="Courier"/>
              </a:rPr>
              <a:t>,</a:t>
            </a:r>
            <a:r>
              <a:rPr>
                <a:latin typeface="Courier"/>
              </a:rPr>
              <a:t> </a:t>
            </a:r>
            <a:r>
              <a:rPr>
                <a:solidFill>
                  <a:srgbClr val="40A070"/>
                </a:solidFill>
                <a:latin typeface="Courier"/>
              </a:rPr>
              <a:t>10</a:t>
            </a:r>
            <a:r>
              <a:rPr>
                <a:solidFill>
                  <a:srgbClr val="666666"/>
                </a:solidFill>
                <a:latin typeface="Courier"/>
              </a:rPr>
              <a:t>,</a:t>
            </a:r>
            <a:r>
              <a:rPr>
                <a:latin typeface="Courier"/>
              </a:rPr>
              <a:t> </a:t>
            </a:r>
            <a:r>
              <a:rPr>
                <a:solidFill>
                  <a:srgbClr val="40A070"/>
                </a:solidFill>
                <a:latin typeface="Courier"/>
              </a:rPr>
              <a:t>12</a:t>
            </a:r>
            <a:r>
              <a:rPr>
                <a:solidFill>
                  <a:srgbClr val="666666"/>
                </a:solidFill>
                <a:latin typeface="Courier"/>
              </a:rPr>
              <a:t>,</a:t>
            </a:r>
            <a:r>
              <a:rPr>
                <a:latin typeface="Courier"/>
              </a:rPr>
              <a:t> </a:t>
            </a:r>
            <a:r>
              <a:rPr>
                <a:solidFill>
                  <a:srgbClr val="40A070"/>
                </a:solidFill>
                <a:latin typeface="Courier"/>
              </a:rPr>
              <a:t>14</a:t>
            </a:r>
            <a:r>
              <a:rPr>
                <a:solidFill>
                  <a:srgbClr val="666666"/>
                </a:solidFill>
                <a:latin typeface="Courier"/>
              </a:rPr>
              <a:t>,</a:t>
            </a:r>
            <a:r>
              <a:rPr>
                <a:latin typeface="Courier"/>
              </a:rPr>
              <a:t> </a:t>
            </a:r>
            <a:r>
              <a:rPr>
                <a:solidFill>
                  <a:srgbClr val="40A070"/>
                </a:solidFill>
                <a:latin typeface="Courier"/>
              </a:rPr>
              <a:t>16</a:t>
            </a:r>
            <a:r>
              <a:rPr>
                <a:solidFill>
                  <a:srgbClr val="666666"/>
                </a:solidFill>
                <a:latin typeface="Courier"/>
              </a:rPr>
              <a:t>,</a:t>
            </a:r>
            <a:r>
              <a:rPr>
                <a:latin typeface="Courier"/>
              </a:rPr>
              <a:t> </a:t>
            </a:r>
            <a:r>
              <a:rPr>
                <a:solidFill>
                  <a:srgbClr val="40A070"/>
                </a:solidFill>
                <a:latin typeface="Courier"/>
              </a:rPr>
              <a:t>18</a:t>
            </a:r>
            <a:r>
              <a:rPr>
                <a:solidFill>
                  <a:srgbClr val="666666"/>
                </a:solidFill>
                <a:latin typeface="Courier"/>
              </a:rPr>
              <a:t>,</a:t>
            </a:r>
            <a:r>
              <a:rPr>
                <a:latin typeface="Courier"/>
              </a:rPr>
              <a:t> </a:t>
            </a:r>
            <a:r>
              <a:rPr>
                <a:solidFill>
                  <a:srgbClr val="40A070"/>
                </a:solidFill>
                <a:latin typeface="Courier"/>
              </a:rPr>
              <a:t>20</a:t>
            </a:r>
            <a:r>
              <a:rPr>
                <a:solidFill>
                  <a:srgbClr val="666666"/>
                </a:solidFill>
                <a:latin typeface="Courier"/>
              </a:rPr>
              <a:t>)</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2.5.2 函数式编程：代码片段（3/8）</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用 map 把输入转换成后续要处理的结构</a:t>
            </a:r>
          </a:p>
          <a:p>
            <a:pPr lvl="0"/>
            <a:r>
              <a:rPr/>
              <a:t>先过滤出真正要参与计算的数据</a:t>
            </a:r>
          </a:p>
          <a:p>
            <a:pPr lvl="0" indent="0">
              <a:buNone/>
            </a:pPr>
            <a:r>
              <a:rPr>
                <a:latin typeface="Courier"/>
              </a:rPr>
              <a:t>scala</a:t>
            </a:r>
            <a:r>
              <a:rPr>
                <a:solidFill>
                  <a:srgbClr val="666666"/>
                </a:solidFill>
                <a:latin typeface="Courier"/>
              </a:rPr>
              <a:t>&gt;</a:t>
            </a:r>
            <a:r>
              <a:rPr>
                <a:latin typeface="Courier"/>
              </a:rPr>
              <a:t> List</a:t>
            </a:r>
            <a:r>
              <a:rPr>
                <a:solidFill>
                  <a:srgbClr val="666666"/>
                </a:solidFill>
                <a:latin typeface="Courier"/>
              </a:rPr>
              <a:t>(</a:t>
            </a:r>
            <a:r>
              <a:rPr>
                <a:solidFill>
                  <a:srgbClr val="4070A0"/>
                </a:solidFill>
                <a:latin typeface="Courier"/>
              </a:rPr>
              <a:t>"foo"</a:t>
            </a:r>
            <a:r>
              <a:rPr>
                <a:solidFill>
                  <a:srgbClr val="666666"/>
                </a:solidFill>
                <a:latin typeface="Courier"/>
              </a:rPr>
              <a:t>,</a:t>
            </a:r>
            <a:r>
              <a:rPr>
                <a:latin typeface="Courier"/>
              </a:rPr>
              <a:t> </a:t>
            </a:r>
            <a:r>
              <a:rPr>
                <a:solidFill>
                  <a:srgbClr val="4070A0"/>
                </a:solidFill>
                <a:latin typeface="Courier"/>
              </a:rPr>
              <a:t>"bar"</a:t>
            </a:r>
            <a:r>
              <a:rPr>
                <a:solidFill>
                  <a:srgbClr val="666666"/>
                </a:solidFill>
                <a:latin typeface="Courier"/>
              </a:rPr>
              <a:t>).</a:t>
            </a:r>
            <a:r>
              <a:rPr>
                <a:solidFill>
                  <a:srgbClr val="06287E"/>
                </a:solidFill>
                <a:latin typeface="Courier"/>
              </a:rPr>
              <a:t>map</a:t>
            </a:r>
            <a:r>
              <a:rPr>
                <a:solidFill>
                  <a:srgbClr val="666666"/>
                </a:solidFill>
                <a:latin typeface="Courier"/>
              </a:rPr>
              <a:t>(</a:t>
            </a:r>
            <a:r>
              <a:rPr>
                <a:latin typeface="Courier"/>
              </a:rPr>
              <a:t>_</a:t>
            </a:r>
            <a:r>
              <a:rPr>
                <a:solidFill>
                  <a:srgbClr val="666666"/>
                </a:solidFill>
                <a:latin typeface="Courier"/>
              </a:rPr>
              <a:t>.</a:t>
            </a:r>
            <a:r>
              <a:rPr>
                <a:latin typeface="Courier"/>
              </a:rPr>
              <a:t>toUpperCase</a:t>
            </a:r>
            <a:r>
              <a:rPr>
                <a:solidFill>
                  <a:srgbClr val="666666"/>
                </a:solidFill>
                <a:latin typeface="Courier"/>
              </a:rPr>
              <a:t>)</a:t>
            </a:r>
            <a:br/>
            <a:r>
              <a:rPr>
                <a:latin typeface="Courier"/>
              </a:rPr>
              <a:t>res3</a:t>
            </a:r>
            <a:r>
              <a:rPr>
                <a:solidFill>
                  <a:srgbClr val="666666"/>
                </a:solidFill>
                <a:latin typeface="Courier"/>
              </a:rPr>
              <a:t>:</a:t>
            </a:r>
            <a:r>
              <a:rPr>
                <a:latin typeface="Courier"/>
              </a:rPr>
              <a:t> List</a:t>
            </a:r>
            <a:r>
              <a:rPr>
                <a:solidFill>
                  <a:srgbClr val="666666"/>
                </a:solidFill>
                <a:latin typeface="Courier"/>
              </a:rPr>
              <a:t>[</a:t>
            </a:r>
            <a:r>
              <a:rPr>
                <a:latin typeface="Courier"/>
              </a:rPr>
              <a:t>String</a:t>
            </a:r>
            <a:r>
              <a:rPr>
                <a:solidFill>
                  <a:srgbClr val="666666"/>
                </a:solidFill>
                <a:latin typeface="Courier"/>
              </a:rPr>
              <a:t>]</a:t>
            </a:r>
            <a:r>
              <a:rPr>
                <a:latin typeface="Courier"/>
              </a:rPr>
              <a:t> </a:t>
            </a:r>
            <a:r>
              <a:rPr>
                <a:solidFill>
                  <a:srgbClr val="666666"/>
                </a:solidFill>
                <a:latin typeface="Courier"/>
              </a:rPr>
              <a:t>=</a:t>
            </a:r>
            <a:r>
              <a:rPr>
                <a:latin typeface="Courier"/>
              </a:rPr>
              <a:t> List</a:t>
            </a:r>
            <a:r>
              <a:rPr>
                <a:solidFill>
                  <a:srgbClr val="666666"/>
                </a:solidFill>
                <a:latin typeface="Courier"/>
              </a:rPr>
              <a:t>(</a:t>
            </a:r>
            <a:r>
              <a:rPr>
                <a:latin typeface="Courier"/>
              </a:rPr>
              <a:t>FOO</a:t>
            </a:r>
            <a:r>
              <a:rPr>
                <a:solidFill>
                  <a:srgbClr val="666666"/>
                </a:solidFill>
                <a:latin typeface="Courier"/>
              </a:rPr>
              <a:t>,</a:t>
            </a:r>
            <a:r>
              <a:rPr>
                <a:latin typeface="Courier"/>
              </a:rPr>
              <a:t> BAR</a:t>
            </a:r>
            <a:r>
              <a:rPr>
                <a:solidFill>
                  <a:srgbClr val="666666"/>
                </a:solidFill>
                <a:latin typeface="Courier"/>
              </a:rPr>
              <a:t>)</a:t>
            </a:r>
            <a:br/>
            <a:r>
              <a:rPr>
                <a:latin typeface="Courier"/>
              </a:rPr>
              <a:t>scala</a:t>
            </a:r>
            <a:r>
              <a:rPr>
                <a:solidFill>
                  <a:srgbClr val="666666"/>
                </a:solidFill>
                <a:latin typeface="Courier"/>
              </a:rPr>
              <a:t>&gt;</a:t>
            </a:r>
            <a:r>
              <a:rPr>
                <a:latin typeface="Courier"/>
              </a:rPr>
              <a:t> List</a:t>
            </a:r>
            <a:r>
              <a:rPr>
                <a:solidFill>
                  <a:srgbClr val="666666"/>
                </a:solidFill>
                <a:latin typeface="Courier"/>
              </a:rPr>
              <a:t>(</a:t>
            </a:r>
            <a:r>
              <a:rPr>
                <a:solidFill>
                  <a:srgbClr val="4070A0"/>
                </a:solidFill>
                <a:latin typeface="Courier"/>
              </a:rPr>
              <a:t>"foo"</a:t>
            </a:r>
            <a:r>
              <a:rPr>
                <a:solidFill>
                  <a:srgbClr val="666666"/>
                </a:solidFill>
                <a:latin typeface="Courier"/>
              </a:rPr>
              <a:t>,</a:t>
            </a:r>
            <a:r>
              <a:rPr>
                <a:latin typeface="Courier"/>
              </a:rPr>
              <a:t> </a:t>
            </a:r>
            <a:r>
              <a:rPr>
                <a:solidFill>
                  <a:srgbClr val="4070A0"/>
                </a:solidFill>
                <a:latin typeface="Courier"/>
              </a:rPr>
              <a:t>"bar"</a:t>
            </a:r>
            <a:r>
              <a:rPr>
                <a:solidFill>
                  <a:srgbClr val="666666"/>
                </a:solidFill>
                <a:latin typeface="Courier"/>
              </a:rPr>
              <a:t>).</a:t>
            </a:r>
            <a:r>
              <a:rPr>
                <a:solidFill>
                  <a:srgbClr val="06287E"/>
                </a:solidFill>
                <a:latin typeface="Courier"/>
              </a:rPr>
              <a:t>map</a:t>
            </a:r>
            <a:r>
              <a:rPr>
                <a:solidFill>
                  <a:srgbClr val="666666"/>
                </a:solidFill>
                <a:latin typeface="Courier"/>
              </a:rPr>
              <a:t>(</a:t>
            </a:r>
            <a:r>
              <a:rPr>
                <a:latin typeface="Courier"/>
              </a:rPr>
              <a:t>_</a:t>
            </a:r>
            <a:r>
              <a:rPr>
                <a:solidFill>
                  <a:srgbClr val="666666"/>
                </a:solidFill>
                <a:latin typeface="Courier"/>
              </a:rPr>
              <a:t>.</a:t>
            </a:r>
            <a:r>
              <a:rPr>
                <a:latin typeface="Courier"/>
              </a:rPr>
              <a:t>capitalize</a:t>
            </a:r>
            <a:r>
              <a:rPr>
                <a:solidFill>
                  <a:srgbClr val="666666"/>
                </a:solidFill>
                <a:latin typeface="Courier"/>
              </a:rPr>
              <a:t>)</a:t>
            </a:r>
            <a:br/>
            <a:r>
              <a:rPr>
                <a:latin typeface="Courier"/>
              </a:rPr>
              <a:t>res4</a:t>
            </a:r>
            <a:r>
              <a:rPr>
                <a:solidFill>
                  <a:srgbClr val="666666"/>
                </a:solidFill>
                <a:latin typeface="Courier"/>
              </a:rPr>
              <a:t>:</a:t>
            </a:r>
            <a:r>
              <a:rPr>
                <a:latin typeface="Courier"/>
              </a:rPr>
              <a:t> List</a:t>
            </a:r>
            <a:r>
              <a:rPr>
                <a:solidFill>
                  <a:srgbClr val="666666"/>
                </a:solidFill>
                <a:latin typeface="Courier"/>
              </a:rPr>
              <a:t>[</a:t>
            </a:r>
            <a:r>
              <a:rPr>
                <a:latin typeface="Courier"/>
              </a:rPr>
              <a:t>String</a:t>
            </a:r>
            <a:r>
              <a:rPr>
                <a:solidFill>
                  <a:srgbClr val="666666"/>
                </a:solidFill>
                <a:latin typeface="Courier"/>
              </a:rPr>
              <a:t>]</a:t>
            </a:r>
            <a:r>
              <a:rPr>
                <a:latin typeface="Courier"/>
              </a:rPr>
              <a:t> </a:t>
            </a:r>
            <a:r>
              <a:rPr>
                <a:solidFill>
                  <a:srgbClr val="666666"/>
                </a:solidFill>
                <a:latin typeface="Courier"/>
              </a:rPr>
              <a:t>=</a:t>
            </a:r>
            <a:r>
              <a:rPr>
                <a:latin typeface="Courier"/>
              </a:rPr>
              <a:t> List</a:t>
            </a:r>
            <a:r>
              <a:rPr>
                <a:solidFill>
                  <a:srgbClr val="666666"/>
                </a:solidFill>
                <a:latin typeface="Courier"/>
              </a:rPr>
              <a:t>(</a:t>
            </a:r>
            <a:r>
              <a:rPr>
                <a:latin typeface="Courier"/>
              </a:rPr>
              <a:t>Foo</a:t>
            </a:r>
            <a:r>
              <a:rPr>
                <a:solidFill>
                  <a:srgbClr val="666666"/>
                </a:solidFill>
                <a:latin typeface="Courier"/>
              </a:rPr>
              <a:t>,</a:t>
            </a:r>
            <a:r>
              <a:rPr>
                <a:latin typeface="Courier"/>
              </a:rPr>
              <a:t> Bar</a:t>
            </a:r>
            <a:r>
              <a:rPr>
                <a:solidFill>
                  <a:srgbClr val="666666"/>
                </a:solidFill>
                <a:latin typeface="Courier"/>
              </a:rPr>
              <a:t>)</a:t>
            </a:r>
            <a:br/>
            <a:r>
              <a:rPr>
                <a:latin typeface="Courier"/>
              </a:rPr>
              <a:t>scala</a:t>
            </a:r>
            <a:r>
              <a:rPr>
                <a:solidFill>
                  <a:srgbClr val="666666"/>
                </a:solidFill>
                <a:latin typeface="Courier"/>
              </a:rPr>
              <a:t>&gt;</a:t>
            </a:r>
            <a:r>
              <a:rPr>
                <a:latin typeface="Courier"/>
              </a:rPr>
              <a:t> List</a:t>
            </a:r>
            <a:r>
              <a:rPr>
                <a:solidFill>
                  <a:srgbClr val="666666"/>
                </a:solidFill>
                <a:latin typeface="Courier"/>
              </a:rPr>
              <a:t>(</a:t>
            </a:r>
            <a:r>
              <a:rPr>
                <a:solidFill>
                  <a:srgbClr val="4070A0"/>
                </a:solidFill>
                <a:latin typeface="Courier"/>
              </a:rPr>
              <a:t>"adam"</a:t>
            </a:r>
            <a:r>
              <a:rPr>
                <a:solidFill>
                  <a:srgbClr val="666666"/>
                </a:solidFill>
                <a:latin typeface="Courier"/>
              </a:rPr>
              <a:t>,</a:t>
            </a:r>
            <a:r>
              <a:rPr>
                <a:latin typeface="Courier"/>
              </a:rPr>
              <a:t> </a:t>
            </a:r>
            <a:r>
              <a:rPr>
                <a:solidFill>
                  <a:srgbClr val="4070A0"/>
                </a:solidFill>
                <a:latin typeface="Courier"/>
              </a:rPr>
              <a:t>"scott"</a:t>
            </a:r>
            <a:r>
              <a:rPr>
                <a:solidFill>
                  <a:srgbClr val="666666"/>
                </a:solidFill>
                <a:latin typeface="Courier"/>
              </a:rPr>
              <a:t>).</a:t>
            </a:r>
            <a:r>
              <a:rPr>
                <a:solidFill>
                  <a:srgbClr val="06287E"/>
                </a:solidFill>
                <a:latin typeface="Courier"/>
              </a:rPr>
              <a:t>map</a:t>
            </a:r>
            <a:r>
              <a:rPr>
                <a:solidFill>
                  <a:srgbClr val="666666"/>
                </a:solidFill>
                <a:latin typeface="Courier"/>
              </a:rPr>
              <a:t>(</a:t>
            </a:r>
            <a:r>
              <a:rPr>
                <a:latin typeface="Courier"/>
              </a:rPr>
              <a:t>_</a:t>
            </a:r>
            <a:r>
              <a:rPr>
                <a:solidFill>
                  <a:srgbClr val="666666"/>
                </a:solidFill>
                <a:latin typeface="Courier"/>
              </a:rPr>
              <a:t>.</a:t>
            </a:r>
            <a:r>
              <a:rPr>
                <a:latin typeface="Courier"/>
              </a:rPr>
              <a:t>length</a:t>
            </a:r>
            <a:r>
              <a:rPr>
                <a:solidFill>
                  <a:srgbClr val="666666"/>
                </a:solidFill>
                <a:latin typeface="Courier"/>
              </a:rPr>
              <a:t>)</a:t>
            </a:r>
            <a:br/>
            <a:r>
              <a:rPr>
                <a:latin typeface="Courier"/>
              </a:rPr>
              <a:t>res5</a:t>
            </a:r>
            <a:r>
              <a:rPr>
                <a:solidFill>
                  <a:srgbClr val="666666"/>
                </a:solidFill>
                <a:latin typeface="Courier"/>
              </a:rPr>
              <a:t>:</a:t>
            </a:r>
            <a:r>
              <a:rPr>
                <a:latin typeface="Courier"/>
              </a:rPr>
              <a:t> List</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List</a:t>
            </a:r>
            <a:r>
              <a:rPr>
                <a:solidFill>
                  <a:srgbClr val="666666"/>
                </a:solidFill>
                <a:latin typeface="Courier"/>
              </a:rPr>
              <a:t>(</a:t>
            </a:r>
            <a:r>
              <a:rPr>
                <a:solidFill>
                  <a:srgbClr val="40A070"/>
                </a:solidFill>
                <a:latin typeface="Courier"/>
              </a:rPr>
              <a:t>4</a:t>
            </a:r>
            <a:r>
              <a:rPr>
                <a:solidFill>
                  <a:srgbClr val="666666"/>
                </a:solidFill>
                <a:latin typeface="Courier"/>
              </a:rPr>
              <a:t>,</a:t>
            </a:r>
            <a:r>
              <a:rPr>
                <a:latin typeface="Courier"/>
              </a:rPr>
              <a:t> </a:t>
            </a:r>
            <a:r>
              <a:rPr>
                <a:solidFill>
                  <a:srgbClr val="40A070"/>
                </a:solidFill>
                <a:latin typeface="Courier"/>
              </a:rPr>
              <a:t>5</a:t>
            </a:r>
            <a:r>
              <a:rPr>
                <a:solidFill>
                  <a:srgbClr val="666666"/>
                </a:solidFill>
                <a:latin typeface="Courier"/>
              </a:rPr>
              <a:t>)</a:t>
            </a:r>
            <a:br/>
            <a:r>
              <a:rPr>
                <a:latin typeface="Courier"/>
              </a:rPr>
              <a:t>scala</a:t>
            </a:r>
            <a:r>
              <a:rPr>
                <a:solidFill>
                  <a:srgbClr val="666666"/>
                </a:solidFill>
                <a:latin typeface="Courier"/>
              </a:rPr>
              <a:t>&gt;</a:t>
            </a:r>
            <a:r>
              <a:rPr>
                <a:latin typeface="Courier"/>
              </a:rPr>
              <a:t> List</a:t>
            </a:r>
            <a:r>
              <a:rPr>
                <a:solidFill>
                  <a:srgbClr val="666666"/>
                </a:solidFill>
                <a:latin typeface="Courier"/>
              </a:rPr>
              <a:t>(</a:t>
            </a:r>
            <a:r>
              <a:rPr>
                <a:solidFill>
                  <a:srgbClr val="40A070"/>
                </a:solidFill>
                <a:latin typeface="Courier"/>
              </a:rPr>
              <a:t>1</a:t>
            </a:r>
            <a:r>
              <a:rPr>
                <a:solidFill>
                  <a:srgbClr val="666666"/>
                </a:solidFill>
                <a:latin typeface="Courier"/>
              </a:rPr>
              <a:t>,</a:t>
            </a:r>
            <a:r>
              <a:rPr>
                <a:solidFill>
                  <a:srgbClr val="40A070"/>
                </a:solidFill>
                <a:latin typeface="Courier"/>
              </a:rPr>
              <a:t>2</a:t>
            </a:r>
            <a:r>
              <a:rPr>
                <a:solidFill>
                  <a:srgbClr val="666666"/>
                </a:solidFill>
                <a:latin typeface="Courier"/>
              </a:rPr>
              <a:t>,</a:t>
            </a:r>
            <a:r>
              <a:rPr>
                <a:solidFill>
                  <a:srgbClr val="40A070"/>
                </a:solidFill>
                <a:latin typeface="Courier"/>
              </a:rPr>
              <a:t>3</a:t>
            </a:r>
            <a:r>
              <a:rPr>
                <a:solidFill>
                  <a:srgbClr val="666666"/>
                </a:solidFill>
                <a:latin typeface="Courier"/>
              </a:rPr>
              <a:t>,</a:t>
            </a:r>
            <a:r>
              <a:rPr>
                <a:solidFill>
                  <a:srgbClr val="40A070"/>
                </a:solidFill>
                <a:latin typeface="Courier"/>
              </a:rPr>
              <a:t>4</a:t>
            </a:r>
            <a:r>
              <a:rPr>
                <a:solidFill>
                  <a:srgbClr val="666666"/>
                </a:solidFill>
                <a:latin typeface="Courier"/>
              </a:rPr>
              <a:t>,</a:t>
            </a:r>
            <a:r>
              <a:rPr>
                <a:solidFill>
                  <a:srgbClr val="40A070"/>
                </a:solidFill>
                <a:latin typeface="Courier"/>
              </a:rPr>
              <a:t>5</a:t>
            </a:r>
            <a:r>
              <a:rPr>
                <a:solidFill>
                  <a:srgbClr val="666666"/>
                </a:solidFill>
                <a:latin typeface="Courier"/>
              </a:rPr>
              <a:t>).</a:t>
            </a:r>
            <a:r>
              <a:rPr>
                <a:solidFill>
                  <a:srgbClr val="06287E"/>
                </a:solidFill>
                <a:latin typeface="Courier"/>
              </a:rPr>
              <a:t>map</a:t>
            </a:r>
            <a:r>
              <a:rPr>
                <a:solidFill>
                  <a:srgbClr val="666666"/>
                </a:solidFill>
                <a:latin typeface="Courier"/>
              </a:rPr>
              <a:t>(</a:t>
            </a:r>
            <a:r>
              <a:rPr>
                <a:latin typeface="Courier"/>
              </a:rPr>
              <a:t>_ </a:t>
            </a:r>
            <a:r>
              <a:rPr>
                <a:solidFill>
                  <a:srgbClr val="666666"/>
                </a:solidFill>
                <a:latin typeface="Courier"/>
              </a:rPr>
              <a:t>*</a:t>
            </a:r>
            <a:r>
              <a:rPr>
                <a:latin typeface="Courier"/>
              </a:rPr>
              <a:t> </a:t>
            </a:r>
            <a:r>
              <a:rPr>
                <a:solidFill>
                  <a:srgbClr val="40A070"/>
                </a:solidFill>
                <a:latin typeface="Courier"/>
              </a:rPr>
              <a:t>10</a:t>
            </a:r>
            <a:r>
              <a:rPr>
                <a:solidFill>
                  <a:srgbClr val="666666"/>
                </a:solidFill>
                <a:latin typeface="Courier"/>
              </a:rPr>
              <a:t>)</a:t>
            </a:r>
            <a:br/>
            <a:r>
              <a:rPr>
                <a:latin typeface="Courier"/>
              </a:rPr>
              <a:t>res6</a:t>
            </a:r>
            <a:r>
              <a:rPr>
                <a:solidFill>
                  <a:srgbClr val="666666"/>
                </a:solidFill>
                <a:latin typeface="Courier"/>
              </a:rPr>
              <a:t>:</a:t>
            </a:r>
            <a:r>
              <a:rPr>
                <a:latin typeface="Courier"/>
              </a:rPr>
              <a:t> List</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List</a:t>
            </a:r>
            <a:r>
              <a:rPr>
                <a:solidFill>
                  <a:srgbClr val="666666"/>
                </a:solidFill>
                <a:latin typeface="Courier"/>
              </a:rPr>
              <a:t>(</a:t>
            </a:r>
            <a:r>
              <a:rPr>
                <a:solidFill>
                  <a:srgbClr val="40A070"/>
                </a:solidFill>
                <a:latin typeface="Courier"/>
              </a:rPr>
              <a:t>10</a:t>
            </a:r>
            <a:r>
              <a:rPr>
                <a:solidFill>
                  <a:srgbClr val="666666"/>
                </a:solidFill>
                <a:latin typeface="Courier"/>
              </a:rPr>
              <a:t>,</a:t>
            </a:r>
            <a:r>
              <a:rPr>
                <a:latin typeface="Courier"/>
              </a:rPr>
              <a:t> </a:t>
            </a:r>
            <a:r>
              <a:rPr>
                <a:solidFill>
                  <a:srgbClr val="40A070"/>
                </a:solidFill>
                <a:latin typeface="Courier"/>
              </a:rPr>
              <a:t>20</a:t>
            </a:r>
            <a:r>
              <a:rPr>
                <a:solidFill>
                  <a:srgbClr val="666666"/>
                </a:solidFill>
                <a:latin typeface="Courier"/>
              </a:rPr>
              <a:t>,</a:t>
            </a:r>
            <a:r>
              <a:rPr>
                <a:latin typeface="Courier"/>
              </a:rPr>
              <a:t> </a:t>
            </a:r>
            <a:r>
              <a:rPr>
                <a:solidFill>
                  <a:srgbClr val="40A070"/>
                </a:solidFill>
                <a:latin typeface="Courier"/>
              </a:rPr>
              <a:t>30</a:t>
            </a:r>
            <a:r>
              <a:rPr>
                <a:solidFill>
                  <a:srgbClr val="666666"/>
                </a:solidFill>
                <a:latin typeface="Courier"/>
              </a:rPr>
              <a:t>,</a:t>
            </a:r>
            <a:r>
              <a:rPr>
                <a:latin typeface="Courier"/>
              </a:rPr>
              <a:t> </a:t>
            </a:r>
            <a:r>
              <a:rPr>
                <a:solidFill>
                  <a:srgbClr val="40A070"/>
                </a:solidFill>
                <a:latin typeface="Courier"/>
              </a:rPr>
              <a:t>40</a:t>
            </a:r>
            <a:r>
              <a:rPr>
                <a:solidFill>
                  <a:srgbClr val="666666"/>
                </a:solidFill>
                <a:latin typeface="Courier"/>
              </a:rPr>
              <a:t>,</a:t>
            </a:r>
            <a:r>
              <a:rPr>
                <a:latin typeface="Courier"/>
              </a:rPr>
              <a:t> </a:t>
            </a:r>
            <a:r>
              <a:rPr>
                <a:solidFill>
                  <a:srgbClr val="40A070"/>
                </a:solidFill>
                <a:latin typeface="Courier"/>
              </a:rPr>
              <a:t>50</a:t>
            </a:r>
            <a:r>
              <a:rPr>
                <a:solidFill>
                  <a:srgbClr val="666666"/>
                </a:solidFill>
                <a:latin typeface="Courier"/>
              </a:rPr>
              <a:t>)</a:t>
            </a:r>
            <a:br/>
            <a:r>
              <a:rPr>
                <a:latin typeface="Courier"/>
              </a:rPr>
              <a:t>scala</a:t>
            </a:r>
            <a:r>
              <a:rPr>
                <a:solidFill>
                  <a:srgbClr val="666666"/>
                </a:solidFill>
                <a:latin typeface="Courier"/>
              </a:rPr>
              <a:t>&gt;</a:t>
            </a:r>
            <a:r>
              <a:rPr>
                <a:latin typeface="Courier"/>
              </a:rPr>
              <a:t> List</a:t>
            </a:r>
            <a:r>
              <a:rPr>
                <a:solidFill>
                  <a:srgbClr val="666666"/>
                </a:solidFill>
                <a:latin typeface="Courier"/>
              </a:rPr>
              <a:t>(</a:t>
            </a:r>
            <a:r>
              <a:rPr>
                <a:solidFill>
                  <a:srgbClr val="40A070"/>
                </a:solidFill>
                <a:latin typeface="Courier"/>
              </a:rPr>
              <a:t>1</a:t>
            </a:r>
            <a:r>
              <a:rPr>
                <a:solidFill>
                  <a:srgbClr val="666666"/>
                </a:solidFill>
                <a:latin typeface="Courier"/>
              </a:rPr>
              <a:t>,</a:t>
            </a:r>
            <a:r>
              <a:rPr>
                <a:solidFill>
                  <a:srgbClr val="40A070"/>
                </a:solidFill>
                <a:latin typeface="Courier"/>
              </a:rPr>
              <a:t>2</a:t>
            </a:r>
            <a:r>
              <a:rPr>
                <a:solidFill>
                  <a:srgbClr val="666666"/>
                </a:solidFill>
                <a:latin typeface="Courier"/>
              </a:rPr>
              <a:t>,</a:t>
            </a:r>
            <a:r>
              <a:rPr>
                <a:solidFill>
                  <a:srgbClr val="40A070"/>
                </a:solidFill>
                <a:latin typeface="Courier"/>
              </a:rPr>
              <a:t>3</a:t>
            </a:r>
            <a:r>
              <a:rPr>
                <a:solidFill>
                  <a:srgbClr val="666666"/>
                </a:solidFill>
                <a:latin typeface="Courier"/>
              </a:rPr>
              <a:t>,</a:t>
            </a:r>
            <a:r>
              <a:rPr>
                <a:solidFill>
                  <a:srgbClr val="40A070"/>
                </a:solidFill>
                <a:latin typeface="Courier"/>
              </a:rPr>
              <a:t>4</a:t>
            </a:r>
            <a:r>
              <a:rPr>
                <a:solidFill>
                  <a:srgbClr val="666666"/>
                </a:solidFill>
                <a:latin typeface="Courier"/>
              </a:rPr>
              <a:t>,</a:t>
            </a:r>
            <a:r>
              <a:rPr>
                <a:solidFill>
                  <a:srgbClr val="40A070"/>
                </a:solidFill>
                <a:latin typeface="Courier"/>
              </a:rPr>
              <a:t>5</a:t>
            </a:r>
            <a:r>
              <a:rPr>
                <a:solidFill>
                  <a:srgbClr val="666666"/>
                </a:solidFill>
                <a:latin typeface="Courier"/>
              </a:rPr>
              <a:t>).</a:t>
            </a:r>
            <a:r>
              <a:rPr>
                <a:solidFill>
                  <a:srgbClr val="06287E"/>
                </a:solidFill>
                <a:latin typeface="Courier"/>
              </a:rPr>
              <a:t>filter</a:t>
            </a:r>
            <a:r>
              <a:rPr>
                <a:solidFill>
                  <a:srgbClr val="666666"/>
                </a:solidFill>
                <a:latin typeface="Courier"/>
              </a:rPr>
              <a:t>(</a:t>
            </a:r>
            <a:r>
              <a:rPr>
                <a:latin typeface="Courier"/>
              </a:rPr>
              <a:t>_ </a:t>
            </a:r>
            <a:r>
              <a:rPr>
                <a:solidFill>
                  <a:srgbClr val="666666"/>
                </a:solidFill>
                <a:latin typeface="Courier"/>
              </a:rPr>
              <a:t>&gt;</a:t>
            </a:r>
            <a:r>
              <a:rPr>
                <a:latin typeface="Courier"/>
              </a:rPr>
              <a:t> </a:t>
            </a:r>
            <a:r>
              <a:rPr>
                <a:solidFill>
                  <a:srgbClr val="40A070"/>
                </a:solidFill>
                <a:latin typeface="Courier"/>
              </a:rPr>
              <a:t>2</a:t>
            </a:r>
            <a:r>
              <a:rPr>
                <a:solidFill>
                  <a:srgbClr val="666666"/>
                </a:solidFill>
                <a:latin typeface="Courier"/>
              </a:rPr>
              <a:t>)</a:t>
            </a:r>
            <a:br/>
            <a:r>
              <a:rPr>
                <a:latin typeface="Courier"/>
              </a:rPr>
              <a:t>res7</a:t>
            </a:r>
            <a:r>
              <a:rPr>
                <a:solidFill>
                  <a:srgbClr val="666666"/>
                </a:solidFill>
                <a:latin typeface="Courier"/>
              </a:rPr>
              <a:t>:</a:t>
            </a:r>
            <a:r>
              <a:rPr>
                <a:latin typeface="Courier"/>
              </a:rPr>
              <a:t> List</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List</a:t>
            </a:r>
            <a:r>
              <a:rPr>
                <a:solidFill>
                  <a:srgbClr val="666666"/>
                </a:solidFill>
                <a:latin typeface="Courier"/>
              </a:rPr>
              <a:t>(</a:t>
            </a:r>
            <a:r>
              <a:rPr>
                <a:solidFill>
                  <a:srgbClr val="40A070"/>
                </a:solidFill>
                <a:latin typeface="Courier"/>
              </a:rPr>
              <a:t>3</a:t>
            </a:r>
            <a:r>
              <a:rPr>
                <a:solidFill>
                  <a:srgbClr val="666666"/>
                </a:solidFill>
                <a:latin typeface="Courier"/>
              </a:rPr>
              <a:t>,</a:t>
            </a:r>
            <a:r>
              <a:rPr>
                <a:latin typeface="Courier"/>
              </a:rPr>
              <a:t> </a:t>
            </a:r>
            <a:r>
              <a:rPr>
                <a:solidFill>
                  <a:srgbClr val="40A070"/>
                </a:solidFill>
                <a:latin typeface="Courier"/>
              </a:rPr>
              <a:t>4</a:t>
            </a:r>
            <a:r>
              <a:rPr>
                <a:solidFill>
                  <a:srgbClr val="666666"/>
                </a:solidFill>
                <a:latin typeface="Courier"/>
              </a:rPr>
              <a:t>,</a:t>
            </a:r>
            <a:r>
              <a:rPr>
                <a:latin typeface="Courier"/>
              </a:rPr>
              <a:t> </a:t>
            </a:r>
            <a:r>
              <a:rPr>
                <a:solidFill>
                  <a:srgbClr val="40A070"/>
                </a:solidFill>
                <a:latin typeface="Courier"/>
              </a:rPr>
              <a:t>5</a:t>
            </a:r>
            <a:r>
              <a:rPr>
                <a:solidFill>
                  <a:srgbClr val="666666"/>
                </a:solidFill>
                <a:latin typeface="Courier"/>
              </a:rPr>
              <a:t>)</a:t>
            </a:r>
            <a:br/>
            <a:r>
              <a:rPr>
                <a:latin typeface="Courier"/>
              </a:rPr>
              <a:t>scala</a:t>
            </a:r>
            <a:r>
              <a:rPr>
                <a:solidFill>
                  <a:srgbClr val="666666"/>
                </a:solidFill>
                <a:latin typeface="Courier"/>
              </a:rPr>
              <a:t>&gt;</a:t>
            </a:r>
            <a:r>
              <a:rPr>
                <a:latin typeface="Courier"/>
              </a:rPr>
              <a:t> List</a:t>
            </a:r>
            <a:r>
              <a:rPr>
                <a:solidFill>
                  <a:srgbClr val="666666"/>
                </a:solidFill>
                <a:latin typeface="Courier"/>
              </a:rPr>
              <a:t>(</a:t>
            </a:r>
            <a:r>
              <a:rPr>
                <a:solidFill>
                  <a:srgbClr val="40A070"/>
                </a:solidFill>
                <a:latin typeface="Courier"/>
              </a:rPr>
              <a:t>5</a:t>
            </a:r>
            <a:r>
              <a:rPr>
                <a:solidFill>
                  <a:srgbClr val="666666"/>
                </a:solidFill>
                <a:latin typeface="Courier"/>
              </a:rPr>
              <a:t>,</a:t>
            </a:r>
            <a:r>
              <a:rPr>
                <a:solidFill>
                  <a:srgbClr val="40A070"/>
                </a:solidFill>
                <a:latin typeface="Courier"/>
              </a:rPr>
              <a:t>1</a:t>
            </a:r>
            <a:r>
              <a:rPr>
                <a:solidFill>
                  <a:srgbClr val="666666"/>
                </a:solidFill>
                <a:latin typeface="Courier"/>
              </a:rPr>
              <a:t>,</a:t>
            </a:r>
            <a:r>
              <a:rPr>
                <a:solidFill>
                  <a:srgbClr val="40A070"/>
                </a:solidFill>
                <a:latin typeface="Courier"/>
              </a:rPr>
              <a:t>3</a:t>
            </a:r>
            <a:r>
              <a:rPr>
                <a:solidFill>
                  <a:srgbClr val="666666"/>
                </a:solidFill>
                <a:latin typeface="Courier"/>
              </a:rPr>
              <a:t>,</a:t>
            </a:r>
            <a:r>
              <a:rPr>
                <a:solidFill>
                  <a:srgbClr val="40A070"/>
                </a:solidFill>
                <a:latin typeface="Courier"/>
              </a:rPr>
              <a:t>11</a:t>
            </a:r>
            <a:r>
              <a:rPr>
                <a:solidFill>
                  <a:srgbClr val="666666"/>
                </a:solidFill>
                <a:latin typeface="Courier"/>
              </a:rPr>
              <a:t>,</a:t>
            </a:r>
            <a:r>
              <a:rPr>
                <a:solidFill>
                  <a:srgbClr val="40A070"/>
                </a:solidFill>
                <a:latin typeface="Courier"/>
              </a:rPr>
              <a:t>7</a:t>
            </a:r>
            <a:r>
              <a:rPr>
                <a:solidFill>
                  <a:srgbClr val="666666"/>
                </a:solidFill>
                <a:latin typeface="Courier"/>
              </a:rPr>
              <a:t>).</a:t>
            </a:r>
            <a:r>
              <a:rPr>
                <a:solidFill>
                  <a:srgbClr val="06287E"/>
                </a:solidFill>
                <a:latin typeface="Courier"/>
              </a:rPr>
              <a:t>takeWhile</a:t>
            </a:r>
            <a:r>
              <a:rPr>
                <a:solidFill>
                  <a:srgbClr val="666666"/>
                </a:solidFill>
                <a:latin typeface="Courier"/>
              </a:rPr>
              <a:t>(</a:t>
            </a:r>
            <a:r>
              <a:rPr>
                <a:latin typeface="Courier"/>
              </a:rPr>
              <a:t>_ </a:t>
            </a:r>
            <a:r>
              <a:rPr>
                <a:solidFill>
                  <a:srgbClr val="666666"/>
                </a:solidFill>
                <a:latin typeface="Courier"/>
              </a:rPr>
              <a:t>&lt;</a:t>
            </a:r>
            <a:r>
              <a:rPr>
                <a:latin typeface="Courier"/>
              </a:rPr>
              <a:t> </a:t>
            </a:r>
            <a:r>
              <a:rPr>
                <a:solidFill>
                  <a:srgbClr val="40A070"/>
                </a:solidFill>
                <a:latin typeface="Courier"/>
              </a:rPr>
              <a:t>6</a:t>
            </a:r>
            <a:r>
              <a:rPr>
                <a:solidFill>
                  <a:srgbClr val="666666"/>
                </a:solidFill>
                <a:latin typeface="Courier"/>
              </a:rPr>
              <a:t>)</a:t>
            </a:r>
            <a:br/>
            <a:r>
              <a:rPr>
                <a:latin typeface="Courier"/>
              </a:rPr>
              <a:t>res8</a:t>
            </a:r>
            <a:r>
              <a:rPr>
                <a:solidFill>
                  <a:srgbClr val="666666"/>
                </a:solidFill>
                <a:latin typeface="Courier"/>
              </a:rPr>
              <a:t>:</a:t>
            </a:r>
            <a:r>
              <a:rPr>
                <a:latin typeface="Courier"/>
              </a:rPr>
              <a:t> List</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List</a:t>
            </a:r>
            <a:r>
              <a:rPr>
                <a:solidFill>
                  <a:srgbClr val="666666"/>
                </a:solidFill>
                <a:latin typeface="Courier"/>
              </a:rPr>
              <a:t>(</a:t>
            </a:r>
            <a:r>
              <a:rPr>
                <a:solidFill>
                  <a:srgbClr val="40A070"/>
                </a:solidFill>
                <a:latin typeface="Courier"/>
              </a:rPr>
              <a:t>5</a:t>
            </a:r>
            <a:r>
              <a:rPr>
                <a:solidFill>
                  <a:srgbClr val="666666"/>
                </a:solidFill>
                <a:latin typeface="Courier"/>
              </a:rPr>
              <a:t>,</a:t>
            </a:r>
            <a:r>
              <a:rPr>
                <a:latin typeface="Courier"/>
              </a:rPr>
              <a:t> </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2.5.2 函数式编程：代码片段（4/8）</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用 map 把输入转换成后续要处理的结构</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def</a:t>
            </a:r>
            <a:r>
              <a:rPr>
                <a:latin typeface="Courier"/>
              </a:rPr>
              <a:t> </a:t>
            </a:r>
            <a:r>
              <a:rPr>
                <a:solidFill>
                  <a:srgbClr val="06287E"/>
                </a:solidFill>
                <a:latin typeface="Courier"/>
              </a:rPr>
              <a:t>toUpper</a:t>
            </a:r>
            <a:r>
              <a:rPr>
                <a:solidFill>
                  <a:srgbClr val="666666"/>
                </a:solidFill>
                <a:latin typeface="Courier"/>
              </a:rPr>
              <a:t>(</a:t>
            </a:r>
            <a:r>
              <a:rPr>
                <a:latin typeface="Courier"/>
              </a:rPr>
              <a:t>s</a:t>
            </a:r>
            <a:r>
              <a:rPr>
                <a:solidFill>
                  <a:srgbClr val="666666"/>
                </a:solidFill>
                <a:latin typeface="Courier"/>
              </a:rPr>
              <a:t>:</a:t>
            </a:r>
            <a:r>
              <a:rPr>
                <a:latin typeface="Courier"/>
              </a:rPr>
              <a:t> String</a:t>
            </a:r>
            <a:r>
              <a:rPr>
                <a:solidFill>
                  <a:srgbClr val="666666"/>
                </a:solidFill>
                <a:latin typeface="Courier"/>
              </a:rPr>
              <a:t>):</a:t>
            </a:r>
            <a:r>
              <a:rPr>
                <a:latin typeface="Courier"/>
              </a:rPr>
              <a:t> String </a:t>
            </a:r>
            <a:r>
              <a:rPr>
                <a:solidFill>
                  <a:srgbClr val="666666"/>
                </a:solidFill>
                <a:latin typeface="Courier"/>
              </a:rPr>
              <a:t>=</a:t>
            </a:r>
            <a:r>
              <a:rPr>
                <a:latin typeface="Courier"/>
              </a:rPr>
              <a:t> s</a:t>
            </a:r>
            <a:r>
              <a:rPr>
                <a:solidFill>
                  <a:srgbClr val="666666"/>
                </a:solidFill>
                <a:latin typeface="Courier"/>
              </a:rPr>
              <a:t>.</a:t>
            </a:r>
            <a:r>
              <a:rPr>
                <a:latin typeface="Courier"/>
              </a:rPr>
              <a:t>toUpperCase</a:t>
            </a:r>
            <a:br/>
            <a:r>
              <a:rPr>
                <a:latin typeface="Courier"/>
              </a:rPr>
              <a:t>toUpper</a:t>
            </a:r>
            <a:r>
              <a:rPr>
                <a:solidFill>
                  <a:srgbClr val="666666"/>
                </a:solidFill>
                <a:latin typeface="Courier"/>
              </a:rPr>
              <a:t>:</a:t>
            </a:r>
            <a:r>
              <a:rPr>
                <a:latin typeface="Courier"/>
              </a:rPr>
              <a:t> </a:t>
            </a:r>
            <a:r>
              <a:rPr>
                <a:solidFill>
                  <a:srgbClr val="666666"/>
                </a:solidFill>
                <a:latin typeface="Courier"/>
              </a:rPr>
              <a:t>(</a:t>
            </a:r>
            <a:r>
              <a:rPr>
                <a:latin typeface="Courier"/>
              </a:rPr>
              <a:t>s</a:t>
            </a:r>
            <a:r>
              <a:rPr>
                <a:solidFill>
                  <a:srgbClr val="666666"/>
                </a:solidFill>
                <a:latin typeface="Courier"/>
              </a:rPr>
              <a:t>:</a:t>
            </a:r>
            <a:r>
              <a:rPr>
                <a:latin typeface="Courier"/>
              </a:rPr>
              <a:t> String</a:t>
            </a:r>
            <a:r>
              <a:rPr>
                <a:solidFill>
                  <a:srgbClr val="666666"/>
                </a:solidFill>
                <a:latin typeface="Courier"/>
              </a:rPr>
              <a:t>)</a:t>
            </a:r>
            <a:r>
              <a:rPr>
                <a:latin typeface="Courier"/>
              </a:rPr>
              <a:t>String</a:t>
            </a:r>
            <a:br/>
            <a:r>
              <a:rPr>
                <a:latin typeface="Courier"/>
              </a:rPr>
              <a:t>scala</a:t>
            </a:r>
            <a:r>
              <a:rPr>
                <a:solidFill>
                  <a:srgbClr val="666666"/>
                </a:solidFill>
                <a:latin typeface="Courier"/>
              </a:rPr>
              <a:t>&gt;</a:t>
            </a:r>
            <a:r>
              <a:rPr>
                <a:latin typeface="Courier"/>
              </a:rPr>
              <a:t> List</a:t>
            </a:r>
            <a:r>
              <a:rPr>
                <a:solidFill>
                  <a:srgbClr val="666666"/>
                </a:solidFill>
                <a:latin typeface="Courier"/>
              </a:rPr>
              <a:t>(</a:t>
            </a:r>
            <a:r>
              <a:rPr>
                <a:solidFill>
                  <a:srgbClr val="4070A0"/>
                </a:solidFill>
                <a:latin typeface="Courier"/>
              </a:rPr>
              <a:t>"foo"</a:t>
            </a:r>
            <a:r>
              <a:rPr>
                <a:solidFill>
                  <a:srgbClr val="666666"/>
                </a:solidFill>
                <a:latin typeface="Courier"/>
              </a:rPr>
              <a:t>,</a:t>
            </a:r>
            <a:r>
              <a:rPr>
                <a:latin typeface="Courier"/>
              </a:rPr>
              <a:t> </a:t>
            </a:r>
            <a:r>
              <a:rPr>
                <a:solidFill>
                  <a:srgbClr val="4070A0"/>
                </a:solidFill>
                <a:latin typeface="Courier"/>
              </a:rPr>
              <a:t>"bar"</a:t>
            </a:r>
            <a:r>
              <a:rPr>
                <a:solidFill>
                  <a:srgbClr val="666666"/>
                </a:solidFill>
                <a:latin typeface="Courier"/>
              </a:rPr>
              <a:t>).</a:t>
            </a:r>
            <a:r>
              <a:rPr>
                <a:solidFill>
                  <a:srgbClr val="06287E"/>
                </a:solidFill>
                <a:latin typeface="Courier"/>
              </a:rPr>
              <a:t>map</a:t>
            </a:r>
            <a:r>
              <a:rPr>
                <a:solidFill>
                  <a:srgbClr val="666666"/>
                </a:solidFill>
                <a:latin typeface="Courier"/>
              </a:rPr>
              <a:t>(</a:t>
            </a:r>
            <a:r>
              <a:rPr>
                <a:latin typeface="Courier"/>
              </a:rPr>
              <a:t>toUpper</a:t>
            </a:r>
            <a:r>
              <a:rPr>
                <a:solidFill>
                  <a:srgbClr val="666666"/>
                </a:solidFill>
                <a:latin typeface="Courier"/>
              </a:rPr>
              <a:t>)</a:t>
            </a:r>
            <a:br/>
            <a:r>
              <a:rPr>
                <a:latin typeface="Courier"/>
              </a:rPr>
              <a:t>res9</a:t>
            </a:r>
            <a:r>
              <a:rPr>
                <a:solidFill>
                  <a:srgbClr val="666666"/>
                </a:solidFill>
                <a:latin typeface="Courier"/>
              </a:rPr>
              <a:t>:</a:t>
            </a:r>
            <a:r>
              <a:rPr>
                <a:latin typeface="Courier"/>
              </a:rPr>
              <a:t> List</a:t>
            </a:r>
            <a:r>
              <a:rPr>
                <a:solidFill>
                  <a:srgbClr val="666666"/>
                </a:solidFill>
                <a:latin typeface="Courier"/>
              </a:rPr>
              <a:t>[</a:t>
            </a:r>
            <a:r>
              <a:rPr>
                <a:latin typeface="Courier"/>
              </a:rPr>
              <a:t>String</a:t>
            </a:r>
            <a:r>
              <a:rPr>
                <a:solidFill>
                  <a:srgbClr val="666666"/>
                </a:solidFill>
                <a:latin typeface="Courier"/>
              </a:rPr>
              <a:t>]</a:t>
            </a:r>
            <a:r>
              <a:rPr>
                <a:latin typeface="Courier"/>
              </a:rPr>
              <a:t> </a:t>
            </a:r>
            <a:r>
              <a:rPr>
                <a:solidFill>
                  <a:srgbClr val="666666"/>
                </a:solidFill>
                <a:latin typeface="Courier"/>
              </a:rPr>
              <a:t>=</a:t>
            </a:r>
            <a:r>
              <a:rPr>
                <a:latin typeface="Courier"/>
              </a:rPr>
              <a:t> List</a:t>
            </a:r>
            <a:r>
              <a:rPr>
                <a:solidFill>
                  <a:srgbClr val="666666"/>
                </a:solidFill>
                <a:latin typeface="Courier"/>
              </a:rPr>
              <a:t>(</a:t>
            </a:r>
            <a:r>
              <a:rPr>
                <a:latin typeface="Courier"/>
              </a:rPr>
              <a:t>FOO</a:t>
            </a:r>
            <a:r>
              <a:rPr>
                <a:solidFill>
                  <a:srgbClr val="666666"/>
                </a:solidFill>
                <a:latin typeface="Courier"/>
              </a:rPr>
              <a:t>,</a:t>
            </a:r>
            <a:r>
              <a:rPr>
                <a:latin typeface="Courier"/>
              </a:rPr>
              <a:t> BAR</a:t>
            </a:r>
            <a:r>
              <a:rPr>
                <a:solidFill>
                  <a:srgbClr val="666666"/>
                </a:solidFill>
                <a:latin typeface="Courier"/>
              </a:rPr>
              <a:t>)</a:t>
            </a:r>
            <a:br/>
            <a:r>
              <a:rPr>
                <a:latin typeface="Courier"/>
              </a:rPr>
              <a:t>scala</a:t>
            </a:r>
            <a:r>
              <a:rPr>
                <a:solidFill>
                  <a:srgbClr val="666666"/>
                </a:solidFill>
                <a:latin typeface="Courier"/>
              </a:rPr>
              <a:t>&gt;</a:t>
            </a:r>
            <a:r>
              <a:rPr>
                <a:latin typeface="Courier"/>
              </a:rPr>
              <a:t> List</a:t>
            </a:r>
            <a:r>
              <a:rPr>
                <a:solidFill>
                  <a:srgbClr val="666666"/>
                </a:solidFill>
                <a:latin typeface="Courier"/>
              </a:rPr>
              <a:t>(</a:t>
            </a:r>
            <a:r>
              <a:rPr>
                <a:solidFill>
                  <a:srgbClr val="4070A0"/>
                </a:solidFill>
                <a:latin typeface="Courier"/>
              </a:rPr>
              <a:t>"foo"</a:t>
            </a:r>
            <a:r>
              <a:rPr>
                <a:solidFill>
                  <a:srgbClr val="666666"/>
                </a:solidFill>
                <a:latin typeface="Courier"/>
              </a:rPr>
              <a:t>,</a:t>
            </a:r>
            <a:r>
              <a:rPr>
                <a:latin typeface="Courier"/>
              </a:rPr>
              <a:t> </a:t>
            </a:r>
            <a:r>
              <a:rPr>
                <a:solidFill>
                  <a:srgbClr val="4070A0"/>
                </a:solidFill>
                <a:latin typeface="Courier"/>
              </a:rPr>
              <a:t>"bar"</a:t>
            </a:r>
            <a:r>
              <a:rPr>
                <a:solidFill>
                  <a:srgbClr val="666666"/>
                </a:solidFill>
                <a:latin typeface="Courier"/>
              </a:rPr>
              <a:t>).</a:t>
            </a:r>
            <a:r>
              <a:rPr>
                <a:solidFill>
                  <a:srgbClr val="06287E"/>
                </a:solidFill>
                <a:latin typeface="Courier"/>
              </a:rPr>
              <a:t>map</a:t>
            </a:r>
            <a:r>
              <a:rPr>
                <a:solidFill>
                  <a:srgbClr val="666666"/>
                </a:solidFill>
                <a:latin typeface="Courier"/>
              </a:rPr>
              <a:t>(</a:t>
            </a:r>
            <a:r>
              <a:rPr>
                <a:latin typeface="Courier"/>
              </a:rPr>
              <a:t>s </a:t>
            </a:r>
            <a:r>
              <a:rPr>
                <a:solidFill>
                  <a:srgbClr val="666666"/>
                </a:solidFill>
                <a:latin typeface="Courier"/>
              </a:rPr>
              <a:t>=&gt;</a:t>
            </a:r>
            <a:r>
              <a:rPr>
                <a:latin typeface="Courier"/>
              </a:rPr>
              <a:t> </a:t>
            </a:r>
            <a:r>
              <a:rPr>
                <a:solidFill>
                  <a:srgbClr val="06287E"/>
                </a:solidFill>
                <a:latin typeface="Courier"/>
              </a:rPr>
              <a:t>toUpper</a:t>
            </a:r>
            <a:r>
              <a:rPr>
                <a:solidFill>
                  <a:srgbClr val="666666"/>
                </a:solidFill>
                <a:latin typeface="Courier"/>
              </a:rPr>
              <a:t>(</a:t>
            </a:r>
            <a:r>
              <a:rPr>
                <a:latin typeface="Courier"/>
              </a:rPr>
              <a:t>s</a:t>
            </a:r>
            <a:r>
              <a:rPr>
                <a:solidFill>
                  <a:srgbClr val="666666"/>
                </a:solidFill>
                <a:latin typeface="Courier"/>
              </a:rPr>
              <a:t>))</a:t>
            </a:r>
            <a:br/>
            <a:r>
              <a:rPr>
                <a:latin typeface="Courier"/>
              </a:rPr>
              <a:t>res10</a:t>
            </a:r>
            <a:r>
              <a:rPr>
                <a:solidFill>
                  <a:srgbClr val="666666"/>
                </a:solidFill>
                <a:latin typeface="Courier"/>
              </a:rPr>
              <a:t>:</a:t>
            </a:r>
            <a:r>
              <a:rPr>
                <a:latin typeface="Courier"/>
              </a:rPr>
              <a:t> List</a:t>
            </a:r>
            <a:r>
              <a:rPr>
                <a:solidFill>
                  <a:srgbClr val="666666"/>
                </a:solidFill>
                <a:latin typeface="Courier"/>
              </a:rPr>
              <a:t>[</a:t>
            </a:r>
            <a:r>
              <a:rPr>
                <a:latin typeface="Courier"/>
              </a:rPr>
              <a:t>String</a:t>
            </a:r>
            <a:r>
              <a:rPr>
                <a:solidFill>
                  <a:srgbClr val="666666"/>
                </a:solidFill>
                <a:latin typeface="Courier"/>
              </a:rPr>
              <a:t>]</a:t>
            </a:r>
            <a:r>
              <a:rPr>
                <a:latin typeface="Courier"/>
              </a:rPr>
              <a:t> </a:t>
            </a:r>
            <a:r>
              <a:rPr>
                <a:solidFill>
                  <a:srgbClr val="666666"/>
                </a:solidFill>
                <a:latin typeface="Courier"/>
              </a:rPr>
              <a:t>=</a:t>
            </a:r>
            <a:r>
              <a:rPr>
                <a:latin typeface="Courier"/>
              </a:rPr>
              <a:t> List</a:t>
            </a:r>
            <a:r>
              <a:rPr>
                <a:solidFill>
                  <a:srgbClr val="666666"/>
                </a:solidFill>
                <a:latin typeface="Courier"/>
              </a:rPr>
              <a:t>(</a:t>
            </a:r>
            <a:r>
              <a:rPr>
                <a:latin typeface="Courier"/>
              </a:rPr>
              <a:t>FOO</a:t>
            </a:r>
            <a:r>
              <a:rPr>
                <a:solidFill>
                  <a:srgbClr val="666666"/>
                </a:solidFill>
                <a:latin typeface="Courier"/>
              </a:rPr>
              <a:t>,</a:t>
            </a:r>
            <a:r>
              <a:rPr>
                <a:latin typeface="Courier"/>
              </a:rPr>
              <a:t> BAR</a:t>
            </a:r>
            <a:r>
              <a:rPr>
                <a:solidFill>
                  <a:srgbClr val="666666"/>
                </a:solidFill>
                <a:latin typeface="Courier"/>
              </a:rPr>
              <a:t>)</a:t>
            </a:r>
          </a:p>
          <a:p>
            <a:pPr lvl="0" indent="0" marL="0">
              <a:buNone/>
            </a:pPr>
            <a:r>
              <a:rPr/>
              <a:t>片段 2</a:t>
            </a:r>
          </a:p>
          <a:p>
            <a:pPr lvl="0" indent="0">
              <a:buNone/>
            </a:pPr>
            <a:r>
              <a:rPr>
                <a:latin typeface="Courier"/>
              </a:rPr>
              <a:t>scala</a:t>
            </a:r>
            <a:r>
              <a:rPr>
                <a:solidFill>
                  <a:srgbClr val="666666"/>
                </a:solidFill>
                <a:latin typeface="Courier"/>
              </a:rPr>
              <a:t>&gt;</a:t>
            </a:r>
            <a:r>
              <a:rPr>
                <a:latin typeface="Courier"/>
              </a:rPr>
              <a:t> List</a:t>
            </a:r>
            <a:r>
              <a:rPr>
                <a:solidFill>
                  <a:srgbClr val="666666"/>
                </a:solidFill>
                <a:latin typeface="Courier"/>
              </a:rPr>
              <a:t>(</a:t>
            </a:r>
            <a:r>
              <a:rPr>
                <a:solidFill>
                  <a:srgbClr val="4070A0"/>
                </a:solidFill>
                <a:latin typeface="Courier"/>
              </a:rPr>
              <a:t>"foo"</a:t>
            </a:r>
            <a:r>
              <a:rPr>
                <a:solidFill>
                  <a:srgbClr val="666666"/>
                </a:solidFill>
                <a:latin typeface="Courier"/>
              </a:rPr>
              <a:t>,</a:t>
            </a:r>
            <a:r>
              <a:rPr>
                <a:latin typeface="Courier"/>
              </a:rPr>
              <a:t> </a:t>
            </a:r>
            <a:r>
              <a:rPr>
                <a:solidFill>
                  <a:srgbClr val="4070A0"/>
                </a:solidFill>
                <a:latin typeface="Courier"/>
              </a:rPr>
              <a:t>"bar"</a:t>
            </a:r>
            <a:r>
              <a:rPr>
                <a:solidFill>
                  <a:srgbClr val="666666"/>
                </a:solidFill>
                <a:latin typeface="Courier"/>
              </a:rPr>
              <a:t>).</a:t>
            </a:r>
            <a:r>
              <a:rPr>
                <a:solidFill>
                  <a:srgbClr val="06287E"/>
                </a:solidFill>
                <a:latin typeface="Courier"/>
              </a:rPr>
              <a:t>map</a:t>
            </a:r>
            <a:r>
              <a:rPr>
                <a:solidFill>
                  <a:srgbClr val="666666"/>
                </a:solidFill>
                <a:latin typeface="Courier"/>
              </a:rPr>
              <a:t>(</a:t>
            </a:r>
            <a:r>
              <a:rPr>
                <a:latin typeface="Courier"/>
              </a:rPr>
              <a:t>s </a:t>
            </a:r>
            <a:r>
              <a:rPr>
                <a:solidFill>
                  <a:srgbClr val="666666"/>
                </a:solidFill>
                <a:latin typeface="Courier"/>
              </a:rPr>
              <a:t>=&gt;</a:t>
            </a:r>
            <a:r>
              <a:rPr>
                <a:latin typeface="Courier"/>
              </a:rPr>
              <a:t> s</a:t>
            </a:r>
            <a:r>
              <a:rPr>
                <a:solidFill>
                  <a:srgbClr val="666666"/>
                </a:solidFill>
                <a:latin typeface="Courier"/>
              </a:rPr>
              <a:t>.</a:t>
            </a:r>
            <a:r>
              <a:rPr>
                <a:latin typeface="Courier"/>
              </a:rPr>
              <a:t>toUpperCase</a:t>
            </a:r>
            <a:r>
              <a:rPr>
                <a:solidFill>
                  <a:srgbClr val="666666"/>
                </a:solidFill>
                <a:latin typeface="Courier"/>
              </a:rPr>
              <a:t>)</a:t>
            </a:r>
            <a:br/>
            <a:r>
              <a:rPr>
                <a:latin typeface="Courier"/>
              </a:rPr>
              <a:t>res11</a:t>
            </a:r>
            <a:r>
              <a:rPr>
                <a:solidFill>
                  <a:srgbClr val="666666"/>
                </a:solidFill>
                <a:latin typeface="Courier"/>
              </a:rPr>
              <a:t>:</a:t>
            </a:r>
            <a:r>
              <a:rPr>
                <a:latin typeface="Courier"/>
              </a:rPr>
              <a:t> List</a:t>
            </a:r>
            <a:r>
              <a:rPr>
                <a:solidFill>
                  <a:srgbClr val="666666"/>
                </a:solidFill>
                <a:latin typeface="Courier"/>
              </a:rPr>
              <a:t>[</a:t>
            </a:r>
            <a:r>
              <a:rPr>
                <a:latin typeface="Courier"/>
              </a:rPr>
              <a:t>String</a:t>
            </a:r>
            <a:r>
              <a:rPr>
                <a:solidFill>
                  <a:srgbClr val="666666"/>
                </a:solidFill>
                <a:latin typeface="Courier"/>
              </a:rPr>
              <a:t>]</a:t>
            </a:r>
            <a:r>
              <a:rPr>
                <a:latin typeface="Courier"/>
              </a:rPr>
              <a:t> </a:t>
            </a:r>
            <a:r>
              <a:rPr>
                <a:solidFill>
                  <a:srgbClr val="666666"/>
                </a:solidFill>
                <a:latin typeface="Courier"/>
              </a:rPr>
              <a:t>=</a:t>
            </a:r>
            <a:r>
              <a:rPr>
                <a:latin typeface="Courier"/>
              </a:rPr>
              <a:t> List</a:t>
            </a:r>
            <a:r>
              <a:rPr>
                <a:solidFill>
                  <a:srgbClr val="666666"/>
                </a:solidFill>
                <a:latin typeface="Courier"/>
              </a:rPr>
              <a:t>(</a:t>
            </a:r>
            <a:r>
              <a:rPr>
                <a:latin typeface="Courier"/>
              </a:rPr>
              <a:t>FOO</a:t>
            </a:r>
            <a:r>
              <a:rPr>
                <a:solidFill>
                  <a:srgbClr val="666666"/>
                </a:solidFill>
                <a:latin typeface="Courier"/>
              </a:rPr>
              <a:t>,</a:t>
            </a:r>
            <a:r>
              <a:rPr>
                <a:latin typeface="Courier"/>
              </a:rPr>
              <a:t> BAR</a:t>
            </a:r>
            <a:r>
              <a:rPr>
                <a:solidFill>
                  <a:srgbClr val="666666"/>
                </a:solidFill>
                <a:latin typeface="Courier"/>
              </a:rPr>
              <a:t>)</a:t>
            </a:r>
            <a:br/>
            <a:r>
              <a:rPr>
                <a:latin typeface="Courier"/>
              </a:rPr>
              <a:t>scala</a:t>
            </a:r>
            <a:r>
              <a:rPr>
                <a:solidFill>
                  <a:srgbClr val="666666"/>
                </a:solidFill>
                <a:latin typeface="Courier"/>
              </a:rPr>
              <a:t>&gt;</a:t>
            </a:r>
            <a:r>
              <a:rPr>
                <a:latin typeface="Courier"/>
              </a:rPr>
              <a:t> List</a:t>
            </a:r>
            <a:r>
              <a:rPr>
                <a:solidFill>
                  <a:srgbClr val="666666"/>
                </a:solidFill>
                <a:latin typeface="Courier"/>
              </a:rPr>
              <a:t>(</a:t>
            </a:r>
            <a:r>
              <a:rPr>
                <a:solidFill>
                  <a:srgbClr val="4070A0"/>
                </a:solidFill>
                <a:latin typeface="Courier"/>
              </a:rPr>
              <a:t>"foo"</a:t>
            </a:r>
            <a:r>
              <a:rPr>
                <a:solidFill>
                  <a:srgbClr val="666666"/>
                </a:solidFill>
                <a:latin typeface="Courier"/>
              </a:rPr>
              <a:t>,</a:t>
            </a:r>
            <a:r>
              <a:rPr>
                <a:latin typeface="Courier"/>
              </a:rPr>
              <a:t> </a:t>
            </a:r>
            <a:r>
              <a:rPr>
                <a:solidFill>
                  <a:srgbClr val="4070A0"/>
                </a:solidFill>
                <a:latin typeface="Courier"/>
              </a:rPr>
              <a:t>"bar"</a:t>
            </a:r>
            <a:r>
              <a:rPr>
                <a:solidFill>
                  <a:srgbClr val="666666"/>
                </a:solidFill>
                <a:latin typeface="Courier"/>
              </a:rPr>
              <a:t>).</a:t>
            </a:r>
            <a:r>
              <a:rPr>
                <a:solidFill>
                  <a:srgbClr val="06287E"/>
                </a:solidFill>
                <a:latin typeface="Courier"/>
              </a:rPr>
              <a:t>map</a:t>
            </a:r>
            <a:r>
              <a:rPr>
                <a:solidFill>
                  <a:srgbClr val="666666"/>
                </a:solidFill>
                <a:latin typeface="Courier"/>
              </a:rPr>
              <a:t>(</a:t>
            </a:r>
            <a:r>
              <a:rPr>
                <a:latin typeface="Courier"/>
              </a:rPr>
              <a:t>_</a:t>
            </a:r>
            <a:r>
              <a:rPr>
                <a:solidFill>
                  <a:srgbClr val="666666"/>
                </a:solidFill>
                <a:latin typeface="Courier"/>
              </a:rPr>
              <a:t>.</a:t>
            </a:r>
            <a:r>
              <a:rPr>
                <a:latin typeface="Courier"/>
              </a:rPr>
              <a:t>toUpperCase</a:t>
            </a:r>
            <a:r>
              <a:rPr>
                <a:solidFill>
                  <a:srgbClr val="666666"/>
                </a:solidFill>
                <a:latin typeface="Courier"/>
              </a:rPr>
              <a:t>)</a:t>
            </a:r>
            <a:br/>
            <a:r>
              <a:rPr>
                <a:latin typeface="Courier"/>
              </a:rPr>
              <a:t>res12</a:t>
            </a:r>
            <a:r>
              <a:rPr>
                <a:solidFill>
                  <a:srgbClr val="666666"/>
                </a:solidFill>
                <a:latin typeface="Courier"/>
              </a:rPr>
              <a:t>:</a:t>
            </a:r>
            <a:r>
              <a:rPr>
                <a:latin typeface="Courier"/>
              </a:rPr>
              <a:t> List</a:t>
            </a:r>
            <a:r>
              <a:rPr>
                <a:solidFill>
                  <a:srgbClr val="666666"/>
                </a:solidFill>
                <a:latin typeface="Courier"/>
              </a:rPr>
              <a:t>[</a:t>
            </a:r>
            <a:r>
              <a:rPr>
                <a:latin typeface="Courier"/>
              </a:rPr>
              <a:t>String</a:t>
            </a:r>
            <a:r>
              <a:rPr>
                <a:solidFill>
                  <a:srgbClr val="666666"/>
                </a:solidFill>
                <a:latin typeface="Courier"/>
              </a:rPr>
              <a:t>]</a:t>
            </a:r>
            <a:r>
              <a:rPr>
                <a:latin typeface="Courier"/>
              </a:rPr>
              <a:t> </a:t>
            </a:r>
            <a:r>
              <a:rPr>
                <a:solidFill>
                  <a:srgbClr val="666666"/>
                </a:solidFill>
                <a:latin typeface="Courier"/>
              </a:rPr>
              <a:t>=</a:t>
            </a:r>
            <a:r>
              <a:rPr>
                <a:latin typeface="Courier"/>
              </a:rPr>
              <a:t> List</a:t>
            </a:r>
            <a:r>
              <a:rPr>
                <a:solidFill>
                  <a:srgbClr val="666666"/>
                </a:solidFill>
                <a:latin typeface="Courier"/>
              </a:rPr>
              <a:t>(</a:t>
            </a:r>
            <a:r>
              <a:rPr>
                <a:latin typeface="Courier"/>
              </a:rPr>
              <a:t>FOO</a:t>
            </a:r>
            <a:r>
              <a:rPr>
                <a:solidFill>
                  <a:srgbClr val="666666"/>
                </a:solidFill>
                <a:latin typeface="Courier"/>
              </a:rPr>
              <a:t>,</a:t>
            </a:r>
            <a:r>
              <a:rPr>
                <a:latin typeface="Courier"/>
              </a:rPr>
              <a:t> BAR</a:t>
            </a:r>
            <a:r>
              <a:rPr>
                <a:solidFill>
                  <a:srgbClr val="666666"/>
                </a:solidFill>
                <a:latin typeface="Courier"/>
              </a:rPr>
              <a:t>)</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2.5.2 函数式编程：代码片段（5/8）</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想象一下</a:t>
            </a:r>
          </a:p>
          <a:p>
            <a:pPr lvl="0"/>
            <a:r>
              <a:rPr/>
              <a:t>先对照代码理解 解决方案的实现如下所示： 的执行步骤</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def</a:t>
            </a:r>
            <a:r>
              <a:rPr>
                <a:latin typeface="Courier"/>
              </a:rPr>
              <a:t> </a:t>
            </a:r>
            <a:r>
              <a:rPr>
                <a:solidFill>
                  <a:srgbClr val="06287E"/>
                </a:solidFill>
                <a:latin typeface="Courier"/>
              </a:rPr>
              <a:t>toInt</a:t>
            </a:r>
            <a:r>
              <a:rPr>
                <a:solidFill>
                  <a:srgbClr val="666666"/>
                </a:solidFill>
                <a:latin typeface="Courier"/>
              </a:rPr>
              <a:t>(</a:t>
            </a:r>
            <a:r>
              <a:rPr>
                <a:latin typeface="Courier"/>
              </a:rPr>
              <a:t>s</a:t>
            </a:r>
            <a:r>
              <a:rPr>
                <a:solidFill>
                  <a:srgbClr val="666666"/>
                </a:solidFill>
                <a:latin typeface="Courier"/>
              </a:rPr>
              <a:t>:</a:t>
            </a:r>
            <a:r>
              <a:rPr>
                <a:latin typeface="Courier"/>
              </a:rPr>
              <a:t> String</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r>
              <a:rPr>
                <a:latin typeface="Courier"/>
              </a:rPr>
              <a:t> </a:t>
            </a:r>
            <a:r>
              <a:rPr b="1">
                <a:solidFill>
                  <a:srgbClr val="007020"/>
                </a:solidFill>
                <a:latin typeface="Courier"/>
              </a:rPr>
              <a:t>try</a:t>
            </a:r>
            <a:r>
              <a:rPr>
                <a:latin typeface="Courier"/>
              </a:rPr>
              <a:t> </a:t>
            </a:r>
            <a:r>
              <a:rPr>
                <a:solidFill>
                  <a:srgbClr val="666666"/>
                </a:solidFill>
                <a:latin typeface="Courier"/>
              </a:rPr>
              <a:t>{</a:t>
            </a:r>
            <a:br/>
            <a:r>
              <a:rPr>
                <a:solidFill>
                  <a:srgbClr val="666666"/>
                </a:solidFill>
                <a:latin typeface="Courier"/>
              </a:rPr>
              <a:t>|</a:t>
            </a:r>
            <a:r>
              <a:rPr>
                <a:latin typeface="Courier"/>
              </a:rPr>
              <a:t> Integer</a:t>
            </a:r>
            <a:r>
              <a:rPr>
                <a:solidFill>
                  <a:srgbClr val="666666"/>
                </a:solidFill>
                <a:latin typeface="Courier"/>
              </a:rPr>
              <a:t>.</a:t>
            </a:r>
            <a:r>
              <a:rPr>
                <a:solidFill>
                  <a:srgbClr val="06287E"/>
                </a:solidFill>
                <a:latin typeface="Courier"/>
              </a:rPr>
              <a:t>parseInt</a:t>
            </a:r>
            <a:r>
              <a:rPr>
                <a:solidFill>
                  <a:srgbClr val="666666"/>
                </a:solidFill>
                <a:latin typeface="Courier"/>
              </a:rPr>
              <a:t>(</a:t>
            </a:r>
            <a:r>
              <a:rPr>
                <a:latin typeface="Courier"/>
              </a:rPr>
              <a:t>s</a:t>
            </a:r>
            <a:r>
              <a:rPr>
                <a:solidFill>
                  <a:srgbClr val="666666"/>
                </a:solidFill>
                <a:latin typeface="Courier"/>
              </a:rPr>
              <a:t>.</a:t>
            </a:r>
            <a:r>
              <a:rPr>
                <a:latin typeface="Courier"/>
              </a:rPr>
              <a:t>trim</a:t>
            </a:r>
            <a:r>
              <a:rPr>
                <a:solidFill>
                  <a:srgbClr val="666666"/>
                </a:solidFill>
                <a:latin typeface="Courier"/>
              </a:rPr>
              <a:t>)</a:t>
            </a:r>
            <a:b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catch</a:t>
            </a:r>
            <a:r>
              <a:rPr>
                <a:latin typeface="Courier"/>
              </a:rPr>
              <a:t> </a:t>
            </a:r>
            <a:r>
              <a:rPr>
                <a:solidFill>
                  <a:srgbClr val="666666"/>
                </a:solidFill>
                <a:latin typeface="Courier"/>
              </a:rPr>
              <a:t>{</a:t>
            </a:r>
            <a:br/>
            <a:r>
              <a:rPr>
                <a:solidFill>
                  <a:srgbClr val="666666"/>
                </a:solidFill>
                <a:latin typeface="Courier"/>
              </a:rPr>
              <a:t>|</a:t>
            </a:r>
            <a:r>
              <a:rPr>
                <a:latin typeface="Courier"/>
              </a:rPr>
              <a:t> </a:t>
            </a:r>
            <a:r>
              <a:rPr b="1">
                <a:solidFill>
                  <a:srgbClr val="007020"/>
                </a:solidFill>
                <a:latin typeface="Courier"/>
              </a:rPr>
              <a:t>case</a:t>
            </a:r>
            <a:r>
              <a:rPr>
                <a:latin typeface="Courier"/>
              </a:rPr>
              <a:t> e</a:t>
            </a:r>
            <a:r>
              <a:rPr>
                <a:solidFill>
                  <a:srgbClr val="666666"/>
                </a:solidFill>
                <a:latin typeface="Courier"/>
              </a:rPr>
              <a:t>:</a:t>
            </a:r>
            <a:r>
              <a:rPr>
                <a:latin typeface="Courier"/>
              </a:rPr>
              <a:t> Exception </a:t>
            </a:r>
            <a:r>
              <a:rPr>
                <a:solidFill>
                  <a:srgbClr val="666666"/>
                </a:solidFill>
                <a:latin typeface="Courier"/>
              </a:rPr>
              <a:t>=&gt;</a:t>
            </a:r>
            <a:r>
              <a:rPr>
                <a:latin typeface="Courier"/>
              </a:rPr>
              <a:t> </a:t>
            </a:r>
            <a:r>
              <a:rPr>
                <a:solidFill>
                  <a:srgbClr val="40A070"/>
                </a:solidFill>
                <a:latin typeface="Courier"/>
              </a:rPr>
              <a:t>0</a:t>
            </a:r>
            <a:br/>
            <a:r>
              <a:rPr i="1">
                <a:solidFill>
                  <a:srgbClr val="60A0B0"/>
                </a:solidFill>
                <a:latin typeface="Courier"/>
              </a:rPr>
              <a:t>// ...</a:t>
            </a:r>
          </a:p>
          <a:p>
            <a:pPr lvl="0" indent="0" marL="0">
              <a:buNone/>
            </a:pPr>
            <a:r>
              <a:rPr/>
              <a:t>片段 2</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def</a:t>
            </a:r>
            <a:r>
              <a:rPr>
                <a:latin typeface="Courier"/>
              </a:rPr>
              <a:t> </a:t>
            </a:r>
            <a:r>
              <a:rPr>
                <a:solidFill>
                  <a:srgbClr val="06287E"/>
                </a:solidFill>
                <a:latin typeface="Courier"/>
              </a:rPr>
              <a:t>toInt</a:t>
            </a:r>
            <a:r>
              <a:rPr>
                <a:solidFill>
                  <a:srgbClr val="666666"/>
                </a:solidFill>
                <a:latin typeface="Courier"/>
              </a:rPr>
              <a:t>(</a:t>
            </a:r>
            <a:r>
              <a:rPr>
                <a:latin typeface="Courier"/>
              </a:rPr>
              <a:t>s</a:t>
            </a:r>
            <a:r>
              <a:rPr>
                <a:solidFill>
                  <a:srgbClr val="666666"/>
                </a:solidFill>
                <a:latin typeface="Courier"/>
              </a:rPr>
              <a:t>:</a:t>
            </a:r>
            <a:r>
              <a:rPr>
                <a:latin typeface="Courier"/>
              </a:rPr>
              <a:t> String</a:t>
            </a:r>
            <a:r>
              <a:rPr>
                <a:solidFill>
                  <a:srgbClr val="666666"/>
                </a:solidFill>
                <a:latin typeface="Courier"/>
              </a:rPr>
              <a:t>):</a:t>
            </a:r>
            <a:r>
              <a:rPr>
                <a:latin typeface="Courier"/>
              </a:rPr>
              <a:t> Option</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r>
              <a:rPr>
                <a:latin typeface="Courier"/>
              </a:rPr>
              <a:t> </a:t>
            </a:r>
            <a:r>
              <a:rPr b="1">
                <a:solidFill>
                  <a:srgbClr val="007020"/>
                </a:solidFill>
                <a:latin typeface="Courier"/>
              </a:rPr>
              <a:t>try</a:t>
            </a:r>
            <a:r>
              <a:rPr>
                <a:latin typeface="Courier"/>
              </a:rPr>
              <a:t> </a:t>
            </a:r>
            <a:r>
              <a:rPr>
                <a:solidFill>
                  <a:srgbClr val="666666"/>
                </a:solidFill>
                <a:latin typeface="Courier"/>
              </a:rPr>
              <a:t>{</a:t>
            </a:r>
            <a:br/>
            <a:r>
              <a:rPr>
                <a:solidFill>
                  <a:srgbClr val="666666"/>
                </a:solidFill>
                <a:latin typeface="Courier"/>
              </a:rPr>
              <a:t>|</a:t>
            </a:r>
            <a:r>
              <a:rPr>
                <a:latin typeface="Courier"/>
              </a:rPr>
              <a:t> </a:t>
            </a:r>
            <a:r>
              <a:rPr>
                <a:solidFill>
                  <a:srgbClr val="008000"/>
                </a:solidFill>
                <a:latin typeface="Courier"/>
              </a:rPr>
              <a:t>Some</a:t>
            </a:r>
            <a:r>
              <a:rPr>
                <a:solidFill>
                  <a:srgbClr val="666666"/>
                </a:solidFill>
                <a:latin typeface="Courier"/>
              </a:rPr>
              <a:t>(</a:t>
            </a:r>
            <a:r>
              <a:rPr>
                <a:latin typeface="Courier"/>
              </a:rPr>
              <a:t>Integer</a:t>
            </a:r>
            <a:r>
              <a:rPr>
                <a:solidFill>
                  <a:srgbClr val="666666"/>
                </a:solidFill>
                <a:latin typeface="Courier"/>
              </a:rPr>
              <a:t>.</a:t>
            </a:r>
            <a:r>
              <a:rPr>
                <a:solidFill>
                  <a:srgbClr val="06287E"/>
                </a:solidFill>
                <a:latin typeface="Courier"/>
              </a:rPr>
              <a:t>parseInt</a:t>
            </a:r>
            <a:r>
              <a:rPr>
                <a:solidFill>
                  <a:srgbClr val="666666"/>
                </a:solidFill>
                <a:latin typeface="Courier"/>
              </a:rPr>
              <a:t>(</a:t>
            </a:r>
            <a:r>
              <a:rPr>
                <a:latin typeface="Courier"/>
              </a:rPr>
              <a:t>s</a:t>
            </a:r>
            <a:r>
              <a:rPr>
                <a:solidFill>
                  <a:srgbClr val="666666"/>
                </a:solidFill>
                <a:latin typeface="Courier"/>
              </a:rPr>
              <a:t>.</a:t>
            </a:r>
            <a:r>
              <a:rPr>
                <a:latin typeface="Courier"/>
              </a:rPr>
              <a:t>trim</a:t>
            </a:r>
            <a:r>
              <a:rPr>
                <a:solidFill>
                  <a:srgbClr val="666666"/>
                </a:solidFill>
                <a:latin typeface="Courier"/>
              </a:rPr>
              <a:t>))</a:t>
            </a:r>
            <a:b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catch</a:t>
            </a:r>
            <a:r>
              <a:rPr>
                <a:latin typeface="Courier"/>
              </a:rPr>
              <a:t> </a:t>
            </a:r>
            <a:r>
              <a:rPr>
                <a:solidFill>
                  <a:srgbClr val="666666"/>
                </a:solidFill>
                <a:latin typeface="Courier"/>
              </a:rPr>
              <a:t>{</a:t>
            </a:r>
            <a:br/>
            <a:r>
              <a:rPr>
                <a:solidFill>
                  <a:srgbClr val="666666"/>
                </a:solidFill>
                <a:latin typeface="Courier"/>
              </a:rPr>
              <a:t>|</a:t>
            </a:r>
            <a:r>
              <a:rPr>
                <a:latin typeface="Courier"/>
              </a:rPr>
              <a:t> </a:t>
            </a:r>
            <a:r>
              <a:rPr b="1">
                <a:solidFill>
                  <a:srgbClr val="007020"/>
                </a:solidFill>
                <a:latin typeface="Courier"/>
              </a:rPr>
              <a:t>case</a:t>
            </a:r>
            <a:r>
              <a:rPr>
                <a:latin typeface="Courier"/>
              </a:rPr>
              <a:t> e</a:t>
            </a:r>
            <a:r>
              <a:rPr>
                <a:solidFill>
                  <a:srgbClr val="666666"/>
                </a:solidFill>
                <a:latin typeface="Courier"/>
              </a:rPr>
              <a:t>:</a:t>
            </a:r>
            <a:r>
              <a:rPr>
                <a:latin typeface="Courier"/>
              </a:rPr>
              <a:t> Exception </a:t>
            </a:r>
            <a:r>
              <a:rPr>
                <a:solidFill>
                  <a:srgbClr val="666666"/>
                </a:solidFill>
                <a:latin typeface="Courier"/>
              </a:rPr>
              <a:t>=&gt;</a:t>
            </a:r>
            <a:r>
              <a:rPr>
                <a:latin typeface="Courier"/>
              </a:rPr>
              <a:t> </a:t>
            </a:r>
            <a:r>
              <a:rPr>
                <a:solidFill>
                  <a:srgbClr val="008000"/>
                </a:solidFill>
                <a:latin typeface="Courier"/>
              </a:rPr>
              <a:t>None</a:t>
            </a:r>
            <a:br/>
            <a:r>
              <a:rPr i="1">
                <a:solidFill>
                  <a:srgbClr val="60A0B0"/>
                </a:solidFill>
                <a:latin typeface="Courier"/>
              </a:rPr>
              <a:t>// ...</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2.5.2 函数式编程：代码片段（6/8）</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这段代码可以理解为</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a </a:t>
            </a:r>
            <a:r>
              <a:rPr>
                <a:solidFill>
                  <a:srgbClr val="666666"/>
                </a:solidFill>
                <a:latin typeface="Courier"/>
              </a:rPr>
              <a:t>=</a:t>
            </a:r>
            <a:r>
              <a:rPr>
                <a:latin typeface="Courier"/>
              </a:rPr>
              <a:t> </a:t>
            </a:r>
            <a:r>
              <a:rPr>
                <a:solidFill>
                  <a:srgbClr val="06287E"/>
                </a:solidFill>
                <a:latin typeface="Courier"/>
              </a:rPr>
              <a:t>toInt</a:t>
            </a:r>
            <a:r>
              <a:rPr>
                <a:solidFill>
                  <a:srgbClr val="666666"/>
                </a:solidFill>
                <a:latin typeface="Courier"/>
              </a:rPr>
              <a:t>(</a:t>
            </a:r>
            <a:r>
              <a:rPr>
                <a:solidFill>
                  <a:srgbClr val="4070A0"/>
                </a:solidFill>
                <a:latin typeface="Courier"/>
              </a:rPr>
              <a:t>"1"</a:t>
            </a:r>
            <a:r>
              <a:rPr>
                <a:solidFill>
                  <a:srgbClr val="666666"/>
                </a:solidFill>
                <a:latin typeface="Courier"/>
              </a:rPr>
              <a:t>)</a:t>
            </a:r>
            <a:br/>
            <a:r>
              <a:rPr>
                <a:latin typeface="Courier"/>
              </a:rPr>
              <a:t>a</a:t>
            </a:r>
            <a:r>
              <a:rPr>
                <a:solidFill>
                  <a:srgbClr val="666666"/>
                </a:solidFill>
                <a:latin typeface="Courier"/>
              </a:rPr>
              <a:t>:</a:t>
            </a:r>
            <a:r>
              <a:rPr>
                <a:latin typeface="Courier"/>
              </a:rPr>
              <a:t> Option</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008000"/>
                </a:solidFill>
                <a:latin typeface="Courier"/>
              </a:rPr>
              <a:t>Some</a:t>
            </a:r>
            <a:r>
              <a:rPr>
                <a:solidFill>
                  <a:srgbClr val="666666"/>
                </a:solidFill>
                <a:latin typeface="Courier"/>
              </a:rPr>
              <a:t>(</a:t>
            </a:r>
            <a:r>
              <a:rPr>
                <a:solidFill>
                  <a:srgbClr val="40A070"/>
                </a:solidFill>
                <a:latin typeface="Courier"/>
              </a:rPr>
              <a:t>1</a:t>
            </a:r>
            <a:r>
              <a:rPr>
                <a:solidFill>
                  <a:srgbClr val="666666"/>
                </a:solidFill>
                <a:latin typeface="Courier"/>
              </a:rPr>
              <a:t>)</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a </a:t>
            </a:r>
            <a:r>
              <a:rPr>
                <a:solidFill>
                  <a:srgbClr val="666666"/>
                </a:solidFill>
                <a:latin typeface="Courier"/>
              </a:rPr>
              <a:t>=</a:t>
            </a:r>
            <a:r>
              <a:rPr>
                <a:latin typeface="Courier"/>
              </a:rPr>
              <a:t> </a:t>
            </a:r>
            <a:r>
              <a:rPr>
                <a:solidFill>
                  <a:srgbClr val="06287E"/>
                </a:solidFill>
                <a:latin typeface="Courier"/>
              </a:rPr>
              <a:t>toInt</a:t>
            </a:r>
            <a:r>
              <a:rPr>
                <a:solidFill>
                  <a:srgbClr val="666666"/>
                </a:solidFill>
                <a:latin typeface="Courier"/>
              </a:rPr>
              <a:t>(</a:t>
            </a:r>
            <a:r>
              <a:rPr>
                <a:solidFill>
                  <a:srgbClr val="4070A0"/>
                </a:solidFill>
                <a:latin typeface="Courier"/>
              </a:rPr>
              <a:t>"foo"</a:t>
            </a:r>
            <a:r>
              <a:rPr>
                <a:solidFill>
                  <a:srgbClr val="666666"/>
                </a:solidFill>
                <a:latin typeface="Courier"/>
              </a:rPr>
              <a:t>)</a:t>
            </a:r>
            <a:br/>
            <a:r>
              <a:rPr>
                <a:latin typeface="Courier"/>
              </a:rPr>
              <a:t>a</a:t>
            </a:r>
            <a:r>
              <a:rPr>
                <a:solidFill>
                  <a:srgbClr val="666666"/>
                </a:solidFill>
                <a:latin typeface="Courier"/>
              </a:rPr>
              <a:t>:</a:t>
            </a:r>
            <a:r>
              <a:rPr>
                <a:latin typeface="Courier"/>
              </a:rPr>
              <a:t> Option</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008000"/>
                </a:solidFill>
                <a:latin typeface="Courier"/>
              </a:rPr>
              <a:t>None</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2.5.2 函数式编程：代码片段（7/8）</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在此示例中</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stringA </a:t>
            </a:r>
            <a:r>
              <a:rPr>
                <a:solidFill>
                  <a:srgbClr val="666666"/>
                </a:solidFill>
                <a:latin typeface="Courier"/>
              </a:rPr>
              <a:t>=</a:t>
            </a:r>
            <a:r>
              <a:rPr>
                <a:latin typeface="Courier"/>
              </a:rPr>
              <a:t> </a:t>
            </a:r>
            <a:r>
              <a:rPr>
                <a:solidFill>
                  <a:srgbClr val="4070A0"/>
                </a:solidFill>
                <a:latin typeface="Courier"/>
              </a:rPr>
              <a:t>"1"</a:t>
            </a:r>
            <a:br/>
            <a:r>
              <a:rPr>
                <a:latin typeface="Courier"/>
              </a:rPr>
              <a:t>stringA</a:t>
            </a:r>
            <a:r>
              <a:rPr>
                <a:solidFill>
                  <a:srgbClr val="666666"/>
                </a:solidFill>
                <a:latin typeface="Courier"/>
              </a:rPr>
              <a:t>:</a:t>
            </a:r>
            <a:r>
              <a:rPr>
                <a:latin typeface="Courier"/>
              </a:rPr>
              <a:t> String </a:t>
            </a:r>
            <a:r>
              <a:rPr>
                <a:solidFill>
                  <a:srgbClr val="666666"/>
                </a:solidFill>
                <a:latin typeface="Courier"/>
              </a:rPr>
              <a:t>=</a:t>
            </a:r>
            <a:r>
              <a:rPr>
                <a:latin typeface="Courier"/>
              </a:rPr>
              <a:t> </a:t>
            </a:r>
            <a:r>
              <a:rPr>
                <a:solidFill>
                  <a:srgbClr val="40A070"/>
                </a:solidFill>
                <a:latin typeface="Courier"/>
              </a:rPr>
              <a:t>1</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stringB </a:t>
            </a:r>
            <a:r>
              <a:rPr>
                <a:solidFill>
                  <a:srgbClr val="666666"/>
                </a:solidFill>
                <a:latin typeface="Courier"/>
              </a:rPr>
              <a:t>=</a:t>
            </a:r>
            <a:r>
              <a:rPr>
                <a:latin typeface="Courier"/>
              </a:rPr>
              <a:t> </a:t>
            </a:r>
            <a:r>
              <a:rPr>
                <a:solidFill>
                  <a:srgbClr val="4070A0"/>
                </a:solidFill>
                <a:latin typeface="Courier"/>
              </a:rPr>
              <a:t>"2"</a:t>
            </a:r>
            <a:br/>
            <a:r>
              <a:rPr>
                <a:latin typeface="Courier"/>
              </a:rPr>
              <a:t>stringB</a:t>
            </a:r>
            <a:r>
              <a:rPr>
                <a:solidFill>
                  <a:srgbClr val="666666"/>
                </a:solidFill>
                <a:latin typeface="Courier"/>
              </a:rPr>
              <a:t>:</a:t>
            </a:r>
            <a:r>
              <a:rPr>
                <a:latin typeface="Courier"/>
              </a:rPr>
              <a:t> String </a:t>
            </a:r>
            <a:r>
              <a:rPr>
                <a:solidFill>
                  <a:srgbClr val="666666"/>
                </a:solidFill>
                <a:latin typeface="Courier"/>
              </a:rPr>
              <a:t>=</a:t>
            </a:r>
            <a:r>
              <a:rPr>
                <a:latin typeface="Courier"/>
              </a:rPr>
              <a:t> </a:t>
            </a:r>
            <a:r>
              <a:rPr>
                <a:solidFill>
                  <a:srgbClr val="40A070"/>
                </a:solidFill>
                <a:latin typeface="Courier"/>
              </a:rPr>
              <a:t>2</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stringC </a:t>
            </a:r>
            <a:r>
              <a:rPr>
                <a:solidFill>
                  <a:srgbClr val="666666"/>
                </a:solidFill>
                <a:latin typeface="Courier"/>
              </a:rPr>
              <a:t>=</a:t>
            </a:r>
            <a:r>
              <a:rPr>
                <a:latin typeface="Courier"/>
              </a:rPr>
              <a:t> </a:t>
            </a:r>
            <a:r>
              <a:rPr>
                <a:solidFill>
                  <a:srgbClr val="4070A0"/>
                </a:solidFill>
                <a:latin typeface="Courier"/>
              </a:rPr>
              <a:t>"3"</a:t>
            </a:r>
            <a:br/>
            <a:r>
              <a:rPr>
                <a:latin typeface="Courier"/>
              </a:rPr>
              <a:t>stringC</a:t>
            </a:r>
            <a:r>
              <a:rPr>
                <a:solidFill>
                  <a:srgbClr val="666666"/>
                </a:solidFill>
                <a:latin typeface="Courier"/>
              </a:rPr>
              <a:t>:</a:t>
            </a:r>
            <a:r>
              <a:rPr>
                <a:latin typeface="Courier"/>
              </a:rPr>
              <a:t> String </a:t>
            </a:r>
            <a:r>
              <a:rPr>
                <a:solidFill>
                  <a:srgbClr val="666666"/>
                </a:solidFill>
                <a:latin typeface="Courier"/>
              </a:rPr>
              <a:t>=</a:t>
            </a:r>
            <a:r>
              <a:rPr>
                <a:latin typeface="Courier"/>
              </a:rPr>
              <a:t> </a:t>
            </a:r>
            <a:r>
              <a:rPr>
                <a:solidFill>
                  <a:srgbClr val="40A070"/>
                </a:solidFill>
                <a:latin typeface="Courier"/>
              </a:rPr>
              <a:t>3</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y </a:t>
            </a:r>
            <a:r>
              <a:rPr>
                <a:solidFill>
                  <a:srgbClr val="666666"/>
                </a:solidFill>
                <a:latin typeface="Courier"/>
              </a:rPr>
              <a:t>=</a:t>
            </a:r>
            <a:r>
              <a:rPr>
                <a:latin typeface="Courier"/>
              </a:rPr>
              <a:t> </a:t>
            </a:r>
            <a:r>
              <a:rPr b="1">
                <a:solidFill>
                  <a:srgbClr val="007020"/>
                </a:solidFill>
                <a:latin typeface="Courier"/>
              </a:rPr>
              <a:t>for</a:t>
            </a:r>
            <a:r>
              <a:rPr>
                <a:latin typeface="Courier"/>
              </a:rPr>
              <a:t> </a:t>
            </a:r>
            <a:r>
              <a:rPr>
                <a:solidFill>
                  <a:srgbClr val="666666"/>
                </a:solidFill>
                <a:latin typeface="Courier"/>
              </a:rPr>
              <a:t>{</a:t>
            </a:r>
            <a:br/>
            <a:r>
              <a:rPr>
                <a:solidFill>
                  <a:srgbClr val="666666"/>
                </a:solidFill>
                <a:latin typeface="Courier"/>
              </a:rPr>
              <a:t>|</a:t>
            </a:r>
            <a:r>
              <a:rPr>
                <a:latin typeface="Courier"/>
              </a:rPr>
              <a:t> a </a:t>
            </a:r>
            <a:r>
              <a:rPr>
                <a:solidFill>
                  <a:srgbClr val="666666"/>
                </a:solidFill>
                <a:latin typeface="Courier"/>
              </a:rPr>
              <a:t>&lt;-</a:t>
            </a:r>
            <a:r>
              <a:rPr>
                <a:latin typeface="Courier"/>
              </a:rPr>
              <a:t> </a:t>
            </a:r>
            <a:r>
              <a:rPr>
                <a:solidFill>
                  <a:srgbClr val="06287E"/>
                </a:solidFill>
                <a:latin typeface="Courier"/>
              </a:rPr>
              <a:t>toInt</a:t>
            </a:r>
            <a:r>
              <a:rPr>
                <a:solidFill>
                  <a:srgbClr val="666666"/>
                </a:solidFill>
                <a:latin typeface="Courier"/>
              </a:rPr>
              <a:t>(</a:t>
            </a:r>
            <a:r>
              <a:rPr>
                <a:latin typeface="Courier"/>
              </a:rPr>
              <a:t>stringA</a:t>
            </a:r>
            <a:r>
              <a:rPr>
                <a:solidFill>
                  <a:srgbClr val="666666"/>
                </a:solidFill>
                <a:latin typeface="Courier"/>
              </a:rPr>
              <a:t>)</a:t>
            </a:r>
            <a:br/>
            <a:r>
              <a:rPr>
                <a:solidFill>
                  <a:srgbClr val="666666"/>
                </a:solidFill>
                <a:latin typeface="Courier"/>
              </a:rPr>
              <a:t>|</a:t>
            </a:r>
            <a:r>
              <a:rPr>
                <a:latin typeface="Courier"/>
              </a:rPr>
              <a:t> b </a:t>
            </a:r>
            <a:r>
              <a:rPr>
                <a:solidFill>
                  <a:srgbClr val="666666"/>
                </a:solidFill>
                <a:latin typeface="Courier"/>
              </a:rPr>
              <a:t>&lt;-</a:t>
            </a:r>
            <a:r>
              <a:rPr>
                <a:latin typeface="Courier"/>
              </a:rPr>
              <a:t> </a:t>
            </a:r>
            <a:r>
              <a:rPr>
                <a:solidFill>
                  <a:srgbClr val="06287E"/>
                </a:solidFill>
                <a:latin typeface="Courier"/>
              </a:rPr>
              <a:t>toInt</a:t>
            </a:r>
            <a:r>
              <a:rPr>
                <a:solidFill>
                  <a:srgbClr val="666666"/>
                </a:solidFill>
                <a:latin typeface="Courier"/>
              </a:rPr>
              <a:t>(</a:t>
            </a:r>
            <a:r>
              <a:rPr>
                <a:latin typeface="Courier"/>
              </a:rPr>
              <a:t>stringB</a:t>
            </a:r>
            <a:r>
              <a:rPr>
                <a:solidFill>
                  <a:srgbClr val="666666"/>
                </a:solidFill>
                <a:latin typeface="Courier"/>
              </a:rPr>
              <a:t>)</a:t>
            </a:r>
            <a:br/>
            <a:r>
              <a:rPr>
                <a:solidFill>
                  <a:srgbClr val="666666"/>
                </a:solidFill>
                <a:latin typeface="Courier"/>
              </a:rPr>
              <a:t>|</a:t>
            </a:r>
            <a:r>
              <a:rPr>
                <a:latin typeface="Courier"/>
              </a:rPr>
              <a:t> c </a:t>
            </a:r>
            <a:r>
              <a:rPr>
                <a:solidFill>
                  <a:srgbClr val="666666"/>
                </a:solidFill>
                <a:latin typeface="Courier"/>
              </a:rPr>
              <a:t>&lt;-</a:t>
            </a:r>
            <a:r>
              <a:rPr>
                <a:latin typeface="Courier"/>
              </a:rPr>
              <a:t> </a:t>
            </a:r>
            <a:r>
              <a:rPr>
                <a:solidFill>
                  <a:srgbClr val="06287E"/>
                </a:solidFill>
                <a:latin typeface="Courier"/>
              </a:rPr>
              <a:t>toInt</a:t>
            </a:r>
            <a:r>
              <a:rPr>
                <a:solidFill>
                  <a:srgbClr val="666666"/>
                </a:solidFill>
                <a:latin typeface="Courier"/>
              </a:rPr>
              <a:t>(</a:t>
            </a:r>
            <a:r>
              <a:rPr>
                <a:latin typeface="Courier"/>
              </a:rPr>
              <a:t>stringC</a:t>
            </a:r>
            <a:r>
              <a:rPr>
                <a:solidFill>
                  <a:srgbClr val="666666"/>
                </a:solidFill>
                <a:latin typeface="Courier"/>
              </a:rPr>
              <a:t>)</a:t>
            </a:r>
            <a:b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yield</a:t>
            </a:r>
            <a:r>
              <a:rPr>
                <a:latin typeface="Courier"/>
              </a:rPr>
              <a:t> a </a:t>
            </a:r>
            <a:r>
              <a:rPr>
                <a:solidFill>
                  <a:srgbClr val="666666"/>
                </a:solidFill>
                <a:latin typeface="Courier"/>
              </a:rPr>
              <a:t>+</a:t>
            </a:r>
            <a:r>
              <a:rPr>
                <a:latin typeface="Courier"/>
              </a:rPr>
              <a:t> b </a:t>
            </a:r>
            <a:r>
              <a:rPr>
                <a:solidFill>
                  <a:srgbClr val="666666"/>
                </a:solidFill>
                <a:latin typeface="Courier"/>
              </a:rPr>
              <a:t>+</a:t>
            </a:r>
            <a:r>
              <a:rPr>
                <a:latin typeface="Courier"/>
              </a:rPr>
              <a:t> c</a:t>
            </a:r>
            <a:br/>
            <a:r>
              <a:rPr>
                <a:latin typeface="Courier"/>
              </a:rPr>
              <a:t>y</a:t>
            </a:r>
            <a:r>
              <a:rPr>
                <a:solidFill>
                  <a:srgbClr val="666666"/>
                </a:solidFill>
                <a:latin typeface="Courier"/>
              </a:rPr>
              <a:t>:</a:t>
            </a:r>
            <a:r>
              <a:rPr>
                <a:latin typeface="Courier"/>
              </a:rPr>
              <a:t> Option</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008000"/>
                </a:solidFill>
                <a:latin typeface="Courier"/>
              </a:rPr>
              <a:t>Some</a:t>
            </a:r>
            <a:r>
              <a:rPr>
                <a:solidFill>
                  <a:srgbClr val="666666"/>
                </a:solidFill>
                <a:latin typeface="Courier"/>
              </a:rPr>
              <a:t>(</a:t>
            </a:r>
            <a:r>
              <a:rPr>
                <a:solidFill>
                  <a:srgbClr val="40A070"/>
                </a:solidFill>
                <a:latin typeface="Courier"/>
              </a:rPr>
              <a:t>6</a:t>
            </a:r>
            <a:r>
              <a:rPr>
                <a:solidFill>
                  <a:srgbClr val="666666"/>
                </a:solidFill>
                <a:latin typeface="Courier"/>
              </a:rPr>
              <a:t>)</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2.5.2 函数式编程：代码片段（8/8）</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因为可以将Some和None视为容器</a:t>
            </a:r>
          </a:p>
          <a:p>
            <a:pPr lvl="0" indent="0">
              <a:buNone/>
            </a:pPr>
            <a:r>
              <a:rPr>
                <a:latin typeface="Courier"/>
              </a:rPr>
              <a:t>scala</a:t>
            </a:r>
            <a:r>
              <a:rPr>
                <a:solidFill>
                  <a:srgbClr val="666666"/>
                </a:solidFill>
                <a:latin typeface="Courier"/>
              </a:rPr>
              <a:t>&gt;</a:t>
            </a:r>
            <a:r>
              <a:rPr>
                <a:latin typeface="Courier"/>
              </a:rPr>
              <a:t> </a:t>
            </a:r>
            <a:r>
              <a:rPr>
                <a:solidFill>
                  <a:srgbClr val="06287E"/>
                </a:solidFill>
                <a:latin typeface="Courier"/>
              </a:rPr>
              <a:t>toInt</a:t>
            </a:r>
            <a:r>
              <a:rPr>
                <a:solidFill>
                  <a:srgbClr val="666666"/>
                </a:solidFill>
                <a:latin typeface="Courier"/>
              </a:rPr>
              <a:t>(</a:t>
            </a:r>
            <a:r>
              <a:rPr>
                <a:solidFill>
                  <a:srgbClr val="4070A0"/>
                </a:solidFill>
                <a:latin typeface="Courier"/>
              </a:rPr>
              <a:t>"1"</a:t>
            </a:r>
            <a:r>
              <a:rPr>
                <a:solidFill>
                  <a:srgbClr val="666666"/>
                </a:solidFill>
                <a:latin typeface="Courier"/>
              </a:rPr>
              <a:t>).</a:t>
            </a:r>
            <a:r>
              <a:rPr>
                <a:solidFill>
                  <a:srgbClr val="06287E"/>
                </a:solidFill>
                <a:latin typeface="Courier"/>
              </a:rPr>
              <a:t>foreach</a:t>
            </a:r>
            <a:r>
              <a:rPr>
                <a:solidFill>
                  <a:srgbClr val="666666"/>
                </a:solidFill>
                <a:latin typeface="Courier"/>
              </a:rPr>
              <a:t>(</a:t>
            </a:r>
            <a:r>
              <a:rPr>
                <a:latin typeface="Courier"/>
              </a:rPr>
              <a:t>println</a:t>
            </a:r>
            <a:r>
              <a:rPr>
                <a:solidFill>
                  <a:srgbClr val="666666"/>
                </a:solidFill>
                <a:latin typeface="Courier"/>
              </a:rPr>
              <a:t>)</a:t>
            </a:r>
            <a:br/>
            <a:r>
              <a:rPr>
                <a:solidFill>
                  <a:srgbClr val="40A070"/>
                </a:solidFill>
                <a:latin typeface="Courier"/>
              </a:rPr>
              <a:t>1</a:t>
            </a:r>
            <a:br/>
            <a:r>
              <a:rPr>
                <a:latin typeface="Courier"/>
              </a:rPr>
              <a:t>scala</a:t>
            </a:r>
            <a:r>
              <a:rPr>
                <a:solidFill>
                  <a:srgbClr val="666666"/>
                </a:solidFill>
                <a:latin typeface="Courier"/>
              </a:rPr>
              <a:t>&gt;</a:t>
            </a:r>
            <a:r>
              <a:rPr>
                <a:latin typeface="Courier"/>
              </a:rPr>
              <a:t> </a:t>
            </a:r>
            <a:r>
              <a:rPr>
                <a:solidFill>
                  <a:srgbClr val="06287E"/>
                </a:solidFill>
                <a:latin typeface="Courier"/>
              </a:rPr>
              <a:t>toInt</a:t>
            </a:r>
            <a:r>
              <a:rPr>
                <a:solidFill>
                  <a:srgbClr val="666666"/>
                </a:solidFill>
                <a:latin typeface="Courier"/>
              </a:rPr>
              <a:t>(</a:t>
            </a:r>
            <a:r>
              <a:rPr>
                <a:solidFill>
                  <a:srgbClr val="4070A0"/>
                </a:solidFill>
                <a:latin typeface="Courier"/>
              </a:rPr>
              <a:t>"x"</a:t>
            </a:r>
            <a:r>
              <a:rPr>
                <a:solidFill>
                  <a:srgbClr val="666666"/>
                </a:solidFill>
                <a:latin typeface="Courier"/>
              </a:rPr>
              <a:t>).</a:t>
            </a:r>
            <a:r>
              <a:rPr>
                <a:solidFill>
                  <a:srgbClr val="06287E"/>
                </a:solidFill>
                <a:latin typeface="Courier"/>
              </a:rPr>
              <a:t>foreach</a:t>
            </a:r>
            <a:r>
              <a:rPr>
                <a:solidFill>
                  <a:srgbClr val="666666"/>
                </a:solidFill>
                <a:latin typeface="Courier"/>
              </a:rPr>
              <a:t>(</a:t>
            </a:r>
            <a:r>
              <a:rPr>
                <a:latin typeface="Courier"/>
              </a:rPr>
              <a:t>println</a:t>
            </a:r>
            <a:r>
              <a:rPr>
                <a:solidFill>
                  <a:srgbClr val="666666"/>
                </a:solidFill>
                <a:latin typeface="Courier"/>
              </a:rPr>
              <a:t>)</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2.5.3 集合类（1/2）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Scala集合类是一个易于理解且经常使用的编程抽象，可以分为可变集合和不可变集合</a:t>
            </a:r>
          </a:p>
          <a:p>
            <a:pPr lvl="0"/>
            <a:r>
              <a:rPr/>
              <a:t>ArrayBuffer是一个可变序列</a:t>
            </a:r>
          </a:p>
          <a:p>
            <a:pPr lvl="0"/>
            <a:r>
              <a:rPr/>
              <a:t>可以通过多种方式向其中添加元素</a:t>
            </a:r>
          </a:p>
          <a:p>
            <a:pPr lvl="0"/>
            <a:r>
              <a:rPr/>
              <a:t>这只是创建ArrayBuffer并向其中添加元素的一种方法</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2.5.3 集合类（2/2）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还可以使用“-=”和“-=”方法从ArrayBuffer中删除元素</a:t>
            </a:r>
          </a:p>
          <a:p>
            <a:pPr lvl="0"/>
            <a:r>
              <a:rPr/>
              <a:t>简要概述一下，可以将以下几种方法用于ArrayBuffer</a:t>
            </a:r>
          </a:p>
          <a:p>
            <a:pPr lvl="0"/>
            <a:r>
              <a:rPr/>
              <a:t>这是创建初始列表的方法</a:t>
            </a:r>
          </a:p>
          <a:p>
            <a:pPr lvl="0"/>
            <a:r>
              <a:rPr/>
              <a:t>相反，可以通过在现有列表之前或之后添加元素来创建新列表，例如给定此列表</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2.5.3 集合类：代码片段（1/14）</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ArrayBuffer是一个可变序列</a:t>
            </a:r>
          </a:p>
          <a:p>
            <a:pPr lvl="0"/>
            <a:r>
              <a:rPr/>
              <a:t>先对照代码理解 将其导入本地范围后</a:t>
            </a:r>
          </a:p>
          <a:p>
            <a:pPr lvl="0"/>
            <a:r>
              <a:rPr/>
              <a:t>先对照代码理解 这只是创建ArrayBuffer并向其中添加元素的一种方法</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import</a:t>
            </a:r>
            <a:r>
              <a:rPr>
                <a:latin typeface="Courier"/>
              </a:rPr>
              <a:t> scala</a:t>
            </a:r>
            <a:r>
              <a:rPr>
                <a:solidFill>
                  <a:srgbClr val="666666"/>
                </a:solidFill>
                <a:latin typeface="Courier"/>
              </a:rPr>
              <a:t>.</a:t>
            </a:r>
            <a:r>
              <a:rPr>
                <a:latin typeface="Courier"/>
              </a:rPr>
              <a:t>collection</a:t>
            </a:r>
            <a:r>
              <a:rPr>
                <a:solidFill>
                  <a:srgbClr val="666666"/>
                </a:solidFill>
                <a:latin typeface="Courier"/>
              </a:rPr>
              <a:t>.</a:t>
            </a:r>
            <a:r>
              <a:rPr>
                <a:latin typeface="Courier"/>
              </a:rPr>
              <a:t>mutable</a:t>
            </a:r>
            <a:r>
              <a:rPr>
                <a:solidFill>
                  <a:srgbClr val="666666"/>
                </a:solidFill>
                <a:latin typeface="Courier"/>
              </a:rPr>
              <a:t>.</a:t>
            </a:r>
            <a:r>
              <a:rPr>
                <a:solidFill>
                  <a:srgbClr val="008000"/>
                </a:solidFill>
                <a:latin typeface="Courier"/>
              </a:rPr>
              <a:t>ArrayBuffer</a:t>
            </a:r>
            <a:br/>
            <a:r>
              <a:rPr b="1">
                <a:solidFill>
                  <a:srgbClr val="007020"/>
                </a:solidFill>
                <a:latin typeface="Courier"/>
              </a:rPr>
              <a:t>import</a:t>
            </a:r>
            <a:r>
              <a:rPr>
                <a:latin typeface="Courier"/>
              </a:rPr>
              <a:t> scala</a:t>
            </a:r>
            <a:r>
              <a:rPr>
                <a:solidFill>
                  <a:srgbClr val="666666"/>
                </a:solidFill>
                <a:latin typeface="Courier"/>
              </a:rPr>
              <a:t>.</a:t>
            </a:r>
            <a:r>
              <a:rPr>
                <a:latin typeface="Courier"/>
              </a:rPr>
              <a:t>collection</a:t>
            </a:r>
            <a:r>
              <a:rPr>
                <a:solidFill>
                  <a:srgbClr val="666666"/>
                </a:solidFill>
                <a:latin typeface="Courier"/>
              </a:rPr>
              <a:t>.</a:t>
            </a:r>
            <a:r>
              <a:rPr>
                <a:latin typeface="Courier"/>
              </a:rPr>
              <a:t>mutable</a:t>
            </a:r>
            <a:r>
              <a:rPr>
                <a:solidFill>
                  <a:srgbClr val="666666"/>
                </a:solidFill>
                <a:latin typeface="Courier"/>
              </a:rPr>
              <a:t>.</a:t>
            </a:r>
            <a:r>
              <a:rPr>
                <a:solidFill>
                  <a:srgbClr val="008000"/>
                </a:solidFill>
                <a:latin typeface="Courier"/>
              </a:rPr>
              <a:t>ArrayBuffer</a:t>
            </a:r>
          </a:p>
          <a:p>
            <a:pPr lvl="0" indent="0" marL="0">
              <a:buNone/>
            </a:pPr>
            <a:r>
              <a:rPr/>
              <a:t>片段 2</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ints </a:t>
            </a:r>
            <a:r>
              <a:rPr>
                <a:solidFill>
                  <a:srgbClr val="666666"/>
                </a:solidFill>
                <a:latin typeface="Courier"/>
              </a:rPr>
              <a:t>=</a:t>
            </a:r>
            <a:r>
              <a:rPr>
                <a:latin typeface="Courier"/>
              </a:rPr>
              <a:t> </a:t>
            </a:r>
            <a:r>
              <a:rPr>
                <a:solidFill>
                  <a:srgbClr val="008000"/>
                </a:solidFill>
                <a:latin typeface="Courier"/>
              </a:rPr>
              <a:t>ArrayBuffer</a:t>
            </a:r>
            <a:r>
              <a:rPr>
                <a:solidFill>
                  <a:srgbClr val="666666"/>
                </a:solidFill>
                <a:latin typeface="Courier"/>
              </a:rPr>
              <a:t>[</a:t>
            </a:r>
            <a:r>
              <a:rPr>
                <a:solidFill>
                  <a:srgbClr val="008000"/>
                </a:solidFill>
                <a:latin typeface="Courier"/>
              </a:rPr>
              <a:t>Int</a:t>
            </a:r>
            <a:r>
              <a:rPr>
                <a:solidFill>
                  <a:srgbClr val="666666"/>
                </a:solidFill>
                <a:latin typeface="Courier"/>
              </a:rPr>
              <a:t>]()</a:t>
            </a:r>
            <a:br/>
            <a:r>
              <a:rPr>
                <a:latin typeface="Courier"/>
              </a:rPr>
              <a:t>ints</a:t>
            </a:r>
            <a:r>
              <a:rPr>
                <a:solidFill>
                  <a:srgbClr val="666666"/>
                </a:solidFill>
                <a:latin typeface="Courier"/>
              </a:rPr>
              <a:t>:</a:t>
            </a:r>
            <a:r>
              <a:rPr>
                <a:latin typeface="Courier"/>
              </a:rPr>
              <a:t> scala</a:t>
            </a:r>
            <a:r>
              <a:rPr>
                <a:solidFill>
                  <a:srgbClr val="666666"/>
                </a:solidFill>
                <a:latin typeface="Courier"/>
              </a:rPr>
              <a:t>.</a:t>
            </a:r>
            <a:r>
              <a:rPr>
                <a:latin typeface="Courier"/>
              </a:rPr>
              <a:t>collection</a:t>
            </a:r>
            <a:r>
              <a:rPr>
                <a:solidFill>
                  <a:srgbClr val="666666"/>
                </a:solidFill>
                <a:latin typeface="Courier"/>
              </a:rPr>
              <a:t>.</a:t>
            </a:r>
            <a:r>
              <a:rPr>
                <a:latin typeface="Courier"/>
              </a:rPr>
              <a:t>mutable</a:t>
            </a:r>
            <a:r>
              <a:rPr>
                <a:solidFill>
                  <a:srgbClr val="666666"/>
                </a:solidFill>
                <a:latin typeface="Courier"/>
              </a:rPr>
              <a:t>.</a:t>
            </a:r>
            <a:r>
              <a:rPr>
                <a:solidFill>
                  <a:srgbClr val="008000"/>
                </a:solidFill>
                <a:latin typeface="Courier"/>
              </a:rPr>
              <a:t>ArrayBuffer</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008000"/>
                </a:solidFill>
                <a:latin typeface="Courier"/>
              </a:rPr>
              <a:t>ArrayBuffer</a:t>
            </a:r>
            <a:r>
              <a:rPr>
                <a:solidFill>
                  <a:srgbClr val="666666"/>
                </a:solidFill>
                <a:latin typeface="Courier"/>
              </a:rPr>
              <a:t>()</a:t>
            </a:r>
            <a:br/>
            <a:r>
              <a:rPr>
                <a:latin typeface="Courier"/>
              </a:rPr>
              <a:t>scala</a:t>
            </a:r>
            <a:r>
              <a:rPr>
                <a:solidFill>
                  <a:srgbClr val="666666"/>
                </a:solidFill>
                <a:latin typeface="Courier"/>
              </a:rPr>
              <a:t>&gt;</a:t>
            </a:r>
            <a:r>
              <a:rPr>
                <a:latin typeface="Courier"/>
              </a:rPr>
              <a:t> ints </a:t>
            </a:r>
            <a:r>
              <a:rPr>
                <a:solidFill>
                  <a:srgbClr val="666666"/>
                </a:solidFill>
                <a:latin typeface="Courier"/>
              </a:rPr>
              <a:t>+=</a:t>
            </a:r>
            <a:r>
              <a:rPr>
                <a:latin typeface="Courier"/>
              </a:rPr>
              <a:t> </a:t>
            </a:r>
            <a:r>
              <a:rPr>
                <a:solidFill>
                  <a:srgbClr val="40A070"/>
                </a:solidFill>
                <a:latin typeface="Courier"/>
              </a:rPr>
              <a:t>1</a:t>
            </a:r>
            <a:br/>
            <a:r>
              <a:rPr>
                <a:latin typeface="Courier"/>
              </a:rPr>
              <a:t>res17</a:t>
            </a:r>
            <a:r>
              <a:rPr>
                <a:solidFill>
                  <a:srgbClr val="666666"/>
                </a:solidFill>
                <a:latin typeface="Courier"/>
              </a:rPr>
              <a:t>:</a:t>
            </a:r>
            <a:r>
              <a:rPr>
                <a:latin typeface="Courier"/>
              </a:rPr>
              <a:t> ints</a:t>
            </a:r>
            <a:r>
              <a:rPr>
                <a:solidFill>
                  <a:srgbClr val="666666"/>
                </a:solidFill>
                <a:latin typeface="Courier"/>
              </a:rPr>
              <a:t>.</a:t>
            </a:r>
            <a:r>
              <a:rPr b="1">
                <a:solidFill>
                  <a:srgbClr val="007020"/>
                </a:solidFill>
                <a:latin typeface="Courier"/>
              </a:rPr>
              <a:t>type</a:t>
            </a:r>
            <a:r>
              <a:rPr>
                <a:latin typeface="Courier"/>
              </a:rPr>
              <a:t> </a:t>
            </a:r>
            <a:r>
              <a:rPr>
                <a:solidFill>
                  <a:srgbClr val="666666"/>
                </a:solidFill>
                <a:latin typeface="Courier"/>
              </a:rPr>
              <a:t>=</a:t>
            </a:r>
            <a:r>
              <a:rPr>
                <a:latin typeface="Courier"/>
              </a:rPr>
              <a:t> </a:t>
            </a:r>
            <a:r>
              <a:rPr>
                <a:solidFill>
                  <a:srgbClr val="008000"/>
                </a:solidFill>
                <a:latin typeface="Courier"/>
              </a:rPr>
              <a:t>ArrayBuffer</a:t>
            </a:r>
            <a:r>
              <a:rPr>
                <a:solidFill>
                  <a:srgbClr val="666666"/>
                </a:solidFill>
                <a:latin typeface="Courier"/>
              </a:rPr>
              <a:t>(</a:t>
            </a:r>
            <a:r>
              <a:rPr>
                <a:solidFill>
                  <a:srgbClr val="40A070"/>
                </a:solidFill>
                <a:latin typeface="Courier"/>
              </a:rPr>
              <a:t>1</a:t>
            </a:r>
            <a:r>
              <a:rPr>
                <a:solidFill>
                  <a:srgbClr val="666666"/>
                </a:solidFill>
                <a:latin typeface="Courier"/>
              </a:rPr>
              <a:t>)</a:t>
            </a:r>
            <a:br/>
            <a:r>
              <a:rPr i="1">
                <a:solidFill>
                  <a:srgbClr val="60A0B0"/>
                </a:solidFill>
                <a:latin typeface="Courier"/>
              </a:rPr>
              <a:t>// ...</a:t>
            </a:r>
          </a:p>
          <a:p>
            <a:pPr lvl="0" indent="0" marL="0">
              <a:buNone/>
            </a:pPr>
            <a:r>
              <a:rPr/>
              <a:t>片段 3</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nums </a:t>
            </a:r>
            <a:r>
              <a:rPr>
                <a:solidFill>
                  <a:srgbClr val="666666"/>
                </a:solidFill>
                <a:latin typeface="Courier"/>
              </a:rPr>
              <a:t>=</a:t>
            </a:r>
            <a:r>
              <a:rPr>
                <a:latin typeface="Courier"/>
              </a:rPr>
              <a:t> </a:t>
            </a:r>
            <a:r>
              <a:rPr>
                <a:solidFill>
                  <a:srgbClr val="008000"/>
                </a:solidFill>
                <a:latin typeface="Courier"/>
              </a:rPr>
              <a:t>ArrayBuffer</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br/>
            <a:r>
              <a:rPr>
                <a:latin typeface="Courier"/>
              </a:rPr>
              <a:t>nums</a:t>
            </a:r>
            <a:r>
              <a:rPr>
                <a:solidFill>
                  <a:srgbClr val="666666"/>
                </a:solidFill>
                <a:latin typeface="Courier"/>
              </a:rPr>
              <a:t>:</a:t>
            </a:r>
            <a:r>
              <a:rPr>
                <a:latin typeface="Courier"/>
              </a:rPr>
              <a:t> scala</a:t>
            </a:r>
            <a:r>
              <a:rPr>
                <a:solidFill>
                  <a:srgbClr val="666666"/>
                </a:solidFill>
                <a:latin typeface="Courier"/>
              </a:rPr>
              <a:t>.</a:t>
            </a:r>
            <a:r>
              <a:rPr>
                <a:latin typeface="Courier"/>
              </a:rPr>
              <a:t>collection</a:t>
            </a:r>
            <a:r>
              <a:rPr>
                <a:solidFill>
                  <a:srgbClr val="666666"/>
                </a:solidFill>
                <a:latin typeface="Courier"/>
              </a:rPr>
              <a:t>.</a:t>
            </a:r>
            <a:r>
              <a:rPr>
                <a:latin typeface="Courier"/>
              </a:rPr>
              <a:t>mutable</a:t>
            </a:r>
            <a:r>
              <a:rPr>
                <a:solidFill>
                  <a:srgbClr val="666666"/>
                </a:solidFill>
                <a:latin typeface="Courier"/>
              </a:rPr>
              <a:t>.</a:t>
            </a:r>
            <a:r>
              <a:rPr>
                <a:solidFill>
                  <a:srgbClr val="008000"/>
                </a:solidFill>
                <a:latin typeface="Courier"/>
              </a:rPr>
              <a:t>ArrayBuffer</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008000"/>
                </a:solidFill>
                <a:latin typeface="Courier"/>
              </a:rPr>
              <a:t>ArrayBuffer</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br/>
            <a:r>
              <a:rPr>
                <a:latin typeface="Courier"/>
              </a:rPr>
              <a:t>scala</a:t>
            </a:r>
            <a:r>
              <a:rPr>
                <a:solidFill>
                  <a:srgbClr val="666666"/>
                </a:solidFill>
                <a:latin typeface="Courier"/>
              </a:rPr>
              <a:t>&gt;</a:t>
            </a:r>
            <a:r>
              <a:rPr>
                <a:latin typeface="Courier"/>
              </a:rPr>
              <a:t> nums </a:t>
            </a:r>
            <a:r>
              <a:rPr>
                <a:solidFill>
                  <a:srgbClr val="666666"/>
                </a:solidFill>
                <a:latin typeface="Courier"/>
              </a:rPr>
              <a:t>+=</a:t>
            </a:r>
            <a:r>
              <a:rPr>
                <a:latin typeface="Courier"/>
              </a:rPr>
              <a:t> </a:t>
            </a:r>
            <a:r>
              <a:rPr>
                <a:solidFill>
                  <a:srgbClr val="40A070"/>
                </a:solidFill>
                <a:latin typeface="Courier"/>
              </a:rPr>
              <a:t>4</a:t>
            </a:r>
            <a:br/>
            <a:r>
              <a:rPr>
                <a:latin typeface="Courier"/>
              </a:rPr>
              <a:t>res19</a:t>
            </a:r>
            <a:r>
              <a:rPr>
                <a:solidFill>
                  <a:srgbClr val="666666"/>
                </a:solidFill>
                <a:latin typeface="Courier"/>
              </a:rPr>
              <a:t>:</a:t>
            </a:r>
            <a:r>
              <a:rPr>
                <a:latin typeface="Courier"/>
              </a:rPr>
              <a:t> nums</a:t>
            </a:r>
            <a:r>
              <a:rPr>
                <a:solidFill>
                  <a:srgbClr val="666666"/>
                </a:solidFill>
                <a:latin typeface="Courier"/>
              </a:rPr>
              <a:t>.</a:t>
            </a:r>
            <a:r>
              <a:rPr b="1">
                <a:solidFill>
                  <a:srgbClr val="007020"/>
                </a:solidFill>
                <a:latin typeface="Courier"/>
              </a:rPr>
              <a:t>type</a:t>
            </a:r>
            <a:r>
              <a:rPr>
                <a:latin typeface="Courier"/>
              </a:rPr>
              <a:t> </a:t>
            </a:r>
            <a:r>
              <a:rPr>
                <a:solidFill>
                  <a:srgbClr val="666666"/>
                </a:solidFill>
                <a:latin typeface="Courier"/>
              </a:rPr>
              <a:t>=</a:t>
            </a:r>
            <a:r>
              <a:rPr>
                <a:latin typeface="Courier"/>
              </a:rPr>
              <a:t> </a:t>
            </a:r>
            <a:r>
              <a:rPr>
                <a:solidFill>
                  <a:srgbClr val="008000"/>
                </a:solidFill>
                <a:latin typeface="Courier"/>
              </a:rPr>
              <a:t>ArrayBuffer</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r>
              <a:rPr>
                <a:latin typeface="Courier"/>
              </a:rPr>
              <a:t> </a:t>
            </a:r>
            <a:r>
              <a:rPr>
                <a:solidFill>
                  <a:srgbClr val="40A070"/>
                </a:solidFill>
                <a:latin typeface="Courier"/>
              </a:rPr>
              <a:t>4</a:t>
            </a:r>
            <a:r>
              <a:rPr>
                <a:solidFill>
                  <a:srgbClr val="666666"/>
                </a:solidFill>
                <a:latin typeface="Courier"/>
              </a:rPr>
              <a:t>)</a:t>
            </a:r>
            <a:br/>
            <a:r>
              <a:rPr i="1">
                <a:solidFill>
                  <a:srgbClr val="60A0B0"/>
                </a:solidFill>
                <a:latin typeface="Courier"/>
              </a:rPr>
              <a:t>// ...</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2.5.3 集合类：代码片段（2/14）</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a:t>
            </a:r>
          </a:p>
          <a:p>
            <a:pPr lvl="0" indent="0">
              <a:buNone/>
            </a:pPr>
            <a:r>
              <a:rPr>
                <a:latin typeface="Courier"/>
              </a:rPr>
              <a:t>scala</a:t>
            </a:r>
            <a:r>
              <a:rPr>
                <a:solidFill>
                  <a:srgbClr val="666666"/>
                </a:solidFill>
                <a:latin typeface="Courier"/>
              </a:rPr>
              <a:t>&gt;</a:t>
            </a:r>
            <a:r>
              <a:rPr>
                <a:latin typeface="Courier"/>
              </a:rPr>
              <a:t> nums </a:t>
            </a:r>
            <a:r>
              <a:rPr>
                <a:solidFill>
                  <a:srgbClr val="666666"/>
                </a:solidFill>
                <a:latin typeface="Courier"/>
              </a:rPr>
              <a:t>-=</a:t>
            </a:r>
            <a:r>
              <a:rPr>
                <a:latin typeface="Courier"/>
              </a:rPr>
              <a:t> </a:t>
            </a:r>
            <a:r>
              <a:rPr>
                <a:solidFill>
                  <a:srgbClr val="40A070"/>
                </a:solidFill>
                <a:latin typeface="Courier"/>
              </a:rPr>
              <a:t>9</a:t>
            </a:r>
            <a:br/>
            <a:r>
              <a:rPr b="1">
                <a:solidFill>
                  <a:srgbClr val="007020"/>
                </a:solidFill>
                <a:latin typeface="Courier"/>
              </a:rPr>
              <a:t>val</a:t>
            </a:r>
            <a:r>
              <a:rPr>
                <a:latin typeface="Courier"/>
              </a:rPr>
              <a:t> res3</a:t>
            </a:r>
            <a:r>
              <a:rPr>
                <a:solidFill>
                  <a:srgbClr val="666666"/>
                </a:solidFill>
                <a:latin typeface="Courier"/>
              </a:rPr>
              <a:t>:</a:t>
            </a:r>
            <a:r>
              <a:rPr>
                <a:latin typeface="Courier"/>
              </a:rPr>
              <a:t> </a:t>
            </a:r>
            <a:r>
              <a:rPr>
                <a:solidFill>
                  <a:srgbClr val="008000"/>
                </a:solidFill>
                <a:latin typeface="Courier"/>
              </a:rPr>
              <a:t>ArrayBuffer</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008000"/>
                </a:solidFill>
                <a:latin typeface="Courier"/>
              </a:rPr>
              <a:t>ArrayBuffer</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r>
              <a:rPr>
                <a:latin typeface="Courier"/>
              </a:rPr>
              <a:t> </a:t>
            </a:r>
            <a:r>
              <a:rPr>
                <a:solidFill>
                  <a:srgbClr val="40A070"/>
                </a:solidFill>
                <a:latin typeface="Courier"/>
              </a:rPr>
              <a:t>4</a:t>
            </a:r>
            <a:r>
              <a:rPr>
                <a:solidFill>
                  <a:srgbClr val="666666"/>
                </a:solidFill>
                <a:latin typeface="Courier"/>
              </a:rPr>
              <a:t>,</a:t>
            </a:r>
            <a:r>
              <a:rPr>
                <a:latin typeface="Courier"/>
              </a:rPr>
              <a:t> </a:t>
            </a:r>
            <a:r>
              <a:rPr>
                <a:solidFill>
                  <a:srgbClr val="40A070"/>
                </a:solidFill>
                <a:latin typeface="Courier"/>
              </a:rPr>
              <a:t>5</a:t>
            </a:r>
            <a:r>
              <a:rPr>
                <a:solidFill>
                  <a:srgbClr val="666666"/>
                </a:solidFill>
                <a:latin typeface="Courier"/>
              </a:rPr>
              <a:t>,</a:t>
            </a:r>
            <a:r>
              <a:rPr>
                <a:latin typeface="Courier"/>
              </a:rPr>
              <a:t> </a:t>
            </a:r>
            <a:r>
              <a:rPr>
                <a:solidFill>
                  <a:srgbClr val="40A070"/>
                </a:solidFill>
                <a:latin typeface="Courier"/>
              </a:rPr>
              <a:t>6</a:t>
            </a:r>
            <a:r>
              <a:rPr>
                <a:solidFill>
                  <a:srgbClr val="666666"/>
                </a:solidFill>
                <a:latin typeface="Courier"/>
              </a:rPr>
              <a:t>,</a:t>
            </a:r>
            <a:r>
              <a:rPr>
                <a:latin typeface="Courier"/>
              </a:rPr>
              <a:t> </a:t>
            </a:r>
            <a:r>
              <a:rPr>
                <a:solidFill>
                  <a:srgbClr val="40A070"/>
                </a:solidFill>
                <a:latin typeface="Courier"/>
              </a:rPr>
              <a:t>7</a:t>
            </a:r>
            <a:r>
              <a:rPr>
                <a:solidFill>
                  <a:srgbClr val="666666"/>
                </a:solidFill>
                <a:latin typeface="Courier"/>
              </a:rPr>
              <a:t>,</a:t>
            </a:r>
            <a:r>
              <a:rPr>
                <a:latin typeface="Courier"/>
              </a:rPr>
              <a:t> </a:t>
            </a:r>
            <a:r>
              <a:rPr>
                <a:solidFill>
                  <a:srgbClr val="40A070"/>
                </a:solidFill>
                <a:latin typeface="Courier"/>
              </a:rPr>
              <a:t>8</a:t>
            </a:r>
            <a:r>
              <a:rPr>
                <a:solidFill>
                  <a:srgbClr val="666666"/>
                </a:solidFill>
                <a:latin typeface="Courier"/>
              </a:rPr>
              <a:t>)</a:t>
            </a:r>
            <a:br/>
            <a:r>
              <a:rPr>
                <a:latin typeface="Courier"/>
              </a:rPr>
              <a:t>scala</a:t>
            </a:r>
            <a:r>
              <a:rPr>
                <a:solidFill>
                  <a:srgbClr val="666666"/>
                </a:solidFill>
                <a:latin typeface="Courier"/>
              </a:rPr>
              <a:t>&gt;</a:t>
            </a:r>
            <a:r>
              <a:rPr>
                <a:latin typeface="Courier"/>
              </a:rPr>
              <a:t> nums </a:t>
            </a:r>
            <a:r>
              <a:rPr>
                <a:solidFill>
                  <a:srgbClr val="666666"/>
                </a:solidFill>
                <a:latin typeface="Courier"/>
              </a:rPr>
              <a:t>-=</a:t>
            </a:r>
            <a:r>
              <a:rPr>
                <a:latin typeface="Courier"/>
              </a:rPr>
              <a:t> </a:t>
            </a:r>
            <a:r>
              <a:rPr>
                <a:solidFill>
                  <a:srgbClr val="40A070"/>
                </a:solidFill>
                <a:latin typeface="Courier"/>
              </a:rPr>
              <a:t>7</a:t>
            </a:r>
            <a:r>
              <a:rPr>
                <a:latin typeface="Courier"/>
              </a:rPr>
              <a:t> </a:t>
            </a:r>
            <a:r>
              <a:rPr>
                <a:solidFill>
                  <a:srgbClr val="666666"/>
                </a:solidFill>
                <a:latin typeface="Courier"/>
              </a:rPr>
              <a:t>-=</a:t>
            </a:r>
            <a:r>
              <a:rPr>
                <a:latin typeface="Courier"/>
              </a:rPr>
              <a:t> </a:t>
            </a:r>
            <a:r>
              <a:rPr>
                <a:solidFill>
                  <a:srgbClr val="40A070"/>
                </a:solidFill>
                <a:latin typeface="Courier"/>
              </a:rPr>
              <a:t>8</a:t>
            </a:r>
            <a:br/>
            <a:r>
              <a:rPr b="1">
                <a:solidFill>
                  <a:srgbClr val="007020"/>
                </a:solidFill>
                <a:latin typeface="Courier"/>
              </a:rPr>
              <a:t>val</a:t>
            </a:r>
            <a:r>
              <a:rPr>
                <a:latin typeface="Courier"/>
              </a:rPr>
              <a:t> res4</a:t>
            </a:r>
            <a:r>
              <a:rPr>
                <a:solidFill>
                  <a:srgbClr val="666666"/>
                </a:solidFill>
                <a:latin typeface="Courier"/>
              </a:rPr>
              <a:t>:</a:t>
            </a:r>
            <a:r>
              <a:rPr>
                <a:latin typeface="Courier"/>
              </a:rPr>
              <a:t> </a:t>
            </a:r>
            <a:r>
              <a:rPr>
                <a:solidFill>
                  <a:srgbClr val="008000"/>
                </a:solidFill>
                <a:latin typeface="Courier"/>
              </a:rPr>
              <a:t>ArrayBuffer</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008000"/>
                </a:solidFill>
                <a:latin typeface="Courier"/>
              </a:rPr>
              <a:t>ArrayBuffer</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r>
              <a:rPr>
                <a:latin typeface="Courier"/>
              </a:rPr>
              <a:t> </a:t>
            </a:r>
            <a:r>
              <a:rPr>
                <a:solidFill>
                  <a:srgbClr val="40A070"/>
                </a:solidFill>
                <a:latin typeface="Courier"/>
              </a:rPr>
              <a:t>4</a:t>
            </a:r>
            <a:r>
              <a:rPr>
                <a:solidFill>
                  <a:srgbClr val="666666"/>
                </a:solidFill>
                <a:latin typeface="Courier"/>
              </a:rPr>
              <a:t>,</a:t>
            </a:r>
            <a:r>
              <a:rPr>
                <a:latin typeface="Courier"/>
              </a:rPr>
              <a:t> </a:t>
            </a:r>
            <a:r>
              <a:rPr>
                <a:solidFill>
                  <a:srgbClr val="40A070"/>
                </a:solidFill>
                <a:latin typeface="Courier"/>
              </a:rPr>
              <a:t>5</a:t>
            </a:r>
            <a:r>
              <a:rPr>
                <a:solidFill>
                  <a:srgbClr val="666666"/>
                </a:solidFill>
                <a:latin typeface="Courier"/>
              </a:rPr>
              <a:t>,</a:t>
            </a:r>
            <a:r>
              <a:rPr>
                <a:latin typeface="Courier"/>
              </a:rPr>
              <a:t> </a:t>
            </a:r>
            <a:r>
              <a:rPr>
                <a:solidFill>
                  <a:srgbClr val="40A070"/>
                </a:solidFill>
                <a:latin typeface="Courier"/>
              </a:rPr>
              <a:t>6</a:t>
            </a:r>
            <a:r>
              <a:rPr>
                <a:solidFill>
                  <a:srgbClr val="666666"/>
                </a:solidFill>
                <a:latin typeface="Courier"/>
              </a:rPr>
              <a:t>)</a:t>
            </a:r>
            <a:br/>
            <a:r>
              <a:rPr>
                <a:latin typeface="Courier"/>
              </a:rPr>
              <a:t>scala</a:t>
            </a:r>
            <a:r>
              <a:rPr>
                <a:solidFill>
                  <a:srgbClr val="666666"/>
                </a:solidFill>
                <a:latin typeface="Courier"/>
              </a:rPr>
              <a:t>&gt;</a:t>
            </a:r>
            <a:r>
              <a:rPr>
                <a:latin typeface="Courier"/>
              </a:rPr>
              <a:t> nums </a:t>
            </a:r>
            <a:r>
              <a:rPr>
                <a:solidFill>
                  <a:srgbClr val="666666"/>
                </a:solidFill>
                <a:latin typeface="Courier"/>
              </a:rPr>
              <a:t>--=</a:t>
            </a:r>
            <a:r>
              <a:rPr>
                <a:latin typeface="Courier"/>
              </a:rPr>
              <a:t> Array</a:t>
            </a:r>
            <a:r>
              <a:rPr>
                <a:solidFill>
                  <a:srgbClr val="666666"/>
                </a:solidFill>
                <a:latin typeface="Courier"/>
              </a:rPr>
              <a:t>(</a:t>
            </a:r>
            <a:r>
              <a:rPr>
                <a:solidFill>
                  <a:srgbClr val="40A070"/>
                </a:solidFill>
                <a:latin typeface="Courier"/>
              </a:rPr>
              <a:t>5</a:t>
            </a:r>
            <a:r>
              <a:rPr>
                <a:solidFill>
                  <a:srgbClr val="666666"/>
                </a:solidFill>
                <a:latin typeface="Courier"/>
              </a:rPr>
              <a:t>,</a:t>
            </a:r>
            <a:r>
              <a:rPr>
                <a:latin typeface="Courier"/>
              </a:rPr>
              <a:t> </a:t>
            </a:r>
            <a:r>
              <a:rPr>
                <a:solidFill>
                  <a:srgbClr val="40A070"/>
                </a:solidFill>
                <a:latin typeface="Courier"/>
              </a:rPr>
              <a:t>6</a:t>
            </a:r>
            <a:r>
              <a:rPr>
                <a:solidFill>
                  <a:srgbClr val="666666"/>
                </a:solidFill>
                <a:latin typeface="Courier"/>
              </a:rPr>
              <a:t>)</a:t>
            </a:r>
            <a:br/>
            <a:r>
              <a:rPr b="1">
                <a:solidFill>
                  <a:srgbClr val="007020"/>
                </a:solidFill>
                <a:latin typeface="Courier"/>
              </a:rPr>
              <a:t>val</a:t>
            </a:r>
            <a:r>
              <a:rPr>
                <a:latin typeface="Courier"/>
              </a:rPr>
              <a:t> res5</a:t>
            </a:r>
            <a:r>
              <a:rPr>
                <a:solidFill>
                  <a:srgbClr val="666666"/>
                </a:solidFill>
                <a:latin typeface="Courier"/>
              </a:rPr>
              <a:t>:</a:t>
            </a:r>
            <a:r>
              <a:rPr>
                <a:latin typeface="Courier"/>
              </a:rPr>
              <a:t> </a:t>
            </a:r>
            <a:r>
              <a:rPr>
                <a:solidFill>
                  <a:srgbClr val="008000"/>
                </a:solidFill>
                <a:latin typeface="Courier"/>
              </a:rPr>
              <a:t>ArrayBuffer</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008000"/>
                </a:solidFill>
                <a:latin typeface="Courier"/>
              </a:rPr>
              <a:t>ArrayBuffer</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r>
              <a:rPr>
                <a:latin typeface="Courier"/>
              </a:rPr>
              <a:t> </a:t>
            </a:r>
            <a:r>
              <a:rPr>
                <a:solidFill>
                  <a:srgbClr val="40A070"/>
                </a:solidFill>
                <a:latin typeface="Courier"/>
              </a:rPr>
              <a:t>4</a:t>
            </a:r>
            <a:r>
              <a:rPr>
                <a:solidFill>
                  <a:srgbClr val="666666"/>
                </a:solidFill>
                <a:latin typeface="Courier"/>
              </a:rPr>
              <a:t>)</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2.5.3 集合类：代码片段（3/14）</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简要概述一下</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a </a:t>
            </a:r>
            <a:r>
              <a:rPr>
                <a:solidFill>
                  <a:srgbClr val="666666"/>
                </a:solidFill>
                <a:latin typeface="Courier"/>
              </a:rPr>
              <a:t>=</a:t>
            </a:r>
            <a:r>
              <a:rPr>
                <a:latin typeface="Courier"/>
              </a:rPr>
              <a:t> </a:t>
            </a:r>
            <a:r>
              <a:rPr>
                <a:solidFill>
                  <a:srgbClr val="008000"/>
                </a:solidFill>
                <a:latin typeface="Courier"/>
              </a:rPr>
              <a:t>ArrayBuffer</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r>
              <a:rPr>
                <a:latin typeface="Courier"/>
              </a:rPr>
              <a:t> </a:t>
            </a:r>
            <a:r>
              <a:rPr i="1">
                <a:solidFill>
                  <a:srgbClr val="60A0B0"/>
                </a:solidFill>
                <a:latin typeface="Courier"/>
              </a:rPr>
              <a:t>// ArrayBuffer(1, 2, 3)</a:t>
            </a:r>
            <a:br/>
            <a:r>
              <a:rPr>
                <a:latin typeface="Courier"/>
              </a:rPr>
              <a:t>a</a:t>
            </a:r>
            <a:r>
              <a:rPr>
                <a:solidFill>
                  <a:srgbClr val="666666"/>
                </a:solidFill>
                <a:latin typeface="Courier"/>
              </a:rPr>
              <a:t>:</a:t>
            </a:r>
            <a:r>
              <a:rPr>
                <a:latin typeface="Courier"/>
              </a:rPr>
              <a:t> scala</a:t>
            </a:r>
            <a:r>
              <a:rPr>
                <a:solidFill>
                  <a:srgbClr val="666666"/>
                </a:solidFill>
                <a:latin typeface="Courier"/>
              </a:rPr>
              <a:t>.</a:t>
            </a:r>
            <a:r>
              <a:rPr>
                <a:latin typeface="Courier"/>
              </a:rPr>
              <a:t>collection</a:t>
            </a:r>
            <a:r>
              <a:rPr>
                <a:solidFill>
                  <a:srgbClr val="666666"/>
                </a:solidFill>
                <a:latin typeface="Courier"/>
              </a:rPr>
              <a:t>.</a:t>
            </a:r>
            <a:r>
              <a:rPr>
                <a:latin typeface="Courier"/>
              </a:rPr>
              <a:t>mutable</a:t>
            </a:r>
            <a:r>
              <a:rPr>
                <a:solidFill>
                  <a:srgbClr val="666666"/>
                </a:solidFill>
                <a:latin typeface="Courier"/>
              </a:rPr>
              <a:t>.</a:t>
            </a:r>
            <a:r>
              <a:rPr>
                <a:solidFill>
                  <a:srgbClr val="008000"/>
                </a:solidFill>
                <a:latin typeface="Courier"/>
              </a:rPr>
              <a:t>ArrayBuffer</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008000"/>
                </a:solidFill>
                <a:latin typeface="Courier"/>
              </a:rPr>
              <a:t>ArrayBuffer</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br/>
            <a:r>
              <a:rPr>
                <a:latin typeface="Courier"/>
              </a:rPr>
              <a:t>scala</a:t>
            </a:r>
            <a:r>
              <a:rPr>
                <a:solidFill>
                  <a:srgbClr val="666666"/>
                </a:solidFill>
                <a:latin typeface="Courier"/>
              </a:rPr>
              <a:t>&gt;</a:t>
            </a:r>
            <a:r>
              <a:rPr>
                <a:latin typeface="Courier"/>
              </a:rPr>
              <a:t> a</a:t>
            </a:r>
            <a:r>
              <a:rPr>
                <a:solidFill>
                  <a:srgbClr val="666666"/>
                </a:solidFill>
                <a:latin typeface="Courier"/>
              </a:rPr>
              <a:t>.</a:t>
            </a:r>
            <a:r>
              <a:rPr>
                <a:solidFill>
                  <a:srgbClr val="06287E"/>
                </a:solidFill>
                <a:latin typeface="Courier"/>
              </a:rPr>
              <a:t>append</a:t>
            </a:r>
            <a:r>
              <a:rPr>
                <a:solidFill>
                  <a:srgbClr val="666666"/>
                </a:solidFill>
                <a:latin typeface="Courier"/>
              </a:rPr>
              <a:t>(</a:t>
            </a:r>
            <a:r>
              <a:rPr>
                <a:solidFill>
                  <a:srgbClr val="40A070"/>
                </a:solidFill>
                <a:latin typeface="Courier"/>
              </a:rPr>
              <a:t>4</a:t>
            </a:r>
            <a:r>
              <a:rPr>
                <a:solidFill>
                  <a:srgbClr val="666666"/>
                </a:solidFill>
                <a:latin typeface="Courier"/>
              </a:rPr>
              <a:t>)</a:t>
            </a:r>
            <a:r>
              <a:rPr>
                <a:latin typeface="Courier"/>
              </a:rPr>
              <a:t> </a:t>
            </a:r>
            <a:r>
              <a:rPr i="1">
                <a:solidFill>
                  <a:srgbClr val="60A0B0"/>
                </a:solidFill>
                <a:latin typeface="Courier"/>
              </a:rPr>
              <a:t>// ArrayBuffer(1, 2, 3, 4)</a:t>
            </a:r>
            <a:br/>
            <a:r>
              <a:rPr>
                <a:latin typeface="Courier"/>
              </a:rPr>
              <a:t>scala</a:t>
            </a:r>
            <a:r>
              <a:rPr>
                <a:solidFill>
                  <a:srgbClr val="666666"/>
                </a:solidFill>
                <a:latin typeface="Courier"/>
              </a:rPr>
              <a:t>&gt;</a:t>
            </a:r>
            <a:r>
              <a:rPr>
                <a:latin typeface="Courier"/>
              </a:rPr>
              <a:t> a</a:t>
            </a:r>
            <a:r>
              <a:rPr>
                <a:solidFill>
                  <a:srgbClr val="666666"/>
                </a:solidFill>
                <a:latin typeface="Courier"/>
              </a:rPr>
              <a:t>.</a:t>
            </a:r>
            <a:r>
              <a:rPr>
                <a:solidFill>
                  <a:srgbClr val="06287E"/>
                </a:solidFill>
                <a:latin typeface="Courier"/>
              </a:rPr>
              <a:t>append</a:t>
            </a:r>
            <a:r>
              <a:rPr>
                <a:solidFill>
                  <a:srgbClr val="666666"/>
                </a:solidFill>
                <a:latin typeface="Courier"/>
              </a:rPr>
              <a:t>(</a:t>
            </a:r>
            <a:r>
              <a:rPr>
                <a:solidFill>
                  <a:srgbClr val="40A070"/>
                </a:solidFill>
                <a:latin typeface="Courier"/>
              </a:rPr>
              <a:t>5</a:t>
            </a:r>
            <a:r>
              <a:rPr>
                <a:solidFill>
                  <a:srgbClr val="666666"/>
                </a:solidFill>
                <a:latin typeface="Courier"/>
              </a:rPr>
              <a:t>,</a:t>
            </a:r>
            <a:r>
              <a:rPr>
                <a:latin typeface="Courier"/>
              </a:rPr>
              <a:t> </a:t>
            </a:r>
            <a:r>
              <a:rPr>
                <a:solidFill>
                  <a:srgbClr val="40A070"/>
                </a:solidFill>
                <a:latin typeface="Courier"/>
              </a:rPr>
              <a:t>6</a:t>
            </a:r>
            <a:r>
              <a:rPr>
                <a:solidFill>
                  <a:srgbClr val="666666"/>
                </a:solidFill>
                <a:latin typeface="Courier"/>
              </a:rPr>
              <a:t>)</a:t>
            </a:r>
            <a:r>
              <a:rPr>
                <a:latin typeface="Courier"/>
              </a:rPr>
              <a:t> </a:t>
            </a:r>
            <a:r>
              <a:rPr i="1">
                <a:solidFill>
                  <a:srgbClr val="60A0B0"/>
                </a:solidFill>
                <a:latin typeface="Courier"/>
              </a:rPr>
              <a:t>// ArrayBuffer(1, 2, 3, 4, 5, 6)</a:t>
            </a:r>
            <a:br/>
            <a:r>
              <a:rPr>
                <a:latin typeface="Courier"/>
              </a:rPr>
              <a:t>scala</a:t>
            </a:r>
            <a:r>
              <a:rPr>
                <a:solidFill>
                  <a:srgbClr val="666666"/>
                </a:solidFill>
                <a:latin typeface="Courier"/>
              </a:rPr>
              <a:t>&gt;</a:t>
            </a:r>
            <a:r>
              <a:rPr>
                <a:latin typeface="Courier"/>
              </a:rPr>
              <a:t> a</a:t>
            </a:r>
            <a:r>
              <a:rPr>
                <a:solidFill>
                  <a:srgbClr val="666666"/>
                </a:solidFill>
                <a:latin typeface="Courier"/>
              </a:rPr>
              <a:t>.</a:t>
            </a:r>
            <a:r>
              <a:rPr>
                <a:solidFill>
                  <a:srgbClr val="06287E"/>
                </a:solidFill>
                <a:latin typeface="Courier"/>
              </a:rPr>
              <a:t>appendAll</a:t>
            </a:r>
            <a:r>
              <a:rPr>
                <a:solidFill>
                  <a:srgbClr val="666666"/>
                </a:solidFill>
                <a:latin typeface="Courier"/>
              </a:rPr>
              <a:t>(</a:t>
            </a:r>
            <a:r>
              <a:rPr>
                <a:solidFill>
                  <a:srgbClr val="008000"/>
                </a:solidFill>
                <a:latin typeface="Courier"/>
              </a:rPr>
              <a:t>Seq</a:t>
            </a:r>
            <a:r>
              <a:rPr>
                <a:solidFill>
                  <a:srgbClr val="666666"/>
                </a:solidFill>
                <a:latin typeface="Courier"/>
              </a:rPr>
              <a:t>(</a:t>
            </a:r>
            <a:r>
              <a:rPr>
                <a:solidFill>
                  <a:srgbClr val="40A070"/>
                </a:solidFill>
                <a:latin typeface="Courier"/>
              </a:rPr>
              <a:t>7</a:t>
            </a:r>
            <a:r>
              <a:rPr>
                <a:solidFill>
                  <a:srgbClr val="666666"/>
                </a:solidFill>
                <a:latin typeface="Courier"/>
              </a:rPr>
              <a:t>,</a:t>
            </a:r>
            <a:r>
              <a:rPr>
                <a:solidFill>
                  <a:srgbClr val="40A070"/>
                </a:solidFill>
                <a:latin typeface="Courier"/>
              </a:rPr>
              <a:t>8</a:t>
            </a:r>
            <a:r>
              <a:rPr>
                <a:solidFill>
                  <a:srgbClr val="666666"/>
                </a:solidFill>
                <a:latin typeface="Courier"/>
              </a:rPr>
              <a:t>))</a:t>
            </a:r>
            <a:r>
              <a:rPr>
                <a:latin typeface="Courier"/>
              </a:rPr>
              <a:t> </a:t>
            </a:r>
            <a:r>
              <a:rPr i="1">
                <a:solidFill>
                  <a:srgbClr val="60A0B0"/>
                </a:solidFill>
                <a:latin typeface="Courier"/>
              </a:rPr>
              <a:t>// ArrayBuffer(1, 2, 3, 4, 5, 6, 7, 8)</a:t>
            </a:r>
            <a:br/>
            <a:r>
              <a:rPr>
                <a:latin typeface="Courier"/>
              </a:rPr>
              <a:t>scala</a:t>
            </a:r>
            <a:r>
              <a:rPr>
                <a:solidFill>
                  <a:srgbClr val="666666"/>
                </a:solidFill>
                <a:latin typeface="Courier"/>
              </a:rPr>
              <a:t>&gt;</a:t>
            </a:r>
            <a:r>
              <a:rPr>
                <a:latin typeface="Courier"/>
              </a:rPr>
              <a:t> a</a:t>
            </a:r>
            <a:r>
              <a:rPr>
                <a:solidFill>
                  <a:srgbClr val="666666"/>
                </a:solidFill>
                <a:latin typeface="Courier"/>
              </a:rPr>
              <a:t>.</a:t>
            </a:r>
            <a:r>
              <a:rPr>
                <a:latin typeface="Courier"/>
              </a:rPr>
              <a:t>clear </a:t>
            </a:r>
            <a:r>
              <a:rPr i="1">
                <a:solidFill>
                  <a:srgbClr val="60A0B0"/>
                </a:solidFill>
                <a:latin typeface="Courier"/>
              </a:rPr>
              <a:t>// ArrayBuffer()</a:t>
            </a:r>
            <a:br/>
            <a:r>
              <a:rPr>
                <a:latin typeface="Courier"/>
              </a:rPr>
              <a:t>scala</a:t>
            </a:r>
            <a:r>
              <a:rPr>
                <a:solidFill>
                  <a:srgbClr val="666666"/>
                </a:solidFill>
                <a:latin typeface="Courier"/>
              </a:rPr>
              <a:t>&gt;</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a </a:t>
            </a:r>
            <a:r>
              <a:rPr>
                <a:solidFill>
                  <a:srgbClr val="666666"/>
                </a:solidFill>
                <a:latin typeface="Courier"/>
              </a:rPr>
              <a:t>=</a:t>
            </a:r>
            <a:r>
              <a:rPr>
                <a:latin typeface="Courier"/>
              </a:rPr>
              <a:t> </a:t>
            </a:r>
            <a:r>
              <a:rPr>
                <a:solidFill>
                  <a:srgbClr val="008000"/>
                </a:solidFill>
                <a:latin typeface="Courier"/>
              </a:rPr>
              <a:t>ArrayBuffer</a:t>
            </a:r>
            <a:r>
              <a:rPr>
                <a:solidFill>
                  <a:srgbClr val="666666"/>
                </a:solidFill>
                <a:latin typeface="Courier"/>
              </a:rPr>
              <a:t>(</a:t>
            </a:r>
            <a:r>
              <a:rPr>
                <a:solidFill>
                  <a:srgbClr val="40A070"/>
                </a:solidFill>
                <a:latin typeface="Courier"/>
              </a:rPr>
              <a:t>9</a:t>
            </a:r>
            <a:r>
              <a:rPr>
                <a:solidFill>
                  <a:srgbClr val="666666"/>
                </a:solidFill>
                <a:latin typeface="Courier"/>
              </a:rPr>
              <a:t>,</a:t>
            </a:r>
            <a:r>
              <a:rPr>
                <a:latin typeface="Courier"/>
              </a:rPr>
              <a:t> </a:t>
            </a:r>
            <a:r>
              <a:rPr>
                <a:solidFill>
                  <a:srgbClr val="40A070"/>
                </a:solidFill>
                <a:latin typeface="Courier"/>
              </a:rPr>
              <a:t>10</a:t>
            </a:r>
            <a:r>
              <a:rPr>
                <a:solidFill>
                  <a:srgbClr val="666666"/>
                </a:solidFill>
                <a:latin typeface="Courier"/>
              </a:rPr>
              <a:t>)</a:t>
            </a:r>
            <a:r>
              <a:rPr>
                <a:latin typeface="Courier"/>
              </a:rPr>
              <a:t> </a:t>
            </a:r>
            <a:r>
              <a:rPr i="1">
                <a:solidFill>
                  <a:srgbClr val="60A0B0"/>
                </a:solidFill>
                <a:latin typeface="Courier"/>
              </a:rPr>
              <a:t>// ArrayBuffer(9, 10)</a:t>
            </a:r>
            <a:br/>
            <a:r>
              <a:rPr>
                <a:latin typeface="Courier"/>
              </a:rPr>
              <a:t>a</a:t>
            </a:r>
            <a:r>
              <a:rPr>
                <a:solidFill>
                  <a:srgbClr val="666666"/>
                </a:solidFill>
                <a:latin typeface="Courier"/>
              </a:rPr>
              <a:t>:</a:t>
            </a:r>
            <a:r>
              <a:rPr>
                <a:latin typeface="Courier"/>
              </a:rPr>
              <a:t> scala</a:t>
            </a:r>
            <a:r>
              <a:rPr>
                <a:solidFill>
                  <a:srgbClr val="666666"/>
                </a:solidFill>
                <a:latin typeface="Courier"/>
              </a:rPr>
              <a:t>.</a:t>
            </a:r>
            <a:r>
              <a:rPr>
                <a:latin typeface="Courier"/>
              </a:rPr>
              <a:t>collection</a:t>
            </a:r>
            <a:r>
              <a:rPr>
                <a:solidFill>
                  <a:srgbClr val="666666"/>
                </a:solidFill>
                <a:latin typeface="Courier"/>
              </a:rPr>
              <a:t>.</a:t>
            </a:r>
            <a:r>
              <a:rPr>
                <a:latin typeface="Courier"/>
              </a:rPr>
              <a:t>mutable</a:t>
            </a:r>
            <a:r>
              <a:rPr>
                <a:solidFill>
                  <a:srgbClr val="666666"/>
                </a:solidFill>
                <a:latin typeface="Courier"/>
              </a:rPr>
              <a:t>.</a:t>
            </a:r>
            <a:r>
              <a:rPr>
                <a:solidFill>
                  <a:srgbClr val="008000"/>
                </a:solidFill>
                <a:latin typeface="Courier"/>
              </a:rPr>
              <a:t>ArrayBuffer</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008000"/>
                </a:solidFill>
                <a:latin typeface="Courier"/>
              </a:rPr>
              <a:t>ArrayBuffer</a:t>
            </a:r>
            <a:r>
              <a:rPr>
                <a:solidFill>
                  <a:srgbClr val="666666"/>
                </a:solidFill>
                <a:latin typeface="Courier"/>
              </a:rPr>
              <a:t>(</a:t>
            </a:r>
            <a:r>
              <a:rPr>
                <a:solidFill>
                  <a:srgbClr val="40A070"/>
                </a:solidFill>
                <a:latin typeface="Courier"/>
              </a:rPr>
              <a:t>9</a:t>
            </a:r>
            <a:r>
              <a:rPr>
                <a:solidFill>
                  <a:srgbClr val="666666"/>
                </a:solidFill>
                <a:latin typeface="Courier"/>
              </a:rPr>
              <a:t>,</a:t>
            </a:r>
            <a:r>
              <a:rPr>
                <a:latin typeface="Courier"/>
              </a:rPr>
              <a:t> </a:t>
            </a:r>
            <a:r>
              <a:rPr>
                <a:solidFill>
                  <a:srgbClr val="40A070"/>
                </a:solidFill>
                <a:latin typeface="Courier"/>
              </a:rPr>
              <a:t>10</a:t>
            </a:r>
            <a:r>
              <a:rPr>
                <a:solidFill>
                  <a:srgbClr val="666666"/>
                </a:solidFill>
                <a:latin typeface="Courier"/>
              </a:rPr>
              <a:t>)</a:t>
            </a:r>
            <a:br/>
            <a:r>
              <a:rPr>
                <a:latin typeface="Courier"/>
              </a:rPr>
              <a:t>scala</a:t>
            </a:r>
            <a:r>
              <a:rPr>
                <a:solidFill>
                  <a:srgbClr val="666666"/>
                </a:solidFill>
                <a:latin typeface="Courier"/>
              </a:rPr>
              <a:t>&gt;</a:t>
            </a:r>
            <a:r>
              <a:rPr>
                <a:latin typeface="Courier"/>
              </a:rPr>
              <a:t> a</a:t>
            </a:r>
            <a:r>
              <a:rPr>
                <a:solidFill>
                  <a:srgbClr val="666666"/>
                </a:solidFill>
                <a:latin typeface="Courier"/>
              </a:rPr>
              <a:t>.</a:t>
            </a:r>
            <a:r>
              <a:rPr>
                <a:solidFill>
                  <a:srgbClr val="06287E"/>
                </a:solidFill>
                <a:latin typeface="Courier"/>
              </a:rPr>
              <a:t>insert</a:t>
            </a:r>
            <a:r>
              <a:rPr>
                <a:solidFill>
                  <a:srgbClr val="666666"/>
                </a:solidFill>
                <a:latin typeface="Courier"/>
              </a:rPr>
              <a:t>(</a:t>
            </a:r>
            <a:r>
              <a:rPr>
                <a:solidFill>
                  <a:srgbClr val="40A070"/>
                </a:solidFill>
                <a:latin typeface="Courier"/>
              </a:rPr>
              <a:t>0</a:t>
            </a:r>
            <a:r>
              <a:rPr>
                <a:solidFill>
                  <a:srgbClr val="666666"/>
                </a:solidFill>
                <a:latin typeface="Courier"/>
              </a:rPr>
              <a:t>,</a:t>
            </a:r>
            <a:r>
              <a:rPr>
                <a:latin typeface="Courier"/>
              </a:rPr>
              <a:t> </a:t>
            </a:r>
            <a:r>
              <a:rPr>
                <a:solidFill>
                  <a:srgbClr val="40A070"/>
                </a:solidFill>
                <a:latin typeface="Courier"/>
              </a:rPr>
              <a:t>8</a:t>
            </a:r>
            <a:r>
              <a:rPr>
                <a:solidFill>
                  <a:srgbClr val="666666"/>
                </a:solidFill>
                <a:latin typeface="Courier"/>
              </a:rPr>
              <a:t>)</a:t>
            </a:r>
            <a:r>
              <a:rPr>
                <a:latin typeface="Courier"/>
              </a:rPr>
              <a:t> </a:t>
            </a:r>
            <a:r>
              <a:rPr i="1">
                <a:solidFill>
                  <a:srgbClr val="60A0B0"/>
                </a:solidFill>
                <a:latin typeface="Courier"/>
              </a:rPr>
              <a:t>// ArrayBuffer(8, 9, 10)</a:t>
            </a:r>
            <a:br/>
            <a:r>
              <a:rPr>
                <a:latin typeface="Courier"/>
              </a:rPr>
              <a:t>scala</a:t>
            </a:r>
            <a:r>
              <a:rPr>
                <a:solidFill>
                  <a:srgbClr val="666666"/>
                </a:solidFill>
                <a:latin typeface="Courier"/>
              </a:rPr>
              <a:t>&gt;</a:t>
            </a:r>
            <a:r>
              <a:rPr>
                <a:latin typeface="Courier"/>
              </a:rPr>
              <a:t> a</a:t>
            </a:r>
            <a:r>
              <a:rPr>
                <a:solidFill>
                  <a:srgbClr val="666666"/>
                </a:solidFill>
                <a:latin typeface="Courier"/>
              </a:rPr>
              <a:t>.</a:t>
            </a:r>
            <a:r>
              <a:rPr>
                <a:solidFill>
                  <a:srgbClr val="06287E"/>
                </a:solidFill>
                <a:latin typeface="Courier"/>
              </a:rPr>
              <a:t>insertAll</a:t>
            </a:r>
            <a:r>
              <a:rPr>
                <a:solidFill>
                  <a:srgbClr val="666666"/>
                </a:solidFill>
                <a:latin typeface="Courier"/>
              </a:rPr>
              <a:t>(</a:t>
            </a:r>
            <a:r>
              <a:rPr>
                <a:solidFill>
                  <a:srgbClr val="40A070"/>
                </a:solidFill>
                <a:latin typeface="Courier"/>
              </a:rPr>
              <a:t>0</a:t>
            </a:r>
            <a:r>
              <a:rPr>
                <a:solidFill>
                  <a:srgbClr val="666666"/>
                </a:solidFill>
                <a:latin typeface="Courier"/>
              </a:rPr>
              <a:t>,</a:t>
            </a:r>
            <a:r>
              <a:rPr>
                <a:latin typeface="Courier"/>
              </a:rPr>
              <a:t> Vector</a:t>
            </a:r>
            <a:r>
              <a:rPr>
                <a:solidFill>
                  <a:srgbClr val="666666"/>
                </a:solidFill>
                <a:latin typeface="Courier"/>
              </a:rPr>
              <a:t>(</a:t>
            </a:r>
            <a:r>
              <a:rPr>
                <a:solidFill>
                  <a:srgbClr val="40A070"/>
                </a:solidFill>
                <a:latin typeface="Courier"/>
              </a:rPr>
              <a:t>4</a:t>
            </a:r>
            <a:r>
              <a:rPr>
                <a:solidFill>
                  <a:srgbClr val="666666"/>
                </a:solidFill>
                <a:latin typeface="Courier"/>
              </a:rPr>
              <a:t>,</a:t>
            </a:r>
            <a:r>
              <a:rPr>
                <a:latin typeface="Courier"/>
              </a:rPr>
              <a:t> </a:t>
            </a:r>
            <a:r>
              <a:rPr>
                <a:solidFill>
                  <a:srgbClr val="40A070"/>
                </a:solidFill>
                <a:latin typeface="Courier"/>
              </a:rPr>
              <a:t>5</a:t>
            </a:r>
            <a:r>
              <a:rPr>
                <a:solidFill>
                  <a:srgbClr val="666666"/>
                </a:solidFill>
                <a:latin typeface="Courier"/>
              </a:rPr>
              <a:t>,</a:t>
            </a:r>
            <a:r>
              <a:rPr>
                <a:latin typeface="Courier"/>
              </a:rPr>
              <a:t> </a:t>
            </a:r>
            <a:r>
              <a:rPr>
                <a:solidFill>
                  <a:srgbClr val="40A070"/>
                </a:solidFill>
                <a:latin typeface="Courier"/>
              </a:rPr>
              <a:t>6</a:t>
            </a:r>
            <a:r>
              <a:rPr>
                <a:solidFill>
                  <a:srgbClr val="666666"/>
                </a:solidFill>
                <a:latin typeface="Courier"/>
              </a:rPr>
              <a:t>,</a:t>
            </a:r>
            <a:r>
              <a:rPr>
                <a:latin typeface="Courier"/>
              </a:rPr>
              <a:t> </a:t>
            </a:r>
            <a:r>
              <a:rPr>
                <a:solidFill>
                  <a:srgbClr val="40A070"/>
                </a:solidFill>
                <a:latin typeface="Courier"/>
              </a:rPr>
              <a:t>7</a:t>
            </a:r>
            <a:r>
              <a:rPr>
                <a:solidFill>
                  <a:srgbClr val="666666"/>
                </a:solidFill>
                <a:latin typeface="Courier"/>
              </a:rPr>
              <a:t>))</a:t>
            </a:r>
            <a:r>
              <a:rPr>
                <a:latin typeface="Courier"/>
              </a:rPr>
              <a:t> </a:t>
            </a:r>
            <a:r>
              <a:rPr i="1">
                <a:solidFill>
                  <a:srgbClr val="60A0B0"/>
                </a:solidFill>
                <a:latin typeface="Courier"/>
              </a:rPr>
              <a:t>// ArrayBuffer(4, 5, 6, 7, 8,</a:t>
            </a:r>
            <a:br/>
            <a:r>
              <a:rPr i="1">
                <a:solidFill>
                  <a:srgbClr val="60A0B0"/>
                </a:solidFill>
                <a:latin typeface="Courier"/>
              </a:rPr>
              <a:t>// ...</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2.5.3 集合类：代码片段（4/14）</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List类是线性的</a:t>
            </a:r>
          </a:p>
          <a:p>
            <a:pPr lvl="0"/>
            <a:r>
              <a:rPr/>
              <a:t>先对照代码理解 由于列表是不可变的</a:t>
            </a:r>
          </a:p>
          <a:p>
            <a:pPr lvl="0"/>
            <a:r>
              <a:rPr/>
              <a:t>先对照代码理解 也可以将元素追加到List</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ints </a:t>
            </a:r>
            <a:r>
              <a:rPr>
                <a:solidFill>
                  <a:srgbClr val="666666"/>
                </a:solidFill>
                <a:latin typeface="Courier"/>
              </a:rPr>
              <a:t>=</a:t>
            </a:r>
            <a:r>
              <a:rPr>
                <a:latin typeface="Courier"/>
              </a:rPr>
              <a:t> List</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br/>
            <a:r>
              <a:rPr>
                <a:latin typeface="Courier"/>
              </a:rPr>
              <a:t>ints</a:t>
            </a:r>
            <a:r>
              <a:rPr>
                <a:solidFill>
                  <a:srgbClr val="666666"/>
                </a:solidFill>
                <a:latin typeface="Courier"/>
              </a:rPr>
              <a:t>:</a:t>
            </a:r>
            <a:r>
              <a:rPr>
                <a:latin typeface="Courier"/>
              </a:rPr>
              <a:t> List</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List</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names </a:t>
            </a:r>
            <a:r>
              <a:rPr>
                <a:solidFill>
                  <a:srgbClr val="666666"/>
                </a:solidFill>
                <a:latin typeface="Courier"/>
              </a:rPr>
              <a:t>=</a:t>
            </a:r>
            <a:r>
              <a:rPr>
                <a:latin typeface="Courier"/>
              </a:rPr>
              <a:t> List</a:t>
            </a:r>
            <a:r>
              <a:rPr>
                <a:solidFill>
                  <a:srgbClr val="666666"/>
                </a:solidFill>
                <a:latin typeface="Courier"/>
              </a:rPr>
              <a:t>(</a:t>
            </a:r>
            <a:r>
              <a:rPr>
                <a:solidFill>
                  <a:srgbClr val="4070A0"/>
                </a:solidFill>
                <a:latin typeface="Courier"/>
              </a:rPr>
              <a:t>"Joel"</a:t>
            </a:r>
            <a:r>
              <a:rPr>
                <a:solidFill>
                  <a:srgbClr val="666666"/>
                </a:solidFill>
                <a:latin typeface="Courier"/>
              </a:rPr>
              <a:t>,</a:t>
            </a:r>
            <a:r>
              <a:rPr>
                <a:latin typeface="Courier"/>
              </a:rPr>
              <a:t> </a:t>
            </a:r>
            <a:r>
              <a:rPr>
                <a:solidFill>
                  <a:srgbClr val="4070A0"/>
                </a:solidFill>
                <a:latin typeface="Courier"/>
              </a:rPr>
              <a:t>"Chris"</a:t>
            </a:r>
            <a:r>
              <a:rPr>
                <a:solidFill>
                  <a:srgbClr val="666666"/>
                </a:solidFill>
                <a:latin typeface="Courier"/>
              </a:rPr>
              <a:t>,</a:t>
            </a:r>
            <a:r>
              <a:rPr>
                <a:latin typeface="Courier"/>
              </a:rPr>
              <a:t> </a:t>
            </a:r>
            <a:r>
              <a:rPr>
                <a:solidFill>
                  <a:srgbClr val="4070A0"/>
                </a:solidFill>
                <a:latin typeface="Courier"/>
              </a:rPr>
              <a:t>"Ed"</a:t>
            </a:r>
            <a:r>
              <a:rPr>
                <a:solidFill>
                  <a:srgbClr val="666666"/>
                </a:solidFill>
                <a:latin typeface="Courier"/>
              </a:rPr>
              <a:t>)</a:t>
            </a:r>
            <a:br/>
            <a:r>
              <a:rPr>
                <a:latin typeface="Courier"/>
              </a:rPr>
              <a:t>names</a:t>
            </a:r>
            <a:r>
              <a:rPr>
                <a:solidFill>
                  <a:srgbClr val="666666"/>
                </a:solidFill>
                <a:latin typeface="Courier"/>
              </a:rPr>
              <a:t>:</a:t>
            </a:r>
            <a:r>
              <a:rPr>
                <a:latin typeface="Courier"/>
              </a:rPr>
              <a:t> List</a:t>
            </a:r>
            <a:r>
              <a:rPr>
                <a:solidFill>
                  <a:srgbClr val="666666"/>
                </a:solidFill>
                <a:latin typeface="Courier"/>
              </a:rPr>
              <a:t>[</a:t>
            </a:r>
            <a:r>
              <a:rPr>
                <a:latin typeface="Courier"/>
              </a:rPr>
              <a:t>String</a:t>
            </a:r>
            <a:r>
              <a:rPr>
                <a:solidFill>
                  <a:srgbClr val="666666"/>
                </a:solidFill>
                <a:latin typeface="Courier"/>
              </a:rPr>
              <a:t>]</a:t>
            </a:r>
            <a:r>
              <a:rPr>
                <a:latin typeface="Courier"/>
              </a:rPr>
              <a:t> </a:t>
            </a:r>
            <a:r>
              <a:rPr>
                <a:solidFill>
                  <a:srgbClr val="666666"/>
                </a:solidFill>
                <a:latin typeface="Courier"/>
              </a:rPr>
              <a:t>=</a:t>
            </a:r>
            <a:r>
              <a:rPr>
                <a:latin typeface="Courier"/>
              </a:rPr>
              <a:t> List</a:t>
            </a:r>
            <a:r>
              <a:rPr>
                <a:solidFill>
                  <a:srgbClr val="666666"/>
                </a:solidFill>
                <a:latin typeface="Courier"/>
              </a:rPr>
              <a:t>(</a:t>
            </a:r>
            <a:r>
              <a:rPr>
                <a:latin typeface="Courier"/>
              </a:rPr>
              <a:t>Joel</a:t>
            </a:r>
            <a:r>
              <a:rPr>
                <a:solidFill>
                  <a:srgbClr val="666666"/>
                </a:solidFill>
                <a:latin typeface="Courier"/>
              </a:rPr>
              <a:t>,</a:t>
            </a:r>
            <a:r>
              <a:rPr>
                <a:latin typeface="Courier"/>
              </a:rPr>
              <a:t> Chris</a:t>
            </a:r>
            <a:r>
              <a:rPr>
                <a:solidFill>
                  <a:srgbClr val="666666"/>
                </a:solidFill>
                <a:latin typeface="Courier"/>
              </a:rPr>
              <a:t>,</a:t>
            </a:r>
            <a:r>
              <a:rPr>
                <a:latin typeface="Courier"/>
              </a:rPr>
              <a:t> Ed</a:t>
            </a:r>
            <a:r>
              <a:rPr>
                <a:solidFill>
                  <a:srgbClr val="666666"/>
                </a:solidFill>
                <a:latin typeface="Courier"/>
              </a:rPr>
              <a:t>)</a:t>
            </a:r>
          </a:p>
          <a:p>
            <a:pPr lvl="0" indent="0" marL="0">
              <a:buNone/>
            </a:pPr>
            <a:r>
              <a:rPr/>
              <a:t>片段 2</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a </a:t>
            </a:r>
            <a:r>
              <a:rPr>
                <a:solidFill>
                  <a:srgbClr val="666666"/>
                </a:solidFill>
                <a:latin typeface="Courier"/>
              </a:rPr>
              <a:t>=</a:t>
            </a:r>
            <a:r>
              <a:rPr>
                <a:latin typeface="Courier"/>
              </a:rPr>
              <a:t> List</a:t>
            </a:r>
            <a:r>
              <a:rPr>
                <a:solidFill>
                  <a:srgbClr val="666666"/>
                </a:solidFill>
                <a:latin typeface="Courier"/>
              </a:rPr>
              <a:t>(</a:t>
            </a:r>
            <a:r>
              <a:rPr>
                <a:solidFill>
                  <a:srgbClr val="40A070"/>
                </a:solidFill>
                <a:latin typeface="Courier"/>
              </a:rPr>
              <a:t>1</a:t>
            </a:r>
            <a:r>
              <a:rPr>
                <a:solidFill>
                  <a:srgbClr val="666666"/>
                </a:solidFill>
                <a:latin typeface="Courier"/>
              </a:rPr>
              <a:t>,</a:t>
            </a:r>
            <a:r>
              <a:rPr>
                <a:solidFill>
                  <a:srgbClr val="40A070"/>
                </a:solidFill>
                <a:latin typeface="Courier"/>
              </a:rPr>
              <a:t>2</a:t>
            </a:r>
            <a:r>
              <a:rPr>
                <a:solidFill>
                  <a:srgbClr val="666666"/>
                </a:solidFill>
                <a:latin typeface="Courier"/>
              </a:rPr>
              <a:t>,</a:t>
            </a:r>
            <a:r>
              <a:rPr>
                <a:solidFill>
                  <a:srgbClr val="40A070"/>
                </a:solidFill>
                <a:latin typeface="Courier"/>
              </a:rPr>
              <a:t>3</a:t>
            </a:r>
            <a:r>
              <a:rPr>
                <a:solidFill>
                  <a:srgbClr val="666666"/>
                </a:solidFill>
                <a:latin typeface="Courier"/>
              </a:rPr>
              <a:t>)</a:t>
            </a:r>
            <a:br/>
            <a:r>
              <a:rPr>
                <a:latin typeface="Courier"/>
              </a:rPr>
              <a:t>a</a:t>
            </a:r>
            <a:r>
              <a:rPr>
                <a:solidFill>
                  <a:srgbClr val="666666"/>
                </a:solidFill>
                <a:latin typeface="Courier"/>
              </a:rPr>
              <a:t>:</a:t>
            </a:r>
            <a:r>
              <a:rPr>
                <a:latin typeface="Courier"/>
              </a:rPr>
              <a:t> List</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List</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b </a:t>
            </a:r>
            <a:r>
              <a:rPr>
                <a:solidFill>
                  <a:srgbClr val="666666"/>
                </a:solidFill>
                <a:latin typeface="Courier"/>
              </a:rPr>
              <a:t>=</a:t>
            </a:r>
            <a:r>
              <a:rPr>
                <a:latin typeface="Courier"/>
              </a:rPr>
              <a:t> </a:t>
            </a:r>
            <a:r>
              <a:rPr>
                <a:solidFill>
                  <a:srgbClr val="40A070"/>
                </a:solidFill>
                <a:latin typeface="Courier"/>
              </a:rPr>
              <a:t>0</a:t>
            </a:r>
            <a:r>
              <a:rPr>
                <a:latin typeface="Courier"/>
              </a:rPr>
              <a:t> </a:t>
            </a:r>
            <a:r>
              <a:rPr>
                <a:solidFill>
                  <a:srgbClr val="666666"/>
                </a:solidFill>
                <a:latin typeface="Courier"/>
              </a:rPr>
              <a:t>+:</a:t>
            </a:r>
            <a:r>
              <a:rPr>
                <a:latin typeface="Courier"/>
              </a:rPr>
              <a:t> a</a:t>
            </a:r>
            <a:br/>
            <a:r>
              <a:rPr>
                <a:latin typeface="Courier"/>
              </a:rPr>
              <a:t>b</a:t>
            </a:r>
            <a:r>
              <a:rPr>
                <a:solidFill>
                  <a:srgbClr val="666666"/>
                </a:solidFill>
                <a:latin typeface="Courier"/>
              </a:rPr>
              <a:t>:</a:t>
            </a:r>
            <a:r>
              <a:rPr>
                <a:latin typeface="Courier"/>
              </a:rPr>
              <a:t> List</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List</a:t>
            </a:r>
            <a:r>
              <a:rPr>
                <a:solidFill>
                  <a:srgbClr val="666666"/>
                </a:solidFill>
                <a:latin typeface="Courier"/>
              </a:rPr>
              <a:t>(</a:t>
            </a:r>
            <a:r>
              <a:rPr>
                <a:solidFill>
                  <a:srgbClr val="40A070"/>
                </a:solidFill>
                <a:latin typeface="Courier"/>
              </a:rPr>
              <a:t>0</a:t>
            </a:r>
            <a:r>
              <a:rPr>
                <a:solidFill>
                  <a:srgbClr val="666666"/>
                </a:solidFill>
                <a:latin typeface="Courier"/>
              </a:rPr>
              <a:t>,</a:t>
            </a:r>
            <a:r>
              <a:rPr>
                <a:latin typeface="Courier"/>
              </a:rPr>
              <a:t> </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br/>
            <a:r>
              <a:rPr i="1">
                <a:solidFill>
                  <a:srgbClr val="60A0B0"/>
                </a:solidFill>
                <a:latin typeface="Courier"/>
              </a:rPr>
              <a:t>// ...</a:t>
            </a:r>
          </a:p>
          <a:p>
            <a:pPr lvl="0" indent="0" marL="0">
              <a:buNone/>
            </a:pPr>
            <a:r>
              <a:rPr/>
              <a:t>片段 3</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names </a:t>
            </a:r>
            <a:r>
              <a:rPr>
                <a:solidFill>
                  <a:srgbClr val="666666"/>
                </a:solidFill>
                <a:latin typeface="Courier"/>
              </a:rPr>
              <a:t>=</a:t>
            </a:r>
            <a:r>
              <a:rPr>
                <a:latin typeface="Courier"/>
              </a:rPr>
              <a:t> List</a:t>
            </a:r>
            <a:r>
              <a:rPr>
                <a:solidFill>
                  <a:srgbClr val="666666"/>
                </a:solidFill>
                <a:latin typeface="Courier"/>
              </a:rPr>
              <a:t>(</a:t>
            </a:r>
            <a:r>
              <a:rPr>
                <a:solidFill>
                  <a:srgbClr val="4070A0"/>
                </a:solidFill>
                <a:latin typeface="Courier"/>
              </a:rPr>
              <a:t>"Joel"</a:t>
            </a:r>
            <a:r>
              <a:rPr>
                <a:solidFill>
                  <a:srgbClr val="666666"/>
                </a:solidFill>
                <a:latin typeface="Courier"/>
              </a:rPr>
              <a:t>,</a:t>
            </a:r>
            <a:r>
              <a:rPr>
                <a:latin typeface="Courier"/>
              </a:rPr>
              <a:t> </a:t>
            </a:r>
            <a:r>
              <a:rPr>
                <a:solidFill>
                  <a:srgbClr val="4070A0"/>
                </a:solidFill>
                <a:latin typeface="Courier"/>
              </a:rPr>
              <a:t>"Chris"</a:t>
            </a:r>
            <a:r>
              <a:rPr>
                <a:solidFill>
                  <a:srgbClr val="666666"/>
                </a:solidFill>
                <a:latin typeface="Courier"/>
              </a:rPr>
              <a:t>,</a:t>
            </a:r>
            <a:r>
              <a:rPr>
                <a:latin typeface="Courier"/>
              </a:rPr>
              <a:t> </a:t>
            </a:r>
            <a:r>
              <a:rPr>
                <a:solidFill>
                  <a:srgbClr val="4070A0"/>
                </a:solidFill>
                <a:latin typeface="Courier"/>
              </a:rPr>
              <a:t>"Ed"</a:t>
            </a:r>
            <a:r>
              <a:rPr>
                <a:solidFill>
                  <a:srgbClr val="666666"/>
                </a:solidFill>
                <a:latin typeface="Courier"/>
              </a:rPr>
              <a:t>)</a:t>
            </a:r>
            <a:br/>
            <a:r>
              <a:rPr>
                <a:latin typeface="Courier"/>
              </a:rPr>
              <a:t>names</a:t>
            </a:r>
            <a:r>
              <a:rPr>
                <a:solidFill>
                  <a:srgbClr val="666666"/>
                </a:solidFill>
                <a:latin typeface="Courier"/>
              </a:rPr>
              <a:t>:</a:t>
            </a:r>
            <a:r>
              <a:rPr>
                <a:latin typeface="Courier"/>
              </a:rPr>
              <a:t> List</a:t>
            </a:r>
            <a:r>
              <a:rPr>
                <a:solidFill>
                  <a:srgbClr val="666666"/>
                </a:solidFill>
                <a:latin typeface="Courier"/>
              </a:rPr>
              <a:t>[</a:t>
            </a:r>
            <a:r>
              <a:rPr>
                <a:latin typeface="Courier"/>
              </a:rPr>
              <a:t>String</a:t>
            </a:r>
            <a:r>
              <a:rPr>
                <a:solidFill>
                  <a:srgbClr val="666666"/>
                </a:solidFill>
                <a:latin typeface="Courier"/>
              </a:rPr>
              <a:t>]</a:t>
            </a:r>
            <a:r>
              <a:rPr>
                <a:latin typeface="Courier"/>
              </a:rPr>
              <a:t> </a:t>
            </a:r>
            <a:r>
              <a:rPr>
                <a:solidFill>
                  <a:srgbClr val="666666"/>
                </a:solidFill>
                <a:latin typeface="Courier"/>
              </a:rPr>
              <a:t>=</a:t>
            </a:r>
            <a:r>
              <a:rPr>
                <a:latin typeface="Courier"/>
              </a:rPr>
              <a:t> List</a:t>
            </a:r>
            <a:r>
              <a:rPr>
                <a:solidFill>
                  <a:srgbClr val="666666"/>
                </a:solidFill>
                <a:latin typeface="Courier"/>
              </a:rPr>
              <a:t>(</a:t>
            </a:r>
            <a:r>
              <a:rPr>
                <a:latin typeface="Courier"/>
              </a:rPr>
              <a:t>Joel</a:t>
            </a:r>
            <a:r>
              <a:rPr>
                <a:solidFill>
                  <a:srgbClr val="666666"/>
                </a:solidFill>
                <a:latin typeface="Courier"/>
              </a:rPr>
              <a:t>,</a:t>
            </a:r>
            <a:r>
              <a:rPr>
                <a:latin typeface="Courier"/>
              </a:rPr>
              <a:t> Chris</a:t>
            </a:r>
            <a:r>
              <a:rPr>
                <a:solidFill>
                  <a:srgbClr val="666666"/>
                </a:solidFill>
                <a:latin typeface="Courier"/>
              </a:rPr>
              <a:t>,</a:t>
            </a:r>
            <a:r>
              <a:rPr>
                <a:latin typeface="Courier"/>
              </a:rPr>
              <a:t> Ed</a:t>
            </a:r>
            <a:r>
              <a:rPr>
                <a:solidFill>
                  <a:srgbClr val="666666"/>
                </a:solidFill>
                <a:latin typeface="Courier"/>
              </a:rPr>
              <a:t>)</a:t>
            </a:r>
            <a:br/>
            <a:r>
              <a:rPr>
                <a:latin typeface="Courier"/>
              </a:rPr>
              <a:t>scala</a:t>
            </a:r>
            <a:r>
              <a:rPr>
                <a:solidFill>
                  <a:srgbClr val="666666"/>
                </a:solidFill>
                <a:latin typeface="Courier"/>
              </a:rPr>
              <a:t>&gt;</a:t>
            </a:r>
            <a:r>
              <a:rPr>
                <a:latin typeface="Courier"/>
              </a:rPr>
              <a:t> </a:t>
            </a:r>
            <a:r>
              <a:rPr b="1">
                <a:solidFill>
                  <a:srgbClr val="007020"/>
                </a:solidFill>
                <a:latin typeface="Courier"/>
              </a:rPr>
              <a:t>for</a:t>
            </a:r>
            <a:r>
              <a:rPr>
                <a:latin typeface="Courier"/>
              </a:rPr>
              <a:t> </a:t>
            </a:r>
            <a:r>
              <a:rPr>
                <a:solidFill>
                  <a:srgbClr val="666666"/>
                </a:solidFill>
                <a:latin typeface="Courier"/>
              </a:rPr>
              <a:t>(</a:t>
            </a:r>
            <a:r>
              <a:rPr>
                <a:latin typeface="Courier"/>
              </a:rPr>
              <a:t>name </a:t>
            </a:r>
            <a:r>
              <a:rPr>
                <a:solidFill>
                  <a:srgbClr val="666666"/>
                </a:solidFill>
                <a:latin typeface="Courier"/>
              </a:rPr>
              <a:t>&lt;-</a:t>
            </a:r>
            <a:r>
              <a:rPr>
                <a:latin typeface="Courier"/>
              </a:rPr>
              <a:t> names</a:t>
            </a:r>
            <a:r>
              <a:rPr>
                <a:solidFill>
                  <a:srgbClr val="666666"/>
                </a:solidFill>
                <a:latin typeface="Courier"/>
              </a:rPr>
              <a:t>)</a:t>
            </a:r>
            <a:r>
              <a:rPr>
                <a:latin typeface="Courier"/>
              </a:rPr>
              <a:t> </a:t>
            </a:r>
            <a:r>
              <a:rPr>
                <a:solidFill>
                  <a:srgbClr val="06287E"/>
                </a:solidFill>
                <a:latin typeface="Courier"/>
              </a:rPr>
              <a:t>println</a:t>
            </a:r>
            <a:r>
              <a:rPr>
                <a:solidFill>
                  <a:srgbClr val="666666"/>
                </a:solidFill>
                <a:latin typeface="Courier"/>
              </a:rPr>
              <a:t>(</a:t>
            </a:r>
            <a:r>
              <a:rPr>
                <a:latin typeface="Courier"/>
              </a:rPr>
              <a:t>name</a:t>
            </a:r>
            <a:r>
              <a:rPr>
                <a:solidFill>
                  <a:srgbClr val="666666"/>
                </a:solidFill>
                <a:latin typeface="Courier"/>
              </a:rPr>
              <a:t>)</a:t>
            </a:r>
            <a:br/>
            <a:r>
              <a:rPr>
                <a:latin typeface="Courier"/>
              </a:rPr>
              <a:t>Joel</a:t>
            </a:r>
            <a:br/>
            <a:r>
              <a:rPr i="1">
                <a:solidFill>
                  <a:srgbClr val="60A0B0"/>
                </a:solidFill>
                <a:latin typeface="Courier"/>
              </a:rPr>
              <a:t>// ...</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2.5.3 集合类：代码片段（5/14）</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关于这种方法的最大好处是</a:t>
            </a:r>
          </a:p>
          <a:p>
            <a:pPr lvl="0"/>
            <a:r>
              <a:rPr/>
              <a:t>先对照代码理解 Vector类是一个索引的</a:t>
            </a:r>
          </a:p>
          <a:p>
            <a:pPr lvl="0"/>
            <a:r>
              <a:rPr/>
              <a:t>先对照代码理解 由于Vector是不可变的</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list </a:t>
            </a:r>
            <a:r>
              <a:rPr>
                <a:solidFill>
                  <a:srgbClr val="666666"/>
                </a:solidFill>
                <a:latin typeface="Courier"/>
              </a:rPr>
              <a:t>=</a:t>
            </a:r>
            <a:r>
              <a:rPr>
                <a:latin typeface="Courier"/>
              </a:rPr>
              <a:t> </a:t>
            </a:r>
            <a:r>
              <a:rPr>
                <a:solidFill>
                  <a:srgbClr val="40A070"/>
                </a:solidFill>
                <a:latin typeface="Courier"/>
              </a:rPr>
              <a:t>1</a:t>
            </a:r>
            <a:r>
              <a:rPr>
                <a:latin typeface="Courier"/>
              </a:rPr>
              <a:t> </a:t>
            </a:r>
            <a:r>
              <a:rPr>
                <a:solidFill>
                  <a:srgbClr val="666666"/>
                </a:solidFill>
                <a:latin typeface="Courier"/>
              </a:rPr>
              <a:t>::</a:t>
            </a:r>
            <a:r>
              <a:rPr>
                <a:latin typeface="Courier"/>
              </a:rPr>
              <a:t> </a:t>
            </a:r>
            <a:r>
              <a:rPr>
                <a:solidFill>
                  <a:srgbClr val="40A070"/>
                </a:solidFill>
                <a:latin typeface="Courier"/>
              </a:rPr>
              <a:t>2</a:t>
            </a:r>
            <a:r>
              <a:rPr>
                <a:latin typeface="Courier"/>
              </a:rPr>
              <a:t> </a:t>
            </a:r>
            <a:r>
              <a:rPr>
                <a:solidFill>
                  <a:srgbClr val="666666"/>
                </a:solidFill>
                <a:latin typeface="Courier"/>
              </a:rPr>
              <a:t>::</a:t>
            </a:r>
            <a:r>
              <a:rPr>
                <a:latin typeface="Courier"/>
              </a:rPr>
              <a:t> </a:t>
            </a:r>
            <a:r>
              <a:rPr>
                <a:solidFill>
                  <a:srgbClr val="40A070"/>
                </a:solidFill>
                <a:latin typeface="Courier"/>
              </a:rPr>
              <a:t>3</a:t>
            </a:r>
            <a:r>
              <a:rPr>
                <a:latin typeface="Courier"/>
              </a:rPr>
              <a:t> </a:t>
            </a:r>
            <a:r>
              <a:rPr>
                <a:solidFill>
                  <a:srgbClr val="666666"/>
                </a:solidFill>
                <a:latin typeface="Courier"/>
              </a:rPr>
              <a:t>::</a:t>
            </a:r>
            <a:r>
              <a:rPr>
                <a:latin typeface="Courier"/>
              </a:rPr>
              <a:t> Nil</a:t>
            </a:r>
            <a:br/>
            <a:r>
              <a:rPr>
                <a:latin typeface="Courier"/>
              </a:rPr>
              <a:t>list</a:t>
            </a:r>
            <a:r>
              <a:rPr>
                <a:solidFill>
                  <a:srgbClr val="666666"/>
                </a:solidFill>
                <a:latin typeface="Courier"/>
              </a:rPr>
              <a:t>:</a:t>
            </a:r>
            <a:r>
              <a:rPr>
                <a:latin typeface="Courier"/>
              </a:rPr>
              <a:t> List</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List</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p>
          <a:p>
            <a:pPr lvl="0" indent="0" marL="0">
              <a:buNone/>
            </a:pPr>
            <a:r>
              <a:rPr/>
              <a:t>片段 2</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nums </a:t>
            </a:r>
            <a:r>
              <a:rPr>
                <a:solidFill>
                  <a:srgbClr val="666666"/>
                </a:solidFill>
                <a:latin typeface="Courier"/>
              </a:rPr>
              <a:t>=</a:t>
            </a:r>
            <a:r>
              <a:rPr>
                <a:latin typeface="Courier"/>
              </a:rPr>
              <a:t> Vector</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r>
              <a:rPr>
                <a:latin typeface="Courier"/>
              </a:rPr>
              <a:t> </a:t>
            </a:r>
            <a:r>
              <a:rPr>
                <a:solidFill>
                  <a:srgbClr val="40A070"/>
                </a:solidFill>
                <a:latin typeface="Courier"/>
              </a:rPr>
              <a:t>4</a:t>
            </a:r>
            <a:r>
              <a:rPr>
                <a:solidFill>
                  <a:srgbClr val="666666"/>
                </a:solidFill>
                <a:latin typeface="Courier"/>
              </a:rPr>
              <a:t>,</a:t>
            </a:r>
            <a:r>
              <a:rPr>
                <a:latin typeface="Courier"/>
              </a:rPr>
              <a:t> </a:t>
            </a:r>
            <a:r>
              <a:rPr>
                <a:solidFill>
                  <a:srgbClr val="40A070"/>
                </a:solidFill>
                <a:latin typeface="Courier"/>
              </a:rPr>
              <a:t>5</a:t>
            </a:r>
            <a:r>
              <a:rPr>
                <a:solidFill>
                  <a:srgbClr val="666666"/>
                </a:solidFill>
                <a:latin typeface="Courier"/>
              </a:rPr>
              <a:t>)</a:t>
            </a:r>
            <a:br/>
            <a:r>
              <a:rPr>
                <a:latin typeface="Courier"/>
              </a:rPr>
              <a:t>nums</a:t>
            </a:r>
            <a:r>
              <a:rPr>
                <a:solidFill>
                  <a:srgbClr val="666666"/>
                </a:solidFill>
                <a:latin typeface="Courier"/>
              </a:rPr>
              <a:t>:</a:t>
            </a:r>
            <a:r>
              <a:rPr>
                <a:latin typeface="Courier"/>
              </a:rPr>
              <a:t> scala</a:t>
            </a:r>
            <a:r>
              <a:rPr>
                <a:solidFill>
                  <a:srgbClr val="666666"/>
                </a:solidFill>
                <a:latin typeface="Courier"/>
              </a:rPr>
              <a:t>.</a:t>
            </a:r>
            <a:r>
              <a:rPr>
                <a:latin typeface="Courier"/>
              </a:rPr>
              <a:t>collection</a:t>
            </a:r>
            <a:r>
              <a:rPr>
                <a:solidFill>
                  <a:srgbClr val="666666"/>
                </a:solidFill>
                <a:latin typeface="Courier"/>
              </a:rPr>
              <a:t>.</a:t>
            </a:r>
            <a:r>
              <a:rPr>
                <a:latin typeface="Courier"/>
              </a:rPr>
              <a:t>immutable</a:t>
            </a:r>
            <a:r>
              <a:rPr>
                <a:solidFill>
                  <a:srgbClr val="666666"/>
                </a:solidFill>
                <a:latin typeface="Courier"/>
              </a:rPr>
              <a:t>.</a:t>
            </a:r>
            <a:r>
              <a:rPr>
                <a:latin typeface="Courier"/>
              </a:rPr>
              <a:t>Vector</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Vector</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r>
              <a:rPr>
                <a:latin typeface="Courier"/>
              </a:rPr>
              <a:t> </a:t>
            </a:r>
            <a:r>
              <a:rPr>
                <a:solidFill>
                  <a:srgbClr val="40A070"/>
                </a:solidFill>
                <a:latin typeface="Courier"/>
              </a:rPr>
              <a:t>4</a:t>
            </a:r>
            <a:r>
              <a:rPr>
                <a:solidFill>
                  <a:srgbClr val="666666"/>
                </a:solidFill>
                <a:latin typeface="Courier"/>
              </a:rPr>
              <a:t>,</a:t>
            </a:r>
            <a:r>
              <a:rPr>
                <a:latin typeface="Courier"/>
              </a:rPr>
              <a:t> </a:t>
            </a:r>
            <a:r>
              <a:rPr>
                <a:solidFill>
                  <a:srgbClr val="40A070"/>
                </a:solidFill>
                <a:latin typeface="Courier"/>
              </a:rPr>
              <a:t>5</a:t>
            </a:r>
            <a:r>
              <a:rPr>
                <a:solidFill>
                  <a:srgbClr val="666666"/>
                </a:solidFill>
                <a:latin typeface="Courier"/>
              </a:rPr>
              <a:t>)</a:t>
            </a:r>
            <a:br/>
            <a:r>
              <a:rPr>
                <a:latin typeface="Courier"/>
              </a:rPr>
              <a:t>scala</a:t>
            </a:r>
            <a:r>
              <a:rPr>
                <a:solidFill>
                  <a:srgbClr val="666666"/>
                </a:solidFill>
                <a:latin typeface="Courier"/>
              </a:rPr>
              <a:t>&gt;</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strings </a:t>
            </a:r>
            <a:r>
              <a:rPr>
                <a:solidFill>
                  <a:srgbClr val="666666"/>
                </a:solidFill>
                <a:latin typeface="Courier"/>
              </a:rPr>
              <a:t>=</a:t>
            </a:r>
            <a:r>
              <a:rPr>
                <a:latin typeface="Courier"/>
              </a:rPr>
              <a:t> Vector</a:t>
            </a:r>
            <a:r>
              <a:rPr>
                <a:solidFill>
                  <a:srgbClr val="666666"/>
                </a:solidFill>
                <a:latin typeface="Courier"/>
              </a:rPr>
              <a:t>(</a:t>
            </a:r>
            <a:r>
              <a:rPr>
                <a:solidFill>
                  <a:srgbClr val="4070A0"/>
                </a:solidFill>
                <a:latin typeface="Courier"/>
              </a:rPr>
              <a:t>"one"</a:t>
            </a:r>
            <a:r>
              <a:rPr>
                <a:solidFill>
                  <a:srgbClr val="666666"/>
                </a:solidFill>
                <a:latin typeface="Courier"/>
              </a:rPr>
              <a:t>,</a:t>
            </a:r>
            <a:r>
              <a:rPr>
                <a:latin typeface="Courier"/>
              </a:rPr>
              <a:t> </a:t>
            </a:r>
            <a:r>
              <a:rPr>
                <a:solidFill>
                  <a:srgbClr val="4070A0"/>
                </a:solidFill>
                <a:latin typeface="Courier"/>
              </a:rPr>
              <a:t>"two"</a:t>
            </a:r>
            <a:r>
              <a:rPr>
                <a:solidFill>
                  <a:srgbClr val="666666"/>
                </a:solidFill>
                <a:latin typeface="Courier"/>
              </a:rPr>
              <a:t>)</a:t>
            </a:r>
            <a:br/>
            <a:r>
              <a:rPr>
                <a:latin typeface="Courier"/>
              </a:rPr>
              <a:t>strings</a:t>
            </a:r>
            <a:r>
              <a:rPr>
                <a:solidFill>
                  <a:srgbClr val="666666"/>
                </a:solidFill>
                <a:latin typeface="Courier"/>
              </a:rPr>
              <a:t>:</a:t>
            </a:r>
            <a:r>
              <a:rPr>
                <a:latin typeface="Courier"/>
              </a:rPr>
              <a:t> scala</a:t>
            </a:r>
            <a:r>
              <a:rPr>
                <a:solidFill>
                  <a:srgbClr val="666666"/>
                </a:solidFill>
                <a:latin typeface="Courier"/>
              </a:rPr>
              <a:t>.</a:t>
            </a:r>
            <a:r>
              <a:rPr>
                <a:latin typeface="Courier"/>
              </a:rPr>
              <a:t>collection</a:t>
            </a:r>
            <a:r>
              <a:rPr>
                <a:solidFill>
                  <a:srgbClr val="666666"/>
                </a:solidFill>
                <a:latin typeface="Courier"/>
              </a:rPr>
              <a:t>.</a:t>
            </a:r>
            <a:r>
              <a:rPr>
                <a:latin typeface="Courier"/>
              </a:rPr>
              <a:t>immutable</a:t>
            </a:r>
            <a:r>
              <a:rPr>
                <a:solidFill>
                  <a:srgbClr val="666666"/>
                </a:solidFill>
                <a:latin typeface="Courier"/>
              </a:rPr>
              <a:t>.</a:t>
            </a:r>
            <a:r>
              <a:rPr>
                <a:latin typeface="Courier"/>
              </a:rPr>
              <a:t>Vector</a:t>
            </a:r>
            <a:r>
              <a:rPr>
                <a:solidFill>
                  <a:srgbClr val="666666"/>
                </a:solidFill>
                <a:latin typeface="Courier"/>
              </a:rPr>
              <a:t>[</a:t>
            </a:r>
            <a:r>
              <a:rPr>
                <a:latin typeface="Courier"/>
              </a:rPr>
              <a:t>String</a:t>
            </a:r>
            <a:r>
              <a:rPr>
                <a:solidFill>
                  <a:srgbClr val="666666"/>
                </a:solidFill>
                <a:latin typeface="Courier"/>
              </a:rPr>
              <a:t>]</a:t>
            </a:r>
            <a:r>
              <a:rPr>
                <a:latin typeface="Courier"/>
              </a:rPr>
              <a:t> </a:t>
            </a:r>
            <a:r>
              <a:rPr>
                <a:solidFill>
                  <a:srgbClr val="666666"/>
                </a:solidFill>
                <a:latin typeface="Courier"/>
              </a:rPr>
              <a:t>=</a:t>
            </a:r>
            <a:r>
              <a:rPr>
                <a:latin typeface="Courier"/>
              </a:rPr>
              <a:t> Vector</a:t>
            </a:r>
            <a:r>
              <a:rPr>
                <a:solidFill>
                  <a:srgbClr val="666666"/>
                </a:solidFill>
                <a:latin typeface="Courier"/>
              </a:rPr>
              <a:t>(</a:t>
            </a:r>
            <a:r>
              <a:rPr>
                <a:latin typeface="Courier"/>
              </a:rPr>
              <a:t>one</a:t>
            </a:r>
            <a:r>
              <a:rPr>
                <a:solidFill>
                  <a:srgbClr val="666666"/>
                </a:solidFill>
                <a:latin typeface="Courier"/>
              </a:rPr>
              <a:t>,</a:t>
            </a:r>
            <a:r>
              <a:rPr>
                <a:latin typeface="Courier"/>
              </a:rPr>
              <a:t> two</a:t>
            </a:r>
            <a:r>
              <a:rPr>
                <a:solidFill>
                  <a:srgbClr val="666666"/>
                </a:solidFill>
                <a:latin typeface="Courier"/>
              </a:rPr>
              <a:t>)</a:t>
            </a:r>
          </a:p>
          <a:p>
            <a:pPr lvl="0" indent="0" marL="0">
              <a:buNone/>
            </a:pPr>
            <a:r>
              <a:rPr/>
              <a:t>片段 3</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a </a:t>
            </a:r>
            <a:r>
              <a:rPr>
                <a:solidFill>
                  <a:srgbClr val="666666"/>
                </a:solidFill>
                <a:latin typeface="Courier"/>
              </a:rPr>
              <a:t>=</a:t>
            </a:r>
            <a:r>
              <a:rPr>
                <a:latin typeface="Courier"/>
              </a:rPr>
              <a:t> Vector</a:t>
            </a:r>
            <a:r>
              <a:rPr>
                <a:solidFill>
                  <a:srgbClr val="666666"/>
                </a:solidFill>
                <a:latin typeface="Courier"/>
              </a:rPr>
              <a:t>(</a:t>
            </a:r>
            <a:r>
              <a:rPr>
                <a:solidFill>
                  <a:srgbClr val="40A070"/>
                </a:solidFill>
                <a:latin typeface="Courier"/>
              </a:rPr>
              <a:t>1</a:t>
            </a:r>
            <a:r>
              <a:rPr>
                <a:solidFill>
                  <a:srgbClr val="666666"/>
                </a:solidFill>
                <a:latin typeface="Courier"/>
              </a:rPr>
              <a:t>,</a:t>
            </a:r>
            <a:r>
              <a:rPr>
                <a:solidFill>
                  <a:srgbClr val="40A070"/>
                </a:solidFill>
                <a:latin typeface="Courier"/>
              </a:rPr>
              <a:t>2</a:t>
            </a:r>
            <a:r>
              <a:rPr>
                <a:solidFill>
                  <a:srgbClr val="666666"/>
                </a:solidFill>
                <a:latin typeface="Courier"/>
              </a:rPr>
              <a:t>,</a:t>
            </a:r>
            <a:r>
              <a:rPr>
                <a:solidFill>
                  <a:srgbClr val="40A070"/>
                </a:solidFill>
                <a:latin typeface="Courier"/>
              </a:rPr>
              <a:t>3</a:t>
            </a:r>
            <a:r>
              <a:rPr>
                <a:solidFill>
                  <a:srgbClr val="666666"/>
                </a:solidFill>
                <a:latin typeface="Courier"/>
              </a:rPr>
              <a:t>)</a:t>
            </a:r>
            <a:br/>
            <a:r>
              <a:rPr>
                <a:latin typeface="Courier"/>
              </a:rPr>
              <a:t>a</a:t>
            </a:r>
            <a:r>
              <a:rPr>
                <a:solidFill>
                  <a:srgbClr val="666666"/>
                </a:solidFill>
                <a:latin typeface="Courier"/>
              </a:rPr>
              <a:t>:</a:t>
            </a:r>
            <a:r>
              <a:rPr>
                <a:latin typeface="Courier"/>
              </a:rPr>
              <a:t> Vector</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List</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b </a:t>
            </a:r>
            <a:r>
              <a:rPr>
                <a:solidFill>
                  <a:srgbClr val="666666"/>
                </a:solidFill>
                <a:latin typeface="Courier"/>
              </a:rPr>
              <a:t>=</a:t>
            </a:r>
            <a:r>
              <a:rPr>
                <a:latin typeface="Courier"/>
              </a:rPr>
              <a:t> a </a:t>
            </a:r>
            <a:r>
              <a:rPr>
                <a:solidFill>
                  <a:srgbClr val="666666"/>
                </a:solidFill>
                <a:latin typeface="Courier"/>
              </a:rPr>
              <a:t>:+</a:t>
            </a:r>
            <a:r>
              <a:rPr>
                <a:latin typeface="Courier"/>
              </a:rPr>
              <a:t> </a:t>
            </a:r>
            <a:r>
              <a:rPr>
                <a:solidFill>
                  <a:srgbClr val="40A070"/>
                </a:solidFill>
                <a:latin typeface="Courier"/>
              </a:rPr>
              <a:t>4</a:t>
            </a:r>
            <a:br/>
            <a:r>
              <a:rPr>
                <a:latin typeface="Courier"/>
              </a:rPr>
              <a:t>b</a:t>
            </a:r>
            <a:r>
              <a:rPr>
                <a:solidFill>
                  <a:srgbClr val="666666"/>
                </a:solidFill>
                <a:latin typeface="Courier"/>
              </a:rPr>
              <a:t>:</a:t>
            </a:r>
            <a:r>
              <a:rPr>
                <a:latin typeface="Courier"/>
              </a:rPr>
              <a:t> Vector</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List</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r>
              <a:rPr>
                <a:latin typeface="Courier"/>
              </a:rPr>
              <a:t> </a:t>
            </a:r>
            <a:r>
              <a:rPr>
                <a:solidFill>
                  <a:srgbClr val="40A070"/>
                </a:solidFill>
                <a:latin typeface="Courier"/>
              </a:rPr>
              <a:t>4</a:t>
            </a:r>
            <a:r>
              <a:rPr>
                <a:solidFill>
                  <a:srgbClr val="666666"/>
                </a:solidFill>
                <a:latin typeface="Courier"/>
              </a:rPr>
              <a:t>)</a:t>
            </a:r>
            <a:br/>
            <a:r>
              <a:rPr i="1">
                <a:solidFill>
                  <a:srgbClr val="60A0B0"/>
                </a:solidFill>
                <a:latin typeface="Courier"/>
              </a:rPr>
              <a:t>// ...</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2.5.3 集合类：代码片段（6/14）</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您也可以在前面加上这样的内容： 的执行步骤</a:t>
            </a:r>
          </a:p>
          <a:p>
            <a:pPr lvl="0"/>
            <a:r>
              <a:rPr/>
              <a:t>先对照代码理解 因为Vector不是链表（如List）</a:t>
            </a:r>
          </a:p>
          <a:p>
            <a:pPr lvl="0"/>
            <a:r>
              <a:rPr/>
              <a:t>先对照代码理解 Map类文档将Map描述为由键值对组成的可迭代序列</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b </a:t>
            </a:r>
            <a:r>
              <a:rPr>
                <a:solidFill>
                  <a:srgbClr val="666666"/>
                </a:solidFill>
                <a:latin typeface="Courier"/>
              </a:rPr>
              <a:t>=</a:t>
            </a:r>
            <a:r>
              <a:rPr>
                <a:latin typeface="Courier"/>
              </a:rPr>
              <a:t> </a:t>
            </a:r>
            <a:r>
              <a:rPr>
                <a:solidFill>
                  <a:srgbClr val="40A070"/>
                </a:solidFill>
                <a:latin typeface="Courier"/>
              </a:rPr>
              <a:t>0</a:t>
            </a:r>
            <a:r>
              <a:rPr>
                <a:latin typeface="Courier"/>
              </a:rPr>
              <a:t> </a:t>
            </a:r>
            <a:r>
              <a:rPr>
                <a:solidFill>
                  <a:srgbClr val="666666"/>
                </a:solidFill>
                <a:latin typeface="Courier"/>
              </a:rPr>
              <a:t>+:</a:t>
            </a:r>
            <a:r>
              <a:rPr>
                <a:latin typeface="Courier"/>
              </a:rPr>
              <a:t> a</a:t>
            </a:r>
            <a:br/>
            <a:r>
              <a:rPr>
                <a:latin typeface="Courier"/>
              </a:rPr>
              <a:t>b</a:t>
            </a:r>
            <a:r>
              <a:rPr>
                <a:solidFill>
                  <a:srgbClr val="666666"/>
                </a:solidFill>
                <a:latin typeface="Courier"/>
              </a:rPr>
              <a:t>:</a:t>
            </a:r>
            <a:r>
              <a:rPr>
                <a:latin typeface="Courier"/>
              </a:rPr>
              <a:t> Vector</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List</a:t>
            </a:r>
            <a:r>
              <a:rPr>
                <a:solidFill>
                  <a:srgbClr val="666666"/>
                </a:solidFill>
                <a:latin typeface="Courier"/>
              </a:rPr>
              <a:t>(</a:t>
            </a:r>
            <a:r>
              <a:rPr>
                <a:solidFill>
                  <a:srgbClr val="40A070"/>
                </a:solidFill>
                <a:latin typeface="Courier"/>
              </a:rPr>
              <a:t>0</a:t>
            </a:r>
            <a:r>
              <a:rPr>
                <a:solidFill>
                  <a:srgbClr val="666666"/>
                </a:solidFill>
                <a:latin typeface="Courier"/>
              </a:rPr>
              <a:t>,</a:t>
            </a:r>
            <a:r>
              <a:rPr>
                <a:latin typeface="Courier"/>
              </a:rPr>
              <a:t> </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b </a:t>
            </a:r>
            <a:r>
              <a:rPr>
                <a:solidFill>
                  <a:srgbClr val="666666"/>
                </a:solidFill>
                <a:latin typeface="Courier"/>
              </a:rPr>
              <a:t>=</a:t>
            </a:r>
            <a:r>
              <a:rPr>
                <a:latin typeface="Courier"/>
              </a:rPr>
              <a:t> Vector</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0</a:t>
            </a:r>
            <a:r>
              <a:rPr>
                <a:solidFill>
                  <a:srgbClr val="666666"/>
                </a:solidFill>
                <a:latin typeface="Courier"/>
              </a:rPr>
              <a:t>)</a:t>
            </a:r>
            <a:r>
              <a:rPr>
                <a:latin typeface="Courier"/>
              </a:rPr>
              <a:t> </a:t>
            </a:r>
            <a:r>
              <a:rPr>
                <a:solidFill>
                  <a:srgbClr val="666666"/>
                </a:solidFill>
                <a:latin typeface="Courier"/>
              </a:rPr>
              <a:t>++:</a:t>
            </a:r>
            <a:r>
              <a:rPr>
                <a:latin typeface="Courier"/>
              </a:rPr>
              <a:t> a</a:t>
            </a:r>
            <a:br/>
            <a:r>
              <a:rPr>
                <a:latin typeface="Courier"/>
              </a:rPr>
              <a:t>b</a:t>
            </a:r>
            <a:r>
              <a:rPr>
                <a:solidFill>
                  <a:srgbClr val="666666"/>
                </a:solidFill>
                <a:latin typeface="Courier"/>
              </a:rPr>
              <a:t>:</a:t>
            </a:r>
            <a:r>
              <a:rPr>
                <a:latin typeface="Courier"/>
              </a:rPr>
              <a:t> Vector</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List</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0</a:t>
            </a:r>
            <a:r>
              <a:rPr>
                <a:solidFill>
                  <a:srgbClr val="666666"/>
                </a:solidFill>
                <a:latin typeface="Courier"/>
              </a:rPr>
              <a:t>,</a:t>
            </a:r>
            <a:r>
              <a:rPr>
                <a:latin typeface="Courier"/>
              </a:rPr>
              <a:t> </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p>
          <a:p>
            <a:pPr lvl="0" indent="0" marL="0">
              <a:buNone/>
            </a:pPr>
            <a:r>
              <a:rPr/>
              <a:t>片段 2</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names </a:t>
            </a:r>
            <a:r>
              <a:rPr>
                <a:solidFill>
                  <a:srgbClr val="666666"/>
                </a:solidFill>
                <a:latin typeface="Courier"/>
              </a:rPr>
              <a:t>=</a:t>
            </a:r>
            <a:r>
              <a:rPr>
                <a:latin typeface="Courier"/>
              </a:rPr>
              <a:t> Vector</a:t>
            </a:r>
            <a:r>
              <a:rPr>
                <a:solidFill>
                  <a:srgbClr val="666666"/>
                </a:solidFill>
                <a:latin typeface="Courier"/>
              </a:rPr>
              <a:t>(</a:t>
            </a:r>
            <a:r>
              <a:rPr>
                <a:solidFill>
                  <a:srgbClr val="4070A0"/>
                </a:solidFill>
                <a:latin typeface="Courier"/>
              </a:rPr>
              <a:t>"Joel"</a:t>
            </a:r>
            <a:r>
              <a:rPr>
                <a:solidFill>
                  <a:srgbClr val="666666"/>
                </a:solidFill>
                <a:latin typeface="Courier"/>
              </a:rPr>
              <a:t>,</a:t>
            </a:r>
            <a:r>
              <a:rPr>
                <a:latin typeface="Courier"/>
              </a:rPr>
              <a:t> </a:t>
            </a:r>
            <a:r>
              <a:rPr>
                <a:solidFill>
                  <a:srgbClr val="4070A0"/>
                </a:solidFill>
                <a:latin typeface="Courier"/>
              </a:rPr>
              <a:t>"Chris"</a:t>
            </a:r>
            <a:r>
              <a:rPr>
                <a:solidFill>
                  <a:srgbClr val="666666"/>
                </a:solidFill>
                <a:latin typeface="Courier"/>
              </a:rPr>
              <a:t>,</a:t>
            </a:r>
            <a:r>
              <a:rPr>
                <a:latin typeface="Courier"/>
              </a:rPr>
              <a:t> </a:t>
            </a:r>
            <a:r>
              <a:rPr>
                <a:solidFill>
                  <a:srgbClr val="4070A0"/>
                </a:solidFill>
                <a:latin typeface="Courier"/>
              </a:rPr>
              <a:t>"Ed"</a:t>
            </a:r>
            <a:r>
              <a:rPr>
                <a:solidFill>
                  <a:srgbClr val="666666"/>
                </a:solidFill>
                <a:latin typeface="Courier"/>
              </a:rPr>
              <a:t>)</a:t>
            </a:r>
            <a:br/>
            <a:r>
              <a:rPr b="1">
                <a:solidFill>
                  <a:srgbClr val="007020"/>
                </a:solidFill>
                <a:latin typeface="Courier"/>
              </a:rPr>
              <a:t>val</a:t>
            </a:r>
            <a:r>
              <a:rPr>
                <a:latin typeface="Courier"/>
              </a:rPr>
              <a:t> names</a:t>
            </a:r>
            <a:r>
              <a:rPr>
                <a:solidFill>
                  <a:srgbClr val="666666"/>
                </a:solidFill>
                <a:latin typeface="Courier"/>
              </a:rPr>
              <a:t>:</a:t>
            </a:r>
            <a:r>
              <a:rPr>
                <a:latin typeface="Courier"/>
              </a:rPr>
              <a:t> Vector</a:t>
            </a:r>
            <a:r>
              <a:rPr>
                <a:solidFill>
                  <a:srgbClr val="666666"/>
                </a:solidFill>
                <a:latin typeface="Courier"/>
              </a:rPr>
              <a:t>[</a:t>
            </a:r>
            <a:r>
              <a:rPr>
                <a:latin typeface="Courier"/>
              </a:rPr>
              <a:t>String</a:t>
            </a:r>
            <a:r>
              <a:rPr>
                <a:solidFill>
                  <a:srgbClr val="666666"/>
                </a:solidFill>
                <a:latin typeface="Courier"/>
              </a:rPr>
              <a:t>]</a:t>
            </a:r>
            <a:r>
              <a:rPr>
                <a:latin typeface="Courier"/>
              </a:rPr>
              <a:t> </a:t>
            </a:r>
            <a:r>
              <a:rPr>
                <a:solidFill>
                  <a:srgbClr val="666666"/>
                </a:solidFill>
                <a:latin typeface="Courier"/>
              </a:rPr>
              <a:t>=</a:t>
            </a:r>
            <a:r>
              <a:rPr>
                <a:latin typeface="Courier"/>
              </a:rPr>
              <a:t> Vector</a:t>
            </a:r>
            <a:r>
              <a:rPr>
                <a:solidFill>
                  <a:srgbClr val="666666"/>
                </a:solidFill>
                <a:latin typeface="Courier"/>
              </a:rPr>
              <a:t>(</a:t>
            </a:r>
            <a:r>
              <a:rPr>
                <a:latin typeface="Courier"/>
              </a:rPr>
              <a:t>Joel</a:t>
            </a:r>
            <a:r>
              <a:rPr>
                <a:solidFill>
                  <a:srgbClr val="666666"/>
                </a:solidFill>
                <a:latin typeface="Courier"/>
              </a:rPr>
              <a:t>,</a:t>
            </a:r>
            <a:r>
              <a:rPr>
                <a:latin typeface="Courier"/>
              </a:rPr>
              <a:t> Chris</a:t>
            </a:r>
            <a:r>
              <a:rPr>
                <a:solidFill>
                  <a:srgbClr val="666666"/>
                </a:solidFill>
                <a:latin typeface="Courier"/>
              </a:rPr>
              <a:t>,</a:t>
            </a:r>
            <a:r>
              <a:rPr>
                <a:latin typeface="Courier"/>
              </a:rPr>
              <a:t> Ed</a:t>
            </a:r>
            <a:r>
              <a:rPr>
                <a:solidFill>
                  <a:srgbClr val="666666"/>
                </a:solidFill>
                <a:latin typeface="Courier"/>
              </a:rPr>
              <a:t>)</a:t>
            </a:r>
            <a:br/>
            <a:r>
              <a:rPr>
                <a:latin typeface="Courier"/>
              </a:rPr>
              <a:t>scala</a:t>
            </a:r>
            <a:r>
              <a:rPr>
                <a:solidFill>
                  <a:srgbClr val="666666"/>
                </a:solidFill>
                <a:latin typeface="Courier"/>
              </a:rPr>
              <a:t>&gt;</a:t>
            </a:r>
            <a:r>
              <a:rPr>
                <a:latin typeface="Courier"/>
              </a:rPr>
              <a:t> </a:t>
            </a:r>
            <a:r>
              <a:rPr b="1">
                <a:solidFill>
                  <a:srgbClr val="007020"/>
                </a:solidFill>
                <a:latin typeface="Courier"/>
              </a:rPr>
              <a:t>for</a:t>
            </a:r>
            <a:r>
              <a:rPr>
                <a:latin typeface="Courier"/>
              </a:rPr>
              <a:t> </a:t>
            </a:r>
            <a:r>
              <a:rPr>
                <a:solidFill>
                  <a:srgbClr val="666666"/>
                </a:solidFill>
                <a:latin typeface="Courier"/>
              </a:rPr>
              <a:t>(</a:t>
            </a:r>
            <a:r>
              <a:rPr>
                <a:latin typeface="Courier"/>
              </a:rPr>
              <a:t>name </a:t>
            </a:r>
            <a:r>
              <a:rPr>
                <a:solidFill>
                  <a:srgbClr val="666666"/>
                </a:solidFill>
                <a:latin typeface="Courier"/>
              </a:rPr>
              <a:t>&lt;-</a:t>
            </a:r>
            <a:r>
              <a:rPr>
                <a:latin typeface="Courier"/>
              </a:rPr>
              <a:t> names</a:t>
            </a:r>
            <a:r>
              <a:rPr>
                <a:solidFill>
                  <a:srgbClr val="666666"/>
                </a:solidFill>
                <a:latin typeface="Courier"/>
              </a:rPr>
              <a:t>)</a:t>
            </a:r>
            <a:r>
              <a:rPr>
                <a:latin typeface="Courier"/>
              </a:rPr>
              <a:t> </a:t>
            </a:r>
            <a:r>
              <a:rPr>
                <a:solidFill>
                  <a:srgbClr val="06287E"/>
                </a:solidFill>
                <a:latin typeface="Courier"/>
              </a:rPr>
              <a:t>println</a:t>
            </a:r>
            <a:r>
              <a:rPr>
                <a:solidFill>
                  <a:srgbClr val="666666"/>
                </a:solidFill>
                <a:latin typeface="Courier"/>
              </a:rPr>
              <a:t>(</a:t>
            </a:r>
            <a:r>
              <a:rPr>
                <a:latin typeface="Courier"/>
              </a:rPr>
              <a:t>name</a:t>
            </a:r>
            <a:r>
              <a:rPr>
                <a:solidFill>
                  <a:srgbClr val="666666"/>
                </a:solidFill>
                <a:latin typeface="Courier"/>
              </a:rPr>
              <a:t>)</a:t>
            </a:r>
            <a:br/>
            <a:r>
              <a:rPr>
                <a:latin typeface="Courier"/>
              </a:rPr>
              <a:t>Joel</a:t>
            </a:r>
            <a:br/>
            <a:r>
              <a:rPr i="1">
                <a:solidFill>
                  <a:srgbClr val="60A0B0"/>
                </a:solidFill>
                <a:latin typeface="Courier"/>
              </a:rPr>
              <a:t>// ...</a:t>
            </a:r>
          </a:p>
          <a:p>
            <a:pPr lvl="0" indent="0" marL="0">
              <a:buNone/>
            </a:pPr>
            <a:r>
              <a:rPr/>
              <a:t>片段 3</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states </a:t>
            </a:r>
            <a:r>
              <a:rPr>
                <a:solidFill>
                  <a:srgbClr val="666666"/>
                </a:solidFill>
                <a:latin typeface="Courier"/>
              </a:rPr>
              <a:t>=</a:t>
            </a:r>
            <a:r>
              <a:rPr>
                <a:latin typeface="Courier"/>
              </a:rPr>
              <a:t> Map</a:t>
            </a:r>
            <a:r>
              <a:rPr>
                <a:solidFill>
                  <a:srgbClr val="666666"/>
                </a:solidFill>
                <a:latin typeface="Courier"/>
              </a:rPr>
              <a:t>(</a:t>
            </a:r>
            <a:br/>
            <a:r>
              <a:rPr>
                <a:solidFill>
                  <a:srgbClr val="666666"/>
                </a:solidFill>
                <a:latin typeface="Courier"/>
              </a:rPr>
              <a:t>|</a:t>
            </a:r>
            <a:r>
              <a:rPr>
                <a:latin typeface="Courier"/>
              </a:rPr>
              <a:t> </a:t>
            </a:r>
            <a:r>
              <a:rPr>
                <a:solidFill>
                  <a:srgbClr val="4070A0"/>
                </a:solidFill>
                <a:latin typeface="Courier"/>
              </a:rPr>
              <a:t>"AK"</a:t>
            </a:r>
            <a:r>
              <a:rPr>
                <a:latin typeface="Courier"/>
              </a:rPr>
              <a:t> </a:t>
            </a:r>
            <a:r>
              <a:rPr>
                <a:solidFill>
                  <a:srgbClr val="666666"/>
                </a:solidFill>
                <a:latin typeface="Courier"/>
              </a:rPr>
              <a:t>-&gt;</a:t>
            </a:r>
            <a:r>
              <a:rPr>
                <a:latin typeface="Courier"/>
              </a:rPr>
              <a:t> </a:t>
            </a:r>
            <a:r>
              <a:rPr>
                <a:solidFill>
                  <a:srgbClr val="4070A0"/>
                </a:solidFill>
                <a:latin typeface="Courier"/>
              </a:rPr>
              <a:t>"Alaska"</a:t>
            </a:r>
            <a:r>
              <a:rPr>
                <a:solidFill>
                  <a:srgbClr val="666666"/>
                </a:solidFill>
                <a:latin typeface="Courier"/>
              </a:rPr>
              <a:t>,</a:t>
            </a:r>
            <a:br/>
            <a:r>
              <a:rPr>
                <a:solidFill>
                  <a:srgbClr val="666666"/>
                </a:solidFill>
                <a:latin typeface="Courier"/>
              </a:rPr>
              <a:t>|</a:t>
            </a:r>
            <a:r>
              <a:rPr>
                <a:latin typeface="Courier"/>
              </a:rPr>
              <a:t> </a:t>
            </a:r>
            <a:r>
              <a:rPr>
                <a:solidFill>
                  <a:srgbClr val="4070A0"/>
                </a:solidFill>
                <a:latin typeface="Courier"/>
              </a:rPr>
              <a:t>"IL"</a:t>
            </a:r>
            <a:r>
              <a:rPr>
                <a:latin typeface="Courier"/>
              </a:rPr>
              <a:t> </a:t>
            </a:r>
            <a:r>
              <a:rPr>
                <a:solidFill>
                  <a:srgbClr val="666666"/>
                </a:solidFill>
                <a:latin typeface="Courier"/>
              </a:rPr>
              <a:t>-&gt;</a:t>
            </a:r>
            <a:r>
              <a:rPr>
                <a:latin typeface="Courier"/>
              </a:rPr>
              <a:t> </a:t>
            </a:r>
            <a:r>
              <a:rPr>
                <a:solidFill>
                  <a:srgbClr val="4070A0"/>
                </a:solidFill>
                <a:latin typeface="Courier"/>
              </a:rPr>
              <a:t>"Illinois"</a:t>
            </a:r>
            <a:r>
              <a:rPr>
                <a:solidFill>
                  <a:srgbClr val="666666"/>
                </a:solidFill>
                <a:latin typeface="Courier"/>
              </a:rPr>
              <a:t>,</a:t>
            </a:r>
            <a:br/>
            <a:r>
              <a:rPr>
                <a:solidFill>
                  <a:srgbClr val="666666"/>
                </a:solidFill>
                <a:latin typeface="Courier"/>
              </a:rPr>
              <a:t>|</a:t>
            </a:r>
            <a:r>
              <a:rPr>
                <a:latin typeface="Courier"/>
              </a:rPr>
              <a:t> </a:t>
            </a:r>
            <a:r>
              <a:rPr>
                <a:solidFill>
                  <a:srgbClr val="4070A0"/>
                </a:solidFill>
                <a:latin typeface="Courier"/>
              </a:rPr>
              <a:t>"KY"</a:t>
            </a:r>
            <a:r>
              <a:rPr>
                <a:latin typeface="Courier"/>
              </a:rPr>
              <a:t> </a:t>
            </a:r>
            <a:r>
              <a:rPr>
                <a:solidFill>
                  <a:srgbClr val="666666"/>
                </a:solidFill>
                <a:latin typeface="Courier"/>
              </a:rPr>
              <a:t>-&gt;</a:t>
            </a:r>
            <a:r>
              <a:rPr>
                <a:latin typeface="Courier"/>
              </a:rPr>
              <a:t> </a:t>
            </a:r>
            <a:r>
              <a:rPr>
                <a:solidFill>
                  <a:srgbClr val="4070A0"/>
                </a:solidFill>
                <a:latin typeface="Courier"/>
              </a:rPr>
              <a:t>"Kentucky"</a:t>
            </a:r>
            <a:br/>
            <a:r>
              <a:rPr i="1">
                <a:solidFill>
                  <a:srgbClr val="60A0B0"/>
                </a:solidFill>
                <a:latin typeface="Courier"/>
              </a:rPr>
              <a:t>// ...</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2.5.3 集合类：代码片段（7/14）</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Scala具有可变和不变的Map类。在本课程中</a:t>
            </a:r>
          </a:p>
          <a:p>
            <a:pPr lvl="0"/>
            <a:r>
              <a:rPr/>
              <a:t>用 map 把输入转换成后续要处理的结构</a:t>
            </a:r>
          </a:p>
          <a:p>
            <a:pPr lvl="0"/>
            <a:r>
              <a:rPr/>
              <a:t>先对照代码理解 现在，可以使用+ =向Map添加一个元素，如下所示： 的执行步骤</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import</a:t>
            </a:r>
            <a:r>
              <a:rPr>
                <a:latin typeface="Courier"/>
              </a:rPr>
              <a:t> scala</a:t>
            </a:r>
            <a:r>
              <a:rPr>
                <a:solidFill>
                  <a:srgbClr val="666666"/>
                </a:solidFill>
                <a:latin typeface="Courier"/>
              </a:rPr>
              <a:t>.</a:t>
            </a:r>
            <a:r>
              <a:rPr>
                <a:latin typeface="Courier"/>
              </a:rPr>
              <a:t>collection</a:t>
            </a:r>
            <a:r>
              <a:rPr>
                <a:solidFill>
                  <a:srgbClr val="666666"/>
                </a:solidFill>
                <a:latin typeface="Courier"/>
              </a:rPr>
              <a:t>.</a:t>
            </a:r>
            <a:r>
              <a:rPr>
                <a:latin typeface="Courier"/>
              </a:rPr>
              <a:t>mutable</a:t>
            </a:r>
            <a:r>
              <a:rPr>
                <a:solidFill>
                  <a:srgbClr val="666666"/>
                </a:solidFill>
                <a:latin typeface="Courier"/>
              </a:rPr>
              <a:t>.</a:t>
            </a:r>
            <a:r>
              <a:rPr>
                <a:latin typeface="Courier"/>
              </a:rPr>
              <a:t>Map</a:t>
            </a:r>
            <a:br/>
            <a:r>
              <a:rPr b="1">
                <a:solidFill>
                  <a:srgbClr val="007020"/>
                </a:solidFill>
                <a:latin typeface="Courier"/>
              </a:rPr>
              <a:t>import</a:t>
            </a:r>
            <a:r>
              <a:rPr>
                <a:latin typeface="Courier"/>
              </a:rPr>
              <a:t> scala</a:t>
            </a:r>
            <a:r>
              <a:rPr>
                <a:solidFill>
                  <a:srgbClr val="666666"/>
                </a:solidFill>
                <a:latin typeface="Courier"/>
              </a:rPr>
              <a:t>.</a:t>
            </a:r>
            <a:r>
              <a:rPr>
                <a:latin typeface="Courier"/>
              </a:rPr>
              <a:t>collection</a:t>
            </a:r>
            <a:r>
              <a:rPr>
                <a:solidFill>
                  <a:srgbClr val="666666"/>
                </a:solidFill>
                <a:latin typeface="Courier"/>
              </a:rPr>
              <a:t>.</a:t>
            </a:r>
            <a:r>
              <a:rPr>
                <a:latin typeface="Courier"/>
              </a:rPr>
              <a:t>mutable</a:t>
            </a:r>
            <a:r>
              <a:rPr>
                <a:solidFill>
                  <a:srgbClr val="666666"/>
                </a:solidFill>
                <a:latin typeface="Courier"/>
              </a:rPr>
              <a:t>.</a:t>
            </a:r>
            <a:r>
              <a:rPr>
                <a:latin typeface="Courier"/>
              </a:rPr>
              <a:t>Map</a:t>
            </a:r>
          </a:p>
          <a:p>
            <a:pPr lvl="0" indent="0" marL="0">
              <a:buNone/>
            </a:pPr>
            <a:r>
              <a:rPr/>
              <a:t>片段 2</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states </a:t>
            </a:r>
            <a:r>
              <a:rPr>
                <a:solidFill>
                  <a:srgbClr val="666666"/>
                </a:solidFill>
                <a:latin typeface="Courier"/>
              </a:rPr>
              <a:t>=</a:t>
            </a:r>
            <a:r>
              <a:rPr>
                <a:latin typeface="Courier"/>
              </a:rPr>
              <a:t> collection</a:t>
            </a:r>
            <a:r>
              <a:rPr>
                <a:solidFill>
                  <a:srgbClr val="666666"/>
                </a:solidFill>
                <a:latin typeface="Courier"/>
              </a:rPr>
              <a:t>.</a:t>
            </a:r>
            <a:r>
              <a:rPr>
                <a:latin typeface="Courier"/>
              </a:rPr>
              <a:t>mutable</a:t>
            </a:r>
            <a:r>
              <a:rPr>
                <a:solidFill>
                  <a:srgbClr val="666666"/>
                </a:solidFill>
                <a:latin typeface="Courier"/>
              </a:rPr>
              <a:t>.</a:t>
            </a:r>
            <a:r>
              <a:rPr>
                <a:latin typeface="Courier"/>
              </a:rPr>
              <a:t>Map</a:t>
            </a:r>
            <a:r>
              <a:rPr>
                <a:solidFill>
                  <a:srgbClr val="666666"/>
                </a:solidFill>
                <a:latin typeface="Courier"/>
              </a:rPr>
              <a:t>(</a:t>
            </a:r>
            <a:r>
              <a:rPr>
                <a:solidFill>
                  <a:srgbClr val="4070A0"/>
                </a:solidFill>
                <a:latin typeface="Courier"/>
              </a:rPr>
              <a:t>"AK"</a:t>
            </a:r>
            <a:r>
              <a:rPr>
                <a:latin typeface="Courier"/>
              </a:rPr>
              <a:t> </a:t>
            </a:r>
            <a:r>
              <a:rPr>
                <a:solidFill>
                  <a:srgbClr val="666666"/>
                </a:solidFill>
                <a:latin typeface="Courier"/>
              </a:rPr>
              <a:t>-&gt;</a:t>
            </a:r>
            <a:r>
              <a:rPr>
                <a:latin typeface="Courier"/>
              </a:rPr>
              <a:t> </a:t>
            </a:r>
            <a:r>
              <a:rPr>
                <a:solidFill>
                  <a:srgbClr val="4070A0"/>
                </a:solidFill>
                <a:latin typeface="Courier"/>
              </a:rPr>
              <a:t>"Alaska"</a:t>
            </a:r>
            <a:r>
              <a:rPr>
                <a:solidFill>
                  <a:srgbClr val="666666"/>
                </a:solidFill>
                <a:latin typeface="Courier"/>
              </a:rPr>
              <a:t>)</a:t>
            </a:r>
            <a:br/>
            <a:r>
              <a:rPr>
                <a:latin typeface="Courier"/>
              </a:rPr>
              <a:t>states</a:t>
            </a:r>
            <a:r>
              <a:rPr>
                <a:solidFill>
                  <a:srgbClr val="666666"/>
                </a:solidFill>
                <a:latin typeface="Courier"/>
              </a:rPr>
              <a:t>:</a:t>
            </a:r>
            <a:r>
              <a:rPr>
                <a:latin typeface="Courier"/>
              </a:rPr>
              <a:t> scala</a:t>
            </a:r>
            <a:r>
              <a:rPr>
                <a:solidFill>
                  <a:srgbClr val="666666"/>
                </a:solidFill>
                <a:latin typeface="Courier"/>
              </a:rPr>
              <a:t>.</a:t>
            </a:r>
            <a:r>
              <a:rPr>
                <a:latin typeface="Courier"/>
              </a:rPr>
              <a:t>collection</a:t>
            </a:r>
            <a:r>
              <a:rPr>
                <a:solidFill>
                  <a:srgbClr val="666666"/>
                </a:solidFill>
                <a:latin typeface="Courier"/>
              </a:rPr>
              <a:t>.</a:t>
            </a:r>
            <a:r>
              <a:rPr>
                <a:latin typeface="Courier"/>
              </a:rPr>
              <a:t>mutable</a:t>
            </a:r>
            <a:r>
              <a:rPr>
                <a:solidFill>
                  <a:srgbClr val="666666"/>
                </a:solidFill>
                <a:latin typeface="Courier"/>
              </a:rPr>
              <a:t>.</a:t>
            </a:r>
            <a:r>
              <a:rPr>
                <a:latin typeface="Courier"/>
              </a:rPr>
              <a:t>Map</a:t>
            </a:r>
            <a:r>
              <a:rPr>
                <a:solidFill>
                  <a:srgbClr val="666666"/>
                </a:solidFill>
                <a:latin typeface="Courier"/>
              </a:rPr>
              <a:t>[</a:t>
            </a:r>
            <a:r>
              <a:rPr>
                <a:latin typeface="Courier"/>
              </a:rPr>
              <a:t>String</a:t>
            </a:r>
            <a:r>
              <a:rPr>
                <a:solidFill>
                  <a:srgbClr val="666666"/>
                </a:solidFill>
                <a:latin typeface="Courier"/>
              </a:rPr>
              <a:t>,</a:t>
            </a:r>
            <a:r>
              <a:rPr>
                <a:latin typeface="Courier"/>
              </a:rPr>
              <a:t>String</a:t>
            </a:r>
            <a:r>
              <a:rPr>
                <a:solidFill>
                  <a:srgbClr val="666666"/>
                </a:solidFill>
                <a:latin typeface="Courier"/>
              </a:rPr>
              <a:t>]</a:t>
            </a:r>
            <a:r>
              <a:rPr>
                <a:latin typeface="Courier"/>
              </a:rPr>
              <a:t> </a:t>
            </a:r>
            <a:r>
              <a:rPr>
                <a:solidFill>
                  <a:srgbClr val="666666"/>
                </a:solidFill>
                <a:latin typeface="Courier"/>
              </a:rPr>
              <a:t>=</a:t>
            </a:r>
            <a:r>
              <a:rPr>
                <a:latin typeface="Courier"/>
              </a:rPr>
              <a:t> Map</a:t>
            </a:r>
            <a:r>
              <a:rPr>
                <a:solidFill>
                  <a:srgbClr val="666666"/>
                </a:solidFill>
                <a:latin typeface="Courier"/>
              </a:rPr>
              <a:t>(</a:t>
            </a:r>
            <a:r>
              <a:rPr>
                <a:latin typeface="Courier"/>
              </a:rPr>
              <a:t>AK </a:t>
            </a:r>
            <a:r>
              <a:rPr>
                <a:solidFill>
                  <a:srgbClr val="666666"/>
                </a:solidFill>
                <a:latin typeface="Courier"/>
              </a:rPr>
              <a:t>-&gt;</a:t>
            </a:r>
            <a:br/>
            <a:r>
              <a:rPr>
                <a:latin typeface="Courier"/>
              </a:rPr>
              <a:t>Alaska</a:t>
            </a:r>
            <a:r>
              <a:rPr>
                <a:solidFill>
                  <a:srgbClr val="666666"/>
                </a:solidFill>
                <a:latin typeface="Courier"/>
              </a:rPr>
              <a:t>)</a:t>
            </a:r>
          </a:p>
          <a:p>
            <a:pPr lvl="0" indent="0" marL="0">
              <a:buNone/>
            </a:pPr>
            <a:r>
              <a:rPr/>
              <a:t>片段 3</a:t>
            </a:r>
          </a:p>
          <a:p>
            <a:pPr lvl="0" indent="0">
              <a:buNone/>
            </a:pPr>
            <a:r>
              <a:rPr>
                <a:latin typeface="Courier"/>
              </a:rPr>
              <a:t>scala</a:t>
            </a:r>
            <a:r>
              <a:rPr>
                <a:solidFill>
                  <a:srgbClr val="666666"/>
                </a:solidFill>
                <a:latin typeface="Courier"/>
              </a:rPr>
              <a:t>&gt;</a:t>
            </a:r>
            <a:r>
              <a:rPr>
                <a:latin typeface="Courier"/>
              </a:rPr>
              <a:t> states </a:t>
            </a:r>
            <a:r>
              <a:rPr>
                <a:solidFill>
                  <a:srgbClr val="666666"/>
                </a:solidFill>
                <a:latin typeface="Courier"/>
              </a:rPr>
              <a:t>+=</a:t>
            </a:r>
            <a:r>
              <a:rPr>
                <a:latin typeface="Courier"/>
              </a:rPr>
              <a:t> </a:t>
            </a:r>
            <a:r>
              <a:rPr>
                <a:solidFill>
                  <a:srgbClr val="666666"/>
                </a:solidFill>
                <a:latin typeface="Courier"/>
              </a:rPr>
              <a:t>(</a:t>
            </a:r>
            <a:r>
              <a:rPr>
                <a:solidFill>
                  <a:srgbClr val="4070A0"/>
                </a:solidFill>
                <a:latin typeface="Courier"/>
              </a:rPr>
              <a:t>"AL"</a:t>
            </a:r>
            <a:r>
              <a:rPr>
                <a:latin typeface="Courier"/>
              </a:rPr>
              <a:t> </a:t>
            </a:r>
            <a:r>
              <a:rPr>
                <a:solidFill>
                  <a:srgbClr val="666666"/>
                </a:solidFill>
                <a:latin typeface="Courier"/>
              </a:rPr>
              <a:t>-&gt;</a:t>
            </a:r>
            <a:r>
              <a:rPr>
                <a:latin typeface="Courier"/>
              </a:rPr>
              <a:t> </a:t>
            </a:r>
            <a:r>
              <a:rPr>
                <a:solidFill>
                  <a:srgbClr val="4070A0"/>
                </a:solidFill>
                <a:latin typeface="Courier"/>
              </a:rPr>
              <a:t>"Alabama"</a:t>
            </a:r>
            <a:r>
              <a:rPr>
                <a:solidFill>
                  <a:srgbClr val="666666"/>
                </a:solidFill>
                <a:latin typeface="Courier"/>
              </a:rPr>
              <a:t>)</a:t>
            </a:r>
            <a:br/>
            <a:r>
              <a:rPr>
                <a:latin typeface="Courier"/>
              </a:rPr>
              <a:t>res49</a:t>
            </a:r>
            <a:r>
              <a:rPr>
                <a:solidFill>
                  <a:srgbClr val="666666"/>
                </a:solidFill>
                <a:latin typeface="Courier"/>
              </a:rPr>
              <a:t>:</a:t>
            </a:r>
            <a:r>
              <a:rPr>
                <a:latin typeface="Courier"/>
              </a:rPr>
              <a:t> states</a:t>
            </a:r>
            <a:r>
              <a:rPr>
                <a:solidFill>
                  <a:srgbClr val="666666"/>
                </a:solidFill>
                <a:latin typeface="Courier"/>
              </a:rPr>
              <a:t>.</a:t>
            </a:r>
            <a:r>
              <a:rPr b="1">
                <a:solidFill>
                  <a:srgbClr val="007020"/>
                </a:solidFill>
                <a:latin typeface="Courier"/>
              </a:rPr>
              <a:t>type</a:t>
            </a:r>
            <a:r>
              <a:rPr>
                <a:latin typeface="Courier"/>
              </a:rPr>
              <a:t> </a:t>
            </a:r>
            <a:r>
              <a:rPr>
                <a:solidFill>
                  <a:srgbClr val="666666"/>
                </a:solidFill>
                <a:latin typeface="Courier"/>
              </a:rPr>
              <a:t>=</a:t>
            </a:r>
            <a:r>
              <a:rPr>
                <a:latin typeface="Courier"/>
              </a:rPr>
              <a:t> Map</a:t>
            </a:r>
            <a:r>
              <a:rPr>
                <a:solidFill>
                  <a:srgbClr val="666666"/>
                </a:solidFill>
                <a:latin typeface="Courier"/>
              </a:rPr>
              <a:t>(</a:t>
            </a:r>
            <a:r>
              <a:rPr>
                <a:latin typeface="Courier"/>
              </a:rPr>
              <a:t>AL </a:t>
            </a:r>
            <a:r>
              <a:rPr>
                <a:solidFill>
                  <a:srgbClr val="666666"/>
                </a:solidFill>
                <a:latin typeface="Courier"/>
              </a:rPr>
              <a:t>-&gt;</a:t>
            </a:r>
            <a:r>
              <a:rPr>
                <a:latin typeface="Courier"/>
              </a:rPr>
              <a:t> Alabama</a:t>
            </a:r>
            <a:r>
              <a:rPr>
                <a:solidFill>
                  <a:srgbClr val="666666"/>
                </a:solidFill>
                <a:latin typeface="Courier"/>
              </a:rPr>
              <a:t>,</a:t>
            </a:r>
            <a:r>
              <a:rPr>
                <a:latin typeface="Courier"/>
              </a:rPr>
              <a:t> AK </a:t>
            </a:r>
            <a:r>
              <a:rPr>
                <a:solidFill>
                  <a:srgbClr val="666666"/>
                </a:solidFill>
                <a:latin typeface="Courier"/>
              </a:rPr>
              <a:t>-&gt;</a:t>
            </a:r>
            <a:r>
              <a:rPr>
                <a:latin typeface="Courier"/>
              </a:rPr>
              <a:t> Alaska</a:t>
            </a:r>
            <a:r>
              <a:rPr>
                <a:solidFill>
                  <a:srgbClr val="666666"/>
                </a:solidFill>
                <a:latin typeface="Courier"/>
              </a:rPr>
              <a:t>)</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2.5.3 集合类：代码片段（8/14）</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还可以使用+=添加多个元素： 的执行步骤</a:t>
            </a:r>
          </a:p>
          <a:p>
            <a:pPr lvl="0"/>
            <a:r>
              <a:rPr/>
              <a:t>先对照代码理解 可以使用“++=”从其他Map添加元素： 的执行步骤</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states </a:t>
            </a:r>
            <a:r>
              <a:rPr>
                <a:solidFill>
                  <a:srgbClr val="666666"/>
                </a:solidFill>
                <a:latin typeface="Courier"/>
              </a:rPr>
              <a:t>+=</a:t>
            </a:r>
            <a:r>
              <a:rPr>
                <a:latin typeface="Courier"/>
              </a:rPr>
              <a:t> </a:t>
            </a:r>
            <a:r>
              <a:rPr>
                <a:solidFill>
                  <a:srgbClr val="666666"/>
                </a:solidFill>
                <a:latin typeface="Courier"/>
              </a:rPr>
              <a:t>(</a:t>
            </a:r>
            <a:r>
              <a:rPr>
                <a:solidFill>
                  <a:srgbClr val="4070A0"/>
                </a:solidFill>
                <a:latin typeface="Courier"/>
              </a:rPr>
              <a:t>"AR"</a:t>
            </a:r>
            <a:r>
              <a:rPr>
                <a:latin typeface="Courier"/>
              </a:rPr>
              <a:t> </a:t>
            </a:r>
            <a:r>
              <a:rPr>
                <a:solidFill>
                  <a:srgbClr val="666666"/>
                </a:solidFill>
                <a:latin typeface="Courier"/>
              </a:rPr>
              <a:t>-&gt;</a:t>
            </a:r>
            <a:r>
              <a:rPr>
                <a:latin typeface="Courier"/>
              </a:rPr>
              <a:t> </a:t>
            </a:r>
            <a:r>
              <a:rPr>
                <a:solidFill>
                  <a:srgbClr val="4070A0"/>
                </a:solidFill>
                <a:latin typeface="Courier"/>
              </a:rPr>
              <a:t>"Arkansas"</a:t>
            </a:r>
            <a:r>
              <a:rPr>
                <a:solidFill>
                  <a:srgbClr val="666666"/>
                </a:solidFill>
                <a:latin typeface="Courier"/>
              </a:rPr>
              <a:t>,</a:t>
            </a:r>
            <a:r>
              <a:rPr>
                <a:latin typeface="Courier"/>
              </a:rPr>
              <a:t> </a:t>
            </a:r>
            <a:r>
              <a:rPr>
                <a:solidFill>
                  <a:srgbClr val="4070A0"/>
                </a:solidFill>
                <a:latin typeface="Courier"/>
              </a:rPr>
              <a:t>"AZ"</a:t>
            </a:r>
            <a:r>
              <a:rPr>
                <a:latin typeface="Courier"/>
              </a:rPr>
              <a:t> </a:t>
            </a:r>
            <a:r>
              <a:rPr>
                <a:solidFill>
                  <a:srgbClr val="666666"/>
                </a:solidFill>
                <a:latin typeface="Courier"/>
              </a:rPr>
              <a:t>-&gt;</a:t>
            </a:r>
            <a:r>
              <a:rPr>
                <a:latin typeface="Courier"/>
              </a:rPr>
              <a:t> </a:t>
            </a:r>
            <a:r>
              <a:rPr>
                <a:solidFill>
                  <a:srgbClr val="4070A0"/>
                </a:solidFill>
                <a:latin typeface="Courier"/>
              </a:rPr>
              <a:t>"Arizona"</a:t>
            </a:r>
            <a:r>
              <a:rPr>
                <a:solidFill>
                  <a:srgbClr val="666666"/>
                </a:solidFill>
                <a:latin typeface="Courier"/>
              </a:rPr>
              <a:t>)</a:t>
            </a:r>
            <a:br/>
            <a:r>
              <a:rPr>
                <a:latin typeface="Courier"/>
              </a:rPr>
              <a:t>res50</a:t>
            </a:r>
            <a:r>
              <a:rPr>
                <a:solidFill>
                  <a:srgbClr val="666666"/>
                </a:solidFill>
                <a:latin typeface="Courier"/>
              </a:rPr>
              <a:t>:</a:t>
            </a:r>
            <a:r>
              <a:rPr>
                <a:latin typeface="Courier"/>
              </a:rPr>
              <a:t> states</a:t>
            </a:r>
            <a:r>
              <a:rPr>
                <a:solidFill>
                  <a:srgbClr val="666666"/>
                </a:solidFill>
                <a:latin typeface="Courier"/>
              </a:rPr>
              <a:t>.</a:t>
            </a:r>
            <a:r>
              <a:rPr b="1">
                <a:solidFill>
                  <a:srgbClr val="007020"/>
                </a:solidFill>
                <a:latin typeface="Courier"/>
              </a:rPr>
              <a:t>type</a:t>
            </a:r>
            <a:r>
              <a:rPr>
                <a:latin typeface="Courier"/>
              </a:rPr>
              <a:t> </a:t>
            </a:r>
            <a:r>
              <a:rPr>
                <a:solidFill>
                  <a:srgbClr val="666666"/>
                </a:solidFill>
                <a:latin typeface="Courier"/>
              </a:rPr>
              <a:t>=</a:t>
            </a:r>
            <a:r>
              <a:rPr>
                <a:latin typeface="Courier"/>
              </a:rPr>
              <a:t> Map</a:t>
            </a:r>
            <a:r>
              <a:rPr>
                <a:solidFill>
                  <a:srgbClr val="666666"/>
                </a:solidFill>
                <a:latin typeface="Courier"/>
              </a:rPr>
              <a:t>(</a:t>
            </a:r>
            <a:r>
              <a:rPr>
                <a:latin typeface="Courier"/>
              </a:rPr>
              <a:t>AZ </a:t>
            </a:r>
            <a:r>
              <a:rPr>
                <a:solidFill>
                  <a:srgbClr val="666666"/>
                </a:solidFill>
                <a:latin typeface="Courier"/>
              </a:rPr>
              <a:t>-&gt;</a:t>
            </a:r>
            <a:r>
              <a:rPr>
                <a:latin typeface="Courier"/>
              </a:rPr>
              <a:t> Arizona</a:t>
            </a:r>
            <a:r>
              <a:rPr>
                <a:solidFill>
                  <a:srgbClr val="666666"/>
                </a:solidFill>
                <a:latin typeface="Courier"/>
              </a:rPr>
              <a:t>,</a:t>
            </a:r>
            <a:r>
              <a:rPr>
                <a:latin typeface="Courier"/>
              </a:rPr>
              <a:t> AL </a:t>
            </a:r>
            <a:r>
              <a:rPr>
                <a:solidFill>
                  <a:srgbClr val="666666"/>
                </a:solidFill>
                <a:latin typeface="Courier"/>
              </a:rPr>
              <a:t>-&gt;</a:t>
            </a:r>
            <a:r>
              <a:rPr>
                <a:latin typeface="Courier"/>
              </a:rPr>
              <a:t> Alabama</a:t>
            </a:r>
            <a:r>
              <a:rPr>
                <a:solidFill>
                  <a:srgbClr val="666666"/>
                </a:solidFill>
                <a:latin typeface="Courier"/>
              </a:rPr>
              <a:t>,</a:t>
            </a:r>
            <a:r>
              <a:rPr>
                <a:latin typeface="Courier"/>
              </a:rPr>
              <a:t> AR </a:t>
            </a:r>
            <a:r>
              <a:rPr>
                <a:solidFill>
                  <a:srgbClr val="666666"/>
                </a:solidFill>
                <a:latin typeface="Courier"/>
              </a:rPr>
              <a:t>-&gt;</a:t>
            </a:r>
            <a:br/>
            <a:r>
              <a:rPr>
                <a:latin typeface="Courier"/>
              </a:rPr>
              <a:t>Arkansas</a:t>
            </a:r>
            <a:r>
              <a:rPr>
                <a:solidFill>
                  <a:srgbClr val="666666"/>
                </a:solidFill>
                <a:latin typeface="Courier"/>
              </a:rPr>
              <a:t>,</a:t>
            </a:r>
            <a:r>
              <a:rPr>
                <a:latin typeface="Courier"/>
              </a:rPr>
              <a:t> AK </a:t>
            </a:r>
            <a:r>
              <a:rPr>
                <a:solidFill>
                  <a:srgbClr val="666666"/>
                </a:solidFill>
                <a:latin typeface="Courier"/>
              </a:rPr>
              <a:t>-&gt;</a:t>
            </a:r>
            <a:r>
              <a:rPr>
                <a:latin typeface="Courier"/>
              </a:rPr>
              <a:t> Alaska</a:t>
            </a:r>
            <a:r>
              <a:rPr>
                <a:solidFill>
                  <a:srgbClr val="666666"/>
                </a:solidFill>
                <a:latin typeface="Courier"/>
              </a:rPr>
              <a:t>)</a:t>
            </a:r>
          </a:p>
          <a:p>
            <a:pPr lvl="0" indent="0" marL="0">
              <a:buNone/>
            </a:pPr>
            <a:r>
              <a:rPr/>
              <a:t>片段 2</a:t>
            </a:r>
          </a:p>
          <a:p>
            <a:pPr lvl="0" indent="0">
              <a:buNone/>
            </a:pPr>
            <a:r>
              <a:rPr>
                <a:latin typeface="Courier"/>
              </a:rPr>
              <a:t>scala</a:t>
            </a:r>
            <a:r>
              <a:rPr>
                <a:solidFill>
                  <a:srgbClr val="666666"/>
                </a:solidFill>
                <a:latin typeface="Courier"/>
              </a:rPr>
              <a:t>&gt;</a:t>
            </a:r>
            <a:r>
              <a:rPr>
                <a:latin typeface="Courier"/>
              </a:rPr>
              <a:t> states </a:t>
            </a:r>
            <a:r>
              <a:rPr>
                <a:solidFill>
                  <a:srgbClr val="666666"/>
                </a:solidFill>
                <a:latin typeface="Courier"/>
              </a:rPr>
              <a:t>++=</a:t>
            </a:r>
            <a:r>
              <a:rPr>
                <a:latin typeface="Courier"/>
              </a:rPr>
              <a:t> Map</a:t>
            </a:r>
            <a:r>
              <a:rPr>
                <a:solidFill>
                  <a:srgbClr val="666666"/>
                </a:solidFill>
                <a:latin typeface="Courier"/>
              </a:rPr>
              <a:t>(</a:t>
            </a:r>
            <a:r>
              <a:rPr>
                <a:solidFill>
                  <a:srgbClr val="4070A0"/>
                </a:solidFill>
                <a:latin typeface="Courier"/>
              </a:rPr>
              <a:t>"CA"</a:t>
            </a:r>
            <a:r>
              <a:rPr>
                <a:latin typeface="Courier"/>
              </a:rPr>
              <a:t> </a:t>
            </a:r>
            <a:r>
              <a:rPr>
                <a:solidFill>
                  <a:srgbClr val="666666"/>
                </a:solidFill>
                <a:latin typeface="Courier"/>
              </a:rPr>
              <a:t>-&gt;</a:t>
            </a:r>
            <a:r>
              <a:rPr>
                <a:latin typeface="Courier"/>
              </a:rPr>
              <a:t> </a:t>
            </a:r>
            <a:r>
              <a:rPr>
                <a:solidFill>
                  <a:srgbClr val="4070A0"/>
                </a:solidFill>
                <a:latin typeface="Courier"/>
              </a:rPr>
              <a:t>"California"</a:t>
            </a:r>
            <a:r>
              <a:rPr>
                <a:solidFill>
                  <a:srgbClr val="666666"/>
                </a:solidFill>
                <a:latin typeface="Courier"/>
              </a:rPr>
              <a:t>,</a:t>
            </a:r>
            <a:r>
              <a:rPr>
                <a:latin typeface="Courier"/>
              </a:rPr>
              <a:t> </a:t>
            </a:r>
            <a:r>
              <a:rPr>
                <a:solidFill>
                  <a:srgbClr val="4070A0"/>
                </a:solidFill>
                <a:latin typeface="Courier"/>
              </a:rPr>
              <a:t>"CO"</a:t>
            </a:r>
            <a:r>
              <a:rPr>
                <a:latin typeface="Courier"/>
              </a:rPr>
              <a:t> </a:t>
            </a:r>
            <a:r>
              <a:rPr>
                <a:solidFill>
                  <a:srgbClr val="666666"/>
                </a:solidFill>
                <a:latin typeface="Courier"/>
              </a:rPr>
              <a:t>-&gt;</a:t>
            </a:r>
            <a:r>
              <a:rPr>
                <a:latin typeface="Courier"/>
              </a:rPr>
              <a:t> </a:t>
            </a:r>
            <a:r>
              <a:rPr>
                <a:solidFill>
                  <a:srgbClr val="4070A0"/>
                </a:solidFill>
                <a:latin typeface="Courier"/>
              </a:rPr>
              <a:t>"Colorado"</a:t>
            </a:r>
            <a:r>
              <a:rPr>
                <a:solidFill>
                  <a:srgbClr val="666666"/>
                </a:solidFill>
                <a:latin typeface="Courier"/>
              </a:rPr>
              <a:t>)</a:t>
            </a:r>
            <a:br/>
            <a:r>
              <a:rPr>
                <a:latin typeface="Courier"/>
              </a:rPr>
              <a:t>res51</a:t>
            </a:r>
            <a:r>
              <a:rPr>
                <a:solidFill>
                  <a:srgbClr val="666666"/>
                </a:solidFill>
                <a:latin typeface="Courier"/>
              </a:rPr>
              <a:t>:</a:t>
            </a:r>
            <a:r>
              <a:rPr>
                <a:latin typeface="Courier"/>
              </a:rPr>
              <a:t> states</a:t>
            </a:r>
            <a:r>
              <a:rPr>
                <a:solidFill>
                  <a:srgbClr val="666666"/>
                </a:solidFill>
                <a:latin typeface="Courier"/>
              </a:rPr>
              <a:t>.</a:t>
            </a:r>
            <a:r>
              <a:rPr b="1">
                <a:solidFill>
                  <a:srgbClr val="007020"/>
                </a:solidFill>
                <a:latin typeface="Courier"/>
              </a:rPr>
              <a:t>type</a:t>
            </a:r>
            <a:r>
              <a:rPr>
                <a:latin typeface="Courier"/>
              </a:rPr>
              <a:t> </a:t>
            </a:r>
            <a:r>
              <a:rPr>
                <a:solidFill>
                  <a:srgbClr val="666666"/>
                </a:solidFill>
                <a:latin typeface="Courier"/>
              </a:rPr>
              <a:t>=</a:t>
            </a:r>
            <a:r>
              <a:rPr>
                <a:latin typeface="Courier"/>
              </a:rPr>
              <a:t> Map</a:t>
            </a:r>
            <a:r>
              <a:rPr>
                <a:solidFill>
                  <a:srgbClr val="666666"/>
                </a:solidFill>
                <a:latin typeface="Courier"/>
              </a:rPr>
              <a:t>(</a:t>
            </a:r>
            <a:r>
              <a:rPr>
                <a:latin typeface="Courier"/>
              </a:rPr>
              <a:t>CO </a:t>
            </a:r>
            <a:r>
              <a:rPr>
                <a:solidFill>
                  <a:srgbClr val="666666"/>
                </a:solidFill>
                <a:latin typeface="Courier"/>
              </a:rPr>
              <a:t>-&gt;</a:t>
            </a:r>
            <a:r>
              <a:rPr>
                <a:latin typeface="Courier"/>
              </a:rPr>
              <a:t> Colorado</a:t>
            </a:r>
            <a:r>
              <a:rPr>
                <a:solidFill>
                  <a:srgbClr val="666666"/>
                </a:solidFill>
                <a:latin typeface="Courier"/>
              </a:rPr>
              <a:t>,</a:t>
            </a:r>
            <a:r>
              <a:rPr>
                <a:latin typeface="Courier"/>
              </a:rPr>
              <a:t> AZ </a:t>
            </a:r>
            <a:r>
              <a:rPr>
                <a:solidFill>
                  <a:srgbClr val="666666"/>
                </a:solidFill>
                <a:latin typeface="Courier"/>
              </a:rPr>
              <a:t>-&gt;</a:t>
            </a:r>
            <a:r>
              <a:rPr>
                <a:latin typeface="Courier"/>
              </a:rPr>
              <a:t> Arizona</a:t>
            </a:r>
            <a:r>
              <a:rPr>
                <a:solidFill>
                  <a:srgbClr val="666666"/>
                </a:solidFill>
                <a:latin typeface="Courier"/>
              </a:rPr>
              <a:t>,</a:t>
            </a:r>
            <a:r>
              <a:rPr>
                <a:latin typeface="Courier"/>
              </a:rPr>
              <a:t> AL </a:t>
            </a:r>
            <a:r>
              <a:rPr>
                <a:solidFill>
                  <a:srgbClr val="666666"/>
                </a:solidFill>
                <a:latin typeface="Courier"/>
              </a:rPr>
              <a:t>-&gt;</a:t>
            </a:r>
            <a:br/>
            <a:r>
              <a:rPr>
                <a:latin typeface="Courier"/>
              </a:rPr>
              <a:t>Alabama</a:t>
            </a:r>
            <a:r>
              <a:rPr>
                <a:solidFill>
                  <a:srgbClr val="666666"/>
                </a:solidFill>
                <a:latin typeface="Courier"/>
              </a:rPr>
              <a:t>,</a:t>
            </a:r>
            <a:r>
              <a:rPr>
                <a:latin typeface="Courier"/>
              </a:rPr>
              <a:t> CA </a:t>
            </a:r>
            <a:r>
              <a:rPr>
                <a:solidFill>
                  <a:srgbClr val="666666"/>
                </a:solidFill>
                <a:latin typeface="Courier"/>
              </a:rPr>
              <a:t>-&gt;</a:t>
            </a:r>
            <a:r>
              <a:rPr>
                <a:latin typeface="Courier"/>
              </a:rPr>
              <a:t> California</a:t>
            </a:r>
            <a:r>
              <a:rPr>
                <a:solidFill>
                  <a:srgbClr val="666666"/>
                </a:solidFill>
                <a:latin typeface="Courier"/>
              </a:rPr>
              <a:t>,</a:t>
            </a:r>
            <a:r>
              <a:rPr>
                <a:latin typeface="Courier"/>
              </a:rPr>
              <a:t> AR </a:t>
            </a:r>
            <a:r>
              <a:rPr>
                <a:solidFill>
                  <a:srgbClr val="666666"/>
                </a:solidFill>
                <a:latin typeface="Courier"/>
              </a:rPr>
              <a:t>-&gt;</a:t>
            </a:r>
            <a:r>
              <a:rPr>
                <a:latin typeface="Courier"/>
              </a:rPr>
              <a:t> Arkansas</a:t>
            </a:r>
            <a:r>
              <a:rPr>
                <a:solidFill>
                  <a:srgbClr val="666666"/>
                </a:solidFill>
                <a:latin typeface="Courier"/>
              </a:rPr>
              <a:t>,</a:t>
            </a:r>
            <a:r>
              <a:rPr>
                <a:latin typeface="Courier"/>
              </a:rPr>
              <a:t> AK </a:t>
            </a:r>
            <a:r>
              <a:rPr>
                <a:solidFill>
                  <a:srgbClr val="666666"/>
                </a:solidFill>
                <a:latin typeface="Courier"/>
              </a:rPr>
              <a:t>-&gt;</a:t>
            </a:r>
            <a:r>
              <a:rPr>
                <a:latin typeface="Courier"/>
              </a:rPr>
              <a:t> Alaska</a:t>
            </a:r>
            <a:r>
              <a:rPr>
                <a:solidFill>
                  <a:srgbClr val="666666"/>
                </a:solidFill>
                <a:latin typeface="Courier"/>
              </a:rPr>
              <a:t>)</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2.5.3 集合类：代码片段（9/14）</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使用“-=”和“-=”并指定键值从Map中删除元素</a:t>
            </a:r>
          </a:p>
          <a:p>
            <a:pPr lvl="0" indent="0">
              <a:buNone/>
            </a:pPr>
            <a:r>
              <a:rPr>
                <a:latin typeface="Courier"/>
              </a:rPr>
              <a:t>scala</a:t>
            </a:r>
            <a:r>
              <a:rPr>
                <a:solidFill>
                  <a:srgbClr val="666666"/>
                </a:solidFill>
                <a:latin typeface="Courier"/>
              </a:rPr>
              <a:t>&gt;</a:t>
            </a:r>
            <a:r>
              <a:rPr>
                <a:latin typeface="Courier"/>
              </a:rPr>
              <a:t> states </a:t>
            </a:r>
            <a:r>
              <a:rPr>
                <a:solidFill>
                  <a:srgbClr val="666666"/>
                </a:solidFill>
                <a:latin typeface="Courier"/>
              </a:rPr>
              <a:t>-=</a:t>
            </a:r>
            <a:r>
              <a:rPr>
                <a:latin typeface="Courier"/>
              </a:rPr>
              <a:t> </a:t>
            </a:r>
            <a:r>
              <a:rPr>
                <a:solidFill>
                  <a:srgbClr val="4070A0"/>
                </a:solidFill>
                <a:latin typeface="Courier"/>
              </a:rPr>
              <a:t>"AR"</a:t>
            </a:r>
            <a:br/>
            <a:r>
              <a:rPr>
                <a:latin typeface="Courier"/>
              </a:rPr>
              <a:t>res52</a:t>
            </a:r>
            <a:r>
              <a:rPr>
                <a:solidFill>
                  <a:srgbClr val="666666"/>
                </a:solidFill>
                <a:latin typeface="Courier"/>
              </a:rPr>
              <a:t>:</a:t>
            </a:r>
            <a:r>
              <a:rPr>
                <a:latin typeface="Courier"/>
              </a:rPr>
              <a:t> states</a:t>
            </a:r>
            <a:r>
              <a:rPr>
                <a:solidFill>
                  <a:srgbClr val="666666"/>
                </a:solidFill>
                <a:latin typeface="Courier"/>
              </a:rPr>
              <a:t>.</a:t>
            </a:r>
            <a:r>
              <a:rPr b="1">
                <a:solidFill>
                  <a:srgbClr val="007020"/>
                </a:solidFill>
                <a:latin typeface="Courier"/>
              </a:rPr>
              <a:t>type</a:t>
            </a:r>
            <a:r>
              <a:rPr>
                <a:latin typeface="Courier"/>
              </a:rPr>
              <a:t> </a:t>
            </a:r>
            <a:r>
              <a:rPr>
                <a:solidFill>
                  <a:srgbClr val="666666"/>
                </a:solidFill>
                <a:latin typeface="Courier"/>
              </a:rPr>
              <a:t>=</a:t>
            </a:r>
            <a:r>
              <a:rPr>
                <a:latin typeface="Courier"/>
              </a:rPr>
              <a:t> Map</a:t>
            </a:r>
            <a:r>
              <a:rPr>
                <a:solidFill>
                  <a:srgbClr val="666666"/>
                </a:solidFill>
                <a:latin typeface="Courier"/>
              </a:rPr>
              <a:t>(</a:t>
            </a:r>
            <a:r>
              <a:rPr>
                <a:latin typeface="Courier"/>
              </a:rPr>
              <a:t>CO </a:t>
            </a:r>
            <a:r>
              <a:rPr>
                <a:solidFill>
                  <a:srgbClr val="666666"/>
                </a:solidFill>
                <a:latin typeface="Courier"/>
              </a:rPr>
              <a:t>-&gt;</a:t>
            </a:r>
            <a:r>
              <a:rPr>
                <a:latin typeface="Courier"/>
              </a:rPr>
              <a:t> Colorado</a:t>
            </a:r>
            <a:r>
              <a:rPr>
                <a:solidFill>
                  <a:srgbClr val="666666"/>
                </a:solidFill>
                <a:latin typeface="Courier"/>
              </a:rPr>
              <a:t>,</a:t>
            </a:r>
            <a:r>
              <a:rPr>
                <a:latin typeface="Courier"/>
              </a:rPr>
              <a:t> AZ </a:t>
            </a:r>
            <a:r>
              <a:rPr>
                <a:solidFill>
                  <a:srgbClr val="666666"/>
                </a:solidFill>
                <a:latin typeface="Courier"/>
              </a:rPr>
              <a:t>-&gt;</a:t>
            </a:r>
            <a:r>
              <a:rPr>
                <a:latin typeface="Courier"/>
              </a:rPr>
              <a:t> Arizona</a:t>
            </a:r>
            <a:r>
              <a:rPr>
                <a:solidFill>
                  <a:srgbClr val="666666"/>
                </a:solidFill>
                <a:latin typeface="Courier"/>
              </a:rPr>
              <a:t>,</a:t>
            </a:r>
            <a:r>
              <a:rPr>
                <a:latin typeface="Courier"/>
              </a:rPr>
              <a:t> AL </a:t>
            </a:r>
            <a:r>
              <a:rPr>
                <a:solidFill>
                  <a:srgbClr val="666666"/>
                </a:solidFill>
                <a:latin typeface="Courier"/>
              </a:rPr>
              <a:t>-&gt;</a:t>
            </a:r>
            <a:br/>
            <a:r>
              <a:rPr>
                <a:latin typeface="Courier"/>
              </a:rPr>
              <a:t>Alabama</a:t>
            </a:r>
            <a:r>
              <a:rPr>
                <a:solidFill>
                  <a:srgbClr val="666666"/>
                </a:solidFill>
                <a:latin typeface="Courier"/>
              </a:rPr>
              <a:t>,</a:t>
            </a:r>
            <a:r>
              <a:rPr>
                <a:latin typeface="Courier"/>
              </a:rPr>
              <a:t> CA </a:t>
            </a:r>
            <a:r>
              <a:rPr>
                <a:solidFill>
                  <a:srgbClr val="666666"/>
                </a:solidFill>
                <a:latin typeface="Courier"/>
              </a:rPr>
              <a:t>-&gt;</a:t>
            </a:r>
            <a:r>
              <a:rPr>
                <a:latin typeface="Courier"/>
              </a:rPr>
              <a:t> California</a:t>
            </a:r>
            <a:r>
              <a:rPr>
                <a:solidFill>
                  <a:srgbClr val="666666"/>
                </a:solidFill>
                <a:latin typeface="Courier"/>
              </a:rPr>
              <a:t>,</a:t>
            </a:r>
            <a:r>
              <a:rPr>
                <a:latin typeface="Courier"/>
              </a:rPr>
              <a:t> AK </a:t>
            </a:r>
            <a:r>
              <a:rPr>
                <a:solidFill>
                  <a:srgbClr val="666666"/>
                </a:solidFill>
                <a:latin typeface="Courier"/>
              </a:rPr>
              <a:t>-&gt;</a:t>
            </a:r>
            <a:r>
              <a:rPr>
                <a:latin typeface="Courier"/>
              </a:rPr>
              <a:t> Alaska</a:t>
            </a:r>
            <a:r>
              <a:rPr>
                <a:solidFill>
                  <a:srgbClr val="666666"/>
                </a:solidFill>
                <a:latin typeface="Courier"/>
              </a:rPr>
              <a:t>)</a:t>
            </a:r>
            <a:br/>
            <a:r>
              <a:rPr>
                <a:latin typeface="Courier"/>
              </a:rPr>
              <a:t>scala</a:t>
            </a:r>
            <a:r>
              <a:rPr>
                <a:solidFill>
                  <a:srgbClr val="666666"/>
                </a:solidFill>
                <a:latin typeface="Courier"/>
              </a:rPr>
              <a:t>&gt;</a:t>
            </a:r>
            <a:r>
              <a:rPr>
                <a:latin typeface="Courier"/>
              </a:rPr>
              <a:t> states </a:t>
            </a:r>
            <a:r>
              <a:rPr>
                <a:solidFill>
                  <a:srgbClr val="666666"/>
                </a:solidFill>
                <a:latin typeface="Courier"/>
              </a:rPr>
              <a:t>-=</a:t>
            </a:r>
            <a:r>
              <a:rPr>
                <a:latin typeface="Courier"/>
              </a:rPr>
              <a:t> </a:t>
            </a:r>
            <a:r>
              <a:rPr>
                <a:solidFill>
                  <a:srgbClr val="666666"/>
                </a:solidFill>
                <a:latin typeface="Courier"/>
              </a:rPr>
              <a:t>(</a:t>
            </a:r>
            <a:r>
              <a:rPr>
                <a:solidFill>
                  <a:srgbClr val="4070A0"/>
                </a:solidFill>
                <a:latin typeface="Courier"/>
              </a:rPr>
              <a:t>"AL"</a:t>
            </a:r>
            <a:r>
              <a:rPr>
                <a:solidFill>
                  <a:srgbClr val="666666"/>
                </a:solidFill>
                <a:latin typeface="Courier"/>
              </a:rPr>
              <a:t>,</a:t>
            </a:r>
            <a:r>
              <a:rPr>
                <a:latin typeface="Courier"/>
              </a:rPr>
              <a:t> </a:t>
            </a:r>
            <a:r>
              <a:rPr>
                <a:solidFill>
                  <a:srgbClr val="4070A0"/>
                </a:solidFill>
                <a:latin typeface="Courier"/>
              </a:rPr>
              <a:t>"AZ"</a:t>
            </a:r>
            <a:r>
              <a:rPr>
                <a:solidFill>
                  <a:srgbClr val="666666"/>
                </a:solidFill>
                <a:latin typeface="Courier"/>
              </a:rPr>
              <a:t>)</a:t>
            </a:r>
            <a:br/>
            <a:r>
              <a:rPr>
                <a:latin typeface="Courier"/>
              </a:rPr>
              <a:t>res53</a:t>
            </a:r>
            <a:r>
              <a:rPr>
                <a:solidFill>
                  <a:srgbClr val="666666"/>
                </a:solidFill>
                <a:latin typeface="Courier"/>
              </a:rPr>
              <a:t>:</a:t>
            </a:r>
            <a:r>
              <a:rPr>
                <a:latin typeface="Courier"/>
              </a:rPr>
              <a:t> states</a:t>
            </a:r>
            <a:r>
              <a:rPr>
                <a:solidFill>
                  <a:srgbClr val="666666"/>
                </a:solidFill>
                <a:latin typeface="Courier"/>
              </a:rPr>
              <a:t>.</a:t>
            </a:r>
            <a:r>
              <a:rPr b="1">
                <a:solidFill>
                  <a:srgbClr val="007020"/>
                </a:solidFill>
                <a:latin typeface="Courier"/>
              </a:rPr>
              <a:t>type</a:t>
            </a:r>
            <a:r>
              <a:rPr>
                <a:latin typeface="Courier"/>
              </a:rPr>
              <a:t> </a:t>
            </a:r>
            <a:r>
              <a:rPr>
                <a:solidFill>
                  <a:srgbClr val="666666"/>
                </a:solidFill>
                <a:latin typeface="Courier"/>
              </a:rPr>
              <a:t>=</a:t>
            </a:r>
            <a:r>
              <a:rPr>
                <a:latin typeface="Courier"/>
              </a:rPr>
              <a:t> Map</a:t>
            </a:r>
            <a:r>
              <a:rPr>
                <a:solidFill>
                  <a:srgbClr val="666666"/>
                </a:solidFill>
                <a:latin typeface="Courier"/>
              </a:rPr>
              <a:t>(</a:t>
            </a:r>
            <a:r>
              <a:rPr>
                <a:latin typeface="Courier"/>
              </a:rPr>
              <a:t>CO </a:t>
            </a:r>
            <a:r>
              <a:rPr>
                <a:solidFill>
                  <a:srgbClr val="666666"/>
                </a:solidFill>
                <a:latin typeface="Courier"/>
              </a:rPr>
              <a:t>-&gt;</a:t>
            </a:r>
            <a:r>
              <a:rPr>
                <a:latin typeface="Courier"/>
              </a:rPr>
              <a:t> Colorado</a:t>
            </a:r>
            <a:r>
              <a:rPr>
                <a:solidFill>
                  <a:srgbClr val="666666"/>
                </a:solidFill>
                <a:latin typeface="Courier"/>
              </a:rPr>
              <a:t>,</a:t>
            </a:r>
            <a:r>
              <a:rPr>
                <a:latin typeface="Courier"/>
              </a:rPr>
              <a:t> CA </a:t>
            </a:r>
            <a:r>
              <a:rPr>
                <a:solidFill>
                  <a:srgbClr val="666666"/>
                </a:solidFill>
                <a:latin typeface="Courier"/>
              </a:rPr>
              <a:t>-&gt;</a:t>
            </a:r>
            <a:r>
              <a:rPr>
                <a:latin typeface="Courier"/>
              </a:rPr>
              <a:t> California</a:t>
            </a:r>
            <a:r>
              <a:rPr>
                <a:solidFill>
                  <a:srgbClr val="666666"/>
                </a:solidFill>
                <a:latin typeface="Courier"/>
              </a:rPr>
              <a:t>,</a:t>
            </a:r>
            <a:r>
              <a:rPr>
                <a:latin typeface="Courier"/>
              </a:rPr>
              <a:t> AK </a:t>
            </a:r>
            <a:r>
              <a:rPr>
                <a:solidFill>
                  <a:srgbClr val="666666"/>
                </a:solidFill>
                <a:latin typeface="Courier"/>
              </a:rPr>
              <a:t>-&gt;</a:t>
            </a:r>
            <a:br/>
            <a:r>
              <a:rPr>
                <a:latin typeface="Courier"/>
              </a:rPr>
              <a:t>Alaska</a:t>
            </a:r>
            <a:r>
              <a:rPr>
                <a:solidFill>
                  <a:srgbClr val="666666"/>
                </a:solidFill>
                <a:latin typeface="Courier"/>
              </a:rPr>
              <a:t>)</a:t>
            </a:r>
            <a:br/>
            <a:r>
              <a:rPr>
                <a:latin typeface="Courier"/>
              </a:rPr>
              <a:t>scala</a:t>
            </a:r>
            <a:r>
              <a:rPr>
                <a:solidFill>
                  <a:srgbClr val="666666"/>
                </a:solidFill>
                <a:latin typeface="Courier"/>
              </a:rPr>
              <a:t>&gt;</a:t>
            </a:r>
            <a:r>
              <a:rPr>
                <a:latin typeface="Courier"/>
              </a:rPr>
              <a:t> states </a:t>
            </a:r>
            <a:r>
              <a:rPr>
                <a:solidFill>
                  <a:srgbClr val="666666"/>
                </a:solidFill>
                <a:latin typeface="Courier"/>
              </a:rPr>
              <a:t>--=</a:t>
            </a:r>
            <a:r>
              <a:rPr>
                <a:latin typeface="Courier"/>
              </a:rPr>
              <a:t> List</a:t>
            </a:r>
            <a:r>
              <a:rPr>
                <a:solidFill>
                  <a:srgbClr val="666666"/>
                </a:solidFill>
                <a:latin typeface="Courier"/>
              </a:rPr>
              <a:t>(</a:t>
            </a:r>
            <a:r>
              <a:rPr>
                <a:solidFill>
                  <a:srgbClr val="4070A0"/>
                </a:solidFill>
                <a:latin typeface="Courier"/>
              </a:rPr>
              <a:t>"AL"</a:t>
            </a:r>
            <a:r>
              <a:rPr>
                <a:solidFill>
                  <a:srgbClr val="666666"/>
                </a:solidFill>
                <a:latin typeface="Courier"/>
              </a:rPr>
              <a:t>,</a:t>
            </a:r>
            <a:r>
              <a:rPr>
                <a:latin typeface="Courier"/>
              </a:rPr>
              <a:t> </a:t>
            </a:r>
            <a:r>
              <a:rPr>
                <a:solidFill>
                  <a:srgbClr val="4070A0"/>
                </a:solidFill>
                <a:latin typeface="Courier"/>
              </a:rPr>
              <a:t>"AZ"</a:t>
            </a:r>
            <a:r>
              <a:rPr>
                <a:solidFill>
                  <a:srgbClr val="666666"/>
                </a:solidFill>
                <a:latin typeface="Courier"/>
              </a:rPr>
              <a:t>)</a:t>
            </a:r>
            <a:br/>
            <a:r>
              <a:rPr>
                <a:latin typeface="Courier"/>
              </a:rPr>
              <a:t>res54</a:t>
            </a:r>
            <a:r>
              <a:rPr>
                <a:solidFill>
                  <a:srgbClr val="666666"/>
                </a:solidFill>
                <a:latin typeface="Courier"/>
              </a:rPr>
              <a:t>:</a:t>
            </a:r>
            <a:r>
              <a:rPr>
                <a:latin typeface="Courier"/>
              </a:rPr>
              <a:t> states</a:t>
            </a:r>
            <a:r>
              <a:rPr>
                <a:solidFill>
                  <a:srgbClr val="666666"/>
                </a:solidFill>
                <a:latin typeface="Courier"/>
              </a:rPr>
              <a:t>.</a:t>
            </a:r>
            <a:r>
              <a:rPr b="1">
                <a:solidFill>
                  <a:srgbClr val="007020"/>
                </a:solidFill>
                <a:latin typeface="Courier"/>
              </a:rPr>
              <a:t>type</a:t>
            </a:r>
            <a:r>
              <a:rPr>
                <a:latin typeface="Courier"/>
              </a:rPr>
              <a:t> </a:t>
            </a:r>
            <a:r>
              <a:rPr>
                <a:solidFill>
                  <a:srgbClr val="666666"/>
                </a:solidFill>
                <a:latin typeface="Courier"/>
              </a:rPr>
              <a:t>=</a:t>
            </a:r>
            <a:r>
              <a:rPr>
                <a:latin typeface="Courier"/>
              </a:rPr>
              <a:t> Map</a:t>
            </a:r>
            <a:r>
              <a:rPr>
                <a:solidFill>
                  <a:srgbClr val="666666"/>
                </a:solidFill>
                <a:latin typeface="Courier"/>
              </a:rPr>
              <a:t>(</a:t>
            </a:r>
            <a:r>
              <a:rPr>
                <a:latin typeface="Courier"/>
              </a:rPr>
              <a:t>CO </a:t>
            </a:r>
            <a:r>
              <a:rPr>
                <a:solidFill>
                  <a:srgbClr val="666666"/>
                </a:solidFill>
                <a:latin typeface="Courier"/>
              </a:rPr>
              <a:t>-&gt;</a:t>
            </a:r>
            <a:r>
              <a:rPr>
                <a:latin typeface="Courier"/>
              </a:rPr>
              <a:t> Colorado</a:t>
            </a:r>
            <a:r>
              <a:rPr>
                <a:solidFill>
                  <a:srgbClr val="666666"/>
                </a:solidFill>
                <a:latin typeface="Courier"/>
              </a:rPr>
              <a:t>,</a:t>
            </a:r>
            <a:r>
              <a:rPr>
                <a:latin typeface="Courier"/>
              </a:rPr>
              <a:t> CA </a:t>
            </a:r>
            <a:r>
              <a:rPr>
                <a:solidFill>
                  <a:srgbClr val="666666"/>
                </a:solidFill>
                <a:latin typeface="Courier"/>
              </a:rPr>
              <a:t>-&gt;</a:t>
            </a:r>
            <a:r>
              <a:rPr>
                <a:latin typeface="Courier"/>
              </a:rPr>
              <a:t> California</a:t>
            </a:r>
            <a:r>
              <a:rPr>
                <a:solidFill>
                  <a:srgbClr val="666666"/>
                </a:solidFill>
                <a:latin typeface="Courier"/>
              </a:rPr>
              <a:t>,</a:t>
            </a:r>
            <a:r>
              <a:rPr>
                <a:latin typeface="Courier"/>
              </a:rPr>
              <a:t> AK </a:t>
            </a:r>
            <a:r>
              <a:rPr>
                <a:solidFill>
                  <a:srgbClr val="666666"/>
                </a:solidFill>
                <a:latin typeface="Courier"/>
              </a:rPr>
              <a:t>-&gt;</a:t>
            </a:r>
            <a:br/>
            <a:r>
              <a:rPr>
                <a:latin typeface="Courier"/>
              </a:rPr>
              <a:t>Alaska</a:t>
            </a:r>
            <a:r>
              <a:rPr>
                <a:solidFill>
                  <a:srgbClr val="666666"/>
                </a:solidFill>
                <a:latin typeface="Courier"/>
              </a:rPr>
              <a:t>)</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2.5.3 集合类：代码片段（10/14）</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可以通过将Map元素的键重新分配为新值来更新它们： 的执行步骤</a:t>
            </a:r>
          </a:p>
          <a:p>
            <a:pPr lvl="0"/>
            <a:r>
              <a:rPr/>
              <a:t>先对照代码理解 有几种不同的方法可以迭代Map中的元素</a:t>
            </a:r>
          </a:p>
          <a:p>
            <a:pPr lvl="0"/>
            <a:r>
              <a:rPr/>
              <a:t>先对照代码理解 循环所有Map元素的一种好方法是使用以下for循环语法</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a:t>
            </a:r>
            <a:r>
              <a:rPr>
                <a:solidFill>
                  <a:srgbClr val="06287E"/>
                </a:solidFill>
                <a:latin typeface="Courier"/>
              </a:rPr>
              <a:t>states</a:t>
            </a:r>
            <a:r>
              <a:rPr>
                <a:solidFill>
                  <a:srgbClr val="666666"/>
                </a:solidFill>
                <a:latin typeface="Courier"/>
              </a:rPr>
              <a:t>(</a:t>
            </a:r>
            <a:r>
              <a:rPr>
                <a:solidFill>
                  <a:srgbClr val="4070A0"/>
                </a:solidFill>
                <a:latin typeface="Courier"/>
              </a:rPr>
              <a:t>"AK"</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4070A0"/>
                </a:solidFill>
                <a:latin typeface="Courier"/>
              </a:rPr>
              <a:t>"Alaska, A Really Big State"</a:t>
            </a:r>
            <a:br/>
            <a:r>
              <a:rPr>
                <a:latin typeface="Courier"/>
              </a:rPr>
              <a:t>scala</a:t>
            </a:r>
            <a:r>
              <a:rPr>
                <a:solidFill>
                  <a:srgbClr val="666666"/>
                </a:solidFill>
                <a:latin typeface="Courier"/>
              </a:rPr>
              <a:t>&gt;</a:t>
            </a:r>
            <a:r>
              <a:rPr>
                <a:latin typeface="Courier"/>
              </a:rPr>
              <a:t> states</a:t>
            </a:r>
            <a:br/>
            <a:r>
              <a:rPr>
                <a:latin typeface="Courier"/>
              </a:rPr>
              <a:t>res6</a:t>
            </a:r>
            <a:r>
              <a:rPr>
                <a:solidFill>
                  <a:srgbClr val="666666"/>
                </a:solidFill>
                <a:latin typeface="Courier"/>
              </a:rPr>
              <a:t>:</a:t>
            </a:r>
            <a:r>
              <a:rPr>
                <a:latin typeface="Courier"/>
              </a:rPr>
              <a:t> scala</a:t>
            </a:r>
            <a:r>
              <a:rPr>
                <a:solidFill>
                  <a:srgbClr val="666666"/>
                </a:solidFill>
                <a:latin typeface="Courier"/>
              </a:rPr>
              <a:t>.</a:t>
            </a:r>
            <a:r>
              <a:rPr>
                <a:latin typeface="Courier"/>
              </a:rPr>
              <a:t>collection</a:t>
            </a:r>
            <a:r>
              <a:rPr>
                <a:solidFill>
                  <a:srgbClr val="666666"/>
                </a:solidFill>
                <a:latin typeface="Courier"/>
              </a:rPr>
              <a:t>.</a:t>
            </a:r>
            <a:r>
              <a:rPr>
                <a:latin typeface="Courier"/>
              </a:rPr>
              <a:t>mutable</a:t>
            </a:r>
            <a:r>
              <a:rPr>
                <a:solidFill>
                  <a:srgbClr val="666666"/>
                </a:solidFill>
                <a:latin typeface="Courier"/>
              </a:rPr>
              <a:t>.</a:t>
            </a:r>
            <a:r>
              <a:rPr>
                <a:latin typeface="Courier"/>
              </a:rPr>
              <a:t>Map</a:t>
            </a:r>
            <a:r>
              <a:rPr>
                <a:solidFill>
                  <a:srgbClr val="666666"/>
                </a:solidFill>
                <a:latin typeface="Courier"/>
              </a:rPr>
              <a:t>[</a:t>
            </a:r>
            <a:r>
              <a:rPr>
                <a:latin typeface="Courier"/>
              </a:rPr>
              <a:t>String</a:t>
            </a:r>
            <a:r>
              <a:rPr>
                <a:solidFill>
                  <a:srgbClr val="666666"/>
                </a:solidFill>
                <a:latin typeface="Courier"/>
              </a:rPr>
              <a:t>,</a:t>
            </a:r>
            <a:r>
              <a:rPr>
                <a:latin typeface="Courier"/>
              </a:rPr>
              <a:t>String</a:t>
            </a:r>
            <a:r>
              <a:rPr>
                <a:solidFill>
                  <a:srgbClr val="666666"/>
                </a:solidFill>
                <a:latin typeface="Courier"/>
              </a:rPr>
              <a:t>]</a:t>
            </a:r>
            <a:r>
              <a:rPr>
                <a:latin typeface="Courier"/>
              </a:rPr>
              <a:t> </a:t>
            </a:r>
            <a:r>
              <a:rPr>
                <a:solidFill>
                  <a:srgbClr val="666666"/>
                </a:solidFill>
                <a:latin typeface="Courier"/>
              </a:rPr>
              <a:t>=</a:t>
            </a:r>
            <a:r>
              <a:rPr>
                <a:latin typeface="Courier"/>
              </a:rPr>
              <a:t> Map</a:t>
            </a:r>
            <a:r>
              <a:rPr>
                <a:solidFill>
                  <a:srgbClr val="666666"/>
                </a:solidFill>
                <a:latin typeface="Courier"/>
              </a:rPr>
              <a:t>(</a:t>
            </a:r>
            <a:r>
              <a:rPr>
                <a:latin typeface="Courier"/>
              </a:rPr>
              <a:t>CO </a:t>
            </a:r>
            <a:r>
              <a:rPr>
                <a:solidFill>
                  <a:srgbClr val="666666"/>
                </a:solidFill>
                <a:latin typeface="Courier"/>
              </a:rPr>
              <a:t>-&gt;</a:t>
            </a:r>
            <a:br/>
            <a:r>
              <a:rPr>
                <a:latin typeface="Courier"/>
              </a:rPr>
              <a:t>Colorado</a:t>
            </a:r>
            <a:r>
              <a:rPr>
                <a:solidFill>
                  <a:srgbClr val="666666"/>
                </a:solidFill>
                <a:latin typeface="Courier"/>
              </a:rPr>
              <a:t>,</a:t>
            </a:r>
            <a:r>
              <a:rPr>
                <a:latin typeface="Courier"/>
              </a:rPr>
              <a:t> CA </a:t>
            </a:r>
            <a:r>
              <a:rPr>
                <a:solidFill>
                  <a:srgbClr val="666666"/>
                </a:solidFill>
                <a:latin typeface="Courier"/>
              </a:rPr>
              <a:t>-&gt;</a:t>
            </a:r>
            <a:r>
              <a:rPr>
                <a:latin typeface="Courier"/>
              </a:rPr>
              <a:t> California</a:t>
            </a:r>
            <a:r>
              <a:rPr>
                <a:solidFill>
                  <a:srgbClr val="666666"/>
                </a:solidFill>
                <a:latin typeface="Courier"/>
              </a:rPr>
              <a:t>,</a:t>
            </a:r>
            <a:r>
              <a:rPr>
                <a:latin typeface="Courier"/>
              </a:rPr>
              <a:t> AK </a:t>
            </a:r>
            <a:r>
              <a:rPr>
                <a:solidFill>
                  <a:srgbClr val="666666"/>
                </a:solidFill>
                <a:latin typeface="Courier"/>
              </a:rPr>
              <a:t>-&gt;</a:t>
            </a:r>
            <a:r>
              <a:rPr>
                <a:latin typeface="Courier"/>
              </a:rPr>
              <a:t> Alaska</a:t>
            </a:r>
            <a:r>
              <a:rPr>
                <a:solidFill>
                  <a:srgbClr val="666666"/>
                </a:solidFill>
                <a:latin typeface="Courier"/>
              </a:rPr>
              <a:t>,</a:t>
            </a:r>
            <a:r>
              <a:rPr>
                <a:latin typeface="Courier"/>
              </a:rPr>
              <a:t> A Really Big State</a:t>
            </a:r>
            <a:r>
              <a:rPr>
                <a:solidFill>
                  <a:srgbClr val="666666"/>
                </a:solidFill>
                <a:latin typeface="Courier"/>
              </a:rPr>
              <a:t>)</a:t>
            </a:r>
          </a:p>
          <a:p>
            <a:pPr lvl="0" indent="0" marL="0">
              <a:buNone/>
            </a:pPr>
            <a:r>
              <a:rPr/>
              <a:t>片段 2</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ratings </a:t>
            </a:r>
            <a:r>
              <a:rPr>
                <a:solidFill>
                  <a:srgbClr val="666666"/>
                </a:solidFill>
                <a:latin typeface="Courier"/>
              </a:rPr>
              <a:t>=</a:t>
            </a:r>
            <a:r>
              <a:rPr>
                <a:latin typeface="Courier"/>
              </a:rPr>
              <a:t> Map</a:t>
            </a:r>
            <a:r>
              <a:rPr>
                <a:solidFill>
                  <a:srgbClr val="666666"/>
                </a:solidFill>
                <a:latin typeface="Courier"/>
              </a:rPr>
              <a:t>(</a:t>
            </a:r>
            <a:br/>
            <a:r>
              <a:rPr>
                <a:solidFill>
                  <a:srgbClr val="666666"/>
                </a:solidFill>
                <a:latin typeface="Courier"/>
              </a:rPr>
              <a:t>|</a:t>
            </a:r>
            <a:r>
              <a:rPr>
                <a:latin typeface="Courier"/>
              </a:rPr>
              <a:t> </a:t>
            </a:r>
            <a:r>
              <a:rPr>
                <a:solidFill>
                  <a:srgbClr val="4070A0"/>
                </a:solidFill>
                <a:latin typeface="Courier"/>
              </a:rPr>
              <a:t>"Lady in the Water"</a:t>
            </a:r>
            <a:r>
              <a:rPr>
                <a:solidFill>
                  <a:srgbClr val="666666"/>
                </a:solidFill>
                <a:latin typeface="Courier"/>
              </a:rPr>
              <a:t>-&gt;</a:t>
            </a:r>
            <a:r>
              <a:rPr>
                <a:latin typeface="Courier"/>
              </a:rPr>
              <a:t> </a:t>
            </a:r>
            <a:r>
              <a:rPr>
                <a:solidFill>
                  <a:srgbClr val="40A070"/>
                </a:solidFill>
                <a:latin typeface="Courier"/>
              </a:rPr>
              <a:t>3.0</a:t>
            </a:r>
            <a:r>
              <a:rPr>
                <a:solidFill>
                  <a:srgbClr val="666666"/>
                </a:solidFill>
                <a:latin typeface="Courier"/>
              </a:rPr>
              <a:t>,</a:t>
            </a:r>
            <a:br/>
            <a:r>
              <a:rPr>
                <a:solidFill>
                  <a:srgbClr val="666666"/>
                </a:solidFill>
                <a:latin typeface="Courier"/>
              </a:rPr>
              <a:t>|</a:t>
            </a:r>
            <a:r>
              <a:rPr>
                <a:latin typeface="Courier"/>
              </a:rPr>
              <a:t> </a:t>
            </a:r>
            <a:r>
              <a:rPr>
                <a:solidFill>
                  <a:srgbClr val="4070A0"/>
                </a:solidFill>
                <a:latin typeface="Courier"/>
              </a:rPr>
              <a:t>"Snakes on a Plane"</a:t>
            </a:r>
            <a:r>
              <a:rPr>
                <a:solidFill>
                  <a:srgbClr val="666666"/>
                </a:solidFill>
                <a:latin typeface="Courier"/>
              </a:rPr>
              <a:t>-&gt;</a:t>
            </a:r>
            <a:r>
              <a:rPr>
                <a:latin typeface="Courier"/>
              </a:rPr>
              <a:t> </a:t>
            </a:r>
            <a:r>
              <a:rPr>
                <a:solidFill>
                  <a:srgbClr val="40A070"/>
                </a:solidFill>
                <a:latin typeface="Courier"/>
              </a:rPr>
              <a:t>4.0</a:t>
            </a:r>
            <a:r>
              <a:rPr>
                <a:solidFill>
                  <a:srgbClr val="666666"/>
                </a:solidFill>
                <a:latin typeface="Courier"/>
              </a:rPr>
              <a:t>,</a:t>
            </a:r>
            <a:br/>
            <a:r>
              <a:rPr>
                <a:solidFill>
                  <a:srgbClr val="666666"/>
                </a:solidFill>
                <a:latin typeface="Courier"/>
              </a:rPr>
              <a:t>|</a:t>
            </a:r>
            <a:r>
              <a:rPr>
                <a:latin typeface="Courier"/>
              </a:rPr>
              <a:t> </a:t>
            </a:r>
            <a:r>
              <a:rPr>
                <a:solidFill>
                  <a:srgbClr val="4070A0"/>
                </a:solidFill>
                <a:latin typeface="Courier"/>
              </a:rPr>
              <a:t>"You, Me and Dupree"</a:t>
            </a:r>
            <a:r>
              <a:rPr>
                <a:solidFill>
                  <a:srgbClr val="666666"/>
                </a:solidFill>
                <a:latin typeface="Courier"/>
              </a:rPr>
              <a:t>-&gt;</a:t>
            </a:r>
            <a:r>
              <a:rPr>
                <a:latin typeface="Courier"/>
              </a:rPr>
              <a:t> </a:t>
            </a:r>
            <a:r>
              <a:rPr>
                <a:solidFill>
                  <a:srgbClr val="40A070"/>
                </a:solidFill>
                <a:latin typeface="Courier"/>
              </a:rPr>
              <a:t>3.5</a:t>
            </a:r>
            <a:br/>
            <a:r>
              <a:rPr i="1">
                <a:solidFill>
                  <a:srgbClr val="60A0B0"/>
                </a:solidFill>
                <a:latin typeface="Courier"/>
              </a:rPr>
              <a:t>// ...</a:t>
            </a:r>
          </a:p>
          <a:p>
            <a:pPr lvl="0" indent="0" marL="0">
              <a:buNone/>
            </a:pPr>
            <a:r>
              <a:rPr/>
              <a:t>片段 3</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for</a:t>
            </a:r>
            <a:r>
              <a:rPr>
                <a:latin typeface="Courier"/>
              </a:rPr>
              <a:t> </a:t>
            </a:r>
            <a:r>
              <a:rPr>
                <a:solidFill>
                  <a:srgbClr val="666666"/>
                </a:solidFill>
                <a:latin typeface="Courier"/>
              </a:rPr>
              <a:t>((</a:t>
            </a:r>
            <a:r>
              <a:rPr>
                <a:latin typeface="Courier"/>
              </a:rPr>
              <a:t>k</a:t>
            </a:r>
            <a:r>
              <a:rPr>
                <a:solidFill>
                  <a:srgbClr val="666666"/>
                </a:solidFill>
                <a:latin typeface="Courier"/>
              </a:rPr>
              <a:t>,</a:t>
            </a:r>
            <a:r>
              <a:rPr>
                <a:latin typeface="Courier"/>
              </a:rPr>
              <a:t>v</a:t>
            </a:r>
            <a:r>
              <a:rPr>
                <a:solidFill>
                  <a:srgbClr val="666666"/>
                </a:solidFill>
                <a:latin typeface="Courier"/>
              </a:rPr>
              <a:t>)</a:t>
            </a:r>
            <a:r>
              <a:rPr>
                <a:latin typeface="Courier"/>
              </a:rPr>
              <a:t> </a:t>
            </a:r>
            <a:r>
              <a:rPr>
                <a:solidFill>
                  <a:srgbClr val="666666"/>
                </a:solidFill>
                <a:latin typeface="Courier"/>
              </a:rPr>
              <a:t>&lt;-</a:t>
            </a:r>
            <a:r>
              <a:rPr>
                <a:latin typeface="Courier"/>
              </a:rPr>
              <a:t> ratings</a:t>
            </a:r>
            <a:r>
              <a:rPr>
                <a:solidFill>
                  <a:srgbClr val="666666"/>
                </a:solidFill>
                <a:latin typeface="Courier"/>
              </a:rPr>
              <a:t>)</a:t>
            </a:r>
            <a:r>
              <a:rPr>
                <a:latin typeface="Courier"/>
              </a:rPr>
              <a:t> </a:t>
            </a:r>
            <a:r>
              <a:rPr>
                <a:solidFill>
                  <a:srgbClr val="06287E"/>
                </a:solidFill>
                <a:latin typeface="Courier"/>
              </a:rPr>
              <a:t>println</a:t>
            </a:r>
            <a:r>
              <a:rPr>
                <a:solidFill>
                  <a:srgbClr val="666666"/>
                </a:solidFill>
                <a:latin typeface="Courier"/>
              </a:rPr>
              <a:t>(</a:t>
            </a:r>
            <a:r>
              <a:rPr>
                <a:solidFill>
                  <a:srgbClr val="BB6688"/>
                </a:solidFill>
                <a:latin typeface="Courier"/>
              </a:rPr>
              <a:t>s"</a:t>
            </a:r>
            <a:r>
              <a:rPr>
                <a:solidFill>
                  <a:srgbClr val="4070A0"/>
                </a:solidFill>
                <a:latin typeface="Courier"/>
              </a:rPr>
              <a:t>key: </a:t>
            </a:r>
            <a:r>
              <a:rPr>
                <a:solidFill>
                  <a:srgbClr val="BB6688"/>
                </a:solidFill>
                <a:latin typeface="Courier"/>
              </a:rPr>
              <a:t>$k</a:t>
            </a:r>
            <a:r>
              <a:rPr>
                <a:solidFill>
                  <a:srgbClr val="4070A0"/>
                </a:solidFill>
                <a:latin typeface="Courier"/>
              </a:rPr>
              <a:t>, value: </a:t>
            </a:r>
            <a:r>
              <a:rPr>
                <a:solidFill>
                  <a:srgbClr val="BB6688"/>
                </a:solidFill>
                <a:latin typeface="Courier"/>
              </a:rPr>
              <a:t>$v"</a:t>
            </a:r>
            <a:r>
              <a:rPr>
                <a:solidFill>
                  <a:srgbClr val="666666"/>
                </a:solidFill>
                <a:latin typeface="Courier"/>
              </a:rPr>
              <a:t>)</a:t>
            </a:r>
            <a:br/>
            <a:r>
              <a:rPr>
                <a:latin typeface="Courier"/>
              </a:rPr>
              <a:t>key</a:t>
            </a:r>
            <a:r>
              <a:rPr>
                <a:solidFill>
                  <a:srgbClr val="666666"/>
                </a:solidFill>
                <a:latin typeface="Courier"/>
              </a:rPr>
              <a:t>:</a:t>
            </a:r>
            <a:r>
              <a:rPr>
                <a:latin typeface="Courier"/>
              </a:rPr>
              <a:t> Snakes on a Plane</a:t>
            </a:r>
            <a:r>
              <a:rPr>
                <a:solidFill>
                  <a:srgbClr val="666666"/>
                </a:solidFill>
                <a:latin typeface="Courier"/>
              </a:rPr>
              <a:t>,</a:t>
            </a:r>
            <a:r>
              <a:rPr>
                <a:latin typeface="Courier"/>
              </a:rPr>
              <a:t> value</a:t>
            </a:r>
            <a:r>
              <a:rPr>
                <a:solidFill>
                  <a:srgbClr val="666666"/>
                </a:solidFill>
                <a:latin typeface="Courier"/>
              </a:rPr>
              <a:t>:</a:t>
            </a:r>
            <a:r>
              <a:rPr>
                <a:latin typeface="Courier"/>
              </a:rPr>
              <a:t> </a:t>
            </a:r>
            <a:r>
              <a:rPr>
                <a:solidFill>
                  <a:srgbClr val="40A070"/>
                </a:solidFill>
                <a:latin typeface="Courier"/>
              </a:rPr>
              <a:t>4.0</a:t>
            </a:r>
            <a:br/>
            <a:r>
              <a:rPr>
                <a:latin typeface="Courier"/>
              </a:rPr>
              <a:t>key</a:t>
            </a:r>
            <a:r>
              <a:rPr>
                <a:solidFill>
                  <a:srgbClr val="666666"/>
                </a:solidFill>
                <a:latin typeface="Courier"/>
              </a:rPr>
              <a:t>:</a:t>
            </a:r>
            <a:r>
              <a:rPr>
                <a:latin typeface="Courier"/>
              </a:rPr>
              <a:t> Lady in the Water</a:t>
            </a:r>
            <a:r>
              <a:rPr>
                <a:solidFill>
                  <a:srgbClr val="666666"/>
                </a:solidFill>
                <a:latin typeface="Courier"/>
              </a:rPr>
              <a:t>,</a:t>
            </a:r>
            <a:r>
              <a:rPr>
                <a:latin typeface="Courier"/>
              </a:rPr>
              <a:t> value</a:t>
            </a:r>
            <a:r>
              <a:rPr>
                <a:solidFill>
                  <a:srgbClr val="666666"/>
                </a:solidFill>
                <a:latin typeface="Courier"/>
              </a:rPr>
              <a:t>:</a:t>
            </a:r>
            <a:r>
              <a:rPr>
                <a:latin typeface="Courier"/>
              </a:rPr>
              <a:t> </a:t>
            </a:r>
            <a:r>
              <a:rPr>
                <a:solidFill>
                  <a:srgbClr val="40A070"/>
                </a:solidFill>
                <a:latin typeface="Courier"/>
              </a:rPr>
              <a:t>3.0</a:t>
            </a:r>
            <a:br/>
            <a:r>
              <a:rPr>
                <a:latin typeface="Courier"/>
              </a:rPr>
              <a:t>key</a:t>
            </a:r>
            <a:r>
              <a:rPr>
                <a:solidFill>
                  <a:srgbClr val="666666"/>
                </a:solidFill>
                <a:latin typeface="Courier"/>
              </a:rPr>
              <a:t>:</a:t>
            </a:r>
            <a:r>
              <a:rPr>
                <a:latin typeface="Courier"/>
              </a:rPr>
              <a:t> You</a:t>
            </a:r>
            <a:r>
              <a:rPr>
                <a:solidFill>
                  <a:srgbClr val="666666"/>
                </a:solidFill>
                <a:latin typeface="Courier"/>
              </a:rPr>
              <a:t>,</a:t>
            </a:r>
            <a:r>
              <a:rPr>
                <a:latin typeface="Courier"/>
              </a:rPr>
              <a:t> Me and Dupree</a:t>
            </a:r>
            <a:r>
              <a:rPr>
                <a:solidFill>
                  <a:srgbClr val="666666"/>
                </a:solidFill>
                <a:latin typeface="Courier"/>
              </a:rPr>
              <a:t>,</a:t>
            </a:r>
            <a:r>
              <a:rPr>
                <a:latin typeface="Courier"/>
              </a:rPr>
              <a:t> value</a:t>
            </a:r>
            <a:r>
              <a:rPr>
                <a:solidFill>
                  <a:srgbClr val="666666"/>
                </a:solidFill>
                <a:latin typeface="Courier"/>
              </a:rPr>
              <a:t>:</a:t>
            </a:r>
            <a:r>
              <a:rPr>
                <a:latin typeface="Courier"/>
              </a:rPr>
              <a:t> </a:t>
            </a:r>
            <a:r>
              <a:rPr>
                <a:solidFill>
                  <a:srgbClr val="40A070"/>
                </a:solidFill>
                <a:latin typeface="Courier"/>
              </a:rPr>
              <a:t>3.5</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2.5.3 集合类：代码片段（11/14）</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将match表达式与foreach方法一起使用也很容易理解</a:t>
            </a:r>
          </a:p>
          <a:p>
            <a:pPr lvl="0"/>
            <a:r>
              <a:rPr/>
              <a:t>先对照代码理解 Scala Set类是一个可迭代的集合</a:t>
            </a:r>
          </a:p>
          <a:p>
            <a:pPr lvl="0"/>
            <a:r>
              <a:rPr/>
              <a:t>先对照代码理解 可以使用“+=”</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ratings</a:t>
            </a:r>
            <a:r>
              <a:rPr>
                <a:solidFill>
                  <a:srgbClr val="666666"/>
                </a:solidFill>
                <a:latin typeface="Courier"/>
              </a:rPr>
              <a:t>.</a:t>
            </a:r>
            <a:r>
              <a:rPr>
                <a:latin typeface="Courier"/>
              </a:rPr>
              <a:t>foreach </a:t>
            </a:r>
            <a:r>
              <a:rPr>
                <a:solidFill>
                  <a:srgbClr val="666666"/>
                </a:solidFill>
                <a:latin typeface="Courier"/>
              </a:rPr>
              <a:t>{</a:t>
            </a:r>
            <a:br/>
            <a:r>
              <a:rPr>
                <a:solidFill>
                  <a:srgbClr val="666666"/>
                </a:solidFill>
                <a:latin typeface="Courier"/>
              </a:rPr>
              <a:t>|</a:t>
            </a:r>
            <a:r>
              <a:rPr>
                <a:latin typeface="Courier"/>
              </a:rPr>
              <a:t> </a:t>
            </a:r>
            <a:r>
              <a:rPr b="1">
                <a:solidFill>
                  <a:srgbClr val="007020"/>
                </a:solidFill>
                <a:latin typeface="Courier"/>
              </a:rPr>
              <a:t>case</a:t>
            </a:r>
            <a:r>
              <a:rPr>
                <a:solidFill>
                  <a:srgbClr val="666666"/>
                </a:solidFill>
                <a:latin typeface="Courier"/>
              </a:rPr>
              <a:t>(</a:t>
            </a:r>
            <a:r>
              <a:rPr>
                <a:latin typeface="Courier"/>
              </a:rPr>
              <a:t>movie</a:t>
            </a:r>
            <a:r>
              <a:rPr>
                <a:solidFill>
                  <a:srgbClr val="666666"/>
                </a:solidFill>
                <a:latin typeface="Courier"/>
              </a:rPr>
              <a:t>,</a:t>
            </a:r>
            <a:r>
              <a:rPr>
                <a:latin typeface="Courier"/>
              </a:rPr>
              <a:t> rating</a:t>
            </a:r>
            <a:r>
              <a:rPr>
                <a:solidFill>
                  <a:srgbClr val="666666"/>
                </a:solidFill>
                <a:latin typeface="Courier"/>
              </a:rPr>
              <a:t>)</a:t>
            </a:r>
            <a:r>
              <a:rPr>
                <a:latin typeface="Courier"/>
              </a:rPr>
              <a:t> </a:t>
            </a:r>
            <a:r>
              <a:rPr>
                <a:solidFill>
                  <a:srgbClr val="666666"/>
                </a:solidFill>
                <a:latin typeface="Courier"/>
              </a:rPr>
              <a:t>=&gt;</a:t>
            </a:r>
            <a:r>
              <a:rPr>
                <a:latin typeface="Courier"/>
              </a:rPr>
              <a:t> </a:t>
            </a:r>
            <a:r>
              <a:rPr>
                <a:solidFill>
                  <a:srgbClr val="06287E"/>
                </a:solidFill>
                <a:latin typeface="Courier"/>
              </a:rPr>
              <a:t>println</a:t>
            </a:r>
            <a:r>
              <a:rPr>
                <a:solidFill>
                  <a:srgbClr val="666666"/>
                </a:solidFill>
                <a:latin typeface="Courier"/>
              </a:rPr>
              <a:t>(</a:t>
            </a:r>
            <a:r>
              <a:rPr>
                <a:solidFill>
                  <a:srgbClr val="BB6688"/>
                </a:solidFill>
                <a:latin typeface="Courier"/>
              </a:rPr>
              <a:t>s"</a:t>
            </a:r>
            <a:r>
              <a:rPr>
                <a:solidFill>
                  <a:srgbClr val="4070A0"/>
                </a:solidFill>
                <a:latin typeface="Courier"/>
              </a:rPr>
              <a:t>key: </a:t>
            </a:r>
            <a:r>
              <a:rPr>
                <a:solidFill>
                  <a:srgbClr val="BB6688"/>
                </a:solidFill>
                <a:latin typeface="Courier"/>
              </a:rPr>
              <a:t>$movie</a:t>
            </a:r>
            <a:r>
              <a:rPr>
                <a:solidFill>
                  <a:srgbClr val="4070A0"/>
                </a:solidFill>
                <a:latin typeface="Courier"/>
              </a:rPr>
              <a:t>, value: </a:t>
            </a:r>
            <a:r>
              <a:rPr>
                <a:solidFill>
                  <a:srgbClr val="BB6688"/>
                </a:solidFill>
                <a:latin typeface="Courier"/>
              </a:rPr>
              <a:t>$rating"</a:t>
            </a:r>
            <a:r>
              <a:rPr>
                <a:solidFill>
                  <a:srgbClr val="666666"/>
                </a:solidFill>
                <a:latin typeface="Courier"/>
              </a:rPr>
              <a:t>)</a:t>
            </a:r>
            <a:br/>
            <a:r>
              <a:rPr>
                <a:solidFill>
                  <a:srgbClr val="666666"/>
                </a:solidFill>
                <a:latin typeface="Courier"/>
              </a:rPr>
              <a:t>|</a:t>
            </a:r>
            <a:r>
              <a:rPr>
                <a:latin typeface="Courier"/>
              </a:rPr>
              <a:t> </a:t>
            </a:r>
            <a:r>
              <a:rPr>
                <a:solidFill>
                  <a:srgbClr val="666666"/>
                </a:solidFill>
                <a:latin typeface="Courier"/>
              </a:rPr>
              <a:t>}</a:t>
            </a:r>
            <a:br/>
            <a:r>
              <a:rPr>
                <a:latin typeface="Courier"/>
              </a:rPr>
              <a:t>key</a:t>
            </a:r>
            <a:r>
              <a:rPr>
                <a:solidFill>
                  <a:srgbClr val="666666"/>
                </a:solidFill>
                <a:latin typeface="Courier"/>
              </a:rPr>
              <a:t>:</a:t>
            </a:r>
            <a:r>
              <a:rPr>
                <a:latin typeface="Courier"/>
              </a:rPr>
              <a:t> Snakes on a Plane</a:t>
            </a:r>
            <a:r>
              <a:rPr>
                <a:solidFill>
                  <a:srgbClr val="666666"/>
                </a:solidFill>
                <a:latin typeface="Courier"/>
              </a:rPr>
              <a:t>,</a:t>
            </a:r>
            <a:r>
              <a:rPr>
                <a:latin typeface="Courier"/>
              </a:rPr>
              <a:t> value</a:t>
            </a:r>
            <a:r>
              <a:rPr>
                <a:solidFill>
                  <a:srgbClr val="666666"/>
                </a:solidFill>
                <a:latin typeface="Courier"/>
              </a:rPr>
              <a:t>:</a:t>
            </a:r>
            <a:r>
              <a:rPr>
                <a:latin typeface="Courier"/>
              </a:rPr>
              <a:t> </a:t>
            </a:r>
            <a:r>
              <a:rPr>
                <a:solidFill>
                  <a:srgbClr val="40A070"/>
                </a:solidFill>
                <a:latin typeface="Courier"/>
              </a:rPr>
              <a:t>4.0</a:t>
            </a:r>
            <a:br/>
            <a:r>
              <a:rPr i="1">
                <a:solidFill>
                  <a:srgbClr val="60A0B0"/>
                </a:solidFill>
                <a:latin typeface="Courier"/>
              </a:rPr>
              <a:t>// ...</a:t>
            </a:r>
          </a:p>
          <a:p>
            <a:pPr lvl="0" indent="0" marL="0">
              <a:buNone/>
            </a:pPr>
            <a:r>
              <a:rPr/>
              <a:t>片段 2</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set </a:t>
            </a:r>
            <a:r>
              <a:rPr>
                <a:solidFill>
                  <a:srgbClr val="666666"/>
                </a:solidFill>
                <a:latin typeface="Courier"/>
              </a:rPr>
              <a:t>=</a:t>
            </a:r>
            <a:r>
              <a:rPr>
                <a:latin typeface="Courier"/>
              </a:rPr>
              <a:t> scala</a:t>
            </a:r>
            <a:r>
              <a:rPr>
                <a:solidFill>
                  <a:srgbClr val="666666"/>
                </a:solidFill>
                <a:latin typeface="Courier"/>
              </a:rPr>
              <a:t>.</a:t>
            </a:r>
            <a:r>
              <a:rPr>
                <a:latin typeface="Courier"/>
              </a:rPr>
              <a:t>collection</a:t>
            </a:r>
            <a:r>
              <a:rPr>
                <a:solidFill>
                  <a:srgbClr val="666666"/>
                </a:solidFill>
                <a:latin typeface="Courier"/>
              </a:rPr>
              <a:t>.</a:t>
            </a:r>
            <a:r>
              <a:rPr>
                <a:latin typeface="Courier"/>
              </a:rPr>
              <a:t>mutable</a:t>
            </a:r>
            <a:r>
              <a:rPr>
                <a:solidFill>
                  <a:srgbClr val="666666"/>
                </a:solidFill>
                <a:latin typeface="Courier"/>
              </a:rPr>
              <a:t>.</a:t>
            </a:r>
            <a:r>
              <a:rPr>
                <a:latin typeface="Courier"/>
              </a:rPr>
              <a:t>Set</a:t>
            </a:r>
            <a:r>
              <a:rPr>
                <a:solidFill>
                  <a:srgbClr val="666666"/>
                </a:solidFill>
                <a:latin typeface="Courier"/>
              </a:rPr>
              <a:t>[</a:t>
            </a:r>
            <a:r>
              <a:rPr>
                <a:solidFill>
                  <a:srgbClr val="008000"/>
                </a:solidFill>
                <a:latin typeface="Courier"/>
              </a:rPr>
              <a:t>Int</a:t>
            </a:r>
            <a:r>
              <a:rPr>
                <a:solidFill>
                  <a:srgbClr val="666666"/>
                </a:solidFill>
                <a:latin typeface="Courier"/>
              </a:rPr>
              <a:t>]()</a:t>
            </a:r>
            <a:br/>
            <a:r>
              <a:rPr>
                <a:latin typeface="Courier"/>
              </a:rPr>
              <a:t>set</a:t>
            </a:r>
            <a:r>
              <a:rPr>
                <a:solidFill>
                  <a:srgbClr val="666666"/>
                </a:solidFill>
                <a:latin typeface="Courier"/>
              </a:rPr>
              <a:t>:</a:t>
            </a:r>
            <a:r>
              <a:rPr>
                <a:latin typeface="Courier"/>
              </a:rPr>
              <a:t> scala</a:t>
            </a:r>
            <a:r>
              <a:rPr>
                <a:solidFill>
                  <a:srgbClr val="666666"/>
                </a:solidFill>
                <a:latin typeface="Courier"/>
              </a:rPr>
              <a:t>.</a:t>
            </a:r>
            <a:r>
              <a:rPr>
                <a:latin typeface="Courier"/>
              </a:rPr>
              <a:t>collection</a:t>
            </a:r>
            <a:r>
              <a:rPr>
                <a:solidFill>
                  <a:srgbClr val="666666"/>
                </a:solidFill>
                <a:latin typeface="Courier"/>
              </a:rPr>
              <a:t>.</a:t>
            </a:r>
            <a:r>
              <a:rPr>
                <a:latin typeface="Courier"/>
              </a:rPr>
              <a:t>mutable</a:t>
            </a:r>
            <a:r>
              <a:rPr>
                <a:solidFill>
                  <a:srgbClr val="666666"/>
                </a:solidFill>
                <a:latin typeface="Courier"/>
              </a:rPr>
              <a:t>.</a:t>
            </a:r>
            <a:r>
              <a:rPr>
                <a:latin typeface="Courier"/>
              </a:rPr>
              <a:t>Set</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Set</a:t>
            </a:r>
            <a:r>
              <a:rPr>
                <a:solidFill>
                  <a:srgbClr val="666666"/>
                </a:solidFill>
                <a:latin typeface="Courier"/>
              </a:rPr>
              <a:t>()</a:t>
            </a:r>
          </a:p>
          <a:p>
            <a:pPr lvl="0" indent="0" marL="0">
              <a:buNone/>
            </a:pPr>
            <a:r>
              <a:rPr/>
              <a:t>片段 3</a:t>
            </a:r>
          </a:p>
          <a:p>
            <a:pPr lvl="0" indent="0">
              <a:buNone/>
            </a:pPr>
            <a:r>
              <a:rPr>
                <a:latin typeface="Courier"/>
              </a:rPr>
              <a:t>scala</a:t>
            </a:r>
            <a:r>
              <a:rPr>
                <a:solidFill>
                  <a:srgbClr val="666666"/>
                </a:solidFill>
                <a:latin typeface="Courier"/>
              </a:rPr>
              <a:t>&gt;</a:t>
            </a:r>
            <a:r>
              <a:rPr>
                <a:latin typeface="Courier"/>
              </a:rPr>
              <a:t> set </a:t>
            </a:r>
            <a:r>
              <a:rPr>
                <a:solidFill>
                  <a:srgbClr val="666666"/>
                </a:solidFill>
                <a:latin typeface="Courier"/>
              </a:rPr>
              <a:t>+=</a:t>
            </a:r>
            <a:r>
              <a:rPr>
                <a:latin typeface="Courier"/>
              </a:rPr>
              <a:t> </a:t>
            </a:r>
            <a:r>
              <a:rPr>
                <a:solidFill>
                  <a:srgbClr val="40A070"/>
                </a:solidFill>
                <a:latin typeface="Courier"/>
              </a:rPr>
              <a:t>1</a:t>
            </a:r>
            <a:br/>
            <a:r>
              <a:rPr b="1">
                <a:solidFill>
                  <a:srgbClr val="007020"/>
                </a:solidFill>
                <a:latin typeface="Courier"/>
              </a:rPr>
              <a:t>val</a:t>
            </a:r>
            <a:r>
              <a:rPr>
                <a:latin typeface="Courier"/>
              </a:rPr>
              <a:t> res0</a:t>
            </a:r>
            <a:r>
              <a:rPr>
                <a:solidFill>
                  <a:srgbClr val="666666"/>
                </a:solidFill>
                <a:latin typeface="Courier"/>
              </a:rPr>
              <a:t>:</a:t>
            </a:r>
            <a:r>
              <a:rPr>
                <a:latin typeface="Courier"/>
              </a:rPr>
              <a:t> scala</a:t>
            </a:r>
            <a:r>
              <a:rPr>
                <a:solidFill>
                  <a:srgbClr val="666666"/>
                </a:solidFill>
                <a:latin typeface="Courier"/>
              </a:rPr>
              <a:t>.</a:t>
            </a:r>
            <a:r>
              <a:rPr>
                <a:latin typeface="Courier"/>
              </a:rPr>
              <a:t>collection</a:t>
            </a:r>
            <a:r>
              <a:rPr>
                <a:solidFill>
                  <a:srgbClr val="666666"/>
                </a:solidFill>
                <a:latin typeface="Courier"/>
              </a:rPr>
              <a:t>.</a:t>
            </a:r>
            <a:r>
              <a:rPr>
                <a:latin typeface="Courier"/>
              </a:rPr>
              <a:t>mutable</a:t>
            </a:r>
            <a:r>
              <a:rPr>
                <a:solidFill>
                  <a:srgbClr val="666666"/>
                </a:solidFill>
                <a:latin typeface="Courier"/>
              </a:rPr>
              <a:t>.</a:t>
            </a:r>
            <a:r>
              <a:rPr>
                <a:latin typeface="Courier"/>
              </a:rPr>
              <a:t>Set</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Set</a:t>
            </a:r>
            <a:r>
              <a:rPr>
                <a:solidFill>
                  <a:srgbClr val="666666"/>
                </a:solidFill>
                <a:latin typeface="Courier"/>
              </a:rPr>
              <a:t>(</a:t>
            </a:r>
            <a:r>
              <a:rPr>
                <a:solidFill>
                  <a:srgbClr val="40A070"/>
                </a:solidFill>
                <a:latin typeface="Courier"/>
              </a:rPr>
              <a:t>1</a:t>
            </a:r>
            <a:r>
              <a:rPr>
                <a:solidFill>
                  <a:srgbClr val="666666"/>
                </a:solidFill>
                <a:latin typeface="Courier"/>
              </a:rPr>
              <a:t>)</a:t>
            </a:r>
            <a:br/>
            <a:r>
              <a:rPr>
                <a:latin typeface="Courier"/>
              </a:rPr>
              <a:t>scala</a:t>
            </a:r>
            <a:r>
              <a:rPr>
                <a:solidFill>
                  <a:srgbClr val="666666"/>
                </a:solidFill>
                <a:latin typeface="Courier"/>
              </a:rPr>
              <a:t>&gt;</a:t>
            </a:r>
            <a:r>
              <a:rPr>
                <a:latin typeface="Courier"/>
              </a:rPr>
              <a:t> set </a:t>
            </a:r>
            <a:r>
              <a:rPr>
                <a:solidFill>
                  <a:srgbClr val="666666"/>
                </a:solidFill>
                <a:latin typeface="Courier"/>
              </a:rPr>
              <a:t>+=</a:t>
            </a:r>
            <a:r>
              <a:rPr>
                <a:latin typeface="Courier"/>
              </a:rPr>
              <a:t> </a:t>
            </a:r>
            <a:r>
              <a:rPr>
                <a:solidFill>
                  <a:srgbClr val="40A070"/>
                </a:solidFill>
                <a:latin typeface="Courier"/>
              </a:rPr>
              <a:t>2</a:t>
            </a:r>
            <a:r>
              <a:rPr>
                <a:latin typeface="Courier"/>
              </a:rPr>
              <a:t> </a:t>
            </a:r>
            <a:r>
              <a:rPr>
                <a:solidFill>
                  <a:srgbClr val="666666"/>
                </a:solidFill>
                <a:latin typeface="Courier"/>
              </a:rPr>
              <a:t>+=</a:t>
            </a:r>
            <a:r>
              <a:rPr>
                <a:latin typeface="Courier"/>
              </a:rPr>
              <a:t> </a:t>
            </a:r>
            <a:r>
              <a:rPr>
                <a:solidFill>
                  <a:srgbClr val="40A070"/>
                </a:solidFill>
                <a:latin typeface="Courier"/>
              </a:rPr>
              <a:t>3</a:t>
            </a:r>
            <a:br/>
            <a:r>
              <a:rPr b="1">
                <a:solidFill>
                  <a:srgbClr val="007020"/>
                </a:solidFill>
                <a:latin typeface="Courier"/>
              </a:rPr>
              <a:t>val</a:t>
            </a:r>
            <a:r>
              <a:rPr>
                <a:latin typeface="Courier"/>
              </a:rPr>
              <a:t> res1</a:t>
            </a:r>
            <a:r>
              <a:rPr>
                <a:solidFill>
                  <a:srgbClr val="666666"/>
                </a:solidFill>
                <a:latin typeface="Courier"/>
              </a:rPr>
              <a:t>:</a:t>
            </a:r>
            <a:r>
              <a:rPr>
                <a:latin typeface="Courier"/>
              </a:rPr>
              <a:t> scala</a:t>
            </a:r>
            <a:r>
              <a:rPr>
                <a:solidFill>
                  <a:srgbClr val="666666"/>
                </a:solidFill>
                <a:latin typeface="Courier"/>
              </a:rPr>
              <a:t>.</a:t>
            </a:r>
            <a:r>
              <a:rPr>
                <a:latin typeface="Courier"/>
              </a:rPr>
              <a:t>collection</a:t>
            </a:r>
            <a:r>
              <a:rPr>
                <a:solidFill>
                  <a:srgbClr val="666666"/>
                </a:solidFill>
                <a:latin typeface="Courier"/>
              </a:rPr>
              <a:t>.</a:t>
            </a:r>
            <a:r>
              <a:rPr>
                <a:latin typeface="Courier"/>
              </a:rPr>
              <a:t>mutable</a:t>
            </a:r>
            <a:r>
              <a:rPr>
                <a:solidFill>
                  <a:srgbClr val="666666"/>
                </a:solidFill>
                <a:latin typeface="Courier"/>
              </a:rPr>
              <a:t>.</a:t>
            </a:r>
            <a:r>
              <a:rPr>
                <a:latin typeface="Courier"/>
              </a:rPr>
              <a:t>Set</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Set</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br/>
            <a:r>
              <a:rPr i="1">
                <a:solidFill>
                  <a:srgbClr val="60A0B0"/>
                </a:solidFill>
                <a:latin typeface="Courier"/>
              </a:rPr>
              <a:t>// ...</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2.5.3 集合类：代码片段（12/14）</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如果您尝试将值添加到其中已存在的集合中</a:t>
            </a:r>
          </a:p>
          <a:p>
            <a:pPr lvl="0"/>
            <a:r>
              <a:rPr/>
              <a:t>先对照代码理解 Set还具有add方法</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set </a:t>
            </a:r>
            <a:r>
              <a:rPr>
                <a:solidFill>
                  <a:srgbClr val="666666"/>
                </a:solidFill>
                <a:latin typeface="Courier"/>
              </a:rPr>
              <a:t>+=</a:t>
            </a:r>
            <a:r>
              <a:rPr>
                <a:latin typeface="Courier"/>
              </a:rPr>
              <a:t> </a:t>
            </a:r>
            <a:r>
              <a:rPr>
                <a:solidFill>
                  <a:srgbClr val="40A070"/>
                </a:solidFill>
                <a:latin typeface="Courier"/>
              </a:rPr>
              <a:t>2</a:t>
            </a:r>
            <a:br/>
            <a:r>
              <a:rPr b="1">
                <a:solidFill>
                  <a:srgbClr val="007020"/>
                </a:solidFill>
                <a:latin typeface="Courier"/>
              </a:rPr>
              <a:t>val</a:t>
            </a:r>
            <a:r>
              <a:rPr>
                <a:latin typeface="Courier"/>
              </a:rPr>
              <a:t> res3</a:t>
            </a:r>
            <a:r>
              <a:rPr>
                <a:solidFill>
                  <a:srgbClr val="666666"/>
                </a:solidFill>
                <a:latin typeface="Courier"/>
              </a:rPr>
              <a:t>:</a:t>
            </a:r>
            <a:r>
              <a:rPr>
                <a:latin typeface="Courier"/>
              </a:rPr>
              <a:t> scala</a:t>
            </a:r>
            <a:r>
              <a:rPr>
                <a:solidFill>
                  <a:srgbClr val="666666"/>
                </a:solidFill>
                <a:latin typeface="Courier"/>
              </a:rPr>
              <a:t>.</a:t>
            </a:r>
            <a:r>
              <a:rPr>
                <a:latin typeface="Courier"/>
              </a:rPr>
              <a:t>collection</a:t>
            </a:r>
            <a:r>
              <a:rPr>
                <a:solidFill>
                  <a:srgbClr val="666666"/>
                </a:solidFill>
                <a:latin typeface="Courier"/>
              </a:rPr>
              <a:t>.</a:t>
            </a:r>
            <a:r>
              <a:rPr>
                <a:latin typeface="Courier"/>
              </a:rPr>
              <a:t>mutable</a:t>
            </a:r>
            <a:r>
              <a:rPr>
                <a:solidFill>
                  <a:srgbClr val="666666"/>
                </a:solidFill>
                <a:latin typeface="Courier"/>
              </a:rPr>
              <a:t>.</a:t>
            </a:r>
            <a:r>
              <a:rPr>
                <a:latin typeface="Courier"/>
              </a:rPr>
              <a:t>Set</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Set</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5</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r>
              <a:rPr>
                <a:latin typeface="Courier"/>
              </a:rPr>
              <a:t> </a:t>
            </a:r>
            <a:r>
              <a:rPr>
                <a:solidFill>
                  <a:srgbClr val="40A070"/>
                </a:solidFill>
                <a:latin typeface="Courier"/>
              </a:rPr>
              <a:t>4</a:t>
            </a:r>
            <a:r>
              <a:rPr>
                <a:solidFill>
                  <a:srgbClr val="666666"/>
                </a:solidFill>
                <a:latin typeface="Courier"/>
              </a:rPr>
              <a:t>)</a:t>
            </a:r>
          </a:p>
          <a:p>
            <a:pPr lvl="0" indent="0" marL="0">
              <a:buNone/>
            </a:pPr>
            <a:r>
              <a:rPr/>
              <a:t>片段 2</a:t>
            </a:r>
          </a:p>
          <a:p>
            <a:pPr lvl="0" indent="0">
              <a:buNone/>
            </a:pPr>
            <a:r>
              <a:rPr>
                <a:latin typeface="Courier"/>
              </a:rPr>
              <a:t>scala</a:t>
            </a:r>
            <a:r>
              <a:rPr>
                <a:solidFill>
                  <a:srgbClr val="666666"/>
                </a:solidFill>
                <a:latin typeface="Courier"/>
              </a:rPr>
              <a:t>&gt;</a:t>
            </a:r>
            <a:r>
              <a:rPr>
                <a:latin typeface="Courier"/>
              </a:rPr>
              <a:t> set</a:t>
            </a:r>
            <a:r>
              <a:rPr>
                <a:solidFill>
                  <a:srgbClr val="666666"/>
                </a:solidFill>
                <a:latin typeface="Courier"/>
              </a:rPr>
              <a:t>.</a:t>
            </a:r>
            <a:r>
              <a:rPr>
                <a:solidFill>
                  <a:srgbClr val="06287E"/>
                </a:solidFill>
                <a:latin typeface="Courier"/>
              </a:rPr>
              <a:t>add</a:t>
            </a:r>
            <a:r>
              <a:rPr>
                <a:solidFill>
                  <a:srgbClr val="666666"/>
                </a:solidFill>
                <a:latin typeface="Courier"/>
              </a:rPr>
              <a:t>(</a:t>
            </a:r>
            <a:r>
              <a:rPr>
                <a:solidFill>
                  <a:srgbClr val="40A070"/>
                </a:solidFill>
                <a:latin typeface="Courier"/>
              </a:rPr>
              <a:t>6</a:t>
            </a:r>
            <a:r>
              <a:rPr>
                <a:solidFill>
                  <a:srgbClr val="666666"/>
                </a:solidFill>
                <a:latin typeface="Courier"/>
              </a:rPr>
              <a:t>)</a:t>
            </a:r>
            <a:br/>
            <a:r>
              <a:rPr>
                <a:latin typeface="Courier"/>
              </a:rPr>
              <a:t>res4</a:t>
            </a:r>
            <a:r>
              <a:rPr>
                <a:solidFill>
                  <a:srgbClr val="666666"/>
                </a:solidFill>
                <a:latin typeface="Courier"/>
              </a:rPr>
              <a:t>:</a:t>
            </a:r>
            <a:r>
              <a:rPr>
                <a:latin typeface="Courier"/>
              </a:rPr>
              <a:t> Boolean </a:t>
            </a:r>
            <a:r>
              <a:rPr>
                <a:solidFill>
                  <a:srgbClr val="666666"/>
                </a:solidFill>
                <a:latin typeface="Courier"/>
              </a:rPr>
              <a:t>=</a:t>
            </a:r>
            <a:r>
              <a:rPr>
                <a:latin typeface="Courier"/>
              </a:rPr>
              <a:t> </a:t>
            </a:r>
            <a:r>
              <a:rPr b="1">
                <a:solidFill>
                  <a:srgbClr val="007020"/>
                </a:solidFill>
                <a:latin typeface="Courier"/>
              </a:rPr>
              <a:t>true</a:t>
            </a:r>
            <a:br/>
            <a:r>
              <a:rPr>
                <a:latin typeface="Courier"/>
              </a:rPr>
              <a:t>scala</a:t>
            </a:r>
            <a:r>
              <a:rPr>
                <a:solidFill>
                  <a:srgbClr val="666666"/>
                </a:solidFill>
                <a:latin typeface="Courier"/>
              </a:rPr>
              <a:t>&gt;</a:t>
            </a:r>
            <a:r>
              <a:rPr>
                <a:latin typeface="Courier"/>
              </a:rPr>
              <a:t> set</a:t>
            </a:r>
            <a:r>
              <a:rPr>
                <a:solidFill>
                  <a:srgbClr val="666666"/>
                </a:solidFill>
                <a:latin typeface="Courier"/>
              </a:rPr>
              <a:t>.</a:t>
            </a:r>
            <a:r>
              <a:rPr>
                <a:solidFill>
                  <a:srgbClr val="06287E"/>
                </a:solidFill>
                <a:latin typeface="Courier"/>
              </a:rPr>
              <a:t>add</a:t>
            </a:r>
            <a:r>
              <a:rPr>
                <a:solidFill>
                  <a:srgbClr val="666666"/>
                </a:solidFill>
                <a:latin typeface="Courier"/>
              </a:rPr>
              <a:t>(</a:t>
            </a:r>
            <a:r>
              <a:rPr>
                <a:solidFill>
                  <a:srgbClr val="40A070"/>
                </a:solidFill>
                <a:latin typeface="Courier"/>
              </a:rPr>
              <a:t>5</a:t>
            </a:r>
            <a:r>
              <a:rPr>
                <a:solidFill>
                  <a:srgbClr val="666666"/>
                </a:solidFill>
                <a:latin typeface="Courier"/>
              </a:rPr>
              <a:t>)</a:t>
            </a:r>
            <a:br/>
            <a:r>
              <a:rPr>
                <a:latin typeface="Courier"/>
              </a:rPr>
              <a:t>res5</a:t>
            </a:r>
            <a:r>
              <a:rPr>
                <a:solidFill>
                  <a:srgbClr val="666666"/>
                </a:solidFill>
                <a:latin typeface="Courier"/>
              </a:rPr>
              <a:t>:</a:t>
            </a:r>
            <a:r>
              <a:rPr>
                <a:latin typeface="Courier"/>
              </a:rPr>
              <a:t> Boolean </a:t>
            </a:r>
            <a:r>
              <a:rPr>
                <a:solidFill>
                  <a:srgbClr val="666666"/>
                </a:solidFill>
                <a:latin typeface="Courier"/>
              </a:rPr>
              <a:t>=</a:t>
            </a:r>
            <a:r>
              <a:rPr>
                <a:latin typeface="Courier"/>
              </a:rPr>
              <a:t> </a:t>
            </a:r>
            <a:r>
              <a:rPr b="1">
                <a:solidFill>
                  <a:srgbClr val="007020"/>
                </a:solidFill>
                <a:latin typeface="Courier"/>
              </a:rPr>
              <a:t>false</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2.5.3 集合类：代码片段（13/14）</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可以使用“-=”和“-=”方法从集合中删除元素</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set </a:t>
            </a:r>
            <a:r>
              <a:rPr>
                <a:solidFill>
                  <a:srgbClr val="666666"/>
                </a:solidFill>
                <a:latin typeface="Courier"/>
              </a:rPr>
              <a:t>=</a:t>
            </a:r>
            <a:r>
              <a:rPr>
                <a:latin typeface="Courier"/>
              </a:rPr>
              <a:t> scala</a:t>
            </a:r>
            <a:r>
              <a:rPr>
                <a:solidFill>
                  <a:srgbClr val="666666"/>
                </a:solidFill>
                <a:latin typeface="Courier"/>
              </a:rPr>
              <a:t>.</a:t>
            </a:r>
            <a:r>
              <a:rPr>
                <a:latin typeface="Courier"/>
              </a:rPr>
              <a:t>collection</a:t>
            </a:r>
            <a:r>
              <a:rPr>
                <a:solidFill>
                  <a:srgbClr val="666666"/>
                </a:solidFill>
                <a:latin typeface="Courier"/>
              </a:rPr>
              <a:t>.</a:t>
            </a:r>
            <a:r>
              <a:rPr>
                <a:latin typeface="Courier"/>
              </a:rPr>
              <a:t>mutable</a:t>
            </a:r>
            <a:r>
              <a:rPr>
                <a:solidFill>
                  <a:srgbClr val="666666"/>
                </a:solidFill>
                <a:latin typeface="Courier"/>
              </a:rPr>
              <a:t>.</a:t>
            </a:r>
            <a:r>
              <a:rPr>
                <a:latin typeface="Courier"/>
              </a:rPr>
              <a:t>Set</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r>
              <a:rPr>
                <a:latin typeface="Courier"/>
              </a:rPr>
              <a:t> </a:t>
            </a:r>
            <a:r>
              <a:rPr>
                <a:solidFill>
                  <a:srgbClr val="40A070"/>
                </a:solidFill>
                <a:latin typeface="Courier"/>
              </a:rPr>
              <a:t>4</a:t>
            </a:r>
            <a:r>
              <a:rPr>
                <a:solidFill>
                  <a:srgbClr val="666666"/>
                </a:solidFill>
                <a:latin typeface="Courier"/>
              </a:rPr>
              <a:t>,</a:t>
            </a:r>
            <a:r>
              <a:rPr>
                <a:latin typeface="Courier"/>
              </a:rPr>
              <a:t> </a:t>
            </a:r>
            <a:r>
              <a:rPr>
                <a:solidFill>
                  <a:srgbClr val="40A070"/>
                </a:solidFill>
                <a:latin typeface="Courier"/>
              </a:rPr>
              <a:t>5</a:t>
            </a:r>
            <a:r>
              <a:rPr>
                <a:solidFill>
                  <a:srgbClr val="666666"/>
                </a:solidFill>
                <a:latin typeface="Courier"/>
              </a:rPr>
              <a:t>)</a:t>
            </a:r>
            <a:br/>
            <a:r>
              <a:rPr>
                <a:latin typeface="Courier"/>
              </a:rPr>
              <a:t>set</a:t>
            </a:r>
            <a:r>
              <a:rPr>
                <a:solidFill>
                  <a:srgbClr val="666666"/>
                </a:solidFill>
                <a:latin typeface="Courier"/>
              </a:rPr>
              <a:t>:</a:t>
            </a:r>
            <a:r>
              <a:rPr>
                <a:latin typeface="Courier"/>
              </a:rPr>
              <a:t> scala</a:t>
            </a:r>
            <a:r>
              <a:rPr>
                <a:solidFill>
                  <a:srgbClr val="666666"/>
                </a:solidFill>
                <a:latin typeface="Courier"/>
              </a:rPr>
              <a:t>.</a:t>
            </a:r>
            <a:r>
              <a:rPr>
                <a:latin typeface="Courier"/>
              </a:rPr>
              <a:t>collection</a:t>
            </a:r>
            <a:r>
              <a:rPr>
                <a:solidFill>
                  <a:srgbClr val="666666"/>
                </a:solidFill>
                <a:latin typeface="Courier"/>
              </a:rPr>
              <a:t>.</a:t>
            </a:r>
            <a:r>
              <a:rPr>
                <a:latin typeface="Courier"/>
              </a:rPr>
              <a:t>mutable</a:t>
            </a:r>
            <a:r>
              <a:rPr>
                <a:solidFill>
                  <a:srgbClr val="666666"/>
                </a:solidFill>
                <a:latin typeface="Courier"/>
              </a:rPr>
              <a:t>.</a:t>
            </a:r>
            <a:r>
              <a:rPr>
                <a:latin typeface="Courier"/>
              </a:rPr>
              <a:t>Set</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Set</a:t>
            </a:r>
            <a:r>
              <a:rPr>
                <a:solidFill>
                  <a:srgbClr val="666666"/>
                </a:solidFill>
                <a:latin typeface="Courier"/>
              </a:rPr>
              <a:t>(</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4</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r>
              <a:rPr>
                <a:latin typeface="Courier"/>
              </a:rPr>
              <a:t> </a:t>
            </a:r>
            <a:r>
              <a:rPr>
                <a:solidFill>
                  <a:srgbClr val="40A070"/>
                </a:solidFill>
                <a:latin typeface="Courier"/>
              </a:rPr>
              <a:t>5</a:t>
            </a:r>
            <a:r>
              <a:rPr>
                <a:solidFill>
                  <a:srgbClr val="666666"/>
                </a:solidFill>
                <a:latin typeface="Courier"/>
              </a:rPr>
              <a:t>)</a:t>
            </a:r>
            <a:br/>
            <a:r>
              <a:rPr i="1">
                <a:solidFill>
                  <a:srgbClr val="60A0B0"/>
                </a:solidFill>
                <a:latin typeface="Courier"/>
              </a:rPr>
              <a:t>// one element</a:t>
            </a:r>
            <a:br/>
            <a:r>
              <a:rPr>
                <a:latin typeface="Courier"/>
              </a:rPr>
              <a:t>scala</a:t>
            </a:r>
            <a:r>
              <a:rPr>
                <a:solidFill>
                  <a:srgbClr val="666666"/>
                </a:solidFill>
                <a:latin typeface="Courier"/>
              </a:rPr>
              <a:t>&gt;</a:t>
            </a:r>
            <a:r>
              <a:rPr>
                <a:latin typeface="Courier"/>
              </a:rPr>
              <a:t> set </a:t>
            </a:r>
            <a:r>
              <a:rPr>
                <a:solidFill>
                  <a:srgbClr val="666666"/>
                </a:solidFill>
                <a:latin typeface="Courier"/>
              </a:rPr>
              <a:t>-=</a:t>
            </a:r>
            <a:r>
              <a:rPr>
                <a:latin typeface="Courier"/>
              </a:rPr>
              <a:t> </a:t>
            </a:r>
            <a:r>
              <a:rPr>
                <a:solidFill>
                  <a:srgbClr val="40A070"/>
                </a:solidFill>
                <a:latin typeface="Courier"/>
              </a:rPr>
              <a:t>1</a:t>
            </a:r>
            <a:br/>
            <a:r>
              <a:rPr>
                <a:latin typeface="Courier"/>
              </a:rPr>
              <a:t>res0</a:t>
            </a:r>
            <a:r>
              <a:rPr>
                <a:solidFill>
                  <a:srgbClr val="666666"/>
                </a:solidFill>
                <a:latin typeface="Courier"/>
              </a:rPr>
              <a:t>:</a:t>
            </a:r>
            <a:r>
              <a:rPr>
                <a:latin typeface="Courier"/>
              </a:rPr>
              <a:t> scala</a:t>
            </a:r>
            <a:r>
              <a:rPr>
                <a:solidFill>
                  <a:srgbClr val="666666"/>
                </a:solidFill>
                <a:latin typeface="Courier"/>
              </a:rPr>
              <a:t>.</a:t>
            </a:r>
            <a:r>
              <a:rPr>
                <a:latin typeface="Courier"/>
              </a:rPr>
              <a:t>collection</a:t>
            </a:r>
            <a:r>
              <a:rPr>
                <a:solidFill>
                  <a:srgbClr val="666666"/>
                </a:solidFill>
                <a:latin typeface="Courier"/>
              </a:rPr>
              <a:t>.</a:t>
            </a:r>
            <a:r>
              <a:rPr>
                <a:latin typeface="Courier"/>
              </a:rPr>
              <a:t>mutable</a:t>
            </a:r>
            <a:r>
              <a:rPr>
                <a:solidFill>
                  <a:srgbClr val="666666"/>
                </a:solidFill>
                <a:latin typeface="Courier"/>
              </a:rPr>
              <a:t>.</a:t>
            </a:r>
            <a:r>
              <a:rPr>
                <a:latin typeface="Courier"/>
              </a:rPr>
              <a:t>Set</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Set</a:t>
            </a:r>
            <a:r>
              <a:rPr>
                <a:solidFill>
                  <a:srgbClr val="666666"/>
                </a:solidFill>
                <a:latin typeface="Courier"/>
              </a:rPr>
              <a:t>(</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4</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r>
              <a:rPr>
                <a:latin typeface="Courier"/>
              </a:rPr>
              <a:t> </a:t>
            </a:r>
            <a:r>
              <a:rPr>
                <a:solidFill>
                  <a:srgbClr val="40A070"/>
                </a:solidFill>
                <a:latin typeface="Courier"/>
              </a:rPr>
              <a:t>5</a:t>
            </a:r>
            <a:r>
              <a:rPr>
                <a:solidFill>
                  <a:srgbClr val="666666"/>
                </a:solidFill>
                <a:latin typeface="Courier"/>
              </a:rPr>
              <a:t>)</a:t>
            </a:r>
            <a:br/>
            <a:r>
              <a:rPr i="1">
                <a:solidFill>
                  <a:srgbClr val="60A0B0"/>
                </a:solidFill>
                <a:latin typeface="Courier"/>
              </a:rPr>
              <a:t>// two or more elements (-= has a varargs field)</a:t>
            </a:r>
            <a:br/>
            <a:r>
              <a:rPr>
                <a:latin typeface="Courier"/>
              </a:rPr>
              <a:t>scala</a:t>
            </a:r>
            <a:r>
              <a:rPr>
                <a:solidFill>
                  <a:srgbClr val="666666"/>
                </a:solidFill>
                <a:latin typeface="Courier"/>
              </a:rPr>
              <a:t>&gt;</a:t>
            </a:r>
            <a:r>
              <a:rPr>
                <a:latin typeface="Courier"/>
              </a:rPr>
              <a:t> set </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br/>
            <a:r>
              <a:rPr>
                <a:latin typeface="Courier"/>
              </a:rPr>
              <a:t>res1</a:t>
            </a:r>
            <a:r>
              <a:rPr>
                <a:solidFill>
                  <a:srgbClr val="666666"/>
                </a:solidFill>
                <a:latin typeface="Courier"/>
              </a:rPr>
              <a:t>:</a:t>
            </a:r>
            <a:r>
              <a:rPr>
                <a:latin typeface="Courier"/>
              </a:rPr>
              <a:t> scala</a:t>
            </a:r>
            <a:r>
              <a:rPr>
                <a:solidFill>
                  <a:srgbClr val="666666"/>
                </a:solidFill>
                <a:latin typeface="Courier"/>
              </a:rPr>
              <a:t>.</a:t>
            </a:r>
            <a:r>
              <a:rPr>
                <a:latin typeface="Courier"/>
              </a:rPr>
              <a:t>collection</a:t>
            </a:r>
            <a:r>
              <a:rPr>
                <a:solidFill>
                  <a:srgbClr val="666666"/>
                </a:solidFill>
                <a:latin typeface="Courier"/>
              </a:rPr>
              <a:t>.</a:t>
            </a:r>
            <a:r>
              <a:rPr>
                <a:latin typeface="Courier"/>
              </a:rPr>
              <a:t>mutable</a:t>
            </a:r>
            <a:r>
              <a:rPr>
                <a:solidFill>
                  <a:srgbClr val="666666"/>
                </a:solidFill>
                <a:latin typeface="Courier"/>
              </a:rPr>
              <a:t>.</a:t>
            </a:r>
            <a:r>
              <a:rPr>
                <a:latin typeface="Courier"/>
              </a:rPr>
              <a:t>Set</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Set</a:t>
            </a:r>
            <a:r>
              <a:rPr>
                <a:solidFill>
                  <a:srgbClr val="666666"/>
                </a:solidFill>
                <a:latin typeface="Courier"/>
              </a:rPr>
              <a:t>(</a:t>
            </a:r>
            <a:r>
              <a:rPr>
                <a:solidFill>
                  <a:srgbClr val="40A070"/>
                </a:solidFill>
                <a:latin typeface="Courier"/>
              </a:rPr>
              <a:t>4</a:t>
            </a:r>
            <a:r>
              <a:rPr>
                <a:solidFill>
                  <a:srgbClr val="666666"/>
                </a:solidFill>
                <a:latin typeface="Courier"/>
              </a:rPr>
              <a:t>,</a:t>
            </a:r>
            <a:r>
              <a:rPr>
                <a:latin typeface="Courier"/>
              </a:rPr>
              <a:t> </a:t>
            </a:r>
            <a:r>
              <a:rPr>
                <a:solidFill>
                  <a:srgbClr val="40A070"/>
                </a:solidFill>
                <a:latin typeface="Courier"/>
              </a:rPr>
              <a:t>5</a:t>
            </a:r>
            <a:r>
              <a:rPr>
                <a:solidFill>
                  <a:srgbClr val="666666"/>
                </a:solidFill>
                <a:latin typeface="Courier"/>
              </a:rPr>
              <a:t>)</a:t>
            </a:r>
            <a:br/>
            <a:r>
              <a:rPr i="1">
                <a:solidFill>
                  <a:srgbClr val="60A0B0"/>
                </a:solidFill>
                <a:latin typeface="Courier"/>
              </a:rPr>
              <a:t>// multiple elements defined in another sequence</a:t>
            </a:r>
            <a:br/>
            <a:r>
              <a:rPr>
                <a:latin typeface="Courier"/>
              </a:rPr>
              <a:t>scala</a:t>
            </a:r>
            <a:r>
              <a:rPr>
                <a:solidFill>
                  <a:srgbClr val="666666"/>
                </a:solidFill>
                <a:latin typeface="Courier"/>
              </a:rPr>
              <a:t>&gt;</a:t>
            </a:r>
            <a:r>
              <a:rPr>
                <a:latin typeface="Courier"/>
              </a:rPr>
              <a:t> set </a:t>
            </a:r>
            <a:r>
              <a:rPr>
                <a:solidFill>
                  <a:srgbClr val="666666"/>
                </a:solidFill>
                <a:latin typeface="Courier"/>
              </a:rPr>
              <a:t>--=</a:t>
            </a:r>
            <a:r>
              <a:rPr>
                <a:latin typeface="Courier"/>
              </a:rPr>
              <a:t> Array</a:t>
            </a:r>
            <a:r>
              <a:rPr>
                <a:solidFill>
                  <a:srgbClr val="666666"/>
                </a:solidFill>
                <a:latin typeface="Courier"/>
              </a:rPr>
              <a:t>(</a:t>
            </a:r>
            <a:r>
              <a:rPr>
                <a:solidFill>
                  <a:srgbClr val="40A070"/>
                </a:solidFill>
                <a:latin typeface="Courier"/>
              </a:rPr>
              <a:t>4</a:t>
            </a:r>
            <a:r>
              <a:rPr>
                <a:solidFill>
                  <a:srgbClr val="666666"/>
                </a:solidFill>
                <a:latin typeface="Courier"/>
              </a:rPr>
              <a:t>,</a:t>
            </a:r>
            <a:r>
              <a:rPr>
                <a:solidFill>
                  <a:srgbClr val="40A070"/>
                </a:solidFill>
                <a:latin typeface="Courier"/>
              </a:rPr>
              <a:t>5</a:t>
            </a:r>
            <a:r>
              <a:rPr>
                <a:solidFill>
                  <a:srgbClr val="666666"/>
                </a:solidFill>
                <a:latin typeface="Courier"/>
              </a:rPr>
              <a:t>)</a:t>
            </a:r>
            <a:br/>
            <a:r>
              <a:rPr>
                <a:latin typeface="Courier"/>
              </a:rPr>
              <a:t>res2</a:t>
            </a:r>
            <a:r>
              <a:rPr>
                <a:solidFill>
                  <a:srgbClr val="666666"/>
                </a:solidFill>
                <a:latin typeface="Courier"/>
              </a:rPr>
              <a:t>:</a:t>
            </a:r>
            <a:r>
              <a:rPr>
                <a:latin typeface="Courier"/>
              </a:rPr>
              <a:t> scala</a:t>
            </a:r>
            <a:r>
              <a:rPr>
                <a:solidFill>
                  <a:srgbClr val="666666"/>
                </a:solidFill>
                <a:latin typeface="Courier"/>
              </a:rPr>
              <a:t>.</a:t>
            </a:r>
            <a:r>
              <a:rPr>
                <a:latin typeface="Courier"/>
              </a:rPr>
              <a:t>collection</a:t>
            </a:r>
            <a:r>
              <a:rPr>
                <a:solidFill>
                  <a:srgbClr val="666666"/>
                </a:solidFill>
                <a:latin typeface="Courier"/>
              </a:rPr>
              <a:t>.</a:t>
            </a:r>
            <a:r>
              <a:rPr>
                <a:latin typeface="Courier"/>
              </a:rPr>
              <a:t>mutable</a:t>
            </a:r>
            <a:r>
              <a:rPr>
                <a:solidFill>
                  <a:srgbClr val="666666"/>
                </a:solidFill>
                <a:latin typeface="Courier"/>
              </a:rPr>
              <a:t>.</a:t>
            </a:r>
            <a:r>
              <a:rPr>
                <a:latin typeface="Courier"/>
              </a:rPr>
              <a:t>Set</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Set</a:t>
            </a:r>
            <a:r>
              <a:rPr>
                <a:solidFill>
                  <a:srgbClr val="666666"/>
                </a:solidFill>
                <a:latin typeface="Courier"/>
              </a:rPr>
              <a:t>()</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2.5.3 集合类：代码片段（14/14）</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如上例所示</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set </a:t>
            </a:r>
            <a:r>
              <a:rPr>
                <a:solidFill>
                  <a:srgbClr val="666666"/>
                </a:solidFill>
                <a:latin typeface="Courier"/>
              </a:rPr>
              <a:t>=</a:t>
            </a:r>
            <a:r>
              <a:rPr>
                <a:latin typeface="Courier"/>
              </a:rPr>
              <a:t> scala</a:t>
            </a:r>
            <a:r>
              <a:rPr>
                <a:solidFill>
                  <a:srgbClr val="666666"/>
                </a:solidFill>
                <a:latin typeface="Courier"/>
              </a:rPr>
              <a:t>.</a:t>
            </a:r>
            <a:r>
              <a:rPr>
                <a:latin typeface="Courier"/>
              </a:rPr>
              <a:t>collection</a:t>
            </a:r>
            <a:r>
              <a:rPr>
                <a:solidFill>
                  <a:srgbClr val="666666"/>
                </a:solidFill>
                <a:latin typeface="Courier"/>
              </a:rPr>
              <a:t>.</a:t>
            </a:r>
            <a:r>
              <a:rPr>
                <a:latin typeface="Courier"/>
              </a:rPr>
              <a:t>mutable</a:t>
            </a:r>
            <a:r>
              <a:rPr>
                <a:solidFill>
                  <a:srgbClr val="666666"/>
                </a:solidFill>
                <a:latin typeface="Courier"/>
              </a:rPr>
              <a:t>.</a:t>
            </a:r>
            <a:r>
              <a:rPr>
                <a:latin typeface="Courier"/>
              </a:rPr>
              <a:t>Set</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r>
              <a:rPr>
                <a:latin typeface="Courier"/>
              </a:rPr>
              <a:t> </a:t>
            </a:r>
            <a:r>
              <a:rPr>
                <a:solidFill>
                  <a:srgbClr val="40A070"/>
                </a:solidFill>
                <a:latin typeface="Courier"/>
              </a:rPr>
              <a:t>4</a:t>
            </a:r>
            <a:r>
              <a:rPr>
                <a:solidFill>
                  <a:srgbClr val="666666"/>
                </a:solidFill>
                <a:latin typeface="Courier"/>
              </a:rPr>
              <a:t>,</a:t>
            </a:r>
            <a:r>
              <a:rPr>
                <a:latin typeface="Courier"/>
              </a:rPr>
              <a:t> </a:t>
            </a:r>
            <a:r>
              <a:rPr>
                <a:solidFill>
                  <a:srgbClr val="40A070"/>
                </a:solidFill>
                <a:latin typeface="Courier"/>
              </a:rPr>
              <a:t>5</a:t>
            </a:r>
            <a:r>
              <a:rPr>
                <a:solidFill>
                  <a:srgbClr val="666666"/>
                </a:solidFill>
                <a:latin typeface="Courier"/>
              </a:rPr>
              <a:t>)</a:t>
            </a:r>
            <a:br/>
            <a:r>
              <a:rPr>
                <a:latin typeface="Courier"/>
              </a:rPr>
              <a:t>set</a:t>
            </a:r>
            <a:r>
              <a:rPr>
                <a:solidFill>
                  <a:srgbClr val="666666"/>
                </a:solidFill>
                <a:latin typeface="Courier"/>
              </a:rPr>
              <a:t>:</a:t>
            </a:r>
            <a:r>
              <a:rPr>
                <a:latin typeface="Courier"/>
              </a:rPr>
              <a:t> scala</a:t>
            </a:r>
            <a:r>
              <a:rPr>
                <a:solidFill>
                  <a:srgbClr val="666666"/>
                </a:solidFill>
                <a:latin typeface="Courier"/>
              </a:rPr>
              <a:t>.</a:t>
            </a:r>
            <a:r>
              <a:rPr>
                <a:latin typeface="Courier"/>
              </a:rPr>
              <a:t>collection</a:t>
            </a:r>
            <a:r>
              <a:rPr>
                <a:solidFill>
                  <a:srgbClr val="666666"/>
                </a:solidFill>
                <a:latin typeface="Courier"/>
              </a:rPr>
              <a:t>.</a:t>
            </a:r>
            <a:r>
              <a:rPr>
                <a:latin typeface="Courier"/>
              </a:rPr>
              <a:t>mutable</a:t>
            </a:r>
            <a:r>
              <a:rPr>
                <a:solidFill>
                  <a:srgbClr val="666666"/>
                </a:solidFill>
                <a:latin typeface="Courier"/>
              </a:rPr>
              <a:t>.</a:t>
            </a:r>
            <a:r>
              <a:rPr>
                <a:latin typeface="Courier"/>
              </a:rPr>
              <a:t>Set</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Set</a:t>
            </a:r>
            <a:r>
              <a:rPr>
                <a:solidFill>
                  <a:srgbClr val="666666"/>
                </a:solidFill>
                <a:latin typeface="Courier"/>
              </a:rPr>
              <a:t>(</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4</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r>
              <a:rPr>
                <a:latin typeface="Courier"/>
              </a:rPr>
              <a:t> </a:t>
            </a:r>
            <a:r>
              <a:rPr>
                <a:solidFill>
                  <a:srgbClr val="40A070"/>
                </a:solidFill>
                <a:latin typeface="Courier"/>
              </a:rPr>
              <a:t>5</a:t>
            </a:r>
            <a:r>
              <a:rPr>
                <a:solidFill>
                  <a:srgbClr val="666666"/>
                </a:solidFill>
                <a:latin typeface="Courier"/>
              </a:rPr>
              <a:t>)</a:t>
            </a:r>
            <a:br/>
            <a:r>
              <a:rPr i="1">
                <a:solidFill>
                  <a:srgbClr val="60A0B0"/>
                </a:solidFill>
                <a:latin typeface="Courier"/>
              </a:rPr>
              <a:t>// clear</a:t>
            </a:r>
            <a:br/>
            <a:r>
              <a:rPr>
                <a:latin typeface="Courier"/>
              </a:rPr>
              <a:t>scala</a:t>
            </a:r>
            <a:r>
              <a:rPr>
                <a:solidFill>
                  <a:srgbClr val="666666"/>
                </a:solidFill>
                <a:latin typeface="Courier"/>
              </a:rPr>
              <a:t>&gt;</a:t>
            </a:r>
            <a:r>
              <a:rPr>
                <a:latin typeface="Courier"/>
              </a:rPr>
              <a:t> set</a:t>
            </a:r>
            <a:r>
              <a:rPr>
                <a:solidFill>
                  <a:srgbClr val="666666"/>
                </a:solidFill>
                <a:latin typeface="Courier"/>
              </a:rPr>
              <a:t>.</a:t>
            </a:r>
            <a:r>
              <a:rPr>
                <a:solidFill>
                  <a:srgbClr val="06287E"/>
                </a:solidFill>
                <a:latin typeface="Courier"/>
              </a:rPr>
              <a:t>clear</a:t>
            </a:r>
            <a:r>
              <a:rPr>
                <a:solidFill>
                  <a:srgbClr val="666666"/>
                </a:solidFill>
                <a:latin typeface="Courier"/>
              </a:rPr>
              <a:t>()</a:t>
            </a:r>
            <a:br/>
            <a:r>
              <a:rPr>
                <a:latin typeface="Courier"/>
              </a:rPr>
              <a:t>scala</a:t>
            </a:r>
            <a:r>
              <a:rPr>
                <a:solidFill>
                  <a:srgbClr val="666666"/>
                </a:solidFill>
                <a:latin typeface="Courier"/>
              </a:rPr>
              <a:t>&gt;</a:t>
            </a:r>
            <a:r>
              <a:rPr>
                <a:latin typeface="Courier"/>
              </a:rPr>
              <a:t> set</a:t>
            </a:r>
            <a:br/>
            <a:r>
              <a:rPr>
                <a:latin typeface="Courier"/>
              </a:rPr>
              <a:t>res0</a:t>
            </a:r>
            <a:r>
              <a:rPr>
                <a:solidFill>
                  <a:srgbClr val="666666"/>
                </a:solidFill>
                <a:latin typeface="Courier"/>
              </a:rPr>
              <a:t>:</a:t>
            </a:r>
            <a:r>
              <a:rPr>
                <a:latin typeface="Courier"/>
              </a:rPr>
              <a:t> scala</a:t>
            </a:r>
            <a:r>
              <a:rPr>
                <a:solidFill>
                  <a:srgbClr val="666666"/>
                </a:solidFill>
                <a:latin typeface="Courier"/>
              </a:rPr>
              <a:t>.</a:t>
            </a:r>
            <a:r>
              <a:rPr>
                <a:latin typeface="Courier"/>
              </a:rPr>
              <a:t>collection</a:t>
            </a:r>
            <a:r>
              <a:rPr>
                <a:solidFill>
                  <a:srgbClr val="666666"/>
                </a:solidFill>
                <a:latin typeface="Courier"/>
              </a:rPr>
              <a:t>.</a:t>
            </a:r>
            <a:r>
              <a:rPr>
                <a:latin typeface="Courier"/>
              </a:rPr>
              <a:t>mutable</a:t>
            </a:r>
            <a:r>
              <a:rPr>
                <a:solidFill>
                  <a:srgbClr val="666666"/>
                </a:solidFill>
                <a:latin typeface="Courier"/>
              </a:rPr>
              <a:t>.</a:t>
            </a:r>
            <a:r>
              <a:rPr>
                <a:latin typeface="Courier"/>
              </a:rPr>
              <a:t>Set</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Set</a:t>
            </a:r>
            <a:r>
              <a:rPr>
                <a:solidFill>
                  <a:srgbClr val="666666"/>
                </a:solidFill>
                <a:latin typeface="Courier"/>
              </a:rPr>
              <a:t>()</a:t>
            </a:r>
            <a:br/>
            <a:r>
              <a:rPr i="1">
                <a:solidFill>
                  <a:srgbClr val="60A0B0"/>
                </a:solidFill>
                <a:latin typeface="Courier"/>
              </a:rPr>
              <a:t>// remove</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set </a:t>
            </a:r>
            <a:r>
              <a:rPr>
                <a:solidFill>
                  <a:srgbClr val="666666"/>
                </a:solidFill>
                <a:latin typeface="Courier"/>
              </a:rPr>
              <a:t>=</a:t>
            </a:r>
            <a:r>
              <a:rPr>
                <a:latin typeface="Courier"/>
              </a:rPr>
              <a:t> scala</a:t>
            </a:r>
            <a:r>
              <a:rPr>
                <a:solidFill>
                  <a:srgbClr val="666666"/>
                </a:solidFill>
                <a:latin typeface="Courier"/>
              </a:rPr>
              <a:t>.</a:t>
            </a:r>
            <a:r>
              <a:rPr>
                <a:latin typeface="Courier"/>
              </a:rPr>
              <a:t>collection</a:t>
            </a:r>
            <a:r>
              <a:rPr>
                <a:solidFill>
                  <a:srgbClr val="666666"/>
                </a:solidFill>
                <a:latin typeface="Courier"/>
              </a:rPr>
              <a:t>.</a:t>
            </a:r>
            <a:r>
              <a:rPr>
                <a:latin typeface="Courier"/>
              </a:rPr>
              <a:t>mutable</a:t>
            </a:r>
            <a:r>
              <a:rPr>
                <a:solidFill>
                  <a:srgbClr val="666666"/>
                </a:solidFill>
                <a:latin typeface="Courier"/>
              </a:rPr>
              <a:t>.</a:t>
            </a:r>
            <a:r>
              <a:rPr>
                <a:latin typeface="Courier"/>
              </a:rPr>
              <a:t>Set</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r>
              <a:rPr>
                <a:latin typeface="Courier"/>
              </a:rPr>
              <a:t> </a:t>
            </a:r>
            <a:r>
              <a:rPr>
                <a:solidFill>
                  <a:srgbClr val="40A070"/>
                </a:solidFill>
                <a:latin typeface="Courier"/>
              </a:rPr>
              <a:t>4</a:t>
            </a:r>
            <a:r>
              <a:rPr>
                <a:solidFill>
                  <a:srgbClr val="666666"/>
                </a:solidFill>
                <a:latin typeface="Courier"/>
              </a:rPr>
              <a:t>,</a:t>
            </a:r>
            <a:r>
              <a:rPr>
                <a:latin typeface="Courier"/>
              </a:rPr>
              <a:t> </a:t>
            </a:r>
            <a:r>
              <a:rPr>
                <a:solidFill>
                  <a:srgbClr val="40A070"/>
                </a:solidFill>
                <a:latin typeface="Courier"/>
              </a:rPr>
              <a:t>5</a:t>
            </a:r>
            <a:r>
              <a:rPr>
                <a:solidFill>
                  <a:srgbClr val="666666"/>
                </a:solidFill>
                <a:latin typeface="Courier"/>
              </a:rPr>
              <a:t>)</a:t>
            </a:r>
            <a:br/>
            <a:r>
              <a:rPr>
                <a:latin typeface="Courier"/>
              </a:rPr>
              <a:t>set</a:t>
            </a:r>
            <a:r>
              <a:rPr>
                <a:solidFill>
                  <a:srgbClr val="666666"/>
                </a:solidFill>
                <a:latin typeface="Courier"/>
              </a:rPr>
              <a:t>:</a:t>
            </a:r>
            <a:r>
              <a:rPr>
                <a:latin typeface="Courier"/>
              </a:rPr>
              <a:t> scala</a:t>
            </a:r>
            <a:r>
              <a:rPr>
                <a:solidFill>
                  <a:srgbClr val="666666"/>
                </a:solidFill>
                <a:latin typeface="Courier"/>
              </a:rPr>
              <a:t>.</a:t>
            </a:r>
            <a:r>
              <a:rPr>
                <a:latin typeface="Courier"/>
              </a:rPr>
              <a:t>collection</a:t>
            </a:r>
            <a:r>
              <a:rPr>
                <a:solidFill>
                  <a:srgbClr val="666666"/>
                </a:solidFill>
                <a:latin typeface="Courier"/>
              </a:rPr>
              <a:t>.</a:t>
            </a:r>
            <a:r>
              <a:rPr>
                <a:latin typeface="Courier"/>
              </a:rPr>
              <a:t>mutable</a:t>
            </a:r>
            <a:r>
              <a:rPr>
                <a:solidFill>
                  <a:srgbClr val="666666"/>
                </a:solidFill>
                <a:latin typeface="Courier"/>
              </a:rPr>
              <a:t>.</a:t>
            </a:r>
            <a:r>
              <a:rPr>
                <a:latin typeface="Courier"/>
              </a:rPr>
              <a:t>Set</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Set</a:t>
            </a:r>
            <a:r>
              <a:rPr>
                <a:solidFill>
                  <a:srgbClr val="666666"/>
                </a:solidFill>
                <a:latin typeface="Courier"/>
              </a:rPr>
              <a:t>(</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4</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r>
              <a:rPr>
                <a:latin typeface="Courier"/>
              </a:rPr>
              <a:t> </a:t>
            </a:r>
            <a:r>
              <a:rPr>
                <a:solidFill>
                  <a:srgbClr val="40A070"/>
                </a:solidFill>
                <a:latin typeface="Courier"/>
              </a:rPr>
              <a:t>5</a:t>
            </a:r>
            <a:r>
              <a:rPr>
                <a:solidFill>
                  <a:srgbClr val="666666"/>
                </a:solidFill>
                <a:latin typeface="Courier"/>
              </a:rPr>
              <a:t>)</a:t>
            </a:r>
            <a:br/>
            <a:r>
              <a:rPr>
                <a:latin typeface="Courier"/>
              </a:rPr>
              <a:t>scala</a:t>
            </a:r>
            <a:r>
              <a:rPr>
                <a:solidFill>
                  <a:srgbClr val="666666"/>
                </a:solidFill>
                <a:latin typeface="Courier"/>
              </a:rPr>
              <a:t>&gt;</a:t>
            </a:r>
            <a:r>
              <a:rPr>
                <a:latin typeface="Courier"/>
              </a:rPr>
              <a:t> set</a:t>
            </a:r>
            <a:r>
              <a:rPr>
                <a:solidFill>
                  <a:srgbClr val="666666"/>
                </a:solidFill>
                <a:latin typeface="Courier"/>
              </a:rPr>
              <a:t>.</a:t>
            </a:r>
            <a:r>
              <a:rPr>
                <a:solidFill>
                  <a:srgbClr val="06287E"/>
                </a:solidFill>
                <a:latin typeface="Courier"/>
              </a:rPr>
              <a:t>remove</a:t>
            </a:r>
            <a:r>
              <a:rPr>
                <a:solidFill>
                  <a:srgbClr val="666666"/>
                </a:solidFill>
                <a:latin typeface="Courier"/>
              </a:rPr>
              <a:t>(</a:t>
            </a:r>
            <a:r>
              <a:rPr>
                <a:solidFill>
                  <a:srgbClr val="40A070"/>
                </a:solidFill>
                <a:latin typeface="Courier"/>
              </a:rPr>
              <a:t>2</a:t>
            </a:r>
            <a:r>
              <a:rPr>
                <a:solidFill>
                  <a:srgbClr val="666666"/>
                </a:solidFill>
                <a:latin typeface="Courier"/>
              </a:rPr>
              <a:t>)</a:t>
            </a:r>
            <a:br/>
            <a:r>
              <a:rPr>
                <a:latin typeface="Courier"/>
              </a:rPr>
              <a:t>res1</a:t>
            </a:r>
            <a:r>
              <a:rPr>
                <a:solidFill>
                  <a:srgbClr val="666666"/>
                </a:solidFill>
                <a:latin typeface="Courier"/>
              </a:rPr>
              <a:t>:</a:t>
            </a:r>
            <a:r>
              <a:rPr>
                <a:latin typeface="Courier"/>
              </a:rPr>
              <a:t> Boolean </a:t>
            </a:r>
            <a:r>
              <a:rPr>
                <a:solidFill>
                  <a:srgbClr val="666666"/>
                </a:solidFill>
                <a:latin typeface="Courier"/>
              </a:rPr>
              <a:t>=</a:t>
            </a:r>
            <a:r>
              <a:rPr>
                <a:latin typeface="Courier"/>
              </a:rPr>
              <a:t> </a:t>
            </a:r>
            <a:r>
              <a:rPr b="1">
                <a:solidFill>
                  <a:srgbClr val="007020"/>
                </a:solidFill>
                <a:latin typeface="Courier"/>
              </a:rPr>
              <a:t>true</a:t>
            </a:r>
            <a:br/>
            <a:r>
              <a:rPr i="1">
                <a:solidFill>
                  <a:srgbClr val="60A0B0"/>
                </a:solidFill>
                <a:latin typeface="Courier"/>
              </a:rPr>
              <a:t>// ...</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6D2CB4-AB0D-17DE-E2B4-209C273FC345}"/>
              </a:ext>
            </a:extLst>
          </p:cNvPr>
          <p:cNvSpPr>
            <a:spLocks noGrp="1"/>
          </p:cNvSpPr>
          <p:nvPr>
            <p:ph type="title"/>
          </p:nvPr>
        </p:nvSpPr>
        <p:spPr>
          <a:xfrm>
            <a:off x="839788" y="457200"/>
            <a:ext cx="3932237" cy="1600200"/>
          </a:xfrm>
        </p:spPr>
        <p:txBody>
          <a:bodyPr/>
          <a:lstStyle/>
          <a:p>
            <a:pPr lvl="0" indent="0" marL="0">
              <a:buNone/>
            </a:pPr>
            <a:r>
              <a:rPr/>
              <a:t>集合类：Scala集合类是一个易于理解且经常使用的编程抽象</a:t>
            </a:r>
          </a:p>
        </p:txBody>
      </p:sp>
      <p:sp>
        <p:nvSpPr>
          <p:cNvPr id="4" name="文本占位符 3">
            <a:extLst>
              <a:ext uri="{FF2B5EF4-FFF2-40B4-BE49-F238E27FC236}">
                <a16:creationId xmlns:a16="http://schemas.microsoft.com/office/drawing/2014/main" id="{F99B1241-8411-8D36-A148-57CE3BE46F08}"/>
              </a:ext>
            </a:extLst>
          </p:cNvPr>
          <p:cNvSpPr>
            <a:spLocks noGrp="1"/>
          </p:cNvSpPr>
          <p:nvPr>
            <p:ph idx="2" sz="half" type="body"/>
          </p:nvPr>
        </p:nvSpPr>
        <p:spPr/>
        <p:txBody>
          <a:bodyPr/>
          <a:lstStyle/>
          <a:p>
            <a:pPr lvl="0"/>
            <a:r>
              <a:rPr/>
              <a:t>先辨认表头含义，再看不同项之间的差异</a:t>
            </a:r>
          </a:p>
        </p:txBody>
      </p:sp>
      <p:graphicFrame>
        <p:nvGraphicFramePr>
          <p:cNvPr id="6" name="Content Placeholder 5"/>
          <p:cNvGraphicFramePr>
            <a:graphicFrameLocks noGrp="1"/>
          </p:cNvGraphicFramePr>
          <p:nvPr>
            <p:ph idx="1"/>
          </p:nvPr>
        </p:nvGraphicFramePr>
        <p:xfrm>
          <a:off x="5181600" y="977900"/>
          <a:ext cx="6172200" cy="4864100"/>
        </p:xfrm>
        <a:graphic>
          <a:graphicData uri="http://schemas.openxmlformats.org/drawingml/2006/table">
            <a:tbl>
              <a:tblPr firstRow="1" bandRow="1">
                <a:tableStyleId>{5C22544A-7EE6-4342-B048-85BDC9FD1C3A}</a:tableStyleId>
              </a:tblPr>
              <a:tblGrid>
                <a:gridCol w="3086100"/>
                <a:gridCol w="3086100"/>
              </a:tblGrid>
              <a:tr h="0">
                <a:tc>
                  <a:txBody>
                    <a:bodyPr/>
                    <a:lstStyle/>
                    <a:p>
                      <a:pPr lvl="0" indent="0" marL="0">
                        <a:buNone/>
                      </a:pPr>
                      <a:r>
                        <a:rPr/>
                        <a:t>类</a:t>
                      </a:r>
                    </a:p>
                  </a:txBody>
                  <a:tcPr/>
                </a:tc>
                <a:tc>
                  <a:txBody>
                    <a:bodyPr/>
                    <a:lstStyle/>
                    <a:p>
                      <a:pPr lvl="0" indent="0" marL="0">
                        <a:buNone/>
                      </a:pPr>
                      <a:r>
                        <a:rPr/>
                        <a:t>描述</a:t>
                      </a:r>
                    </a:p>
                  </a:txBody>
                  <a:tcPr/>
                </a:tc>
              </a:tr>
              <a:tr h="0">
                <a:tc>
                  <a:txBody>
                    <a:bodyPr/>
                    <a:lstStyle/>
                    <a:p>
                      <a:pPr lvl="0" indent="0" marL="0">
                        <a:buNone/>
                      </a:pPr>
                      <a:r>
                        <a:rPr/>
                        <a:t>ArrayBuffer</a:t>
                      </a:r>
                    </a:p>
                  </a:txBody>
                </a:tc>
                <a:tc>
                  <a:txBody>
                    <a:bodyPr/>
                    <a:lstStyle/>
                    <a:p>
                      <a:pPr lvl="0" indent="0" marL="0">
                        <a:buNone/>
                      </a:pPr>
                      <a:r>
                        <a:rPr/>
                        <a:t>索引的可变序列</a:t>
                      </a:r>
                    </a:p>
                  </a:txBody>
                </a:tc>
              </a:tr>
              <a:tr h="0">
                <a:tc>
                  <a:txBody>
                    <a:bodyPr/>
                    <a:lstStyle/>
                    <a:p>
                      <a:pPr lvl="0" indent="0" marL="0">
                        <a:buNone/>
                      </a:pPr>
                      <a:r>
                        <a:rPr/>
                        <a:t>List</a:t>
                      </a:r>
                    </a:p>
                  </a:txBody>
                </a:tc>
                <a:tc>
                  <a:txBody>
                    <a:bodyPr/>
                    <a:lstStyle/>
                    <a:p>
                      <a:pPr lvl="0" indent="0" marL="0">
                        <a:buNone/>
                      </a:pPr>
                      <a:r>
                        <a:rPr/>
                        <a:t>线性（链表），不可变序列</a:t>
                      </a:r>
                    </a:p>
                  </a:txBody>
                </a:tc>
              </a:tr>
              <a:tr h="0">
                <a:tc>
                  <a:txBody>
                    <a:bodyPr/>
                    <a:lstStyle/>
                    <a:p>
                      <a:pPr lvl="0" indent="0" marL="0">
                        <a:buNone/>
                      </a:pPr>
                      <a:r>
                        <a:rPr/>
                        <a:t>Vector</a:t>
                      </a:r>
                    </a:p>
                  </a:txBody>
                </a:tc>
                <a:tc>
                  <a:txBody>
                    <a:bodyPr/>
                    <a:lstStyle/>
                    <a:p>
                      <a:pPr lvl="0" indent="0" marL="0">
                        <a:buNone/>
                      </a:pPr>
                      <a:r>
                        <a:rPr/>
                        <a:t>索引不变的序列</a:t>
                      </a:r>
                    </a:p>
                  </a:txBody>
                </a:tc>
              </a:tr>
              <a:tr h="0">
                <a:tc>
                  <a:txBody>
                    <a:bodyPr/>
                    <a:lstStyle/>
                    <a:p>
                      <a:pPr lvl="0" indent="0" marL="0">
                        <a:buNone/>
                      </a:pPr>
                      <a:r>
                        <a:rPr/>
                        <a:t>Map</a:t>
                      </a:r>
                    </a:p>
                  </a:txBody>
                </a:tc>
                <a:tc>
                  <a:txBody>
                    <a:bodyPr/>
                    <a:lstStyle/>
                    <a:p>
                      <a:pPr lvl="0" indent="0" marL="0">
                        <a:buNone/>
                      </a:pPr>
                      <a:r>
                        <a:rPr/>
                        <a:t>基本Map（键/值对）类</a:t>
                      </a:r>
                    </a:p>
                  </a:txBody>
                </a:tc>
              </a:tr>
              <a:tr h="0">
                <a:tc>
                  <a:txBody>
                    <a:bodyPr/>
                    <a:lstStyle/>
                    <a:p>
                      <a:pPr lvl="0" indent="0" marL="0">
                        <a:buNone/>
                      </a:pPr>
                      <a:r>
                        <a:rPr/>
                        <a:t>Set</a:t>
                      </a:r>
                    </a:p>
                  </a:txBody>
                </a:tc>
                <a:tc>
                  <a:txBody>
                    <a:bodyPr/>
                    <a:lstStyle/>
                    <a:p>
                      <a:pPr lvl="0" indent="0" marL="0">
                        <a:buNone/>
                      </a:pPr>
                      <a:r>
                        <a:rPr/>
                        <a:t>基本Set类</a:t>
                      </a:r>
                    </a:p>
                  </a:txBody>
                </a:tc>
              </a:tr>
            </a:tbl>
          </a:graphicData>
        </a:graphic>
      </p:graphicFrame>
    </p:spTree>
  </p:cSld>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a:spAutoFit/>
      </a:bodyPr>
      <a:lstStyle>
        <a:defPPr algn="l">
          <a:defRPr dirty="0"/>
        </a:defPPr>
      </a:lstStyle>
    </a:txDef>
  </a:objectDefaults>
  <a:extraClrSchemeLst/>
  <a:extLst>
    <a:ext uri="{05A4C25C-085E-4340-85A3-A5531E510DB2}">
      <thm15:themeFamily xmlns:thm15="http://schemas.microsoft.com/office/thememl/2012/main" name="演示文稿1" id="{4EB0031E-9AF1-4EF9-947E-CF21025E1F57}" vid="{E1AA6518-1FF8-4BC2-BEB6-E59B2C6B16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5</TotalTime>
  <Words>0</Words>
  <Application>Microsoft Office PowerPoint</Application>
  <PresentationFormat>宽屏</PresentationFormat>
  <Paragraphs>0</Paragraphs>
  <Slides>1</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vt:i4>
      </vt:variant>
    </vt:vector>
  </HeadingPairs>
  <TitlesOfParts>
    <vt:vector size="5" baseType="lpstr">
      <vt:lpstr>等线</vt:lpstr>
      <vt:lpstr>Arial</vt:lpstr>
      <vt:lpstr>Calibri</vt:lpstr>
      <vt:lpstr>Office 主题​​</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2026-04-05T02:24:11Z</dcterms:created>
  <dcterms:modified xsi:type="dcterms:W3CDTF">2026-04-05T02:24:11Z</dcterms:modified>
</cp:coreProperties>
</file>

<file path=docProps/custom.xml><?xml version="1.0" encoding="utf-8"?>
<Properties xmlns="http://schemas.openxmlformats.org/officeDocument/2006/custom-properties" xmlns:vt="http://schemas.openxmlformats.org/officeDocument/2006/docPropsVTypes"/>
</file>