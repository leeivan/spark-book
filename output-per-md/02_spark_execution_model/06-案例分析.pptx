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notesMaster" Target="notesMasters/notesMaster1.xml" /><Relationship Id="rId3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4" Type="http://schemas.openxmlformats.org/officeDocument/2006/relationships/theme" Target="theme/theme1.xml" /><Relationship Id="rId33" Type="http://schemas.openxmlformats.org/officeDocument/2006/relationships/viewProps" Target="viewProps.xml" /><Relationship Id="rId3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Spark中，RDD是一个基本的数据抽象层，是分布式部署在集群中节点上的对象集合，一旦创建它们是不可变的。我们可以在RDD上执行转换和动作两种类型的数据操作。转换是惰性的计算，即它们不会在被定义的时候立即计算，只有在RDD上执行动作时，转换才会执行。 接下来会依次看 案例分析、启动交互界面，以及 SparkContext和SparkSession，后面的实现和案例都会沿着这条线继续展开。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案例分析、启动交互界面、SparkContext和SparkSession，以及 加载数据。先把前面的入口和处理顺序放稳，后面再继续往下展开。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应用操作 和 缓存处理。把这几步和前面的内容接起来，整节课的推进顺序就完整了。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Spark中，RDD是一个基本的数据抽象层，是分布式部署在集群中节点上的对象集合，一旦创建它们是不可变的。我们可以在RDD上执行转换和动作两种类型的数据操作。转换是惰性的计算，即它们不会在被定义的时候立即计算，只有在RDD上执行动作时，转换才会执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其中的数据如下所示。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99,232.5,palm,7。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99,232.5,palm,7。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232.5,palm,7。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9.99,232.5,palm,7。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232.5,palm,7。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Spark中，RDD是一个基本的数据抽象层，是分布式部署在集群中节点上的对象集合，一旦创建它们是不可变的。我们可以在RDD上执行转换和动作两种类型的数据操作。转换是惰性的计算，即它们不会在被定义的时候立即计算，只有在RDD上执行动作时，转换才会执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本节开始进入实际操作：从外部数据源加载数据、观察 RDD 内容，并围绕一个简单样例理解转换与动作的执行方式。通常，我们把最先创建出来的那份 RDD 叫作输入 RDD 或基础 RDD，后续的大多数转换都会建立在它之上。这里仍然使用 Spark 交互式界面（REPL）演示，因为它最适合边写边看结果，也最容易观察 sc、spark、RDD 和动作返回值之间的关系。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其缩写分别表示R(read)、E(evaluate)、P(print)、L(loop)，输入值，交互式解释器会读取输入内容并对它求值，再返回结果，并重复此过程。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42:31 WARN NativeCodeLoader: Unable to load native-hadoop library for your platform… using builtin-java classes where applicable。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42:37 WARN Utils: Service ‘SparkUI’ could not bind on port 4040. Attempting port 4041.。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Spark 2.0之前常见的入口是SparkContext、SparkContext仍然存在并且可直接访问 和 图例 2‑9 SparkContext 和 Driver Program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每个JVM通常只存在一个SparkContext、需要底层能力时再通过spark.sparkContext访问SparkCon 和 SparkSession是Spark 4.x的数据处理统一入口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首先启动交互式界面，运行spark-shell来完成。一旦启动界面，接下来使用SparkContext.textFile方法将数据加载到Spark中。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2.28 textFile()方法返回一个RDD，其中每个元素对应文件中的一行。除了文本文件，Spark还支持多种RDD读取方式，例如：wholeTextFiles()用于读取目录中的多个小文本文件，返回(文件名, 内容)形式的数据。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hadoopRDD()则可基于Hadoop的InputFormat读取更通用的数据源。需要注意的是，RDD采用惰性求值机制。像上面这样调用textFile()时，只是定义了数据来源和后续计算入口，Spark并不会立刻把数据全部读入内存。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只有在后续遇到动作操作时，相关RDD才会真正被计算并返回结果。只要把这一步的输入、输出和作用说清楚，后面的内容就容易接上。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其中的数据项使用逗号分隔，当然auctionRDD中还包括其他产品的数据，例如Cartier、Palm等等。如果只想查看Xbox上的出价。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2.30 上面的代码对auctionRDD中的每个元素执行filter()转换。由于auctionRDD的每个元素就是CSV文件中的一行，因此filter()会逐行检查数据内容。这里使用的条件是line.contains(“xbox”)：如果某一行包含字符串xbox，它就会被保留到新的RDD中，也就是xboxR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这里的line =&gt; line.contains(“xbox”)是一个Scala匿名函数。对于RDD中的每一行，Spark都会把这一行传给匿名函数，并根据返回的布尔值决定是否保留该元素。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由于Spark的转换是惰性执行的，定义xboxRDD这一行代码本身并不会立刻触发计算。真正的执行发生在后续调用count()这类动作时。到那时，Spark才会先读取文本文件生成auctionRDD，再把filter()应用到auctionRDD上得到xboxRDD，并最终把计数结果返回给驱动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正如前面提到的，RDD的转换是惰性计算，这意味着定义auctionRDD的时候，还没有在内存中实际生成，直到在其上调用的动作之后，auctionRDD才会在内存中生成，而使用完之后auctionRDD会从内存中被释放。每次在RDD上调用动作时，Spark会重新计算RDD和其所有的依赖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2.40 运行完count动作之后，数据不在内存中。同样，如果计算xbox的总计出价次数时，将会按照定义RDD谱系图的先后顺序，先计算auctionRDD，后计算xboxRDD，然后在xboxRDD上应用count动作。运行完后，auctionRDD和xboxRDD都回从内存中释放，代码如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类似地，RDD之间的所有依赖关系将被记录在关系图中，而此时的RDD还没有在内存中生成实际的数据。该关系图被称为谱系图。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另外，当需要知道每个商品auctionid的总出价次数和出价最大次数，需要定义另一个RDD，代码如下。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2.42 上面的代码中定义了bidAuctionRDD，在这个RDD上分别调用了collect()和reduce()动作获得每个商品auctionid的总出价次数和出价最大次数的结果。当调用这个两个动作时，数据将被加载到auctionRDD中，然后计算bidAuctionRDD，然后执行相应的动作对RDD进行运算并返回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 2.42 上面的代码中定义了bidAuctionRDD，在这个RDD上分别调用了collect()和reduce()动作获得每个商品auctionid的总出价次数和出价最大次数的结果。当调用这个两个动作时，数据将被加载到auctionRDD中，然后计算bidAuctionRDD，然后执行相应的动作对RDD进行运算并返回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hyperlink" Target="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转换是惰性的计算</a:t>
            </a:r>
          </a:p>
          <a:p>
            <a:pPr lvl="0"/>
            <a:r>
              <a:rPr/>
              <a:t>表格 2‑1 案例数据说明</a:t>
            </a:r>
          </a:p>
          <a:p>
            <a:pPr lvl="0"/>
            <a:r>
              <a:rPr/>
              <a:t>的数据如下所示</a:t>
            </a:r>
          </a:p>
          <a:p>
            <a:pPr lvl="0"/>
            <a:r>
              <a:rPr/>
              <a:t>3406945791,195,0.93341,sirvinsky,52,9.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案例分析：学习路线（1/2）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</a:t>
            </a:r>
          </a:p>
          <a:p>
            <a:pPr lvl="0"/>
            <a:r>
              <a:rPr/>
              <a:t>启动交互界面</a:t>
            </a:r>
          </a:p>
          <a:p>
            <a:pPr lvl="0"/>
            <a:r>
              <a:rPr/>
              <a:t>SparkContext和SparkSession</a:t>
            </a:r>
          </a:p>
          <a:p>
            <a:pPr lvl="0"/>
            <a:r>
              <a:rPr/>
              <a:t>加载数据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案例分析：学习路线（2/2）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应用操作</a:t>
            </a:r>
          </a:p>
          <a:p>
            <a:pPr lvl="0"/>
            <a:r>
              <a:rPr/>
              <a:t>缓存处理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案例分析（1/2）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转换是惰性的计算</a:t>
            </a:r>
          </a:p>
          <a:p>
            <a:pPr lvl="0"/>
            <a:r>
              <a:rPr/>
              <a:t>表格 2‑1 案例数据说明</a:t>
            </a:r>
          </a:p>
          <a:p>
            <a:pPr lvl="0"/>
            <a:r>
              <a:rPr/>
              <a:t>的数据如下所示</a:t>
            </a:r>
          </a:p>
          <a:p>
            <a:pPr lvl="0"/>
            <a:r>
              <a:rPr/>
              <a:t>3406945791,195,0.93341,sirvinsky,52,9.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案例分析（2/2）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3406945791,200,0.93351,sirvinsky,52,9.</a:t>
            </a:r>
          </a:p>
          <a:p>
            <a:pPr lvl="0"/>
            <a:r>
              <a:rPr/>
              <a:t>3406945791,200,1.10953,jaguarhw,1,9.99</a:t>
            </a:r>
          </a:p>
          <a:p>
            <a:pPr lvl="0"/>
            <a:r>
              <a:rPr/>
              <a:t>3406945791,215,3.68168,lilbitreading,2</a:t>
            </a:r>
          </a:p>
          <a:p>
            <a:pPr lvl="0"/>
            <a:r>
              <a:rPr/>
              <a:t>3406945791,205,4.04531,jaguarhw,1,9.99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案例分析：RDD是一个基本的数据抽象层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列名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auctionid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拍卖ID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出价金额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bidtime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出价持续时间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bidder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出价人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Bidrate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出价次数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openbid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开盘价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最终价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产品类型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dtl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天数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2.6.1 启动交互界面（1/2）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我们把最先创建出来的那份 RDD 叫作输入 RDD 或基础 RDD</a:t>
            </a:r>
          </a:p>
          <a:p>
            <a:pPr lvl="0"/>
            <a:r>
              <a:rPr/>
              <a:t>是指交互式解释器环境</a:t>
            </a:r>
          </a:p>
          <a:p>
            <a:pPr lvl="0"/>
            <a:r>
              <a:rPr/>
              <a:t>root@bb8bf6efccc9：\ spark-shell</a:t>
            </a:r>
          </a:p>
          <a:p>
            <a:pPr lvl="0"/>
            <a:r>
              <a:rPr/>
              <a:t>20/03/05 07:42：31 WARN NativeCodeLoader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2.6.1 启动交互界面（2/2）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20/03/05 07:42：37 WARN Utils</a:t>
            </a:r>
          </a:p>
          <a:p>
            <a:pPr lvl="0"/>
            <a:r>
              <a:rPr/>
              <a:t>/ __/__ ___ _____/ /__</a:t>
            </a:r>
          </a:p>
          <a:p>
            <a:pPr lvl="0"/>
            <a:r>
              <a:rPr/>
              <a:t>_\ \/ _ \/ _ `/ __/ ’_/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2.6.2 SparkContext和SparkS（1/2）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2.0之前常见的入口是SparkContext</a:t>
            </a:r>
          </a:p>
          <a:p>
            <a:pPr lvl="0"/>
            <a:r>
              <a:rPr/>
              <a:t>SparkContext仍然存在并且可直接访问</a:t>
            </a:r>
          </a:p>
          <a:p>
            <a:pPr lvl="0"/>
            <a:r>
              <a:rPr/>
              <a:t>图例 2‑9 SparkContext 和 Driver Program</a:t>
            </a:r>
          </a:p>
          <a:p>
            <a:pPr lvl="0"/>
            <a:r>
              <a:rPr/>
              <a:t>从上图中看到，SparkContext是访问执行引擎的核心渠道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2.6.2 SparkContext和SparkS（2/2）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每个JVM通常只存在一个SparkContext</a:t>
            </a:r>
          </a:p>
          <a:p>
            <a:pPr lvl="0"/>
            <a:r>
              <a:rPr/>
              <a:t>需要底层能力时再通过spark.sparkContext访问SparkCon</a:t>
            </a:r>
          </a:p>
          <a:p>
            <a:pPr lvl="0"/>
            <a:r>
              <a:rPr/>
              <a:t>SparkSession是Spark 4.x的数据处理统一入口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2.6.3 加载数据（1/2）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请注意，代码中的sc是指SparkContext对象</a:t>
            </a:r>
          </a:p>
          <a:p>
            <a:pPr lvl="0"/>
            <a:r>
              <a:rPr/>
              <a:t>Spark还支持多种RDD读取方式</a:t>
            </a:r>
          </a:p>
          <a:p>
            <a:pPr lvl="0"/>
            <a:r>
              <a:rPr/>
              <a:t>sequenceFile</a:t>
            </a:r>
            <a:r>
              <a:rPr>
                <a:hlinkClick r:id="rId3"/>
              </a:rPr>
              <a:t>K, V</a:t>
            </a:r>
            <a:r>
              <a:rPr/>
              <a:t>用于读取SequenceFile</a:t>
            </a:r>
          </a:p>
          <a:p>
            <a:pPr lvl="0"/>
            <a:r>
              <a:rPr/>
              <a:t>只是定义了数据来源和后续计算入口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2.6.3 加载数据（2/2）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只有在后续遇到动作操作时，相关RDD才会真正被计算并返回结果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2.6.3 加载数据：代码片段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auctionRDD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"/data/auctiondata.csv"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auctionRDD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root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auctiondata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可以使用first()方法返回auctionRDD中第一行的数据</a:t>
            </a:r>
          </a:p>
          <a:p>
            <a:pPr lvl="0"/>
            <a:r>
              <a:rPr/>
              <a:t>代码 2.29 这一行的数据表示Xbox产品的一次出价</a:t>
            </a:r>
          </a:p>
          <a:p>
            <a:pPr lvl="0"/>
            <a:r>
              <a:rPr/>
              <a:t>可以使用什么转换操作来仅获得所有Xbox的出价信息？</a:t>
            </a:r>
          </a:p>
          <a:p>
            <a:pPr lvl="0"/>
            <a:r>
              <a:rPr/>
              <a:t>这里使用的条件是line.contains(“xbox”)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=&gt;左边的line表示输入参数，右边表示基于该输入执行的逻辑</a:t>
            </a:r>
          </a:p>
          <a:p>
            <a:pPr lvl="0"/>
            <a:r>
              <a:rPr/>
              <a:t>理解这一点，对后续阅读Spark程序的执行过程非常重要</a:t>
            </a:r>
          </a:p>
          <a:p>
            <a:pPr lvl="0"/>
            <a:r>
              <a:rPr/>
              <a:t>有多少个产品被卖出？</a:t>
            </a:r>
          </a:p>
          <a:p>
            <a:pPr lvl="0"/>
            <a:r>
              <a:rPr/>
              <a:t>每个产品有多少个出价？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可以使用first</a:t>
            </a:r>
          </a:p>
          <a:p>
            <a:pPr lvl="0"/>
            <a:r>
              <a:rPr/>
              <a:t>先过滤出真正要参与计算的数据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8213034705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2.927373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jake7870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117.5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xbox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xboxRDD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"xbox"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xboxRDD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filter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这些问题会在实验内容找到解决的方法。首先</a:t>
            </a:r>
          </a:p>
          <a:p>
            <a:pPr lvl="0" indent="0">
              <a:buNone/>
            </a:pPr>
            <a:r>
              <a:rPr>
                <a:latin typeface="Courier"/>
              </a:rPr>
              <a:t>val auctionid=0
val bid=1
val bidtime=2
val bidder=3
val bidderrate=4
val openbid=5
val price=6
val itemtype=7
val daystolive=8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先过滤出真正要参与计算的数据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auctionRDD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"/data/auctiondata.csv"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auctionRDD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(-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2.34 有时把下划线当作参数的占位符时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_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missing parameter 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expanded function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x$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x$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x$</a:t>
            </a: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06287E"/>
                </a:solidFill>
                <a:latin typeface="Courier"/>
              </a:rPr>
              <a:t>plus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x$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_</a:t>
            </a:r>
            <a:br/>
            <a:r>
              <a:rPr>
                <a:solidFill>
                  <a:srgbClr val="666666"/>
                </a:solidFill>
                <a:latin typeface="Courier"/>
              </a:rPr>
              <a:t>^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missing parameter 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expanded function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x$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error\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r>
              <a:rPr>
                <a:latin typeface="Courier"/>
              </a:rPr>
              <a:t> x$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x$</a:t>
            </a: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06287E"/>
                </a:solidFill>
                <a:latin typeface="Courier"/>
              </a:rPr>
              <a:t>plus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x$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_</a:t>
            </a:r>
            <a:br/>
            <a:r>
              <a:rPr>
                <a:solidFill>
                  <a:srgbClr val="666666"/>
                </a:solidFill>
                <a:latin typeface="Courier"/>
              </a:rPr>
              <a:t>^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2.35 这种情况下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function2\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items_sold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solidFill>
                  <a:srgbClr val="06287E"/>
                </a:solidFill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auctionid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distinct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items_sold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627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2.6.4 应用操作：代码片段（7/7）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bids_item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itemtype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bids_item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palm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5917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cartier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1953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xbox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2784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bids_item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itemtype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bids_item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xbox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RDD的转换是惰性计算，这意味着定义auctionRDD的时候</a:t>
            </a:r>
          </a:p>
          <a:p>
            <a:pPr lvl="0"/>
            <a:r>
              <a:rPr/>
              <a:t>将会按照定义RDD谱系图的先后顺序</a:t>
            </a:r>
          </a:p>
          <a:p>
            <a:pPr lvl="0"/>
            <a:r>
              <a:rPr/>
              <a:t>代码 2.41</a:t>
            </a:r>
          </a:p>
          <a:p>
            <a:pPr lvl="0"/>
            <a:r>
              <a:rPr/>
              <a:t>RDD谱系（RDD Lineage）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当从现有RDD创建新RDD时，新的RDD包含指向父RDD的指针</a:t>
            </a:r>
          </a:p>
          <a:p>
            <a:pPr lvl="0"/>
            <a:r>
              <a:rPr/>
              <a:t>当需要知道每个商品auctionid的总出价次数和出价最大次数</a:t>
            </a:r>
          </a:p>
          <a:p>
            <a:pPr lvl="0"/>
            <a:r>
              <a:rPr/>
              <a:t>每次都是从auctionRDD开始重新计算（图例 2‑10）</a:t>
            </a:r>
          </a:p>
          <a:p>
            <a:pPr lvl="0"/>
            <a:r>
              <a:rPr/>
              <a:t>图例 2‑10 RDD的依赖关系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正如前面提到的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res40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10654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2.40 运行完count动作之后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xboxRDD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res41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2784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bidAuctionRDD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bid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auctionid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bidAuctionRDD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97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bidAuctionRDD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res54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3024504428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3018732453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3018904443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8212237522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3024980402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3014835507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3023275213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3024895548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1649858595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8213472092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8212969221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3024406300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1640550476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3013951754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3015958025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3014834982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8215582227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3014836964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8213037774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8213504270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8212236671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1639253454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第三步在RDD上使用cache方法。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bidAuctionRDD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cache</a:t>
            </a:r>
            <a:br/>
            <a:r>
              <a:rPr>
                <a:latin typeface="Courier"/>
              </a:rPr>
              <a:t>res10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bidAuctionRDD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reduceByKey at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2.6.5 缓存处理：图示</a:t>
            </a:r>
          </a:p>
        </p:txBody>
      </p:sp>
      <p:pic>
        <p:nvPicPr>
          <p:cNvPr descr="../../md/media/02_spark_execution_model/media/image10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89300" y="1816100"/>
            <a:ext cx="5600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2026-04-05T02:24:15Z</dcterms:created>
  <dcterms:modified xsi:type="dcterms:W3CDTF">2026-04-05T02:24:15Z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