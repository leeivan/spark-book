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notesMaster" Target="notesMasters/notesMaster1.xml" /><Relationship Id="rId2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5" Type="http://schemas.openxmlformats.org/officeDocument/2006/relationships/theme" Target="theme/theme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DD支持两种类型的操作：转换（Transformation）是从现有数据集创建新数据集，以及动作（Action）在数据集上运行计算后将值返回给驱动程序。例如map()方法就是一种转换，通过将转换函数应用到数据集中的每个元素上，并返回结果生成新的RDD。 接下来会依次看 操作RDD、转换，以及 动作，后面的实现和案例都会沿着这条线继续展开。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转换代表了Spark大数据计算框架一类操作，可从现有RDD生成新的RDD。转换以RDD作为输入，并产生一个或多个RDD作为输出。每当我们应用任何转换时，它都会创建新的RDD。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窄转换指的是，子RDD中某个分区的计算只依赖父RDD中的单个分区或少量固定分区，例如map()、filter()。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宽转换则意味着一个分区的结果可能依赖父RDD的多个分区，通常会伴随Shuffle，例如groupByKey()和reduceByKey()。下面列出一些Spark中常见的转换操作。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下面先看基于单个RDD的转换，也就是输入只有一个RDD的情况。先通过并行化一个集合来创建示例RDD。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这一步是在缩小计算范围。把过滤条件讲清楚，后面聚合出来的结果才能知道是在什么约束下得到的。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flatMap 的关键不是做了遍历，而是把一对多的展开放进计算链路。很多词频统计、日志拆词和明细展开都依赖这一步。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窄转换指的是，子RDD中某个分区的计算只依赖父RDD中的单个分区或少量固定分区，例如map()、filter()。宽转换则意味着一个分区的结果可能依赖父RDD的多个分区，通常会伴随Shuffle，例如groupByKey()和reduceByKey()。下面列出一些Spark中常见的转换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这张图展示的是 转换：图示（2）。讲解时先指出图里最值得看的结构、趋势或对比项，再说明它和正文结论是怎么对应上的。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触发动作后，不会像转换那样形成新的RDD，因此动作是提供非RDD值的操作，计算结果存储到驱动程序或外部存储系统中，并将惰性执行的RDD转换激活开始实际的计算任务。动作是将数据从执行器发送到驱动程序的方法之一，执行器是负责执行任务的代理。驱动程序是一个JVM进程，可协调工作节点和任务的执行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此函数提供Spark中众所周知的Reduce功能。请注意，提供的任何方法f都应该符合交换律，以产生可重复的结果。reduce()方法将RDD中的两个元素作为输入，然后生成与输入元素相同类型的输出。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返回一个包含此RDD中所有元素的数组。动作collect()是最常见且最简单的操作，它将我们整个RDD的内容返回到驱动程序。如果预计整个RDD都适合内存，可以将collect()方法应用到单元测试，可以轻松地将RDD的结果与预期的结果进行比较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例如RDD的值为(1, 2, 2, 3, 4, 5, 5, 6)，rdd.count()将得出结果8。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这里没有从外部读数据，而是直接在程序里构造样例集合。它的目的通常是先把算子链路讲清楚，再替换成真实数据源。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20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4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 操作RDD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map()方法就是一种转换</a:t>
            </a:r>
          </a:p>
          <a:p>
            <a:pPr lvl="0"/>
            <a:r>
              <a:rPr/>
              <a:t>另一方面reduce()方法是一个动作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2.4.1 转换（1/2）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最基础的转换包括map()和filter()</a:t>
            </a:r>
          </a:p>
          <a:p>
            <a:pPr lvl="0"/>
            <a:r>
              <a:rPr/>
              <a:t>也可能变大，例如flatMap()、union()和cartesian()</a:t>
            </a:r>
          </a:p>
          <a:p>
            <a:pPr lvl="0"/>
            <a:r>
              <a:rPr/>
              <a:t>还可能保持近似相同的记录数，例如map()</a:t>
            </a:r>
          </a:p>
          <a:p>
            <a:pPr lvl="0"/>
            <a:r>
              <a:rPr/>
              <a:t>转换大体可以分成两类：窄转换和宽转换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2.4.1 转换（2/2）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列出一些Spark中常见的转换操作</a:t>
            </a:r>
          </a:p>
          <a:p>
            <a:pPr lvl="0"/>
            <a:r>
              <a:rPr/>
              <a:t>图例 2‑7 常见RDD转换操作示意（1）</a:t>
            </a:r>
          </a:p>
          <a:p>
            <a:pPr lvl="0"/>
            <a:r>
              <a:rPr/>
              <a:t>图例 2‑8 常见RDD转换操作示意（2）</a:t>
            </a:r>
          </a:p>
          <a:p>
            <a:pPr lvl="0"/>
            <a:r>
              <a:rPr/>
              <a:t>基于单个RDD的转换，也就是输入只有一个RDD的情况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2.4.1 转换：代码片段（1/7）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2.4.1 转换：代码片段（2/7）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先过滤出真正要参与计算的数据</a:t>
            </a:r>
          </a:p>
          <a:p>
            <a:pPr lvl="0"/>
            <a:r>
              <a:rPr/>
              <a:t>用 flatMap 把一条记录展开成多个元素</a:t>
            </a:r>
          </a:p>
          <a:p>
            <a:pPr lvl="0"/>
            <a:r>
              <a:rPr/>
              <a:t>用 map 把输入转换成后续要处理的结构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filter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flatMap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to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Inclusive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Range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Range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Range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Range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2.4.1 转换：代码片段（3/7）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Range是相等地间隔开的整数有序序列。例如</a:t>
            </a:r>
          </a:p>
          <a:p>
            <a:pPr lvl="0"/>
            <a:r>
              <a:rPr/>
              <a:t>先对照代码理解 代码 2.7 如果想创建一个Range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to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br/>
            <a:r>
              <a:rPr>
                <a:latin typeface="Courier"/>
              </a:rPr>
              <a:t>res4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Inclusive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Range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 to </a:t>
            </a:r>
            <a:r>
              <a:rPr>
                <a:solidFill>
                  <a:srgbClr val="40A070"/>
                </a:solidFill>
                <a:latin typeface="Courier"/>
              </a:rPr>
              <a:t>14</a:t>
            </a:r>
            <a:r>
              <a:rPr>
                <a:latin typeface="Courier"/>
              </a:rPr>
              <a:t> by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br/>
            <a:r>
              <a:rPr>
                <a:latin typeface="Courier"/>
              </a:rPr>
              <a:t>res3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Range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14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until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br/>
            <a:r>
              <a:rPr>
                <a:latin typeface="Courier"/>
              </a:rPr>
              <a:t>res3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collection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immutable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Range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Range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2.4.1 转换：代码片段（4/7）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/>
            <a:r>
              <a:rPr/>
              <a:t>先构造一个用于演示的并行数据集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distinct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96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r>
              <a:rPr>
                <a:latin typeface="Courier"/>
              </a:rPr>
              <a:t> 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sortBy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res73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2.4.1 转换：代码片段（5/7）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通过 action 触发前面的惰性计算真正执行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other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union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2.4.1 转换：代码片段（6/7）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intersection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res7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subtract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res8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2.4.1 转换：代码片段（7/7）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cartesian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other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res9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2.4.1 转换：图示（1）</a:t>
            </a:r>
          </a:p>
        </p:txBody>
      </p:sp>
      <p:pic>
        <p:nvPicPr>
          <p:cNvPr descr="../../md/media/02_spark_execution_model/media/image7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378200" y="1816100"/>
            <a:ext cx="54356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2.4.1 转换：图示（2）</a:t>
            </a:r>
          </a:p>
        </p:txBody>
      </p:sp>
      <p:pic>
        <p:nvPicPr>
          <p:cNvPr descr="../../md/media/02_spark_execution_model/media/image8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327400" y="1816100"/>
            <a:ext cx="5537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2.4.2 动作（1/2）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转换会创建RDD，但是当我们要获取实际数据集时将需要执行动作</a:t>
            </a:r>
          </a:p>
          <a:p>
            <a:pPr lvl="0"/>
            <a:r>
              <a:rPr/>
              <a:t>代码 2.16</a:t>
            </a:r>
          </a:p>
          <a:p>
            <a:pPr lvl="0"/>
            <a:r>
              <a:rPr/>
              <a:t>reduce()方法将RDD中的两个元素作为输入</a:t>
            </a:r>
          </a:p>
          <a:p>
            <a:pPr lvl="0"/>
            <a:r>
              <a:rPr/>
              <a:t>代码 2.17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2.4.2 动作（2/2）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动作collect()是最常见且最简单的操作</a:t>
            </a:r>
          </a:p>
          <a:p>
            <a:pPr lvl="0"/>
            <a:r>
              <a:rPr/>
              <a:t>代码 2.18</a:t>
            </a:r>
          </a:p>
          <a:p>
            <a:pPr lvl="0"/>
            <a:r>
              <a:rPr/>
              <a:t>返回数据集中元素的数量</a:t>
            </a:r>
          </a:p>
          <a:p>
            <a:pPr lvl="0"/>
            <a:r>
              <a:rPr/>
              <a:t>代码 2.19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2.4.2 动作：代码片段（1/6）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先构造一个用于演示的并行数据集</a:t>
            </a:r>
          </a:p>
          <a:p>
            <a:pPr lvl="0"/>
            <a:r>
              <a:rPr/>
              <a:t>先对照代码理解 此函数提供Spark中众所周知的Reduce功能。请注意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rdd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parallelize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ParallelCollectionRDD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</a:t>
            </a:r>
            <a:br/>
            <a:r>
              <a:rPr>
                <a:latin typeface="Courier"/>
              </a:rPr>
              <a:t>parallelize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24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reduce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2.4.2 动作：代码片段（2/6）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/>
            <a:r>
              <a:rPr/>
              <a:t>rdd.count()将得出结果8。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collect</a:t>
            </a:r>
            <a:br/>
            <a:r>
              <a:rPr>
                <a:latin typeface="Courier"/>
              </a:rPr>
              <a:t>res12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count</a:t>
            </a:r>
            <a:br/>
            <a:r>
              <a:rPr>
                <a:latin typeface="Courier"/>
              </a:rPr>
              <a:t>res13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Long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2.4.2 动作：代码片段（3/6）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返回数据集的第一元素，类似于take(1)。 的执行步骤</a:t>
            </a:r>
          </a:p>
          <a:p>
            <a:pPr lvl="0"/>
            <a:r>
              <a:rPr/>
              <a:t>因此它表示一个有偏差的集合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first</a:t>
            </a:r>
            <a:br/>
            <a:r>
              <a:rPr>
                <a:latin typeface="Courier"/>
              </a:rPr>
              <a:t>res14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res15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2.4.2 动作：代码片段（4/6）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因为所有的数据都被加载到驱动程序的内存中</a:t>
            </a:r>
          </a:p>
          <a:p>
            <a:pPr lvl="0"/>
            <a:r>
              <a:rPr/>
              <a:t>先对照代码理解 ord：隐式排序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takeSample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res16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takeOrdered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res17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takeOrdered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)(</a:t>
            </a:r>
            <a:r>
              <a:rPr>
                <a:latin typeface="Courier"/>
              </a:rPr>
              <a:t>Ordering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].</a:t>
            </a:r>
            <a:r>
              <a:rPr>
                <a:latin typeface="Courier"/>
              </a:rPr>
              <a:t>reverse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res18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2.4.2 动作：代码片段（5/6）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对该RDD的所有元素应用函数f。与其他操作不同</a:t>
            </a:r>
          </a:p>
          <a:p>
            <a:pPr lvl="0"/>
            <a:r>
              <a:rPr/>
              <a:t>先对照代码理解 op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solidFill>
                  <a:srgbClr val="4070A0"/>
                </a:solidFill>
                <a:latin typeface="Courier"/>
              </a:rPr>
              <a:t>" "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)((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res28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fold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)((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res29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12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2.4.2 动作：代码片段（6/6）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2.25</a:t>
            </a:r>
          </a:p>
          <a:p>
            <a:pPr lvl="0"/>
            <a:r>
              <a:rPr/>
              <a:t>先对照代码理解 combOp：用于组合来自不同分区的结果的关联运算符 的执行步骤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partitions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size</a:t>
            </a:r>
            <a:br/>
            <a:r>
              <a:rPr>
                <a:latin typeface="Courier"/>
              </a:rPr>
              <a:t>res25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aggregate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))((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)=&gt;(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y</a:t>
            </a:r>
            <a:r>
              <a:rPr>
                <a:solidFill>
                  <a:srgbClr val="666666"/>
                </a:solidFill>
                <a:latin typeface="Courier"/>
              </a:rPr>
              <a:t>)=&gt;(</a:t>
            </a:r>
            <a:r>
              <a:rPr>
                <a:latin typeface="Courier"/>
              </a:rPr>
              <a:t>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y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latin typeface="Courier"/>
              </a:rPr>
              <a:t>res32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2026-04-05T02:24:08Z</dcterms:created>
  <dcterms:modified xsi:type="dcterms:W3CDTF">2026-04-05T02:24:08Z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