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8" Type="http://schemas.openxmlformats.org/officeDocument/2006/relationships/tableStyles" Target="tableStyles.xml" /><Relationship Id="rId1" Type="http://schemas.openxmlformats.org/officeDocument/2006/relationships/slideMaster" Target="slideMasters/slideMaster1.xml" /><Relationship Id="rId27" Type="http://schemas.openxmlformats.org/officeDocument/2006/relationships/theme" Target="theme/theme1.xml" /><Relationship Id="rId26" Type="http://schemas.openxmlformats.org/officeDocument/2006/relationships/viewProps" Target="viewProps.xml" /><Relationship Id="rId25"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本节是本章最重要的工程化部分。现实中的机器学习任务很少只是“调用一个算法就结束”，通常还包括数据清洗、特征提取、模型训练、评估、调参与推理输出。Pipeline 的作用，就是把这些阶段组织成一条可重复、可保存、可复用的处理链路。 接下来会依次看 机器学习管道、概念介绍，以及 Spark 管道，后面的实现和案例都会沿着这条线继续展开。</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这一页先把 7.7 机器学习管道 的主线串起来，重点包括 机器学习管道、概念介绍、Spark 管道，以及 模型选择。先知道每一步要解决什么问题，后面的细节就更容易跟住。</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构建管道的初始阶段，数据质量及其可访问性是将遇到的两个主要挑战。如果要想从原始数据中获得有意义的信息，机器学习管道的首要任务就是定义数据收集和数据清理，但是在实际应用环境中会遇到很大的难度。</a:t>
            </a:r>
          </a:p>
          <a:p>
            <a:pPr lvl="0" indent="0" marL="0">
              <a:buNone/>
            </a:pPr>
          </a:p>
          <a:p>
            <a:pPr lvl="0" indent="0" marL="0">
              <a:buNone/>
            </a:pPr>
            <a:r>
              <a:rPr/>
              <a:t>还需要的功能包括容错能力、资源管理、可扩展性和可维护性。另外，机器学习开发框架还包括模型导入/导出、交叉验证以选择参数以及从多个数据源汇总数据。</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这一页重点放在 管道的持久化，可以保存和加载模型以备。只要把这一步的输入、输出和作用说清楚，后面的内容就容易接上。</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这张图展示的是 概念介绍：图示。讲解时先指出图里最值得看的结构、趋势或对比项，再说明它和正文结论是怎么对应上的。</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能够与特征工程、模型、评估器和参数网格搜索自然组合、一条典型链路往往是这样的，先从原始表中选出训练字段 和 就更容易理解为什么 Transformer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转换器是一种抽象，包含特征转换器和训练过的模型、训练过的模型通过DataFrame读取包含特征向量的列预测每个特征向量的标签 和 估算器（Estimator）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8</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9</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10</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a:p>
            <a:pPr lvl="0" indent="0" marL="0">
              <a:buNone/>
            </a:pPr>
          </a:p>
          <a:p>
            <a:pPr lvl="0" indent="0" marL="0">
              <a:buNone/>
            </a:pPr>
            <a:r>
              <a:rPr/>
              <a:t>这一步把计算结果落到外部系统，供下游查询、报表或下一轮任务继续使用。讲的时候要说明输出位置和结果的消费方式。</a:t>
            </a:r>
          </a:p>
        </p:txBody>
      </p:sp>
      <p:sp>
        <p:nvSpPr>
          <p:cNvPr id="4" name="Slide Number Placeholder 3"/>
          <p:cNvSpPr>
            <a:spLocks noGrp="1"/>
          </p:cNvSpPr>
          <p:nvPr>
            <p:ph type="sldNum" sz="quarter" idx="10"/>
          </p:nvPr>
        </p:nvSpPr>
        <p:spPr/>
        <p:txBody>
          <a:bodyPr/>
          <a:lstStyle/>
          <a:p>
            <a:fld id="{DE9B7EA9-A690-144F-BA16-8B1F010DDC74}" type="slidenum">
              <a:rPr lang="en-US"/>
              <a:t>11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这一步把计算结果落到外部系统，供下游查询、报表或下一轮任务继续使用。讲的时候要说明输出位置和结果的消费方式。</a:t>
            </a:r>
          </a:p>
          <a:p>
            <a:pPr lvl="0" indent="0" marL="0">
              <a:buNone/>
            </a:pPr>
          </a:p>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12</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13</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前面的转换大多只是把执行计划串起来，直到这里遇到 action，Spark 才会真正下发任务。这个时点是理解执行模型的关键。</a:t>
            </a:r>
          </a:p>
        </p:txBody>
      </p:sp>
      <p:sp>
        <p:nvSpPr>
          <p:cNvPr id="4" name="Slide Number Placeholder 3"/>
          <p:cNvSpPr>
            <a:spLocks noGrp="1"/>
          </p:cNvSpPr>
          <p:nvPr>
            <p:ph type="sldNum" sz="quarter" idx="10"/>
          </p:nvPr>
        </p:nvSpPr>
        <p:spPr/>
        <p:txBody>
          <a:bodyPr/>
          <a:lstStyle/>
          <a:p>
            <a:fld id="{DE9B7EA9-A690-144F-BA16-8B1F010DDC74}" type="slidenum">
              <a:rPr lang="en-US"/>
              <a:t>14</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15</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16</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17</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讲这段代码时，先指出输入对象，再说明中间做了哪些转换，最后在哪里触发执行或写出结果。这样听众能把 API 调用和完整处理链对上。</a:t>
            </a:r>
          </a:p>
        </p:txBody>
      </p:sp>
      <p:sp>
        <p:nvSpPr>
          <p:cNvPr id="4" name="Slide Number Placeholder 3"/>
          <p:cNvSpPr>
            <a:spLocks noGrp="1"/>
          </p:cNvSpPr>
          <p:nvPr>
            <p:ph type="sldNum" sz="quarter" idx="10"/>
          </p:nvPr>
        </p:nvSpPr>
        <p:spPr/>
        <p:txBody>
          <a:bodyPr/>
          <a:lstStyle/>
          <a:p>
            <a:fld id="{DE9B7EA9-A690-144F-BA16-8B1F010DDC74}" type="slidenum">
              <a:rPr lang="en-US"/>
              <a:t>18</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这张图展示的是 Spark 管道：图示（1）。讲解时先指出图里最值得看的结构、趋势或对比项，再说明它和正文结论是怎么对应上的。</a:t>
            </a:r>
          </a:p>
        </p:txBody>
      </p:sp>
      <p:sp>
        <p:nvSpPr>
          <p:cNvPr id="4" name="Slide Number Placeholder 3"/>
          <p:cNvSpPr>
            <a:spLocks noGrp="1"/>
          </p:cNvSpPr>
          <p:nvPr>
            <p:ph type="sldNum" sz="quarter" idx="10"/>
          </p:nvPr>
        </p:nvSpPr>
        <p:spPr/>
        <p:txBody>
          <a:bodyPr/>
          <a:lstStyle/>
          <a:p>
            <a:fld id="{DE9B7EA9-A690-144F-BA16-8B1F010DDC74}" type="slidenum">
              <a:rPr lang="en-US"/>
              <a:t>19</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这张图展示的是 Spark 管道：图示（2）。讲解时先指出图里最值得看的结构、趋势或对比项，再说明它和正文结论是怎么对应上的。</a:t>
            </a:r>
          </a:p>
        </p:txBody>
      </p:sp>
      <p:sp>
        <p:nvSpPr>
          <p:cNvPr id="4" name="Slide Number Placeholder 3"/>
          <p:cNvSpPr>
            <a:spLocks noGrp="1"/>
          </p:cNvSpPr>
          <p:nvPr>
            <p:ph type="sldNum" sz="quarter" idx="10"/>
          </p:nvPr>
        </p:nvSpPr>
        <p:spPr/>
        <p:txBody>
          <a:bodyPr/>
          <a:lstStyle/>
          <a:p>
            <a:fld id="{DE9B7EA9-A690-144F-BA16-8B1F010DDC74}" type="slidenum">
              <a:rPr lang="en-US"/>
              <a:t>20</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如何在 spark.ml 中做模型选择和超参数调优。现实中的调优很少只针对某一个算法参数，而更常见的是把整条 Pipeline 当成一个整体来优化：特征工程、模型参数、评估指标和数据切分方式一起决定最终效果。Spark 提供的核心工具主要有 CrossValidator 和 TrainValidationSplit。</a:t>
            </a:r>
          </a:p>
          <a:p>
            <a:pPr lvl="0" indent="0" marL="0">
              <a:buNone/>
            </a:pPr>
          </a:p>
          <a:p>
            <a:pPr lvl="0" indent="0" marL="0">
              <a:buNone/>
            </a:pPr>
            <a:r>
              <a:rPr/>
              <a:t>估算器代表待调优的算法或管道，ParamMap/ParamGridBuilder 负责列出候选参数组合，评估器（Evaluator）则负责衡量模型在验证数据上的表现。</a:t>
            </a:r>
          </a:p>
          <a:p>
            <a:pPr lvl="0" indent="0" marL="0">
              <a:buNone/>
            </a:pPr>
          </a:p>
          <a:p>
            <a:pPr lvl="0" indent="0" marL="0">
              <a:buNone/>
            </a:pPr>
            <a:r>
              <a:rPr/>
              <a:t>遍历ParamMap中的参数，使用这些参数训练估算器得到模型，并使用评估器验证模型的性能。</a:t>
            </a:r>
          </a:p>
        </p:txBody>
      </p:sp>
      <p:sp>
        <p:nvSpPr>
          <p:cNvPr id="4" name="Slide Number Placeholder 3"/>
          <p:cNvSpPr>
            <a:spLocks noGrp="1"/>
          </p:cNvSpPr>
          <p:nvPr>
            <p:ph type="sldNum" sz="quarter" idx="10"/>
          </p:nvPr>
        </p:nvSpPr>
        <p:spPr/>
        <p:txBody>
          <a:bodyPr/>
          <a:lstStyle/>
          <a:p>
            <a:fld id="{DE9B7EA9-A690-144F-BA16-8B1F010DDC74}" type="slidenum">
              <a:rPr lang="en-US"/>
              <a:t>21</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可以选择BinaryClassificationEvaluator。</a:t>
            </a:r>
          </a:p>
          <a:p>
            <a:pPr lvl="0" indent="0" marL="0">
              <a:buNone/>
            </a:pPr>
          </a:p>
          <a:p>
            <a:pPr lvl="0" indent="0" marL="0">
              <a:buNone/>
            </a:pPr>
            <a:r>
              <a:rPr/>
              <a:t>或针对多元分类问题，可以选择MulticlassClassificationEvaluator。在选择最佳ParamMap的参数组时，默认度量指标可以由评估器中的setMetricName方法设置。</a:t>
            </a:r>
          </a:p>
        </p:txBody>
      </p:sp>
      <p:sp>
        <p:nvSpPr>
          <p:cNvPr id="4" name="Slide Number Placeholder 3"/>
          <p:cNvSpPr>
            <a:spLocks noGrp="1"/>
          </p:cNvSpPr>
          <p:nvPr>
            <p:ph type="sldNum" sz="quarter" idx="10"/>
          </p:nvPr>
        </p:nvSpPr>
        <p:spPr/>
        <p:txBody>
          <a:bodyPr/>
          <a:lstStyle/>
          <a:p>
            <a:fld id="{DE9B7EA9-A690-144F-BA16-8B1F010DDC74}"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5.jp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 Id="rId3" Type="http://schemas.openxmlformats.org/officeDocument/2006/relationships/image" Target="../media/image6.jp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 机器学习管道</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本节是本章最重要的工程化部分</a:t>
            </a:r>
          </a:p>
          <a:p>
            <a:pPr lvl="0"/>
            <a:r>
              <a:rPr/>
              <a:t>Transformer 负责把一个 DataFrame 转成另一个</a:t>
            </a:r>
          </a:p>
          <a:p>
            <a:pPr lvl="0"/>
            <a:r>
              <a:rPr/>
              <a:t>Estimator 负责在训练数据上调用 fit() 生成模型</a:t>
            </a:r>
          </a:p>
          <a:p>
            <a:pPr lvl="0"/>
            <a:r>
              <a:rPr/>
              <a:t>Evaluator 负责度量模型效果并为调参提供依据</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 机器学习管道：学习路线</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机器学习管道</a:t>
            </a:r>
          </a:p>
          <a:p>
            <a:pPr lvl="0"/>
            <a:r>
              <a:rPr/>
              <a:t>概念介绍</a:t>
            </a:r>
          </a:p>
          <a:p>
            <a:pPr lvl="0"/>
            <a:r>
              <a:rPr/>
              <a:t>Spark 管道</a:t>
            </a:r>
          </a:p>
          <a:p>
            <a:pPr lvl="0"/>
            <a:r>
              <a:rPr/>
              <a:t>模型选择</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7.7.1 概念介绍（1/2）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图例 7‑7 Spark 机器学习工作流</a:t>
            </a:r>
          </a:p>
          <a:p>
            <a:pPr lvl="0"/>
            <a:r>
              <a:rPr/>
              <a:t>包括转换器（Transformer）</a:t>
            </a:r>
          </a:p>
          <a:p>
            <a:pPr lvl="0"/>
            <a:r>
              <a:rPr/>
              <a:t>机器学习开发框架需要通过支持分布式计算的实用程序来帮助组装管道组件</a:t>
            </a:r>
          </a:p>
          <a:p>
            <a:pPr lvl="0"/>
            <a:r>
              <a:rPr/>
              <a:t>特征提取、选择和统计</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7.7.1 概念介绍（2/2）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管道的持久化，可以保存和加载模型以备</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7.7.1 概念介绍：图示</a:t>
            </a:r>
          </a:p>
        </p:txBody>
      </p:sp>
      <p:pic>
        <p:nvPicPr>
          <p:cNvPr descr="../../md/media/07_machine_learning/media/image7.png" id="0" name="Picture 1"/>
          <p:cNvPicPr>
            <a:picLocks noGrp="1" noChangeAspect="1"/>
          </p:cNvPicPr>
          <p:nvPr/>
        </p:nvPicPr>
        <p:blipFill>
          <a:blip r:embed="rId3"/>
          <a:stretch>
            <a:fillRect/>
          </a:stretch>
        </p:blipFill>
        <p:spPr bwMode="auto">
          <a:xfrm>
            <a:off x="3644900" y="1816100"/>
            <a:ext cx="49022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https://miro.medium.com/max/1360/1*c4SNMDj18FHQakGS6Gmgsg.png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能够与特征工程、模型、评估器和参数网格搜索自然组合</a:t>
            </a:r>
          </a:p>
          <a:p>
            <a:pPr lvl="0"/>
            <a:r>
              <a:rPr/>
              <a:t>一条典型链路往往是这样的，先从原始表中选出训练字段</a:t>
            </a:r>
          </a:p>
          <a:p>
            <a:pPr lvl="0"/>
            <a:r>
              <a:rPr/>
              <a:t>就更容易理解为什么 Transformer</a:t>
            </a:r>
          </a:p>
          <a:p>
            <a:pPr lvl="0"/>
            <a:r>
              <a:rPr/>
              <a:t>转换器（Transformer）</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转换器是一种抽象，包含特征转换器和训练过的模型</a:t>
            </a:r>
          </a:p>
          <a:p>
            <a:pPr lvl="0"/>
            <a:r>
              <a:rPr/>
              <a:t>训练过的模型通过DataFrame读取包含特征向量的列预测每个特征向量的标签</a:t>
            </a:r>
          </a:p>
          <a:p>
            <a:pPr lvl="0"/>
            <a:r>
              <a:rPr/>
              <a:t>估算器（Estimator）</a:t>
            </a:r>
          </a:p>
          <a:p>
            <a:pPr lvl="0"/>
            <a:r>
              <a:rPr/>
              <a:t>LogisticRegression算法是一个估算器</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管道：代码片段（1/11）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就可以分别为它们构造不同的 maxIter 参数</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Pipeline</a:t>
            </a:r>
            <a:r>
              <a:rPr>
                <a:solidFill>
                  <a:srgbClr val="666666"/>
                </a:solidFill>
                <a:latin typeface="Courier"/>
              </a:rPr>
              <a:t>,</a:t>
            </a:r>
            <a:r>
              <a:rPr>
                <a:latin typeface="Courier"/>
              </a:rPr>
              <a:t> PipelineModel</a:t>
            </a:r>
            <a:r>
              <a:rPr>
                <a:solidFill>
                  <a:srgbClr val="666666"/>
                </a:solidFill>
                <a:latin typeface="Courier"/>
              </a:rPr>
              <a:t>}</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Pipeline</a:t>
            </a:r>
            <a:r>
              <a:rPr>
                <a:solidFill>
                  <a:srgbClr val="666666"/>
                </a:solidFill>
                <a:latin typeface="Courier"/>
              </a:rPr>
              <a:t>,</a:t>
            </a:r>
            <a:r>
              <a:rPr>
                <a:latin typeface="Courier"/>
              </a:rPr>
              <a:t> PipelineModel</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classification</a:t>
            </a:r>
            <a:r>
              <a:rPr>
                <a:solidFill>
                  <a:srgbClr val="666666"/>
                </a:solidFill>
                <a:latin typeface="Courier"/>
              </a:rPr>
              <a:t>.</a:t>
            </a:r>
            <a:r>
              <a:rPr>
                <a:latin typeface="Courier"/>
              </a:rPr>
              <a:t>LogisticRegression</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classification</a:t>
            </a:r>
            <a:r>
              <a:rPr>
                <a:solidFill>
                  <a:srgbClr val="666666"/>
                </a:solidFill>
                <a:latin typeface="Courier"/>
              </a:rPr>
              <a:t>.</a:t>
            </a:r>
            <a:r>
              <a:rPr>
                <a:latin typeface="Courier"/>
              </a:rPr>
              <a:t>LogisticRegression</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feature</a:t>
            </a:r>
            <a:r>
              <a:rPr>
                <a:solidFill>
                  <a:srgbClr val="666666"/>
                </a:solidFill>
                <a:latin typeface="Courier"/>
              </a:rPr>
              <a:t>.{</a:t>
            </a:r>
            <a:r>
              <a:rPr>
                <a:latin typeface="Courier"/>
              </a:rPr>
              <a:t>HashingTF</a:t>
            </a:r>
            <a:r>
              <a:rPr>
                <a:solidFill>
                  <a:srgbClr val="666666"/>
                </a:solidFill>
                <a:latin typeface="Courier"/>
              </a:rPr>
              <a:t>,</a:t>
            </a:r>
            <a:r>
              <a:rPr>
                <a:latin typeface="Courier"/>
              </a:rPr>
              <a:t> Tokenizer</a:t>
            </a:r>
            <a:r>
              <a:rPr>
                <a:solidFill>
                  <a:srgbClr val="666666"/>
                </a:solidFill>
                <a:latin typeface="Courier"/>
              </a:rPr>
              <a:t>}</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feature</a:t>
            </a:r>
            <a:r>
              <a:rPr>
                <a:solidFill>
                  <a:srgbClr val="666666"/>
                </a:solidFill>
                <a:latin typeface="Courier"/>
              </a:rPr>
              <a:t>.{</a:t>
            </a:r>
            <a:r>
              <a:rPr>
                <a:latin typeface="Courier"/>
              </a:rPr>
              <a:t>HashingTF</a:t>
            </a:r>
            <a:r>
              <a:rPr>
                <a:solidFill>
                  <a:srgbClr val="666666"/>
                </a:solidFill>
                <a:latin typeface="Courier"/>
              </a:rPr>
              <a:t>,</a:t>
            </a:r>
            <a:r>
              <a:rPr>
                <a:latin typeface="Courier"/>
              </a:rPr>
              <a:t> Tokenizer</a:t>
            </a: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Vector</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linalg</a:t>
            </a:r>
            <a:r>
              <a:rPr>
                <a:solidFill>
                  <a:srgbClr val="666666"/>
                </a:solidFill>
                <a:latin typeface="Courier"/>
              </a:rPr>
              <a:t>.</a:t>
            </a:r>
            <a:r>
              <a:rPr>
                <a:latin typeface="Courier"/>
              </a:rPr>
              <a:t>Vector</a:t>
            </a:r>
            <a:b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sql</a:t>
            </a:r>
            <a:r>
              <a:rPr>
                <a:solidFill>
                  <a:srgbClr val="666666"/>
                </a:solidFill>
                <a:latin typeface="Courier"/>
              </a:rPr>
              <a:t>.</a:t>
            </a:r>
            <a:r>
              <a:rPr>
                <a:latin typeface="Courier"/>
              </a:rPr>
              <a:t>Row</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sql</a:t>
            </a:r>
            <a:r>
              <a:rPr>
                <a:solidFill>
                  <a:srgbClr val="666666"/>
                </a:solidFill>
                <a:latin typeface="Courier"/>
              </a:rPr>
              <a:t>.</a:t>
            </a:r>
            <a:r>
              <a:rPr>
                <a:latin typeface="Courier"/>
              </a:rPr>
              <a:t>Row</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管道：代码片段（2/11）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准备训练数据：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training </a:t>
            </a:r>
            <a:r>
              <a:rPr>
                <a:solidFill>
                  <a:srgbClr val="666666"/>
                </a:solidFill>
                <a:latin typeface="Courier"/>
              </a:rPr>
              <a:t>=</a:t>
            </a:r>
            <a:r>
              <a:rPr>
                <a:latin typeface="Courier"/>
              </a:rPr>
              <a:t> spark</a:t>
            </a:r>
            <a:r>
              <a:rPr>
                <a:solidFill>
                  <a:srgbClr val="666666"/>
                </a:solidFill>
                <a:latin typeface="Courier"/>
              </a:rPr>
              <a:t>.</a:t>
            </a:r>
            <a:r>
              <a:rPr>
                <a:solidFill>
                  <a:srgbClr val="06287E"/>
                </a:solidFill>
                <a:latin typeface="Courier"/>
              </a:rPr>
              <a:t>createDataFrame</a:t>
            </a:r>
            <a:r>
              <a:rPr>
                <a:solidFill>
                  <a:srgbClr val="666666"/>
                </a:solidFill>
                <a:latin typeface="Courier"/>
              </a:rPr>
              <a:t>(</a:t>
            </a:r>
            <a:r>
              <a:rPr>
                <a:solidFill>
                  <a:srgbClr val="008000"/>
                </a:solidFill>
                <a:latin typeface="Courier"/>
              </a:rPr>
              <a:t>Seq</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0L</a:t>
            </a:r>
            <a:r>
              <a:rPr>
                <a:solidFill>
                  <a:srgbClr val="666666"/>
                </a:solidFill>
                <a:latin typeface="Courier"/>
              </a:rPr>
              <a:t>,</a:t>
            </a:r>
            <a:r>
              <a:rPr>
                <a:latin typeface="Courier"/>
              </a:rPr>
              <a:t> </a:t>
            </a:r>
            <a:r>
              <a:rPr>
                <a:solidFill>
                  <a:srgbClr val="4070A0"/>
                </a:solidFill>
                <a:latin typeface="Courier"/>
              </a:rPr>
              <a:t>"a b c d e spark"</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1L</a:t>
            </a:r>
            <a:r>
              <a:rPr>
                <a:solidFill>
                  <a:srgbClr val="666666"/>
                </a:solidFill>
                <a:latin typeface="Courier"/>
              </a:rPr>
              <a:t>,</a:t>
            </a:r>
            <a:r>
              <a:rPr>
                <a:latin typeface="Courier"/>
              </a:rPr>
              <a:t> </a:t>
            </a:r>
            <a:r>
              <a:rPr>
                <a:solidFill>
                  <a:srgbClr val="4070A0"/>
                </a:solidFill>
                <a:latin typeface="Courier"/>
              </a:rPr>
              <a:t>"b d"</a:t>
            </a:r>
            <a:r>
              <a:rPr>
                <a:solidFill>
                  <a:srgbClr val="666666"/>
                </a:solidFill>
                <a:latin typeface="Courier"/>
              </a:rPr>
              <a:t>,</a:t>
            </a:r>
            <a:r>
              <a:rPr>
                <a:latin typeface="Courier"/>
              </a:rPr>
              <a:t> </a:t>
            </a:r>
            <a:r>
              <a:rPr>
                <a:solidFill>
                  <a:srgbClr val="40A070"/>
                </a:solidFill>
                <a:latin typeface="Courier"/>
              </a:rPr>
              <a:t>0.0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2L</a:t>
            </a:r>
            <a:r>
              <a:rPr>
                <a:solidFill>
                  <a:srgbClr val="666666"/>
                </a:solidFill>
                <a:latin typeface="Courier"/>
              </a:rPr>
              <a:t>,</a:t>
            </a:r>
            <a:r>
              <a:rPr>
                <a:latin typeface="Courier"/>
              </a:rPr>
              <a:t> </a:t>
            </a:r>
            <a:r>
              <a:rPr>
                <a:solidFill>
                  <a:srgbClr val="4070A0"/>
                </a:solidFill>
                <a:latin typeface="Courier"/>
              </a:rPr>
              <a:t>"spark f g h"</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3L</a:t>
            </a:r>
            <a:r>
              <a:rPr>
                <a:solidFill>
                  <a:srgbClr val="666666"/>
                </a:solidFill>
                <a:latin typeface="Courier"/>
              </a:rPr>
              <a:t>,</a:t>
            </a:r>
            <a:r>
              <a:rPr>
                <a:latin typeface="Courier"/>
              </a:rPr>
              <a:t> </a:t>
            </a:r>
            <a:r>
              <a:rPr>
                <a:solidFill>
                  <a:srgbClr val="4070A0"/>
                </a:solidFill>
                <a:latin typeface="Courier"/>
              </a:rPr>
              <a:t>"hadoop mapreduce"</a:t>
            </a:r>
            <a:r>
              <a:rPr>
                <a:solidFill>
                  <a:srgbClr val="666666"/>
                </a:solidFill>
                <a:latin typeface="Courier"/>
              </a:rPr>
              <a:t>,</a:t>
            </a:r>
            <a:r>
              <a:rPr>
                <a:latin typeface="Courier"/>
              </a:rPr>
              <a:t> </a:t>
            </a:r>
            <a:r>
              <a:rPr>
                <a:solidFill>
                  <a:srgbClr val="40A070"/>
                </a:solidFill>
                <a:latin typeface="Courier"/>
              </a:rPr>
              <a:t>0.0</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06287E"/>
                </a:solidFill>
                <a:latin typeface="Courier"/>
              </a:rPr>
              <a:t>toDF</a:t>
            </a:r>
            <a:r>
              <a:rPr>
                <a:solidFill>
                  <a:srgbClr val="666666"/>
                </a:solidFill>
                <a:latin typeface="Courier"/>
              </a:rPr>
              <a:t>(</a:t>
            </a:r>
            <a:r>
              <a:rPr>
                <a:solidFill>
                  <a:srgbClr val="4070A0"/>
                </a:solidFill>
                <a:latin typeface="Courier"/>
              </a:rPr>
              <a:t>"id"</a:t>
            </a:r>
            <a:r>
              <a:rPr>
                <a:solidFill>
                  <a:srgbClr val="666666"/>
                </a:solidFill>
                <a:latin typeface="Courier"/>
              </a:rPr>
              <a:t>,</a:t>
            </a:r>
            <a:r>
              <a:rPr>
                <a:latin typeface="Courier"/>
              </a:rPr>
              <a:t> </a:t>
            </a:r>
            <a:r>
              <a:rPr>
                <a:solidFill>
                  <a:srgbClr val="4070A0"/>
                </a:solidFill>
                <a:latin typeface="Courier"/>
              </a:rPr>
              <a:t>"text"</a:t>
            </a:r>
            <a:r>
              <a:rPr>
                <a:solidFill>
                  <a:srgbClr val="666666"/>
                </a:solidFill>
                <a:latin typeface="Courier"/>
              </a:rPr>
              <a:t>,</a:t>
            </a:r>
            <a:r>
              <a:rPr>
                <a:latin typeface="Courier"/>
              </a:rPr>
              <a:t> </a:t>
            </a:r>
            <a:r>
              <a:rPr>
                <a:solidFill>
                  <a:srgbClr val="4070A0"/>
                </a:solidFill>
                <a:latin typeface="Courier"/>
              </a:rPr>
              <a:t>"label"</a:t>
            </a:r>
            <a:r>
              <a:rPr>
                <a:solidFill>
                  <a:srgbClr val="666666"/>
                </a:solidFill>
                <a:latin typeface="Courier"/>
              </a:rPr>
              <a:t>)</a:t>
            </a:r>
            <a:br/>
            <a:r>
              <a:rPr>
                <a:latin typeface="Courier"/>
              </a:rPr>
              <a:t>training</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sql</a:t>
            </a:r>
            <a:r>
              <a:rPr>
                <a:solidFill>
                  <a:srgbClr val="666666"/>
                </a:solidFill>
                <a:latin typeface="Courier"/>
              </a:rPr>
              <a:t>.</a:t>
            </a:r>
            <a:r>
              <a:rPr>
                <a:latin typeface="Courier"/>
              </a:rPr>
              <a:t>DataFrame </a:t>
            </a:r>
            <a:r>
              <a:rPr>
                <a:solidFill>
                  <a:srgbClr val="666666"/>
                </a:solidFill>
                <a:latin typeface="Courier"/>
              </a:rPr>
              <a:t>=</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bigint</a:t>
            </a:r>
            <a:r>
              <a:rPr>
                <a:solidFill>
                  <a:srgbClr val="666666"/>
                </a:solidFill>
                <a:latin typeface="Courier"/>
              </a:rPr>
              <a:t>,</a:t>
            </a:r>
            <a:r>
              <a:rPr>
                <a:latin typeface="Courier"/>
              </a:rPr>
              <a:t> text</a:t>
            </a:r>
            <a:r>
              <a:rPr>
                <a:solidFill>
                  <a:srgbClr val="666666"/>
                </a:solidFill>
                <a:latin typeface="Courier"/>
              </a:rPr>
              <a:t>:</a:t>
            </a:r>
            <a:r>
              <a:rPr>
                <a:latin typeface="Courier"/>
              </a:rPr>
              <a:t> string</a:t>
            </a:r>
            <a:br/>
            <a:r>
              <a:rPr>
                <a:solidFill>
                  <a:srgbClr val="666666"/>
                </a:solidFill>
                <a:latin typeface="Courier"/>
              </a:rPr>
              <a:t>...</a:t>
            </a:r>
            <a:r>
              <a:rPr>
                <a:latin typeface="Courier"/>
              </a:rPr>
              <a:t> </a:t>
            </a:r>
            <a:r>
              <a:rPr>
                <a:solidFill>
                  <a:srgbClr val="40A070"/>
                </a:solidFill>
                <a:latin typeface="Courier"/>
              </a:rPr>
              <a:t>1</a:t>
            </a:r>
            <a:r>
              <a:rPr>
                <a:latin typeface="Courier"/>
              </a:rPr>
              <a:t> more field</a:t>
            </a:r>
            <a:r>
              <a:rPr>
                <a:solidFill>
                  <a:srgbClr val="666666"/>
                </a:solidFill>
                <a:latin typeface="Courier"/>
              </a:rPr>
              <a:t>]</a:t>
            </a:r>
            <a:br/>
            <a:r>
              <a:rPr>
                <a:latin typeface="Courier"/>
              </a:rPr>
              <a:t>scala</a:t>
            </a:r>
            <a:r>
              <a:rPr>
                <a:solidFill>
                  <a:srgbClr val="666666"/>
                </a:solidFill>
                <a:latin typeface="Courier"/>
              </a:rPr>
              <a:t>&gt;</a:t>
            </a:r>
            <a:r>
              <a:rPr>
                <a:latin typeface="Courier"/>
              </a:rPr>
              <a:t> training</a:t>
            </a:r>
            <a:r>
              <a:rPr>
                <a:solidFill>
                  <a:srgbClr val="666666"/>
                </a:solidFill>
                <a:latin typeface="Courier"/>
              </a:rPr>
              <a:t>.</a:t>
            </a:r>
            <a:r>
              <a:rPr>
                <a:latin typeface="Courier"/>
              </a:rPr>
              <a:t>show</a:t>
            </a:r>
            <a:br/>
            <a:r>
              <a:rPr>
                <a:solidFill>
                  <a:srgbClr val="666666"/>
                </a:solidFill>
                <a:latin typeface="Courier"/>
              </a:rPr>
              <a:t>+---+----------------+-----+</a:t>
            </a:r>
            <a:br/>
            <a:r>
              <a:rPr>
                <a:solidFill>
                  <a:srgbClr val="666666"/>
                </a:solidFill>
                <a:latin typeface="Courier"/>
              </a:rPr>
              <a:t>|</a:t>
            </a:r>
            <a:r>
              <a:rPr>
                <a:latin typeface="Courier"/>
              </a:rPr>
              <a:t> id</a:t>
            </a:r>
            <a:r>
              <a:rPr>
                <a:solidFill>
                  <a:srgbClr val="666666"/>
                </a:solidFill>
                <a:latin typeface="Courier"/>
              </a:rPr>
              <a:t>|</a:t>
            </a:r>
            <a:r>
              <a:rPr>
                <a:latin typeface="Courier"/>
              </a:rPr>
              <a:t> text</a:t>
            </a:r>
            <a:r>
              <a:rPr>
                <a:solidFill>
                  <a:srgbClr val="666666"/>
                </a:solidFill>
                <a:latin typeface="Courier"/>
              </a:rPr>
              <a:t>|</a:t>
            </a:r>
            <a:r>
              <a:rPr>
                <a:latin typeface="Courier"/>
              </a:rPr>
              <a:t>label</a:t>
            </a:r>
            <a:r>
              <a:rPr>
                <a:solidFill>
                  <a:srgbClr val="666666"/>
                </a:solidFill>
                <a:latin typeface="Courier"/>
              </a:rPr>
              <a:t>|</a:t>
            </a:r>
            <a:br/>
            <a:r>
              <a:rPr i="1">
                <a:solidFill>
                  <a:srgbClr val="60A0B0"/>
                </a:solidFill>
                <a:latin typeface="Courier"/>
              </a:rPr>
              <a:t>//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管道：代码片段（3/11）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配置ML管道</a:t>
            </a:r>
          </a:p>
          <a:p>
            <a:pPr lvl="0" indent="0">
              <a:buNone/>
            </a:pPr>
            <a:r>
              <a:rPr>
                <a:latin typeface="Courier"/>
              </a:rPr>
              <a:t>scala</a:t>
            </a:r>
            <a:r>
              <a:rPr>
                <a:solidFill>
                  <a:srgbClr val="666666"/>
                </a:solidFill>
                <a:latin typeface="Courier"/>
              </a:rPr>
              <a:t>&gt;</a:t>
            </a:r>
            <a:r>
              <a:rPr b="1">
                <a:solidFill>
                  <a:srgbClr val="007020"/>
                </a:solidFill>
                <a:latin typeface="Courier"/>
              </a:rPr>
              <a:t>val</a:t>
            </a:r>
            <a:r>
              <a:rPr>
                <a:latin typeface="Courier"/>
              </a:rPr>
              <a:t> tokenizer </a:t>
            </a:r>
            <a:r>
              <a:rPr>
                <a:solidFill>
                  <a:srgbClr val="666666"/>
                </a:solidFill>
                <a:latin typeface="Courier"/>
              </a:rPr>
              <a:t>=</a:t>
            </a:r>
            <a:r>
              <a:rPr>
                <a:latin typeface="Courier"/>
              </a:rPr>
              <a:t> </a:t>
            </a:r>
            <a:r>
              <a:rPr b="1">
                <a:solidFill>
                  <a:srgbClr val="007020"/>
                </a:solidFill>
                <a:latin typeface="Courier"/>
              </a:rPr>
              <a:t>new</a:t>
            </a:r>
            <a:br/>
            <a:r>
              <a:rPr>
                <a:solidFill>
                  <a:srgbClr val="06287E"/>
                </a:solidFill>
                <a:latin typeface="Courier"/>
              </a:rPr>
              <a:t>Tokenizer</a:t>
            </a:r>
            <a:r>
              <a:rPr>
                <a:solidFill>
                  <a:srgbClr val="666666"/>
                </a:solidFill>
                <a:latin typeface="Courier"/>
              </a:rPr>
              <a:t>().</a:t>
            </a:r>
            <a:r>
              <a:rPr>
                <a:solidFill>
                  <a:srgbClr val="06287E"/>
                </a:solidFill>
                <a:latin typeface="Courier"/>
              </a:rPr>
              <a:t>setInputCol</a:t>
            </a:r>
            <a:r>
              <a:rPr>
                <a:solidFill>
                  <a:srgbClr val="666666"/>
                </a:solidFill>
                <a:latin typeface="Courier"/>
              </a:rPr>
              <a:t>(</a:t>
            </a:r>
            <a:r>
              <a:rPr>
                <a:solidFill>
                  <a:srgbClr val="4070A0"/>
                </a:solidFill>
                <a:latin typeface="Courier"/>
              </a:rPr>
              <a:t>"text"</a:t>
            </a:r>
            <a:r>
              <a:rPr>
                <a:solidFill>
                  <a:srgbClr val="666666"/>
                </a:solidFill>
                <a:latin typeface="Courier"/>
              </a:rPr>
              <a:t>).</a:t>
            </a:r>
            <a:r>
              <a:rPr>
                <a:solidFill>
                  <a:srgbClr val="06287E"/>
                </a:solidFill>
                <a:latin typeface="Courier"/>
              </a:rPr>
              <a:t>setOutputCol</a:t>
            </a:r>
            <a:r>
              <a:rPr>
                <a:solidFill>
                  <a:srgbClr val="666666"/>
                </a:solidFill>
                <a:latin typeface="Courier"/>
              </a:rPr>
              <a:t>(</a:t>
            </a:r>
            <a:r>
              <a:rPr>
                <a:solidFill>
                  <a:srgbClr val="4070A0"/>
                </a:solidFill>
                <a:latin typeface="Courier"/>
              </a:rPr>
              <a:t>"words"</a:t>
            </a:r>
            <a:r>
              <a:rPr>
                <a:solidFill>
                  <a:srgbClr val="666666"/>
                </a:solidFill>
                <a:latin typeface="Courier"/>
              </a:rPr>
              <a:t>)</a:t>
            </a:r>
            <a:br/>
            <a:r>
              <a:rPr>
                <a:latin typeface="Courier"/>
              </a:rPr>
              <a:t>tokenizer</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feature</a:t>
            </a:r>
            <a:r>
              <a:rPr>
                <a:solidFill>
                  <a:srgbClr val="666666"/>
                </a:solidFill>
                <a:latin typeface="Courier"/>
              </a:rPr>
              <a:t>.</a:t>
            </a:r>
            <a:r>
              <a:rPr>
                <a:latin typeface="Courier"/>
              </a:rPr>
              <a:t>Tokenizer </a:t>
            </a:r>
            <a:r>
              <a:rPr>
                <a:solidFill>
                  <a:srgbClr val="666666"/>
                </a:solidFill>
                <a:latin typeface="Courier"/>
              </a:rPr>
              <a:t>=</a:t>
            </a:r>
            <a:r>
              <a:rPr>
                <a:latin typeface="Courier"/>
              </a:rPr>
              <a:t> tok_d33aebff5942</a:t>
            </a:r>
            <a:br/>
            <a:r>
              <a:rPr>
                <a:latin typeface="Courier"/>
              </a:rPr>
              <a:t>scala</a:t>
            </a:r>
            <a:r>
              <a:rPr>
                <a:solidFill>
                  <a:srgbClr val="666666"/>
                </a:solidFill>
                <a:latin typeface="Courier"/>
              </a:rPr>
              <a:t>&gt;</a:t>
            </a:r>
            <a:r>
              <a:rPr b="1">
                <a:solidFill>
                  <a:srgbClr val="007020"/>
                </a:solidFill>
                <a:latin typeface="Courier"/>
              </a:rPr>
              <a:t>val</a:t>
            </a:r>
            <a:r>
              <a:rPr>
                <a:latin typeface="Courier"/>
              </a:rPr>
              <a:t> hashingTF </a:t>
            </a:r>
            <a:r>
              <a:rPr>
                <a:solidFill>
                  <a:srgbClr val="666666"/>
                </a:solidFill>
                <a:latin typeface="Courier"/>
              </a:rPr>
              <a:t>=</a:t>
            </a:r>
            <a:r>
              <a:rPr>
                <a:latin typeface="Courier"/>
              </a:rPr>
              <a:t> </a:t>
            </a:r>
            <a:r>
              <a:rPr b="1">
                <a:solidFill>
                  <a:srgbClr val="007020"/>
                </a:solidFill>
                <a:latin typeface="Courier"/>
              </a:rPr>
              <a:t>new</a:t>
            </a:r>
            <a:br/>
            <a:r>
              <a:rPr>
                <a:solidFill>
                  <a:srgbClr val="06287E"/>
                </a:solidFill>
                <a:latin typeface="Courier"/>
              </a:rPr>
              <a:t>HashingTF</a:t>
            </a:r>
            <a:r>
              <a:rPr>
                <a:solidFill>
                  <a:srgbClr val="666666"/>
                </a:solidFill>
                <a:latin typeface="Courier"/>
              </a:rPr>
              <a:t>().</a:t>
            </a:r>
            <a:r>
              <a:rPr>
                <a:solidFill>
                  <a:srgbClr val="06287E"/>
                </a:solidFill>
                <a:latin typeface="Courier"/>
              </a:rPr>
              <a:t>setNumFeatures</a:t>
            </a:r>
            <a:r>
              <a:rPr>
                <a:solidFill>
                  <a:srgbClr val="666666"/>
                </a:solidFill>
                <a:latin typeface="Courier"/>
              </a:rPr>
              <a:t>(</a:t>
            </a:r>
            <a:r>
              <a:rPr>
                <a:solidFill>
                  <a:srgbClr val="40A070"/>
                </a:solidFill>
                <a:latin typeface="Courier"/>
              </a:rPr>
              <a:t>1000</a:t>
            </a:r>
            <a:r>
              <a:rPr>
                <a:solidFill>
                  <a:srgbClr val="666666"/>
                </a:solidFill>
                <a:latin typeface="Courier"/>
              </a:rPr>
              <a:t>).</a:t>
            </a:r>
            <a:r>
              <a:rPr>
                <a:solidFill>
                  <a:srgbClr val="06287E"/>
                </a:solidFill>
                <a:latin typeface="Courier"/>
              </a:rPr>
              <a:t>setInputCol</a:t>
            </a:r>
            <a:r>
              <a:rPr>
                <a:solidFill>
                  <a:srgbClr val="666666"/>
                </a:solidFill>
                <a:latin typeface="Courier"/>
              </a:rPr>
              <a:t>(</a:t>
            </a:r>
            <a:r>
              <a:rPr>
                <a:latin typeface="Courier"/>
              </a:rPr>
              <a:t>tokenizer</a:t>
            </a:r>
            <a:r>
              <a:rPr>
                <a:solidFill>
                  <a:srgbClr val="666666"/>
                </a:solidFill>
                <a:latin typeface="Courier"/>
              </a:rPr>
              <a:t>.</a:t>
            </a:r>
            <a:r>
              <a:rPr>
                <a:latin typeface="Courier"/>
              </a:rPr>
              <a:t>getOutputCol</a:t>
            </a:r>
            <a:r>
              <a:rPr>
                <a:solidFill>
                  <a:srgbClr val="666666"/>
                </a:solidFill>
                <a:latin typeface="Courier"/>
              </a:rPr>
              <a:t>).</a:t>
            </a:r>
            <a:r>
              <a:rPr>
                <a:solidFill>
                  <a:srgbClr val="06287E"/>
                </a:solidFill>
                <a:latin typeface="Courier"/>
              </a:rPr>
              <a:t>setOutputCol</a:t>
            </a:r>
            <a:r>
              <a:rPr>
                <a:solidFill>
                  <a:srgbClr val="666666"/>
                </a:solidFill>
                <a:latin typeface="Courier"/>
              </a:rPr>
              <a:t>(</a:t>
            </a:r>
            <a:r>
              <a:rPr>
                <a:solidFill>
                  <a:srgbClr val="4070A0"/>
                </a:solidFill>
                <a:latin typeface="Courier"/>
              </a:rPr>
              <a:t>"features"</a:t>
            </a:r>
            <a:r>
              <a:rPr>
                <a:solidFill>
                  <a:srgbClr val="666666"/>
                </a:solidFill>
                <a:latin typeface="Courier"/>
              </a:rPr>
              <a:t>)</a:t>
            </a:r>
            <a:br/>
            <a:r>
              <a:rPr>
                <a:latin typeface="Courier"/>
              </a:rPr>
              <a:t>hashingTF</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feature</a:t>
            </a:r>
            <a:r>
              <a:rPr>
                <a:solidFill>
                  <a:srgbClr val="666666"/>
                </a:solidFill>
                <a:latin typeface="Courier"/>
              </a:rPr>
              <a:t>.</a:t>
            </a:r>
            <a:r>
              <a:rPr>
                <a:latin typeface="Courier"/>
              </a:rPr>
              <a:t>HashingTF </a:t>
            </a:r>
            <a:r>
              <a:rPr>
                <a:solidFill>
                  <a:srgbClr val="666666"/>
                </a:solidFill>
                <a:latin typeface="Courier"/>
              </a:rPr>
              <a:t>=</a:t>
            </a:r>
            <a:br/>
            <a:r>
              <a:rPr>
                <a:latin typeface="Courier"/>
              </a:rPr>
              <a:t>hashingTF_214a5ff53c51</a:t>
            </a:r>
            <a:br/>
            <a:r>
              <a:rPr>
                <a:latin typeface="Courier"/>
              </a:rPr>
              <a:t>scala</a:t>
            </a:r>
            <a:r>
              <a:rPr>
                <a:solidFill>
                  <a:srgbClr val="666666"/>
                </a:solidFill>
                <a:latin typeface="Courier"/>
              </a:rPr>
              <a:t>&gt;</a:t>
            </a:r>
            <a:r>
              <a:rPr b="1">
                <a:solidFill>
                  <a:srgbClr val="007020"/>
                </a:solidFill>
                <a:latin typeface="Courier"/>
              </a:rPr>
              <a:t>val</a:t>
            </a:r>
            <a:r>
              <a:rPr>
                <a:latin typeface="Courier"/>
              </a:rPr>
              <a:t> lr </a:t>
            </a:r>
            <a:r>
              <a:rPr>
                <a:solidFill>
                  <a:srgbClr val="666666"/>
                </a:solidFill>
                <a:latin typeface="Courier"/>
              </a:rPr>
              <a:t>=</a:t>
            </a:r>
            <a:r>
              <a:rPr>
                <a:latin typeface="Courier"/>
              </a:rPr>
              <a:t> </a:t>
            </a:r>
            <a:r>
              <a:rPr b="1">
                <a:solidFill>
                  <a:srgbClr val="007020"/>
                </a:solidFill>
                <a:latin typeface="Courier"/>
              </a:rPr>
              <a:t>new</a:t>
            </a:r>
            <a:br/>
            <a:r>
              <a:rPr>
                <a:solidFill>
                  <a:srgbClr val="06287E"/>
                </a:solidFill>
                <a:latin typeface="Courier"/>
              </a:rPr>
              <a:t>LogisticRegression</a:t>
            </a:r>
            <a:r>
              <a:rPr>
                <a:solidFill>
                  <a:srgbClr val="666666"/>
                </a:solidFill>
                <a:latin typeface="Courier"/>
              </a:rPr>
              <a:t>().</a:t>
            </a:r>
            <a:r>
              <a:rPr>
                <a:solidFill>
                  <a:srgbClr val="06287E"/>
                </a:solidFill>
                <a:latin typeface="Courier"/>
              </a:rPr>
              <a:t>setMaxIter</a:t>
            </a:r>
            <a:r>
              <a:rPr>
                <a:solidFill>
                  <a:srgbClr val="666666"/>
                </a:solidFill>
                <a:latin typeface="Courier"/>
              </a:rPr>
              <a:t>(</a:t>
            </a:r>
            <a:r>
              <a:rPr>
                <a:solidFill>
                  <a:srgbClr val="40A070"/>
                </a:solidFill>
                <a:latin typeface="Courier"/>
              </a:rPr>
              <a:t>10</a:t>
            </a:r>
            <a:r>
              <a:rPr>
                <a:solidFill>
                  <a:srgbClr val="666666"/>
                </a:solidFill>
                <a:latin typeface="Courier"/>
              </a:rPr>
              <a:t>).</a:t>
            </a:r>
            <a:r>
              <a:rPr>
                <a:solidFill>
                  <a:srgbClr val="06287E"/>
                </a:solidFill>
                <a:latin typeface="Courier"/>
              </a:rPr>
              <a:t>setRegParam</a:t>
            </a:r>
            <a:r>
              <a:rPr>
                <a:solidFill>
                  <a:srgbClr val="666666"/>
                </a:solidFill>
                <a:latin typeface="Courier"/>
              </a:rPr>
              <a:t>(</a:t>
            </a:r>
            <a:r>
              <a:rPr>
                <a:solidFill>
                  <a:srgbClr val="40A070"/>
                </a:solidFill>
                <a:latin typeface="Courier"/>
              </a:rPr>
              <a:t>0.001</a:t>
            </a:r>
            <a:r>
              <a:rPr>
                <a:solidFill>
                  <a:srgbClr val="666666"/>
                </a:solidFill>
                <a:latin typeface="Courier"/>
              </a:rPr>
              <a:t>)</a:t>
            </a:r>
            <a:br/>
            <a:r>
              <a:rPr>
                <a:latin typeface="Courier"/>
              </a:rPr>
              <a:t>lr</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classification</a:t>
            </a:r>
            <a:r>
              <a:rPr>
                <a:solidFill>
                  <a:srgbClr val="666666"/>
                </a:solidFill>
                <a:latin typeface="Courier"/>
              </a:rPr>
              <a:t>.</a:t>
            </a:r>
            <a:r>
              <a:rPr>
                <a:latin typeface="Courier"/>
              </a:rPr>
              <a:t>LogisticRegression </a:t>
            </a:r>
            <a:r>
              <a:rPr>
                <a:solidFill>
                  <a:srgbClr val="666666"/>
                </a:solidFill>
                <a:latin typeface="Courier"/>
              </a:rPr>
              <a:t>=</a:t>
            </a:r>
            <a:br/>
            <a:r>
              <a:rPr>
                <a:latin typeface="Courier"/>
              </a:rPr>
              <a:t>logreg_6b1ab2bbcffb</a:t>
            </a:r>
            <a:br/>
            <a:r>
              <a:rPr i="1">
                <a:solidFill>
                  <a:srgbClr val="60A0B0"/>
                </a:solidFill>
                <a:latin typeface="Courier"/>
              </a:rPr>
              <a:t>//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管道：代码片段（4/11）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使用fit()方法将训练文档传递给管道： 的执行步骤</a:t>
            </a:r>
          </a:p>
          <a:p>
            <a:pPr lvl="0"/>
            <a:r>
              <a:rPr/>
              <a:t>最后把结果写回外部存储或结果表</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model </a:t>
            </a:r>
            <a:r>
              <a:rPr>
                <a:solidFill>
                  <a:srgbClr val="666666"/>
                </a:solidFill>
                <a:latin typeface="Courier"/>
              </a:rPr>
              <a:t>=</a:t>
            </a:r>
            <a:r>
              <a:rPr>
                <a:latin typeface="Courier"/>
              </a:rPr>
              <a:t> pipeline</a:t>
            </a:r>
            <a:r>
              <a:rPr>
                <a:solidFill>
                  <a:srgbClr val="666666"/>
                </a:solidFill>
                <a:latin typeface="Courier"/>
              </a:rPr>
              <a:t>.</a:t>
            </a:r>
            <a:r>
              <a:rPr>
                <a:solidFill>
                  <a:srgbClr val="06287E"/>
                </a:solidFill>
                <a:latin typeface="Courier"/>
              </a:rPr>
              <a:t>fit</a:t>
            </a:r>
            <a:r>
              <a:rPr>
                <a:solidFill>
                  <a:srgbClr val="666666"/>
                </a:solidFill>
                <a:latin typeface="Courier"/>
              </a:rPr>
              <a:t>(</a:t>
            </a:r>
            <a:r>
              <a:rPr>
                <a:latin typeface="Courier"/>
              </a:rPr>
              <a:t>training</a:t>
            </a:r>
            <a:r>
              <a:rPr>
                <a:solidFill>
                  <a:srgbClr val="666666"/>
                </a:solidFill>
                <a:latin typeface="Courier"/>
              </a:rPr>
              <a:t>)</a:t>
            </a:r>
            <a:br/>
            <a:r>
              <a:rPr>
                <a:latin typeface="Courier"/>
              </a:rPr>
              <a:t>model</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PipelineModel </a:t>
            </a:r>
            <a:r>
              <a:rPr>
                <a:solidFill>
                  <a:srgbClr val="666666"/>
                </a:solidFill>
                <a:latin typeface="Courier"/>
              </a:rPr>
              <a:t>=</a:t>
            </a:r>
            <a:r>
              <a:rPr>
                <a:latin typeface="Courier"/>
              </a:rPr>
              <a:t> pipeline_b07867b9cf3e</a:t>
            </a:r>
          </a:p>
          <a:p>
            <a:pPr lvl="0" indent="0" marL="0">
              <a:buNone/>
            </a:pPr>
            <a:r>
              <a:rPr/>
              <a:t>片段 2</a:t>
            </a:r>
          </a:p>
          <a:p>
            <a:pPr lvl="0" indent="0">
              <a:buNone/>
            </a:pPr>
            <a:r>
              <a:rPr>
                <a:latin typeface="Courier"/>
              </a:rPr>
              <a:t>scala</a:t>
            </a:r>
            <a:r>
              <a:rPr>
                <a:solidFill>
                  <a:srgbClr val="666666"/>
                </a:solidFill>
                <a:latin typeface="Courier"/>
              </a:rPr>
              <a:t>&gt;</a:t>
            </a:r>
            <a:br/>
            <a:r>
              <a:rPr>
                <a:latin typeface="Courier"/>
              </a:rPr>
              <a:t>model</a:t>
            </a:r>
            <a:r>
              <a:rPr>
                <a:solidFill>
                  <a:srgbClr val="666666"/>
                </a:solidFill>
                <a:latin typeface="Courier"/>
              </a:rPr>
              <a:t>.</a:t>
            </a:r>
            <a:r>
              <a:rPr>
                <a:latin typeface="Courier"/>
              </a:rPr>
              <a:t>write</a:t>
            </a:r>
            <a:r>
              <a:rPr>
                <a:solidFill>
                  <a:srgbClr val="666666"/>
                </a:solidFill>
                <a:latin typeface="Courier"/>
              </a:rPr>
              <a:t>.</a:t>
            </a:r>
            <a:r>
              <a:rPr>
                <a:solidFill>
                  <a:srgbClr val="06287E"/>
                </a:solidFill>
                <a:latin typeface="Courier"/>
              </a:rPr>
              <a:t>overwrite</a:t>
            </a:r>
            <a:r>
              <a:rPr>
                <a:solidFill>
                  <a:srgbClr val="666666"/>
                </a:solidFill>
                <a:latin typeface="Courier"/>
              </a:rPr>
              <a:t>().</a:t>
            </a:r>
            <a:r>
              <a:rPr>
                <a:solidFill>
                  <a:srgbClr val="06287E"/>
                </a:solidFill>
                <a:latin typeface="Courier"/>
              </a:rPr>
              <a:t>save</a:t>
            </a:r>
            <a:r>
              <a:rPr>
                <a:solidFill>
                  <a:srgbClr val="666666"/>
                </a:solidFill>
                <a:latin typeface="Courier"/>
              </a:rPr>
              <a:t>(</a:t>
            </a:r>
            <a:r>
              <a:rPr>
                <a:solidFill>
                  <a:srgbClr val="4070A0"/>
                </a:solidFill>
                <a:latin typeface="Courier"/>
              </a:rPr>
              <a:t>"/tmp/spark-logistic-regression-model"</a:t>
            </a:r>
            <a:r>
              <a:rPr>
                <a:solidFill>
                  <a:srgbClr val="666666"/>
                </a:solidFill>
                <a:latin typeface="Courie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管道：代码片段（5/11）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最后把结果写回外部存储或结果表</a:t>
            </a:r>
          </a:p>
          <a:p>
            <a:pPr lvl="0"/>
            <a:r>
              <a:rPr/>
              <a:t>先对照代码理解 加载保存的管道： 的执行步骤</a:t>
            </a:r>
          </a:p>
          <a:p>
            <a:pPr lvl="0" indent="0" marL="0">
              <a:buNone/>
            </a:pPr>
            <a:r>
              <a:rPr/>
              <a:t>片段 1</a:t>
            </a:r>
          </a:p>
          <a:p>
            <a:pPr lvl="0" indent="0">
              <a:buNone/>
            </a:pPr>
            <a:r>
              <a:rPr>
                <a:latin typeface="Courier"/>
              </a:rPr>
              <a:t>scala</a:t>
            </a:r>
            <a:r>
              <a:rPr>
                <a:solidFill>
                  <a:srgbClr val="666666"/>
                </a:solidFill>
                <a:latin typeface="Courier"/>
              </a:rPr>
              <a:t>&gt;</a:t>
            </a:r>
            <a:r>
              <a:rPr>
                <a:latin typeface="Courier"/>
              </a:rPr>
              <a:t> pipeline</a:t>
            </a:r>
            <a:r>
              <a:rPr>
                <a:solidFill>
                  <a:srgbClr val="666666"/>
                </a:solidFill>
                <a:latin typeface="Courier"/>
              </a:rPr>
              <a:t>.</a:t>
            </a:r>
            <a:r>
              <a:rPr>
                <a:latin typeface="Courier"/>
              </a:rPr>
              <a:t>write</a:t>
            </a:r>
            <a:r>
              <a:rPr>
                <a:solidFill>
                  <a:srgbClr val="666666"/>
                </a:solidFill>
                <a:latin typeface="Courier"/>
              </a:rPr>
              <a:t>.</a:t>
            </a:r>
            <a:r>
              <a:rPr>
                <a:solidFill>
                  <a:srgbClr val="06287E"/>
                </a:solidFill>
                <a:latin typeface="Courier"/>
              </a:rPr>
              <a:t>overwrite</a:t>
            </a:r>
            <a:r>
              <a:rPr>
                <a:solidFill>
                  <a:srgbClr val="666666"/>
                </a:solidFill>
                <a:latin typeface="Courier"/>
              </a:rPr>
              <a:t>().</a:t>
            </a:r>
            <a:r>
              <a:rPr>
                <a:solidFill>
                  <a:srgbClr val="06287E"/>
                </a:solidFill>
                <a:latin typeface="Courier"/>
              </a:rPr>
              <a:t>save</a:t>
            </a:r>
            <a:r>
              <a:rPr>
                <a:solidFill>
                  <a:srgbClr val="666666"/>
                </a:solidFill>
                <a:latin typeface="Courier"/>
              </a:rPr>
              <a:t>(</a:t>
            </a:r>
            <a:r>
              <a:rPr>
                <a:solidFill>
                  <a:srgbClr val="4070A0"/>
                </a:solidFill>
                <a:latin typeface="Courier"/>
              </a:rPr>
              <a:t>"/tmp/unfit-lr-model"</a:t>
            </a:r>
            <a:r>
              <a:rPr>
                <a:solidFill>
                  <a:srgbClr val="666666"/>
                </a:solidFill>
                <a:latin typeface="Courier"/>
              </a:rPr>
              <a:t>)</a:t>
            </a:r>
          </a:p>
          <a:p>
            <a:pPr lvl="0" indent="0" marL="0">
              <a:buNone/>
            </a:pPr>
            <a:r>
              <a:rPr/>
              <a:t>片段 2</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sameModel </a:t>
            </a:r>
            <a:r>
              <a:rPr>
                <a:solidFill>
                  <a:srgbClr val="666666"/>
                </a:solidFill>
                <a:latin typeface="Courier"/>
              </a:rPr>
              <a:t>=</a:t>
            </a:r>
            <a:br/>
            <a:r>
              <a:rPr>
                <a:latin typeface="Courier"/>
              </a:rPr>
              <a:t>PipelineModel</a:t>
            </a:r>
            <a:r>
              <a:rPr>
                <a:solidFill>
                  <a:srgbClr val="666666"/>
                </a:solidFill>
                <a:latin typeface="Courier"/>
              </a:rPr>
              <a:t>.</a:t>
            </a:r>
            <a:r>
              <a:rPr>
                <a:solidFill>
                  <a:srgbClr val="06287E"/>
                </a:solidFill>
                <a:latin typeface="Courier"/>
              </a:rPr>
              <a:t>load</a:t>
            </a:r>
            <a:r>
              <a:rPr>
                <a:solidFill>
                  <a:srgbClr val="666666"/>
                </a:solidFill>
                <a:latin typeface="Courier"/>
              </a:rPr>
              <a:t>(</a:t>
            </a:r>
            <a:r>
              <a:rPr>
                <a:solidFill>
                  <a:srgbClr val="4070A0"/>
                </a:solidFill>
                <a:latin typeface="Courier"/>
              </a:rPr>
              <a:t>"/tmp/spark-logistic-regression-model"</a:t>
            </a:r>
            <a:r>
              <a:rPr>
                <a:solidFill>
                  <a:srgbClr val="666666"/>
                </a:solidFill>
                <a:latin typeface="Courier"/>
              </a:rPr>
              <a:t>)</a:t>
            </a:r>
            <a:br/>
            <a:r>
              <a:rPr>
                <a:latin typeface="Courier"/>
              </a:rPr>
              <a:t>sameModel</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PipelineModel </a:t>
            </a:r>
            <a:r>
              <a:rPr>
                <a:solidFill>
                  <a:srgbClr val="666666"/>
                </a:solidFill>
                <a:latin typeface="Courier"/>
              </a:rPr>
              <a:t>=</a:t>
            </a:r>
            <a:r>
              <a:rPr>
                <a:latin typeface="Courier"/>
              </a:rPr>
              <a:t> pipeline_b07867b9cf3e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管道：代码片段（6/11）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准备测试文档，为没有标记的元组(id, text)：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test </a:t>
            </a:r>
            <a:r>
              <a:rPr>
                <a:solidFill>
                  <a:srgbClr val="666666"/>
                </a:solidFill>
                <a:latin typeface="Courier"/>
              </a:rPr>
              <a:t>=</a:t>
            </a:r>
            <a:r>
              <a:rPr>
                <a:latin typeface="Courier"/>
              </a:rPr>
              <a:t> spark</a:t>
            </a:r>
            <a:r>
              <a:rPr>
                <a:solidFill>
                  <a:srgbClr val="666666"/>
                </a:solidFill>
                <a:latin typeface="Courier"/>
              </a:rPr>
              <a:t>.</a:t>
            </a:r>
            <a:r>
              <a:rPr>
                <a:solidFill>
                  <a:srgbClr val="06287E"/>
                </a:solidFill>
                <a:latin typeface="Courier"/>
              </a:rPr>
              <a:t>createDataFrame</a:t>
            </a:r>
            <a:r>
              <a:rPr>
                <a:solidFill>
                  <a:srgbClr val="666666"/>
                </a:solidFill>
                <a:latin typeface="Courier"/>
              </a:rPr>
              <a:t>(</a:t>
            </a:r>
            <a:r>
              <a:rPr>
                <a:solidFill>
                  <a:srgbClr val="008000"/>
                </a:solidFill>
                <a:latin typeface="Courier"/>
              </a:rPr>
              <a:t>Seq</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4L</a:t>
            </a:r>
            <a:r>
              <a:rPr>
                <a:solidFill>
                  <a:srgbClr val="666666"/>
                </a:solidFill>
                <a:latin typeface="Courier"/>
              </a:rPr>
              <a:t>,</a:t>
            </a:r>
            <a:r>
              <a:rPr>
                <a:latin typeface="Courier"/>
              </a:rPr>
              <a:t> </a:t>
            </a:r>
            <a:r>
              <a:rPr>
                <a:solidFill>
                  <a:srgbClr val="4070A0"/>
                </a:solidFill>
                <a:latin typeface="Courier"/>
              </a:rPr>
              <a:t>"spark i j k"</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5L</a:t>
            </a:r>
            <a:r>
              <a:rPr>
                <a:solidFill>
                  <a:srgbClr val="666666"/>
                </a:solidFill>
                <a:latin typeface="Courier"/>
              </a:rPr>
              <a:t>,</a:t>
            </a:r>
            <a:r>
              <a:rPr>
                <a:latin typeface="Courier"/>
              </a:rPr>
              <a:t> </a:t>
            </a:r>
            <a:r>
              <a:rPr>
                <a:solidFill>
                  <a:srgbClr val="4070A0"/>
                </a:solidFill>
                <a:latin typeface="Courier"/>
              </a:rPr>
              <a:t>"l m n"</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6L</a:t>
            </a:r>
            <a:r>
              <a:rPr>
                <a:solidFill>
                  <a:srgbClr val="666666"/>
                </a:solidFill>
                <a:latin typeface="Courier"/>
              </a:rPr>
              <a:t>,</a:t>
            </a:r>
            <a:r>
              <a:rPr>
                <a:latin typeface="Courier"/>
              </a:rPr>
              <a:t> </a:t>
            </a:r>
            <a:r>
              <a:rPr>
                <a:solidFill>
                  <a:srgbClr val="4070A0"/>
                </a:solidFill>
                <a:latin typeface="Courier"/>
              </a:rPr>
              <a:t>"spark hadoop spark"</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40A070"/>
                </a:solidFill>
                <a:latin typeface="Courier"/>
              </a:rPr>
              <a:t>7L</a:t>
            </a:r>
            <a:r>
              <a:rPr>
                <a:solidFill>
                  <a:srgbClr val="666666"/>
                </a:solidFill>
                <a:latin typeface="Courier"/>
              </a:rPr>
              <a:t>,</a:t>
            </a:r>
            <a:r>
              <a:rPr>
                <a:latin typeface="Courier"/>
              </a:rPr>
              <a:t> </a:t>
            </a:r>
            <a:r>
              <a:rPr>
                <a:solidFill>
                  <a:srgbClr val="4070A0"/>
                </a:solidFill>
                <a:latin typeface="Courier"/>
              </a:rPr>
              <a:t>"apache hadoop"</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r>
              <a:rPr>
                <a:solidFill>
                  <a:srgbClr val="06287E"/>
                </a:solidFill>
                <a:latin typeface="Courier"/>
              </a:rPr>
              <a:t>toDF</a:t>
            </a:r>
            <a:r>
              <a:rPr>
                <a:solidFill>
                  <a:srgbClr val="666666"/>
                </a:solidFill>
                <a:latin typeface="Courier"/>
              </a:rPr>
              <a:t>(</a:t>
            </a:r>
            <a:r>
              <a:rPr>
                <a:solidFill>
                  <a:srgbClr val="4070A0"/>
                </a:solidFill>
                <a:latin typeface="Courier"/>
              </a:rPr>
              <a:t>"id"</a:t>
            </a:r>
            <a:r>
              <a:rPr>
                <a:solidFill>
                  <a:srgbClr val="666666"/>
                </a:solidFill>
                <a:latin typeface="Courier"/>
              </a:rPr>
              <a:t>,</a:t>
            </a:r>
            <a:r>
              <a:rPr>
                <a:latin typeface="Courier"/>
              </a:rPr>
              <a:t> </a:t>
            </a:r>
            <a:r>
              <a:rPr>
                <a:solidFill>
                  <a:srgbClr val="4070A0"/>
                </a:solidFill>
                <a:latin typeface="Courier"/>
              </a:rPr>
              <a:t>"text"</a:t>
            </a:r>
            <a:r>
              <a:rPr>
                <a:solidFill>
                  <a:srgbClr val="666666"/>
                </a:solidFill>
                <a:latin typeface="Courier"/>
              </a:rPr>
              <a:t>)</a:t>
            </a:r>
            <a:br/>
            <a:r>
              <a:rPr>
                <a:latin typeface="Courier"/>
              </a:rPr>
              <a:t>test</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sql</a:t>
            </a:r>
            <a:r>
              <a:rPr>
                <a:solidFill>
                  <a:srgbClr val="666666"/>
                </a:solidFill>
                <a:latin typeface="Courier"/>
              </a:rPr>
              <a:t>.</a:t>
            </a:r>
            <a:r>
              <a:rPr>
                <a:latin typeface="Courier"/>
              </a:rPr>
              <a:t>DataFrame </a:t>
            </a:r>
            <a:r>
              <a:rPr>
                <a:solidFill>
                  <a:srgbClr val="666666"/>
                </a:solidFill>
                <a:latin typeface="Courier"/>
              </a:rPr>
              <a:t>=</a:t>
            </a:r>
            <a:r>
              <a:rPr>
                <a:latin typeface="Courier"/>
              </a:rPr>
              <a:t> </a:t>
            </a:r>
            <a:r>
              <a:rPr>
                <a:solidFill>
                  <a:srgbClr val="666666"/>
                </a:solidFill>
                <a:latin typeface="Courier"/>
              </a:rPr>
              <a:t>[</a:t>
            </a:r>
            <a:r>
              <a:rPr>
                <a:latin typeface="Courier"/>
              </a:rPr>
              <a:t>id</a:t>
            </a:r>
            <a:r>
              <a:rPr>
                <a:solidFill>
                  <a:srgbClr val="666666"/>
                </a:solidFill>
                <a:latin typeface="Courier"/>
              </a:rPr>
              <a:t>:</a:t>
            </a:r>
            <a:r>
              <a:rPr>
                <a:latin typeface="Courier"/>
              </a:rPr>
              <a:t> bigint</a:t>
            </a:r>
            <a:r>
              <a:rPr>
                <a:solidFill>
                  <a:srgbClr val="666666"/>
                </a:solidFill>
                <a:latin typeface="Courier"/>
              </a:rPr>
              <a:t>,</a:t>
            </a:r>
            <a:r>
              <a:rPr>
                <a:latin typeface="Courier"/>
              </a:rPr>
              <a:t> text</a:t>
            </a:r>
            <a:r>
              <a:rPr>
                <a:solidFill>
                  <a:srgbClr val="666666"/>
                </a:solidFill>
                <a:latin typeface="Courier"/>
              </a:rPr>
              <a:t>:</a:t>
            </a:r>
            <a:r>
              <a:rPr>
                <a:latin typeface="Courier"/>
              </a:rPr>
              <a:t> string</a:t>
            </a:r>
            <a:r>
              <a:rPr>
                <a:solidFill>
                  <a:srgbClr val="666666"/>
                </a:solidFill>
                <a:latin typeface="Courier"/>
              </a:rPr>
              <a: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管道：代码片段（7/11）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通过 action 触发前面的惰性计算真正执行</a:t>
            </a:r>
          </a:p>
          <a:p>
            <a:pPr lvl="0" indent="0">
              <a:buNone/>
            </a:pPr>
            <a:r>
              <a:rPr>
                <a:latin typeface="Courier"/>
              </a:rPr>
              <a:t>scala</a:t>
            </a:r>
            <a:r>
              <a:rPr>
                <a:solidFill>
                  <a:srgbClr val="666666"/>
                </a:solidFill>
                <a:latin typeface="Courier"/>
              </a:rPr>
              <a:t>&gt;</a:t>
            </a:r>
            <a:r>
              <a:rPr>
                <a:latin typeface="Courier"/>
              </a:rPr>
              <a:t> model</a:t>
            </a:r>
            <a:r>
              <a:rPr>
                <a:solidFill>
                  <a:srgbClr val="666666"/>
                </a:solidFill>
                <a:latin typeface="Courier"/>
              </a:rPr>
              <a:t>.</a:t>
            </a:r>
            <a:r>
              <a:rPr>
                <a:solidFill>
                  <a:srgbClr val="06287E"/>
                </a:solidFill>
                <a:latin typeface="Courier"/>
              </a:rPr>
              <a:t>transform</a:t>
            </a:r>
            <a:r>
              <a:rPr>
                <a:solidFill>
                  <a:srgbClr val="666666"/>
                </a:solidFill>
                <a:latin typeface="Courier"/>
              </a:rPr>
              <a:t>(</a:t>
            </a:r>
            <a:r>
              <a:rPr>
                <a:latin typeface="Courier"/>
              </a:rPr>
              <a:t>test</a:t>
            </a:r>
            <a:r>
              <a:rPr>
                <a:solidFill>
                  <a:srgbClr val="666666"/>
                </a:solidFill>
                <a:latin typeface="Courier"/>
              </a:rPr>
              <a:t>).</a:t>
            </a:r>
            <a:r>
              <a:rPr>
                <a:solidFill>
                  <a:srgbClr val="06287E"/>
                </a:solidFill>
                <a:latin typeface="Courier"/>
              </a:rPr>
              <a:t>select</a:t>
            </a:r>
            <a:r>
              <a:rPr>
                <a:solidFill>
                  <a:srgbClr val="666666"/>
                </a:solidFill>
                <a:latin typeface="Courier"/>
              </a:rPr>
              <a:t>(</a:t>
            </a:r>
            <a:r>
              <a:rPr>
                <a:solidFill>
                  <a:srgbClr val="4070A0"/>
                </a:solidFill>
                <a:latin typeface="Courier"/>
              </a:rPr>
              <a:t>"id"</a:t>
            </a:r>
            <a:r>
              <a:rPr>
                <a:solidFill>
                  <a:srgbClr val="666666"/>
                </a:solidFill>
                <a:latin typeface="Courier"/>
              </a:rPr>
              <a:t>,</a:t>
            </a:r>
            <a:r>
              <a:rPr>
                <a:latin typeface="Courier"/>
              </a:rPr>
              <a:t> </a:t>
            </a:r>
            <a:r>
              <a:rPr>
                <a:solidFill>
                  <a:srgbClr val="4070A0"/>
                </a:solidFill>
                <a:latin typeface="Courier"/>
              </a:rPr>
              <a:t>"text"</a:t>
            </a:r>
            <a:r>
              <a:rPr>
                <a:solidFill>
                  <a:srgbClr val="666666"/>
                </a:solidFill>
                <a:latin typeface="Courier"/>
              </a:rPr>
              <a:t>,</a:t>
            </a:r>
            <a:r>
              <a:rPr>
                <a:latin typeface="Courier"/>
              </a:rPr>
              <a:t> </a:t>
            </a:r>
            <a:r>
              <a:rPr>
                <a:solidFill>
                  <a:srgbClr val="4070A0"/>
                </a:solidFill>
                <a:latin typeface="Courier"/>
              </a:rPr>
              <a:t>"probability"</a:t>
            </a:r>
            <a:r>
              <a:rPr>
                <a:solidFill>
                  <a:srgbClr val="666666"/>
                </a:solidFill>
                <a:latin typeface="Courier"/>
              </a:rPr>
              <a:t>,</a:t>
            </a:r>
            <a:br/>
            <a:r>
              <a:rPr>
                <a:solidFill>
                  <a:srgbClr val="666666"/>
                </a:solidFill>
                <a:latin typeface="Courier"/>
              </a:rPr>
              <a:t>|</a:t>
            </a:r>
            <a:r>
              <a:rPr>
                <a:latin typeface="Courier"/>
              </a:rPr>
              <a:t> </a:t>
            </a:r>
            <a:r>
              <a:rPr>
                <a:solidFill>
                  <a:srgbClr val="4070A0"/>
                </a:solidFill>
                <a:latin typeface="Courier"/>
              </a:rPr>
              <a:t>"prediction"</a:t>
            </a:r>
            <a:r>
              <a:rPr>
                <a:solidFill>
                  <a:srgbClr val="666666"/>
                </a:solidFill>
                <a:latin typeface="Courier"/>
              </a:rPr>
              <a:t>).</a:t>
            </a:r>
            <a:r>
              <a:rPr>
                <a:solidFill>
                  <a:srgbClr val="06287E"/>
                </a:solidFill>
                <a:latin typeface="Courier"/>
              </a:rPr>
              <a:t>collect</a:t>
            </a:r>
            <a:r>
              <a:rPr>
                <a:solidFill>
                  <a:srgbClr val="666666"/>
                </a:solidFill>
                <a:latin typeface="Courier"/>
              </a:rPr>
              <a:t>().</a:t>
            </a:r>
            <a:r>
              <a:rPr>
                <a:latin typeface="Courier"/>
              </a:rPr>
              <a:t>foreach </a:t>
            </a:r>
            <a:r>
              <a:rPr>
                <a:solidFill>
                  <a:srgbClr val="666666"/>
                </a:solidFill>
                <a:latin typeface="Courier"/>
              </a:rPr>
              <a:t>{</a:t>
            </a:r>
            <a:r>
              <a:rPr>
                <a:latin typeface="Courier"/>
              </a:rPr>
              <a:t> </a:t>
            </a:r>
            <a:r>
              <a:rPr b="1">
                <a:solidFill>
                  <a:srgbClr val="007020"/>
                </a:solidFill>
                <a:latin typeface="Courier"/>
              </a:rPr>
              <a:t>case</a:t>
            </a:r>
            <a:r>
              <a:rPr>
                <a:latin typeface="Courier"/>
              </a:rPr>
              <a:t> </a:t>
            </a:r>
            <a:r>
              <a:rPr>
                <a:solidFill>
                  <a:srgbClr val="06287E"/>
                </a:solidFill>
                <a:latin typeface="Courier"/>
              </a:rPr>
              <a:t>Row</a:t>
            </a:r>
            <a:r>
              <a:rPr>
                <a:solidFill>
                  <a:srgbClr val="666666"/>
                </a:solidFill>
                <a:latin typeface="Courier"/>
              </a:rPr>
              <a:t>(</a:t>
            </a:r>
            <a:r>
              <a:rPr>
                <a:latin typeface="Courier"/>
              </a:rPr>
              <a:t>id</a:t>
            </a:r>
            <a:r>
              <a:rPr>
                <a:solidFill>
                  <a:srgbClr val="666666"/>
                </a:solidFill>
                <a:latin typeface="Courier"/>
              </a:rPr>
              <a:t>:</a:t>
            </a:r>
            <a:r>
              <a:rPr>
                <a:latin typeface="Courier"/>
              </a:rPr>
              <a:t> Long</a:t>
            </a:r>
            <a:r>
              <a:rPr>
                <a:solidFill>
                  <a:srgbClr val="666666"/>
                </a:solidFill>
                <a:latin typeface="Courier"/>
              </a:rPr>
              <a:t>,</a:t>
            </a:r>
            <a:br/>
            <a:r>
              <a:rPr>
                <a:solidFill>
                  <a:srgbClr val="666666"/>
                </a:solidFill>
                <a:latin typeface="Courier"/>
              </a:rPr>
              <a:t>|</a:t>
            </a:r>
            <a:r>
              <a:rPr>
                <a:latin typeface="Courier"/>
              </a:rPr>
              <a:t> text</a:t>
            </a:r>
            <a:r>
              <a:rPr>
                <a:solidFill>
                  <a:srgbClr val="666666"/>
                </a:solidFill>
                <a:latin typeface="Courier"/>
              </a:rPr>
              <a:t>:</a:t>
            </a:r>
            <a:r>
              <a:rPr>
                <a:latin typeface="Courier"/>
              </a:rPr>
              <a:t> String</a:t>
            </a:r>
            <a:r>
              <a:rPr>
                <a:solidFill>
                  <a:srgbClr val="666666"/>
                </a:solidFill>
                <a:latin typeface="Courier"/>
              </a:rPr>
              <a:t>,</a:t>
            </a:r>
            <a:r>
              <a:rPr>
                <a:latin typeface="Courier"/>
              </a:rPr>
              <a:t> prob</a:t>
            </a:r>
            <a:r>
              <a:rPr>
                <a:solidFill>
                  <a:srgbClr val="666666"/>
                </a:solidFill>
                <a:latin typeface="Courier"/>
              </a:rPr>
              <a:t>:</a:t>
            </a:r>
            <a:r>
              <a:rPr>
                <a:latin typeface="Courier"/>
              </a:rPr>
              <a:t> Vector</a:t>
            </a:r>
            <a:r>
              <a:rPr>
                <a:solidFill>
                  <a:srgbClr val="666666"/>
                </a:solidFill>
                <a:latin typeface="Courier"/>
              </a:rPr>
              <a:t>,</a:t>
            </a:r>
            <a:r>
              <a:rPr>
                <a:latin typeface="Courier"/>
              </a:rPr>
              <a:t> prediction</a:t>
            </a:r>
            <a:r>
              <a:rPr>
                <a:solidFill>
                  <a:srgbClr val="666666"/>
                </a:solidFill>
                <a:latin typeface="Courier"/>
              </a:rPr>
              <a:t>:</a:t>
            </a:r>
            <a:r>
              <a:rPr>
                <a:latin typeface="Courier"/>
              </a:rPr>
              <a:t> Double</a:t>
            </a:r>
            <a:r>
              <a:rPr>
                <a:solidFill>
                  <a:srgbClr val="666666"/>
                </a:solidFill>
                <a:latin typeface="Courier"/>
              </a:rPr>
              <a:t>)</a:t>
            </a:r>
            <a:r>
              <a:rPr>
                <a:latin typeface="Courier"/>
              </a:rPr>
              <a:t> </a:t>
            </a:r>
            <a:r>
              <a:rPr>
                <a:solidFill>
                  <a:srgbClr val="666666"/>
                </a:solidFill>
                <a:latin typeface="Courier"/>
              </a:rPr>
              <a:t>=&gt;</a:t>
            </a:r>
            <a:br/>
            <a:r>
              <a:rPr>
                <a:solidFill>
                  <a:srgbClr val="666666"/>
                </a:solidFill>
                <a:latin typeface="Courier"/>
              </a:rPr>
              <a:t>|</a:t>
            </a:r>
            <a:r>
              <a:rPr>
                <a:latin typeface="Courier"/>
              </a:rPr>
              <a:t> </a:t>
            </a:r>
            <a:r>
              <a:rPr>
                <a:solidFill>
                  <a:srgbClr val="06287E"/>
                </a:solidFill>
                <a:latin typeface="Courier"/>
              </a:rPr>
              <a:t>println</a:t>
            </a:r>
            <a:r>
              <a:rPr>
                <a:solidFill>
                  <a:srgbClr val="666666"/>
                </a:solidFill>
                <a:latin typeface="Courier"/>
              </a:rPr>
              <a:t>(</a:t>
            </a:r>
            <a:r>
              <a:rPr>
                <a:solidFill>
                  <a:srgbClr val="BB6688"/>
                </a:solidFill>
                <a:latin typeface="Courier"/>
              </a:rPr>
              <a:t>s"</a:t>
            </a:r>
            <a:r>
              <a:rPr>
                <a:solidFill>
                  <a:srgbClr val="4070A0"/>
                </a:solidFill>
                <a:latin typeface="Courier"/>
              </a:rPr>
              <a:t>(</a:t>
            </a:r>
            <a:r>
              <a:rPr>
                <a:solidFill>
                  <a:srgbClr val="BB6688"/>
                </a:solidFill>
                <a:latin typeface="Courier"/>
              </a:rPr>
              <a:t>$id</a:t>
            </a:r>
            <a:r>
              <a:rPr>
                <a:solidFill>
                  <a:srgbClr val="4070A0"/>
                </a:solidFill>
                <a:latin typeface="Courier"/>
              </a:rPr>
              <a:t>, </a:t>
            </a:r>
            <a:r>
              <a:rPr>
                <a:solidFill>
                  <a:srgbClr val="BB6688"/>
                </a:solidFill>
                <a:latin typeface="Courier"/>
              </a:rPr>
              <a:t>$text</a:t>
            </a:r>
            <a:r>
              <a:rPr>
                <a:solidFill>
                  <a:srgbClr val="4070A0"/>
                </a:solidFill>
                <a:latin typeface="Courier"/>
              </a:rPr>
              <a:t>) --&gt; prob=</a:t>
            </a:r>
            <a:r>
              <a:rPr>
                <a:solidFill>
                  <a:srgbClr val="BB6688"/>
                </a:solidFill>
                <a:latin typeface="Courier"/>
              </a:rPr>
              <a:t>$prob</a:t>
            </a:r>
            <a:r>
              <a:rPr>
                <a:solidFill>
                  <a:srgbClr val="4070A0"/>
                </a:solidFill>
                <a:latin typeface="Courier"/>
              </a:rPr>
              <a:t>, prediction=</a:t>
            </a:r>
            <a:r>
              <a:rPr>
                <a:solidFill>
                  <a:srgbClr val="BB6688"/>
                </a:solidFill>
                <a:latin typeface="Courier"/>
              </a:rPr>
              <a:t>$prediction"</a:t>
            </a:r>
            <a:r>
              <a:rPr>
                <a:solidFill>
                  <a:srgbClr val="666666"/>
                </a:solidFill>
                <a:latin typeface="Courier"/>
              </a:rPr>
              <a:t>)</a:t>
            </a:r>
            <a:br/>
            <a:r>
              <a:rPr>
                <a:solidFill>
                  <a:srgbClr val="666666"/>
                </a:solidFill>
                <a:latin typeface="Courier"/>
              </a:rPr>
              <a:t>|</a:t>
            </a:r>
            <a:r>
              <a:rPr>
                <a:latin typeface="Courier"/>
              </a:rPr>
              <a:t> </a:t>
            </a:r>
            <a:r>
              <a:rPr>
                <a:solidFill>
                  <a:srgbClr val="666666"/>
                </a:solidFill>
                <a:latin typeface="Courier"/>
              </a:rPr>
              <a:t>}</a:t>
            </a:r>
            <a:br/>
            <a:r>
              <a:rPr>
                <a:solidFill>
                  <a:srgbClr val="666666"/>
                </a:solidFill>
                <a:latin typeface="Courier"/>
              </a:rPr>
              <a:t>(</a:t>
            </a:r>
            <a:r>
              <a:rPr>
                <a:solidFill>
                  <a:srgbClr val="40A070"/>
                </a:solidFill>
                <a:latin typeface="Courier"/>
              </a:rPr>
              <a:t>4</a:t>
            </a:r>
            <a:r>
              <a:rPr>
                <a:solidFill>
                  <a:srgbClr val="666666"/>
                </a:solidFill>
                <a:latin typeface="Courier"/>
              </a:rPr>
              <a:t>,</a:t>
            </a:r>
            <a:r>
              <a:rPr>
                <a:latin typeface="Courier"/>
              </a:rPr>
              <a:t> spark i j k</a:t>
            </a:r>
            <a:r>
              <a:rPr>
                <a:solidFill>
                  <a:srgbClr val="666666"/>
                </a:solidFill>
                <a:latin typeface="Courier"/>
              </a:rPr>
              <a:t>)</a:t>
            </a:r>
            <a:r>
              <a:rPr>
                <a:latin typeface="Courier"/>
              </a:rPr>
              <a:t> </a:t>
            </a:r>
            <a:r>
              <a:rPr>
                <a:solidFill>
                  <a:srgbClr val="666666"/>
                </a:solidFill>
                <a:latin typeface="Courier"/>
              </a:rPr>
              <a:t>--&gt;</a:t>
            </a:r>
            <a:r>
              <a:rPr>
                <a:latin typeface="Courier"/>
              </a:rPr>
              <a:t> prob</a:t>
            </a:r>
            <a:r>
              <a:rPr>
                <a:solidFill>
                  <a:srgbClr val="666666"/>
                </a:solidFill>
                <a:latin typeface="Courier"/>
              </a:rPr>
              <a:t>=[</a:t>
            </a:r>
            <a:r>
              <a:rPr>
                <a:solidFill>
                  <a:srgbClr val="40A070"/>
                </a:solidFill>
                <a:latin typeface="Courier"/>
              </a:rPr>
              <a:t>0.15964077387874118</a:t>
            </a:r>
            <a:r>
              <a:rPr>
                <a:solidFill>
                  <a:srgbClr val="666666"/>
                </a:solidFill>
                <a:latin typeface="Courier"/>
              </a:rPr>
              <a:t>,</a:t>
            </a:r>
            <a:r>
              <a:rPr>
                <a:solidFill>
                  <a:srgbClr val="40A070"/>
                </a:solidFill>
                <a:latin typeface="Courier"/>
              </a:rPr>
              <a:t>0.8403592261212589</a:t>
            </a:r>
            <a:r>
              <a:rPr>
                <a:solidFill>
                  <a:srgbClr val="666666"/>
                </a:solidFill>
                <a:latin typeface="Courier"/>
              </a:rPr>
              <a:t>],</a:t>
            </a:r>
            <a:br/>
            <a:r>
              <a:rPr>
                <a:latin typeface="Courier"/>
              </a:rPr>
              <a:t>prediction</a:t>
            </a:r>
            <a:r>
              <a:rPr>
                <a:solidFill>
                  <a:srgbClr val="666666"/>
                </a:solidFill>
                <a:latin typeface="Courier"/>
              </a:rPr>
              <a:t>=</a:t>
            </a:r>
            <a:r>
              <a:rPr>
                <a:solidFill>
                  <a:srgbClr val="40A070"/>
                </a:solidFill>
                <a:latin typeface="Courier"/>
              </a:rPr>
              <a:t>1.0</a:t>
            </a:r>
            <a:br/>
            <a:r>
              <a:rPr>
                <a:solidFill>
                  <a:srgbClr val="666666"/>
                </a:solidFill>
                <a:latin typeface="Courier"/>
              </a:rPr>
              <a:t>(</a:t>
            </a:r>
            <a:r>
              <a:rPr>
                <a:solidFill>
                  <a:srgbClr val="40A070"/>
                </a:solidFill>
                <a:latin typeface="Courier"/>
              </a:rPr>
              <a:t>5</a:t>
            </a:r>
            <a:r>
              <a:rPr>
                <a:solidFill>
                  <a:srgbClr val="666666"/>
                </a:solidFill>
                <a:latin typeface="Courier"/>
              </a:rPr>
              <a:t>,</a:t>
            </a:r>
            <a:r>
              <a:rPr>
                <a:latin typeface="Courier"/>
              </a:rPr>
              <a:t> l m n</a:t>
            </a:r>
            <a:r>
              <a:rPr>
                <a:solidFill>
                  <a:srgbClr val="666666"/>
                </a:solidFill>
                <a:latin typeface="Courier"/>
              </a:rPr>
              <a:t>)</a:t>
            </a:r>
            <a:r>
              <a:rPr>
                <a:latin typeface="Courier"/>
              </a:rPr>
              <a:t> </a:t>
            </a:r>
            <a:r>
              <a:rPr>
                <a:solidFill>
                  <a:srgbClr val="666666"/>
                </a:solidFill>
                <a:latin typeface="Courier"/>
              </a:rPr>
              <a:t>--&gt;</a:t>
            </a:r>
            <a:r>
              <a:rPr>
                <a:latin typeface="Courier"/>
              </a:rPr>
              <a:t> prob</a:t>
            </a:r>
            <a:r>
              <a:rPr>
                <a:solidFill>
                  <a:srgbClr val="666666"/>
                </a:solidFill>
                <a:latin typeface="Courier"/>
              </a:rPr>
              <a:t>=[</a:t>
            </a:r>
            <a:r>
              <a:rPr>
                <a:solidFill>
                  <a:srgbClr val="40A070"/>
                </a:solidFill>
                <a:latin typeface="Courier"/>
              </a:rPr>
              <a:t>0.8378325685476612</a:t>
            </a:r>
            <a:r>
              <a:rPr>
                <a:solidFill>
                  <a:srgbClr val="666666"/>
                </a:solidFill>
                <a:latin typeface="Courier"/>
              </a:rPr>
              <a:t>,</a:t>
            </a:r>
            <a:r>
              <a:rPr>
                <a:solidFill>
                  <a:srgbClr val="40A070"/>
                </a:solidFill>
                <a:latin typeface="Courier"/>
              </a:rPr>
              <a:t>0.16216743145233875</a:t>
            </a:r>
            <a:r>
              <a:rPr>
                <a:solidFill>
                  <a:srgbClr val="666666"/>
                </a:solidFill>
                <a:latin typeface="Courier"/>
              </a:rPr>
              <a:t>],</a:t>
            </a:r>
            <a:br/>
            <a:r>
              <a:rPr>
                <a:latin typeface="Courier"/>
              </a:rPr>
              <a:t>prediction</a:t>
            </a:r>
            <a:r>
              <a:rPr>
                <a:solidFill>
                  <a:srgbClr val="666666"/>
                </a:solidFill>
                <a:latin typeface="Courier"/>
              </a:rPr>
              <a:t>=</a:t>
            </a:r>
            <a:r>
              <a:rPr>
                <a:solidFill>
                  <a:srgbClr val="40A070"/>
                </a:solidFill>
                <a:latin typeface="Courier"/>
              </a:rPr>
              <a:t>0.0</a:t>
            </a:r>
            <a:br/>
            <a:r>
              <a:rPr>
                <a:solidFill>
                  <a:srgbClr val="666666"/>
                </a:solidFill>
                <a:latin typeface="Courier"/>
              </a:rPr>
              <a:t>(</a:t>
            </a:r>
            <a:r>
              <a:rPr>
                <a:solidFill>
                  <a:srgbClr val="40A070"/>
                </a:solidFill>
                <a:latin typeface="Courier"/>
              </a:rPr>
              <a:t>6</a:t>
            </a:r>
            <a:r>
              <a:rPr>
                <a:solidFill>
                  <a:srgbClr val="666666"/>
                </a:solidFill>
                <a:latin typeface="Courier"/>
              </a:rPr>
              <a:t>,</a:t>
            </a:r>
            <a:r>
              <a:rPr>
                <a:latin typeface="Courier"/>
              </a:rPr>
              <a:t> spark hadoop spark</a:t>
            </a:r>
            <a:r>
              <a:rPr>
                <a:solidFill>
                  <a:srgbClr val="666666"/>
                </a:solidFill>
                <a:latin typeface="Courier"/>
              </a:rPr>
              <a:t>)</a:t>
            </a:r>
            <a:r>
              <a:rPr>
                <a:latin typeface="Courier"/>
              </a:rPr>
              <a:t> </a:t>
            </a:r>
            <a:r>
              <a:rPr>
                <a:solidFill>
                  <a:srgbClr val="666666"/>
                </a:solidFill>
                <a:latin typeface="Courier"/>
              </a:rPr>
              <a:t>--&gt;</a:t>
            </a:r>
            <a:br/>
            <a:r>
              <a:rPr>
                <a:latin typeface="Courier"/>
              </a:rPr>
              <a:t>prob</a:t>
            </a:r>
            <a:r>
              <a:rPr>
                <a:solidFill>
                  <a:srgbClr val="666666"/>
                </a:solidFill>
                <a:latin typeface="Courier"/>
              </a:rPr>
              <a:t>=[</a:t>
            </a:r>
            <a:r>
              <a:rPr>
                <a:solidFill>
                  <a:srgbClr val="40A070"/>
                </a:solidFill>
                <a:latin typeface="Courier"/>
              </a:rPr>
              <a:t>0.06926633132976273</a:t>
            </a:r>
            <a:r>
              <a:rPr>
                <a:solidFill>
                  <a:srgbClr val="666666"/>
                </a:solidFill>
                <a:latin typeface="Courier"/>
              </a:rPr>
              <a:t>,</a:t>
            </a:r>
            <a:r>
              <a:rPr>
                <a:solidFill>
                  <a:srgbClr val="40A070"/>
                </a:solidFill>
                <a:latin typeface="Courier"/>
              </a:rPr>
              <a:t>0.9307336686702373</a:t>
            </a:r>
            <a:r>
              <a:rPr>
                <a:solidFill>
                  <a:srgbClr val="666666"/>
                </a:solidFill>
                <a:latin typeface="Courier"/>
              </a:rPr>
              <a:t>],</a:t>
            </a:r>
            <a:r>
              <a:rPr>
                <a:latin typeface="Courier"/>
              </a:rPr>
              <a:t> prediction</a:t>
            </a:r>
            <a:r>
              <a:rPr>
                <a:solidFill>
                  <a:srgbClr val="666666"/>
                </a:solidFill>
                <a:latin typeface="Courier"/>
              </a:rPr>
              <a:t>=</a:t>
            </a:r>
            <a:r>
              <a:rPr>
                <a:solidFill>
                  <a:srgbClr val="40A070"/>
                </a:solidFill>
                <a:latin typeface="Courier"/>
              </a:rPr>
              <a:t>1.0</a:t>
            </a:r>
            <a:br/>
            <a:r>
              <a:rPr i="1">
                <a:solidFill>
                  <a:srgbClr val="60A0B0"/>
                </a:solidFill>
                <a:latin typeface="Courier"/>
              </a:rPr>
              <a:t>//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管道：代码片段（8/11）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打印出参数对（名称</a:t>
            </a:r>
          </a:p>
          <a:p>
            <a:pPr lvl="0" indent="0">
              <a:buNone/>
            </a:pP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"Model was fit using parameters: "</a:t>
            </a:r>
            <a:r>
              <a:rPr>
                <a:latin typeface="Courier"/>
              </a:rPr>
              <a:t> </a:t>
            </a:r>
            <a:r>
              <a:rPr>
                <a:solidFill>
                  <a:srgbClr val="666666"/>
                </a:solidFill>
                <a:latin typeface="Courier"/>
              </a:rPr>
              <a:t>+</a:t>
            </a:r>
            <a:r>
              <a:rPr>
                <a:latin typeface="Courier"/>
              </a:rPr>
              <a:t> lr</a:t>
            </a:r>
            <a:r>
              <a:rPr>
                <a:solidFill>
                  <a:srgbClr val="666666"/>
                </a:solidFill>
                <a:latin typeface="Courier"/>
              </a:rPr>
              <a:t>.</a:t>
            </a:r>
            <a:r>
              <a:rPr>
                <a:latin typeface="Courier"/>
              </a:rPr>
              <a:t>extractParamMap</a:t>
            </a:r>
            <a:r>
              <a:rPr>
                <a:solidFill>
                  <a:srgbClr val="666666"/>
                </a:solidFill>
                <a:latin typeface="Courier"/>
              </a:rPr>
              <a:t>)</a:t>
            </a:r>
            <a:br/>
            <a:r>
              <a:rPr>
                <a:latin typeface="Courier"/>
              </a:rPr>
              <a:t>Model was fit using parameters</a:t>
            </a:r>
            <a:r>
              <a:rPr>
                <a:solidFill>
                  <a:srgbClr val="666666"/>
                </a:solidFill>
                <a:latin typeface="Courier"/>
              </a:rPr>
              <a:t>:</a:t>
            </a:r>
            <a:r>
              <a:rPr>
                <a:latin typeface="Courier"/>
              </a:rPr>
              <a:t> </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aggregationDepth</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elasticNetParam</a:t>
            </a:r>
            <a:r>
              <a:rPr>
                <a:solidFill>
                  <a:srgbClr val="666666"/>
                </a:solidFill>
                <a:latin typeface="Courier"/>
              </a:rPr>
              <a:t>:</a:t>
            </a:r>
            <a:r>
              <a:rPr>
                <a:latin typeface="Courier"/>
              </a:rPr>
              <a:t> </a:t>
            </a:r>
            <a:r>
              <a:rPr>
                <a:solidFill>
                  <a:srgbClr val="40A070"/>
                </a:solidFill>
                <a:latin typeface="Courier"/>
              </a:rPr>
              <a:t>0.0</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family</a:t>
            </a:r>
            <a:r>
              <a:rPr>
                <a:solidFill>
                  <a:srgbClr val="666666"/>
                </a:solidFill>
                <a:latin typeface="Courier"/>
              </a:rPr>
              <a:t>:</a:t>
            </a:r>
            <a:r>
              <a:rPr>
                <a:latin typeface="Courier"/>
              </a:rPr>
              <a:t> auto</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featuresCol</a:t>
            </a:r>
            <a:r>
              <a:rPr>
                <a:solidFill>
                  <a:srgbClr val="666666"/>
                </a:solidFill>
                <a:latin typeface="Courier"/>
              </a:rPr>
              <a:t>:</a:t>
            </a:r>
            <a:r>
              <a:rPr>
                <a:latin typeface="Courier"/>
              </a:rPr>
              <a:t> features</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fitIntercept</a:t>
            </a:r>
            <a:r>
              <a:rPr>
                <a:solidFill>
                  <a:srgbClr val="666666"/>
                </a:solidFill>
                <a:latin typeface="Courier"/>
              </a:rPr>
              <a:t>:</a:t>
            </a:r>
            <a:r>
              <a:rPr>
                <a:latin typeface="Courier"/>
              </a:rPr>
              <a:t> </a:t>
            </a:r>
            <a:r>
              <a:rPr b="1">
                <a:solidFill>
                  <a:srgbClr val="007020"/>
                </a:solidFill>
                <a:latin typeface="Courier"/>
              </a:rPr>
              <a:t>true</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labelCol</a:t>
            </a:r>
            <a:r>
              <a:rPr>
                <a:solidFill>
                  <a:srgbClr val="666666"/>
                </a:solidFill>
                <a:latin typeface="Courier"/>
              </a:rPr>
              <a:t>:</a:t>
            </a:r>
            <a:r>
              <a:rPr>
                <a:latin typeface="Courier"/>
              </a:rPr>
              <a:t> label</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maxIter</a:t>
            </a:r>
            <a:r>
              <a:rPr>
                <a:solidFill>
                  <a:srgbClr val="666666"/>
                </a:solidFill>
                <a:latin typeface="Courier"/>
              </a:rPr>
              <a:t>:</a:t>
            </a:r>
            <a:r>
              <a:rPr>
                <a:latin typeface="Courier"/>
              </a:rPr>
              <a:t> </a:t>
            </a:r>
            <a:r>
              <a:rPr>
                <a:solidFill>
                  <a:srgbClr val="40A070"/>
                </a:solidFill>
                <a:latin typeface="Courier"/>
              </a:rPr>
              <a:t>10</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predictionCol</a:t>
            </a:r>
            <a:r>
              <a:rPr>
                <a:solidFill>
                  <a:srgbClr val="666666"/>
                </a:solidFill>
                <a:latin typeface="Courier"/>
              </a:rPr>
              <a:t>:</a:t>
            </a:r>
            <a:r>
              <a:rPr>
                <a:latin typeface="Courier"/>
              </a:rPr>
              <a:t> prediction</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probabilityCol</a:t>
            </a:r>
            <a:r>
              <a:rPr>
                <a:solidFill>
                  <a:srgbClr val="666666"/>
                </a:solidFill>
                <a:latin typeface="Courier"/>
              </a:rPr>
              <a:t>:</a:t>
            </a:r>
            <a:r>
              <a:rPr>
                <a:latin typeface="Courier"/>
              </a:rPr>
              <a:t> probability</a:t>
            </a:r>
            <a:r>
              <a:rPr>
                <a:solidFill>
                  <a:srgbClr val="666666"/>
                </a:solidFill>
                <a:latin typeface="Courier"/>
              </a:rPr>
              <a:t>,</a:t>
            </a:r>
            <a:br/>
            <a:r>
              <a:rPr i="1">
                <a:solidFill>
                  <a:srgbClr val="60A0B0"/>
                </a:solidFill>
                <a:latin typeface="Courier"/>
              </a:rPr>
              <a:t>//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管道：代码片段（9/11）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可替代地使用ParamMap中的不同方法指定参数：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param</a:t>
            </a:r>
            <a:r>
              <a:rPr>
                <a:solidFill>
                  <a:srgbClr val="666666"/>
                </a:solidFill>
                <a:latin typeface="Courier"/>
              </a:rPr>
              <a:t>.</a:t>
            </a:r>
            <a:r>
              <a:rPr>
                <a:latin typeface="Courier"/>
              </a:rPr>
              <a:t>ParamMap</a:t>
            </a:r>
            <a:br/>
            <a:r>
              <a:rPr b="1">
                <a:solidFill>
                  <a:srgbClr val="007020"/>
                </a:solidFill>
                <a:latin typeface="Courier"/>
              </a:rPr>
              <a:t>import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param</a:t>
            </a:r>
            <a:r>
              <a:rPr>
                <a:solidFill>
                  <a:srgbClr val="666666"/>
                </a:solidFill>
                <a:latin typeface="Courier"/>
              </a:rPr>
              <a:t>.</a:t>
            </a:r>
            <a:r>
              <a:rPr>
                <a:latin typeface="Courier"/>
              </a:rPr>
              <a:t>ParamMap</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paramMap </a:t>
            </a:r>
            <a:r>
              <a:rPr>
                <a:solidFill>
                  <a:srgbClr val="666666"/>
                </a:solidFill>
                <a:latin typeface="Courier"/>
              </a:rPr>
              <a:t>=</a:t>
            </a:r>
            <a:r>
              <a:rPr>
                <a:latin typeface="Courier"/>
              </a:rPr>
              <a:t> </a:t>
            </a:r>
            <a:r>
              <a:rPr>
                <a:solidFill>
                  <a:srgbClr val="06287E"/>
                </a:solidFill>
                <a:latin typeface="Courier"/>
              </a:rPr>
              <a:t>ParamMap</a:t>
            </a:r>
            <a:r>
              <a:rPr>
                <a:solidFill>
                  <a:srgbClr val="666666"/>
                </a:solidFill>
                <a:latin typeface="Courier"/>
              </a:rPr>
              <a:t>(</a:t>
            </a:r>
            <a:r>
              <a:rPr>
                <a:latin typeface="Courier"/>
              </a:rPr>
              <a:t>lr</a:t>
            </a:r>
            <a:r>
              <a:rPr>
                <a:solidFill>
                  <a:srgbClr val="666666"/>
                </a:solidFill>
                <a:latin typeface="Courier"/>
              </a:rPr>
              <a:t>.</a:t>
            </a:r>
            <a:r>
              <a:rPr>
                <a:latin typeface="Courier"/>
              </a:rPr>
              <a:t>maxIter </a:t>
            </a:r>
            <a:r>
              <a:rPr>
                <a:solidFill>
                  <a:srgbClr val="666666"/>
                </a:solidFill>
                <a:latin typeface="Courier"/>
              </a:rPr>
              <a:t>-&gt;</a:t>
            </a:r>
            <a:r>
              <a:rPr>
                <a:latin typeface="Courier"/>
              </a:rPr>
              <a:t> </a:t>
            </a:r>
            <a:r>
              <a:rPr>
                <a:solidFill>
                  <a:srgbClr val="40A070"/>
                </a:solidFill>
                <a:latin typeface="Courier"/>
              </a:rPr>
              <a:t>20</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lr</a:t>
            </a:r>
            <a:r>
              <a:rPr>
                <a:solidFill>
                  <a:srgbClr val="666666"/>
                </a:solidFill>
                <a:latin typeface="Courier"/>
              </a:rPr>
              <a:t>.</a:t>
            </a:r>
            <a:r>
              <a:rPr>
                <a:latin typeface="Courier"/>
              </a:rPr>
              <a:t>maxIter</a:t>
            </a:r>
            <a:r>
              <a:rPr>
                <a:solidFill>
                  <a:srgbClr val="666666"/>
                </a:solidFill>
                <a:latin typeface="Courier"/>
              </a:rPr>
              <a:t>,</a:t>
            </a:r>
            <a:br/>
            <a:r>
              <a:rPr>
                <a:solidFill>
                  <a:srgbClr val="40A070"/>
                </a:solidFill>
                <a:latin typeface="Courier"/>
              </a:rPr>
              <a:t>30</a:t>
            </a:r>
            <a:r>
              <a:rPr>
                <a:solidFill>
                  <a:srgbClr val="666666"/>
                </a:solidFill>
                <a:latin typeface="Courier"/>
              </a:rPr>
              <a:t>).</a:t>
            </a:r>
            <a:r>
              <a:rPr>
                <a:solidFill>
                  <a:srgbClr val="06287E"/>
                </a:solidFill>
                <a:latin typeface="Courier"/>
              </a:rPr>
              <a:t>put</a:t>
            </a:r>
            <a:r>
              <a:rPr>
                <a:solidFill>
                  <a:srgbClr val="666666"/>
                </a:solidFill>
                <a:latin typeface="Courier"/>
              </a:rPr>
              <a:t>(</a:t>
            </a:r>
            <a:r>
              <a:rPr>
                <a:latin typeface="Courier"/>
              </a:rPr>
              <a:t>lr</a:t>
            </a:r>
            <a:r>
              <a:rPr>
                <a:solidFill>
                  <a:srgbClr val="666666"/>
                </a:solidFill>
                <a:latin typeface="Courier"/>
              </a:rPr>
              <a:t>.</a:t>
            </a:r>
            <a:r>
              <a:rPr>
                <a:latin typeface="Courier"/>
              </a:rPr>
              <a:t>regParam </a:t>
            </a:r>
            <a:r>
              <a:rPr>
                <a:solidFill>
                  <a:srgbClr val="666666"/>
                </a:solidFill>
                <a:latin typeface="Courier"/>
              </a:rPr>
              <a:t>-&gt;</a:t>
            </a:r>
            <a:r>
              <a:rPr>
                <a:latin typeface="Courier"/>
              </a:rPr>
              <a:t> </a:t>
            </a:r>
            <a:r>
              <a:rPr>
                <a:solidFill>
                  <a:srgbClr val="40A070"/>
                </a:solidFill>
                <a:latin typeface="Courier"/>
              </a:rPr>
              <a:t>0.1</a:t>
            </a:r>
            <a:r>
              <a:rPr>
                <a:solidFill>
                  <a:srgbClr val="666666"/>
                </a:solidFill>
                <a:latin typeface="Courier"/>
              </a:rPr>
              <a:t>,</a:t>
            </a:r>
            <a:r>
              <a:rPr>
                <a:latin typeface="Courier"/>
              </a:rPr>
              <a:t> lr</a:t>
            </a:r>
            <a:r>
              <a:rPr>
                <a:solidFill>
                  <a:srgbClr val="666666"/>
                </a:solidFill>
                <a:latin typeface="Courier"/>
              </a:rPr>
              <a:t>.</a:t>
            </a:r>
            <a:r>
              <a:rPr>
                <a:latin typeface="Courier"/>
              </a:rPr>
              <a:t>threshold </a:t>
            </a:r>
            <a:r>
              <a:rPr>
                <a:solidFill>
                  <a:srgbClr val="666666"/>
                </a:solidFill>
                <a:latin typeface="Courier"/>
              </a:rPr>
              <a:t>-&gt;</a:t>
            </a:r>
            <a:r>
              <a:rPr>
                <a:latin typeface="Courier"/>
              </a:rPr>
              <a:t> </a:t>
            </a:r>
            <a:r>
              <a:rPr>
                <a:solidFill>
                  <a:srgbClr val="40A070"/>
                </a:solidFill>
                <a:latin typeface="Courier"/>
              </a:rPr>
              <a:t>0.55</a:t>
            </a:r>
            <a:r>
              <a:rPr>
                <a:solidFill>
                  <a:srgbClr val="666666"/>
                </a:solidFill>
                <a:latin typeface="Courier"/>
              </a:rPr>
              <a:t>)</a:t>
            </a:r>
            <a:br/>
            <a:r>
              <a:rPr>
                <a:latin typeface="Courier"/>
              </a:rPr>
              <a:t>paramMap</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param</a:t>
            </a:r>
            <a:r>
              <a:rPr>
                <a:solidFill>
                  <a:srgbClr val="666666"/>
                </a:solidFill>
                <a:latin typeface="Courier"/>
              </a:rPr>
              <a:t>.</a:t>
            </a:r>
            <a:r>
              <a:rPr>
                <a:latin typeface="Courier"/>
              </a:rPr>
              <a:t>ParamMap </a:t>
            </a:r>
            <a:r>
              <a:rPr>
                <a:solidFill>
                  <a:srgbClr val="666666"/>
                </a:solidFill>
                <a:latin typeface="Courier"/>
              </a:rPr>
              <a:t>=</a:t>
            </a:r>
            <a:br/>
            <a:r>
              <a:rPr>
                <a:solidFill>
                  <a:srgbClr val="666666"/>
                </a:solidFill>
                <a:latin typeface="Courier"/>
              </a:rPr>
              <a:t>{</a:t>
            </a:r>
            <a:br/>
            <a:r>
              <a:rPr>
                <a:latin typeface="Courier"/>
              </a:rPr>
              <a:t>logreg_20733c862f55</a:t>
            </a:r>
            <a:r>
              <a:rPr>
                <a:solidFill>
                  <a:srgbClr val="666666"/>
                </a:solidFill>
                <a:latin typeface="Courier"/>
              </a:rPr>
              <a:t>-</a:t>
            </a:r>
            <a:r>
              <a:rPr>
                <a:latin typeface="Courier"/>
              </a:rPr>
              <a:t>maxIter</a:t>
            </a:r>
            <a:r>
              <a:rPr>
                <a:solidFill>
                  <a:srgbClr val="666666"/>
                </a:solidFill>
                <a:latin typeface="Courier"/>
              </a:rPr>
              <a:t>:</a:t>
            </a:r>
            <a:r>
              <a:rPr>
                <a:latin typeface="Courier"/>
              </a:rPr>
              <a:t> </a:t>
            </a:r>
            <a:r>
              <a:rPr>
                <a:solidFill>
                  <a:srgbClr val="40A070"/>
                </a:solidFill>
                <a:latin typeface="Courier"/>
              </a:rPr>
              <a:t>30</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regParam</a:t>
            </a:r>
            <a:r>
              <a:rPr>
                <a:solidFill>
                  <a:srgbClr val="666666"/>
                </a:solidFill>
                <a:latin typeface="Courier"/>
              </a:rPr>
              <a:t>:</a:t>
            </a:r>
            <a:r>
              <a:rPr>
                <a:latin typeface="Courier"/>
              </a:rPr>
              <a:t> </a:t>
            </a:r>
            <a:r>
              <a:rPr>
                <a:solidFill>
                  <a:srgbClr val="40A070"/>
                </a:solidFill>
                <a:latin typeface="Courier"/>
              </a:rPr>
              <a:t>0.1</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threshold</a:t>
            </a:r>
            <a:r>
              <a:rPr>
                <a:solidFill>
                  <a:srgbClr val="666666"/>
                </a:solidFill>
                <a:latin typeface="Courier"/>
              </a:rPr>
              <a:t>:</a:t>
            </a:r>
            <a:r>
              <a:rPr>
                <a:latin typeface="Courier"/>
              </a:rPr>
              <a:t> </a:t>
            </a:r>
            <a:r>
              <a:rPr>
                <a:solidFill>
                  <a:srgbClr val="40A070"/>
                </a:solidFill>
                <a:latin typeface="Courier"/>
              </a:rPr>
              <a:t>0.55</a:t>
            </a:r>
            <a:br/>
            <a:r>
              <a:rPr>
                <a:solidFill>
                  <a:srgbClr val="666666"/>
                </a:solidFill>
                <a:latin typeface="Courie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管道：代码片段（10/11）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组合多个ParamMap： 的执行步骤</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paramMap2 </a:t>
            </a:r>
            <a:r>
              <a:rPr>
                <a:solidFill>
                  <a:srgbClr val="666666"/>
                </a:solidFill>
                <a:latin typeface="Courier"/>
              </a:rPr>
              <a:t>=</a:t>
            </a:r>
            <a:r>
              <a:rPr>
                <a:latin typeface="Courier"/>
              </a:rPr>
              <a:t> </a:t>
            </a:r>
            <a:r>
              <a:rPr>
                <a:solidFill>
                  <a:srgbClr val="06287E"/>
                </a:solidFill>
                <a:latin typeface="Courier"/>
              </a:rPr>
              <a:t>ParamMap</a:t>
            </a:r>
            <a:r>
              <a:rPr>
                <a:solidFill>
                  <a:srgbClr val="666666"/>
                </a:solidFill>
                <a:latin typeface="Courier"/>
              </a:rPr>
              <a:t>(</a:t>
            </a:r>
            <a:r>
              <a:rPr>
                <a:latin typeface="Courier"/>
              </a:rPr>
              <a:t>lr</a:t>
            </a:r>
            <a:r>
              <a:rPr>
                <a:solidFill>
                  <a:srgbClr val="666666"/>
                </a:solidFill>
                <a:latin typeface="Courier"/>
              </a:rPr>
              <a:t>.</a:t>
            </a:r>
            <a:r>
              <a:rPr>
                <a:latin typeface="Courier"/>
              </a:rPr>
              <a:t>probabilityCol </a:t>
            </a:r>
            <a:r>
              <a:rPr>
                <a:solidFill>
                  <a:srgbClr val="666666"/>
                </a:solidFill>
                <a:latin typeface="Courier"/>
              </a:rPr>
              <a:t>-&gt;</a:t>
            </a:r>
            <a:r>
              <a:rPr>
                <a:latin typeface="Courier"/>
              </a:rPr>
              <a:t> </a:t>
            </a:r>
            <a:r>
              <a:rPr>
                <a:solidFill>
                  <a:srgbClr val="4070A0"/>
                </a:solidFill>
                <a:latin typeface="Courier"/>
              </a:rPr>
              <a:t>"myProbability"</a:t>
            </a:r>
            <a:r>
              <a:rPr>
                <a:solidFill>
                  <a:srgbClr val="666666"/>
                </a:solidFill>
                <a:latin typeface="Courier"/>
              </a:rPr>
              <a:t>)</a:t>
            </a:r>
            <a:br/>
            <a:r>
              <a:rPr>
                <a:latin typeface="Courier"/>
              </a:rPr>
              <a:t>paramMap2</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param</a:t>
            </a:r>
            <a:r>
              <a:rPr>
                <a:solidFill>
                  <a:srgbClr val="666666"/>
                </a:solidFill>
                <a:latin typeface="Courier"/>
              </a:rPr>
              <a:t>.</a:t>
            </a:r>
            <a:r>
              <a:rPr>
                <a:latin typeface="Courier"/>
              </a:rPr>
              <a:t>ParamMap </a:t>
            </a:r>
            <a:r>
              <a:rPr>
                <a:solidFill>
                  <a:srgbClr val="666666"/>
                </a:solidFill>
                <a:latin typeface="Courier"/>
              </a:rPr>
              <a:t>=</a:t>
            </a:r>
            <a:br/>
            <a:r>
              <a:rPr>
                <a:solidFill>
                  <a:srgbClr val="666666"/>
                </a:solidFill>
                <a:latin typeface="Courier"/>
              </a:rPr>
              <a:t>{</a:t>
            </a:r>
            <a:br/>
            <a:r>
              <a:rPr>
                <a:latin typeface="Courier"/>
              </a:rPr>
              <a:t>logreg_20733c862f55</a:t>
            </a:r>
            <a:r>
              <a:rPr>
                <a:solidFill>
                  <a:srgbClr val="666666"/>
                </a:solidFill>
                <a:latin typeface="Courier"/>
              </a:rPr>
              <a:t>-</a:t>
            </a:r>
            <a:r>
              <a:rPr>
                <a:latin typeface="Courier"/>
              </a:rPr>
              <a:t>probabilityCol</a:t>
            </a:r>
            <a:r>
              <a:rPr>
                <a:solidFill>
                  <a:srgbClr val="666666"/>
                </a:solidFill>
                <a:latin typeface="Courier"/>
              </a:rPr>
              <a:t>:</a:t>
            </a:r>
            <a:r>
              <a:rPr>
                <a:latin typeface="Courier"/>
              </a:rPr>
              <a:t> myProbability</a:t>
            </a:r>
            <a:br/>
            <a:r>
              <a:rPr>
                <a:solidFill>
                  <a:srgbClr val="666666"/>
                </a:solidFill>
                <a:latin typeface="Courier"/>
              </a:rPr>
              <a:t>}</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paramMapCombined </a:t>
            </a:r>
            <a:r>
              <a:rPr>
                <a:solidFill>
                  <a:srgbClr val="666666"/>
                </a:solidFill>
                <a:latin typeface="Courier"/>
              </a:rPr>
              <a:t>=</a:t>
            </a:r>
            <a:r>
              <a:rPr>
                <a:latin typeface="Courier"/>
              </a:rPr>
              <a:t> paramMap </a:t>
            </a:r>
            <a:r>
              <a:rPr>
                <a:solidFill>
                  <a:srgbClr val="666666"/>
                </a:solidFill>
                <a:latin typeface="Courier"/>
              </a:rPr>
              <a:t>++</a:t>
            </a:r>
            <a:r>
              <a:rPr>
                <a:latin typeface="Courier"/>
              </a:rPr>
              <a:t> paramMap2</a:t>
            </a:r>
            <a:br/>
            <a:r>
              <a:rPr>
                <a:latin typeface="Courier"/>
              </a:rPr>
              <a:t>paramMapCombined</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param</a:t>
            </a:r>
            <a:r>
              <a:rPr>
                <a:solidFill>
                  <a:srgbClr val="666666"/>
                </a:solidFill>
                <a:latin typeface="Courier"/>
              </a:rPr>
              <a:t>.</a:t>
            </a:r>
            <a:r>
              <a:rPr>
                <a:latin typeface="Courier"/>
              </a:rPr>
              <a:t>ParamMap </a:t>
            </a:r>
            <a:r>
              <a:rPr>
                <a:solidFill>
                  <a:srgbClr val="666666"/>
                </a:solidFill>
                <a:latin typeface="Courier"/>
              </a:rPr>
              <a:t>=</a:t>
            </a:r>
            <a:br/>
            <a:r>
              <a:rPr>
                <a:solidFill>
                  <a:srgbClr val="666666"/>
                </a:solidFill>
                <a:latin typeface="Courier"/>
              </a:rPr>
              <a:t>{</a:t>
            </a:r>
            <a:br/>
            <a:r>
              <a:rPr>
                <a:latin typeface="Courier"/>
              </a:rPr>
              <a:t>logreg_20733c862f55</a:t>
            </a:r>
            <a:r>
              <a:rPr>
                <a:solidFill>
                  <a:srgbClr val="666666"/>
                </a:solidFill>
                <a:latin typeface="Courier"/>
              </a:rPr>
              <a:t>-</a:t>
            </a:r>
            <a:r>
              <a:rPr>
                <a:latin typeface="Courier"/>
              </a:rPr>
              <a:t>maxIter</a:t>
            </a:r>
            <a:r>
              <a:rPr>
                <a:solidFill>
                  <a:srgbClr val="666666"/>
                </a:solidFill>
                <a:latin typeface="Courier"/>
              </a:rPr>
              <a:t>:</a:t>
            </a:r>
            <a:r>
              <a:rPr>
                <a:latin typeface="Courier"/>
              </a:rPr>
              <a:t> </a:t>
            </a:r>
            <a:r>
              <a:rPr>
                <a:solidFill>
                  <a:srgbClr val="40A070"/>
                </a:solidFill>
                <a:latin typeface="Courier"/>
              </a:rPr>
              <a:t>30</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probabilityCol</a:t>
            </a:r>
            <a:r>
              <a:rPr>
                <a:solidFill>
                  <a:srgbClr val="666666"/>
                </a:solidFill>
                <a:latin typeface="Courier"/>
              </a:rPr>
              <a:t>:</a:t>
            </a:r>
            <a:r>
              <a:rPr>
                <a:latin typeface="Courier"/>
              </a:rPr>
              <a:t> myProbability</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regParam</a:t>
            </a:r>
            <a:r>
              <a:rPr>
                <a:solidFill>
                  <a:srgbClr val="666666"/>
                </a:solidFill>
                <a:latin typeface="Courier"/>
              </a:rPr>
              <a:t>:</a:t>
            </a:r>
            <a:r>
              <a:rPr>
                <a:latin typeface="Courier"/>
              </a:rPr>
              <a:t> </a:t>
            </a:r>
            <a:r>
              <a:rPr>
                <a:solidFill>
                  <a:srgbClr val="40A070"/>
                </a:solidFill>
                <a:latin typeface="Courier"/>
              </a:rPr>
              <a:t>0.1</a:t>
            </a:r>
            <a:r>
              <a:rPr>
                <a:solidFill>
                  <a:srgbClr val="666666"/>
                </a:solidFill>
                <a:latin typeface="Courier"/>
              </a:rPr>
              <a:t>,</a:t>
            </a:r>
            <a:br/>
            <a:r>
              <a:rPr i="1">
                <a:solidFill>
                  <a:srgbClr val="60A0B0"/>
                </a:solidFill>
                <a:latin typeface="Courier"/>
              </a:rPr>
              <a:t>// ...</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管道：代码片段（11/11）</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先对照代码理解 使用paramMapCombined中定义的参数学习新的模型</a:t>
            </a:r>
          </a:p>
          <a:p>
            <a:pPr lvl="0" indent="0">
              <a:buNone/>
            </a:pP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model2 </a:t>
            </a:r>
            <a:r>
              <a:rPr>
                <a:solidFill>
                  <a:srgbClr val="666666"/>
                </a:solidFill>
                <a:latin typeface="Courier"/>
              </a:rPr>
              <a:t>=</a:t>
            </a:r>
            <a:r>
              <a:rPr>
                <a:latin typeface="Courier"/>
              </a:rPr>
              <a:t> pipeline</a:t>
            </a:r>
            <a:r>
              <a:rPr>
                <a:solidFill>
                  <a:srgbClr val="666666"/>
                </a:solidFill>
                <a:latin typeface="Courier"/>
              </a:rPr>
              <a:t>.</a:t>
            </a:r>
            <a:r>
              <a:rPr>
                <a:solidFill>
                  <a:srgbClr val="06287E"/>
                </a:solidFill>
                <a:latin typeface="Courier"/>
              </a:rPr>
              <a:t>fit</a:t>
            </a:r>
            <a:r>
              <a:rPr>
                <a:solidFill>
                  <a:srgbClr val="666666"/>
                </a:solidFill>
                <a:latin typeface="Courier"/>
              </a:rPr>
              <a:t>(</a:t>
            </a:r>
            <a:r>
              <a:rPr>
                <a:latin typeface="Courier"/>
              </a:rPr>
              <a:t>training</a:t>
            </a:r>
            <a:r>
              <a:rPr>
                <a:solidFill>
                  <a:srgbClr val="666666"/>
                </a:solidFill>
                <a:latin typeface="Courier"/>
              </a:rPr>
              <a:t>,</a:t>
            </a:r>
            <a:r>
              <a:rPr>
                <a:latin typeface="Courier"/>
              </a:rPr>
              <a:t> paramMapCombined</a:t>
            </a:r>
            <a:r>
              <a:rPr>
                <a:solidFill>
                  <a:srgbClr val="666666"/>
                </a:solidFill>
                <a:latin typeface="Courier"/>
              </a:rPr>
              <a:t>)</a:t>
            </a:r>
            <a:br/>
            <a:r>
              <a:rPr>
                <a:latin typeface="Courier"/>
              </a:rPr>
              <a:t>model2</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PipelineModel </a:t>
            </a:r>
            <a:r>
              <a:rPr>
                <a:solidFill>
                  <a:srgbClr val="666666"/>
                </a:solidFill>
                <a:latin typeface="Courier"/>
              </a:rPr>
              <a:t>=</a:t>
            </a:r>
            <a:r>
              <a:rPr>
                <a:latin typeface="Courier"/>
              </a:rPr>
              <a:t> pipeline_7a5c909d61d5</a:t>
            </a:r>
            <a:br/>
            <a:r>
              <a:rPr>
                <a:latin typeface="Courier"/>
              </a:rPr>
              <a:t>scala</a:t>
            </a:r>
            <a:r>
              <a:rPr>
                <a:solidFill>
                  <a:srgbClr val="666666"/>
                </a:solidFill>
                <a:latin typeface="Courier"/>
              </a:rPr>
              <a:t>&gt;</a:t>
            </a:r>
            <a:r>
              <a:rPr>
                <a:latin typeface="Courier"/>
              </a:rPr>
              <a:t> </a:t>
            </a:r>
            <a:r>
              <a:rPr b="1">
                <a:solidFill>
                  <a:srgbClr val="007020"/>
                </a:solidFill>
                <a:latin typeface="Courier"/>
              </a:rPr>
              <a:t>val</a:t>
            </a:r>
            <a:r>
              <a:rPr>
                <a:latin typeface="Courier"/>
              </a:rPr>
              <a:t> logRegModel </a:t>
            </a:r>
            <a:r>
              <a:rPr>
                <a:solidFill>
                  <a:srgbClr val="666666"/>
                </a:solidFill>
                <a:latin typeface="Courier"/>
              </a:rPr>
              <a:t>=</a:t>
            </a:r>
            <a:br/>
            <a:r>
              <a:rPr>
                <a:latin typeface="Courier"/>
              </a:rPr>
              <a:t>model2</a:t>
            </a:r>
            <a:r>
              <a:rPr>
                <a:solidFill>
                  <a:srgbClr val="666666"/>
                </a:solidFill>
                <a:latin typeface="Courier"/>
              </a:rPr>
              <a:t>.</a:t>
            </a:r>
            <a:r>
              <a:rPr>
                <a:latin typeface="Courier"/>
              </a:rPr>
              <a:t>stages</a:t>
            </a:r>
            <a:r>
              <a:rPr>
                <a:solidFill>
                  <a:srgbClr val="666666"/>
                </a:solidFill>
                <a:latin typeface="Courier"/>
              </a:rPr>
              <a:t>.</a:t>
            </a:r>
            <a:r>
              <a:rPr>
                <a:latin typeface="Courier"/>
              </a:rPr>
              <a:t>last</a:t>
            </a:r>
            <a:r>
              <a:rPr>
                <a:solidFill>
                  <a:srgbClr val="666666"/>
                </a:solidFill>
                <a:latin typeface="Courier"/>
              </a:rPr>
              <a:t>.</a:t>
            </a:r>
            <a:r>
              <a:rPr>
                <a:latin typeface="Courier"/>
              </a:rPr>
              <a:t>asInstanceOf</a:t>
            </a:r>
            <a:r>
              <a:rPr>
                <a:solidFill>
                  <a:srgbClr val="666666"/>
                </a:solidFill>
                <a:latin typeface="Courier"/>
              </a:rPr>
              <a:t>[</a:t>
            </a:r>
            <a:r>
              <a:rPr>
                <a:latin typeface="Courier"/>
              </a:rPr>
              <a:t>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classification</a:t>
            </a:r>
            <a:r>
              <a:rPr>
                <a:solidFill>
                  <a:srgbClr val="666666"/>
                </a:solidFill>
                <a:latin typeface="Courier"/>
              </a:rPr>
              <a:t>.</a:t>
            </a:r>
            <a:r>
              <a:rPr>
                <a:latin typeface="Courier"/>
              </a:rPr>
              <a:t>LogisticRegressionModel</a:t>
            </a:r>
            <a:r>
              <a:rPr>
                <a:solidFill>
                  <a:srgbClr val="666666"/>
                </a:solidFill>
                <a:latin typeface="Courier"/>
              </a:rPr>
              <a:t>]</a:t>
            </a:r>
            <a:br/>
            <a:r>
              <a:rPr>
                <a:latin typeface="Courier"/>
              </a:rPr>
              <a:t>logRegModel</a:t>
            </a:r>
            <a:r>
              <a:rPr>
                <a:solidFill>
                  <a:srgbClr val="666666"/>
                </a:solidFill>
                <a:latin typeface="Courier"/>
              </a:rPr>
              <a:t>:</a:t>
            </a:r>
            <a:r>
              <a:rPr>
                <a:latin typeface="Courier"/>
              </a:rPr>
              <a:t> org</a:t>
            </a:r>
            <a:r>
              <a:rPr>
                <a:solidFill>
                  <a:srgbClr val="666666"/>
                </a:solidFill>
                <a:latin typeface="Courier"/>
              </a:rPr>
              <a:t>.</a:t>
            </a:r>
            <a:r>
              <a:rPr>
                <a:latin typeface="Courier"/>
              </a:rPr>
              <a:t>apache</a:t>
            </a:r>
            <a:r>
              <a:rPr>
                <a:solidFill>
                  <a:srgbClr val="666666"/>
                </a:solidFill>
                <a:latin typeface="Courier"/>
              </a:rPr>
              <a:t>.</a:t>
            </a:r>
            <a:r>
              <a:rPr>
                <a:latin typeface="Courier"/>
              </a:rPr>
              <a:t>spark</a:t>
            </a:r>
            <a:r>
              <a:rPr>
                <a:solidFill>
                  <a:srgbClr val="666666"/>
                </a:solidFill>
                <a:latin typeface="Courier"/>
              </a:rPr>
              <a:t>.</a:t>
            </a:r>
            <a:r>
              <a:rPr>
                <a:latin typeface="Courier"/>
              </a:rPr>
              <a:t>ml</a:t>
            </a:r>
            <a:r>
              <a:rPr>
                <a:solidFill>
                  <a:srgbClr val="666666"/>
                </a:solidFill>
                <a:latin typeface="Courier"/>
              </a:rPr>
              <a:t>.</a:t>
            </a:r>
            <a:r>
              <a:rPr>
                <a:latin typeface="Courier"/>
              </a:rPr>
              <a:t>classification</a:t>
            </a:r>
            <a:r>
              <a:rPr>
                <a:solidFill>
                  <a:srgbClr val="666666"/>
                </a:solidFill>
                <a:latin typeface="Courier"/>
              </a:rPr>
              <a:t>.</a:t>
            </a:r>
            <a:r>
              <a:rPr>
                <a:latin typeface="Courier"/>
              </a:rPr>
              <a:t>LogisticRegressionModel</a:t>
            </a:r>
            <a:br/>
            <a:r>
              <a:rPr>
                <a:solidFill>
                  <a:srgbClr val="666666"/>
                </a:solidFill>
                <a:latin typeface="Courier"/>
              </a:rPr>
              <a:t>=</a:t>
            </a:r>
            <a:r>
              <a:rPr>
                <a:latin typeface="Courier"/>
              </a:rPr>
              <a:t> LogisticRegressionModel</a:t>
            </a:r>
            <a:r>
              <a:rPr>
                <a:solidFill>
                  <a:srgbClr val="666666"/>
                </a:solidFill>
                <a:latin typeface="Courier"/>
              </a:rPr>
              <a:t>:</a:t>
            </a:r>
            <a:r>
              <a:rPr>
                <a:latin typeface="Courier"/>
              </a:rPr>
              <a:t> uid </a:t>
            </a:r>
            <a:r>
              <a:rPr>
                <a:solidFill>
                  <a:srgbClr val="666666"/>
                </a:solidFill>
                <a:latin typeface="Courier"/>
              </a:rPr>
              <a:t>=</a:t>
            </a:r>
            <a:r>
              <a:rPr>
                <a:latin typeface="Courier"/>
              </a:rPr>
              <a:t> logreg_20733c862f55</a:t>
            </a:r>
            <a:r>
              <a:rPr>
                <a:solidFill>
                  <a:srgbClr val="666666"/>
                </a:solidFill>
                <a:latin typeface="Courier"/>
              </a:rPr>
              <a:t>,</a:t>
            </a:r>
            <a:r>
              <a:rPr>
                <a:latin typeface="Courier"/>
              </a:rPr>
              <a:t> numClasses </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numFeatures </a:t>
            </a:r>
            <a:r>
              <a:rPr>
                <a:solidFill>
                  <a:srgbClr val="666666"/>
                </a:solidFill>
                <a:latin typeface="Courier"/>
              </a:rPr>
              <a:t>=</a:t>
            </a:r>
            <a:r>
              <a:rPr>
                <a:latin typeface="Courier"/>
              </a:rPr>
              <a:t> </a:t>
            </a:r>
            <a:r>
              <a:rPr>
                <a:solidFill>
                  <a:srgbClr val="40A070"/>
                </a:solidFill>
                <a:latin typeface="Courier"/>
              </a:rPr>
              <a:t>1000</a:t>
            </a:r>
            <a:br/>
            <a:r>
              <a:rPr>
                <a:latin typeface="Courier"/>
              </a:rPr>
              <a:t>scala</a:t>
            </a:r>
            <a:r>
              <a:rPr>
                <a:solidFill>
                  <a:srgbClr val="666666"/>
                </a:solidFill>
                <a:latin typeface="Courier"/>
              </a:rPr>
              <a:t>&gt;</a:t>
            </a:r>
            <a:r>
              <a:rPr>
                <a:latin typeface="Courier"/>
              </a:rPr>
              <a:t> </a:t>
            </a:r>
            <a:r>
              <a:rPr>
                <a:solidFill>
                  <a:srgbClr val="06287E"/>
                </a:solidFill>
                <a:latin typeface="Courier"/>
              </a:rPr>
              <a:t>println</a:t>
            </a:r>
            <a:r>
              <a:rPr>
                <a:solidFill>
                  <a:srgbClr val="666666"/>
                </a:solidFill>
                <a:latin typeface="Courier"/>
              </a:rPr>
              <a:t>(</a:t>
            </a:r>
            <a:r>
              <a:rPr>
                <a:solidFill>
                  <a:srgbClr val="4070A0"/>
                </a:solidFill>
                <a:latin typeface="Courier"/>
              </a:rPr>
              <a:t>"Model 2 was fit using parameters: "</a:t>
            </a:r>
            <a:r>
              <a:rPr>
                <a:latin typeface="Courier"/>
              </a:rPr>
              <a:t> </a:t>
            </a:r>
            <a:r>
              <a:rPr>
                <a:solidFill>
                  <a:srgbClr val="666666"/>
                </a:solidFill>
                <a:latin typeface="Courier"/>
              </a:rPr>
              <a:t>+</a:t>
            </a:r>
            <a:br/>
            <a:r>
              <a:rPr>
                <a:latin typeface="Courier"/>
              </a:rPr>
              <a:t>logRegModel</a:t>
            </a:r>
            <a:r>
              <a:rPr>
                <a:solidFill>
                  <a:srgbClr val="666666"/>
                </a:solidFill>
                <a:latin typeface="Courier"/>
              </a:rPr>
              <a:t>.</a:t>
            </a:r>
            <a:r>
              <a:rPr>
                <a:latin typeface="Courier"/>
              </a:rPr>
              <a:t>extractParamMap</a:t>
            </a:r>
            <a:r>
              <a:rPr>
                <a:solidFill>
                  <a:srgbClr val="666666"/>
                </a:solidFill>
                <a:latin typeface="Courier"/>
              </a:rPr>
              <a:t>)</a:t>
            </a:r>
            <a:br/>
            <a:r>
              <a:rPr>
                <a:latin typeface="Courier"/>
              </a:rPr>
              <a:t>Model </a:t>
            </a:r>
            <a:r>
              <a:rPr>
                <a:solidFill>
                  <a:srgbClr val="40A070"/>
                </a:solidFill>
                <a:latin typeface="Courier"/>
              </a:rPr>
              <a:t>2</a:t>
            </a:r>
            <a:r>
              <a:rPr>
                <a:latin typeface="Courier"/>
              </a:rPr>
              <a:t> was fit using parameters</a:t>
            </a:r>
            <a:r>
              <a:rPr>
                <a:solidFill>
                  <a:srgbClr val="666666"/>
                </a:solidFill>
                <a:latin typeface="Courier"/>
              </a:rPr>
              <a:t>:</a:t>
            </a:r>
            <a:r>
              <a:rPr>
                <a:latin typeface="Courier"/>
              </a:rPr>
              <a:t> </a:t>
            </a:r>
            <a:r>
              <a:rPr>
                <a:solidFill>
                  <a:srgbClr val="666666"/>
                </a:solidFill>
                <a:latin typeface="Courier"/>
              </a:rPr>
              <a:t>{</a:t>
            </a:r>
            <a:br/>
            <a:r>
              <a:rPr>
                <a:latin typeface="Courier"/>
              </a:rPr>
              <a:t>logreg_20733c862f55</a:t>
            </a:r>
            <a:r>
              <a:rPr>
                <a:solidFill>
                  <a:srgbClr val="666666"/>
                </a:solidFill>
                <a:latin typeface="Courier"/>
              </a:rPr>
              <a:t>-</a:t>
            </a:r>
            <a:r>
              <a:rPr>
                <a:latin typeface="Courier"/>
              </a:rPr>
              <a:t>aggregationDepth</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i="1">
                <a:solidFill>
                  <a:srgbClr val="60A0B0"/>
                </a:solidFill>
                <a:latin typeface="Courier"/>
              </a:rPr>
              <a:t>//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管道：图示（1）</a:t>
            </a:r>
          </a:p>
        </p:txBody>
      </p:sp>
      <p:pic>
        <p:nvPicPr>
          <p:cNvPr descr="../../md/media/07_machine_learning/media/image8.jpeg" id="0" name="Picture 1"/>
          <p:cNvPicPr>
            <a:picLocks noGrp="1" noChangeAspect="1"/>
          </p:cNvPicPr>
          <p:nvPr/>
        </p:nvPicPr>
        <p:blipFill>
          <a:blip r:embed="rId3"/>
          <a:stretch>
            <a:fillRect/>
          </a:stretch>
        </p:blipFill>
        <p:spPr bwMode="auto">
          <a:xfrm>
            <a:off x="838200" y="2387600"/>
            <a:ext cx="10515600" cy="26797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L Pipeline Example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7.7.2 Spark 管道：图示（2）</a:t>
            </a:r>
          </a:p>
        </p:txBody>
      </p:sp>
      <p:pic>
        <p:nvPicPr>
          <p:cNvPr descr="../../md/media/07_machine_learning/media/image9.jpeg" id="0" name="Picture 1"/>
          <p:cNvPicPr>
            <a:picLocks noGrp="1" noChangeAspect="1"/>
          </p:cNvPicPr>
          <p:nvPr/>
        </p:nvPicPr>
        <p:blipFill>
          <a:blip r:embed="rId3"/>
          <a:stretch>
            <a:fillRect/>
          </a:stretch>
        </p:blipFill>
        <p:spPr bwMode="auto">
          <a:xfrm>
            <a:off x="838200" y="2247900"/>
            <a:ext cx="10515600" cy="29591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L PipelineModel Example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7.7.3 模型选择（1/2）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更常见的是把整条 Pipeline 当成一个整体来优化</a:t>
            </a:r>
          </a:p>
          <a:p>
            <a:pPr lvl="0"/>
            <a:r>
              <a:rPr/>
              <a:t>把这些组件组合起来后，整体流程可以概括为</a:t>
            </a:r>
          </a:p>
          <a:p>
            <a:pPr lvl="0"/>
            <a:r>
              <a:rPr/>
              <a:t>（1）将输入的数据按照一定的比例和方法分成独立的训练和测试数据集</a:t>
            </a:r>
          </a:p>
          <a:p>
            <a:pPr lvl="0"/>
            <a:r>
              <a:rPr/>
              <a:t>（2）对于每个训练数据和测试数据的组合</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7.7.3 模型选择（2/2）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（3）然后选择性能最佳的参数组产生最终的模型</a:t>
            </a:r>
          </a:p>
          <a:p>
            <a:pPr lvl="0"/>
            <a:r>
              <a:rPr/>
              <a:t>针对回归问题，评估器可以选择RegressionEvaluator</a:t>
            </a:r>
          </a:p>
          <a:p>
            <a:pPr lvl="0"/>
            <a:r>
              <a:rPr/>
              <a:t>针对二元分类问题</a:t>
            </a:r>
          </a:p>
          <a:p>
            <a:pPr lvl="0"/>
            <a:r>
              <a:rPr/>
              <a:t>默认度量指标可以由评估器中的setMetricName方法设置</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2026-04-05T02:25:28Z</dcterms:created>
  <dcterms:modified xsi:type="dcterms:W3CDTF">2026-04-05T02:25:28Z</dcterms:modified>
</cp:coreProperties>
</file>

<file path=docProps/custom.xml><?xml version="1.0" encoding="utf-8"?>
<Properties xmlns="http://schemas.openxmlformats.org/officeDocument/2006/custom-properties" xmlns:vt="http://schemas.openxmlformats.org/officeDocument/2006/docPropsVTypes"/>
</file>