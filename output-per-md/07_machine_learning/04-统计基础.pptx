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notesMaster" Target="notesMasters/notesMaster1.xml" /><Relationship Id="rId18" Type="http://schemas.openxmlformats.org/officeDocument/2006/relationships/tableStyles" Target="tableStyles.xml" /><Relationship Id="rId1" Type="http://schemas.openxmlformats.org/officeDocument/2006/relationships/slideMaster" Target="slideMasters/slideMaster1.xml" /><Relationship Id="rId17" Type="http://schemas.openxmlformats.org/officeDocument/2006/relationships/theme" Target="theme/theme1.xml" /><Relationship Id="rId16" Type="http://schemas.openxmlformats.org/officeDocument/2006/relationships/viewProps" Target="viewProps.xml" /><Relationship Id="rId15"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给定一个数据集，数据分析师一般会先观察一下数据集的基本情况，称之为汇总统计或者概要性统计。一般的概要性统计用于概括一系列观测值，包括位置或集中趋势（比如算术平均值、中位数、众数和四分位均值），展型（比如四分位间距、绝对偏差和绝对距离偏差、各阶矩等），统计离差，分布的形状，依赖性等。 接下来会依次看 统计基础、相关分析，以及 假设检验，后面的实现和案例都会沿着这条线继续展开。</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这一页先把 7.4 统计基础 的主线串起来，重点包括 统计基础、相关分析、假设检验，以及 摘要统计。先知道每一步要解决什么问题，后面的细节就更容易跟住。</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这一页会把 计算两个系列数据之间的相关性是统计中的常见操作、代码 7‑30 和 皮尔逊相关系数(Pearson’s correlation 串成一条完整流程。讲的时候重点说明每一步接在前一步后面，分别解决了什么问题。</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这一页会把 当一个变量增大，另一个变量也增大时，表明它之间是正相关的，相关系数大于0、如果一个变量增大，另一个变量却减小，表明它之间是负相关的，相关系数小于0 和 如果相关系数等于0，表明它们之间不存在线性相关关系 串成一条完整流程。讲的时候重点说明每一步接在前一步后面，分别解决了什么问题。</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皮尔逊相关系数评估两个连续变量之间的线性关系。当一个变量的变化与另一变量的比例变化相关时，关系是线性的。例如，可能使用皮尔逊相关系数来评估生产设备温度的升高是否与巧克力涂层厚度的降低有关。</a:t>
            </a:r>
          </a:p>
        </p:txBody>
      </p:sp>
      <p:sp>
        <p:nvSpPr>
          <p:cNvPr id="4" name="Slide Number Placeholder 3"/>
          <p:cNvSpPr>
            <a:spLocks noGrp="1"/>
          </p:cNvSpPr>
          <p:nvPr>
            <p:ph type="sldNum" sz="quarter" idx="10"/>
          </p:nvPr>
        </p:nvSpPr>
        <p:spPr/>
        <p:txBody>
          <a:bodyPr/>
          <a:lstStyle/>
          <a:p>
            <a:fld id="{DE9B7EA9-A690-144F-BA16-8B1F010DDC74}"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斯皮尔曼相关系数评估两个连续变量之间的单调关系。单调关系中，变量趋于一起变化，但不一定以恒定速率变化。斯皮尔曼相关系数评估两个连续或有序变量之间的单调关系。</a:t>
            </a:r>
          </a:p>
        </p:txBody>
      </p:sp>
      <p:sp>
        <p:nvSpPr>
          <p:cNvPr id="4" name="Slide Number Placeholder 3"/>
          <p:cNvSpPr>
            <a:spLocks noGrp="1"/>
          </p:cNvSpPr>
          <p:nvPr>
            <p:ph type="sldNum" sz="quarter" idx="10"/>
          </p:nvPr>
        </p:nvSpPr>
        <p:spPr/>
        <p:txBody>
          <a:bodyPr/>
          <a:lstStyle/>
          <a:p>
            <a:fld id="{DE9B7EA9-A690-144F-BA16-8B1F010DDC74}"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用来确定一个结果是否具有统计显着性，这个结果是否偶然发生。spark.ml目前支持皮尔森卡方检验（ x 的平方 ）独立性测试。ChiSquareTest针对标签上的每个特征进行皮尔逊独立性测试。</a:t>
            </a:r>
          </a:p>
          <a:p>
            <a:pPr lvl="0" indent="0" marL="0">
              <a:buNone/>
            </a:pPr>
          </a:p>
          <a:p>
            <a:pPr lvl="0" indent="0" marL="0">
              <a:buNone/>
            </a:pPr>
            <a:r>
              <a:rPr/>
              <a:t>实际观测值与理论推断值之间的偏离程度就决定卡方值的大小，卡方值越大，越不符合。</a:t>
            </a:r>
          </a:p>
        </p:txBody>
      </p:sp>
      <p:sp>
        <p:nvSpPr>
          <p:cNvPr id="4" name="Slide Number Placeholder 3"/>
          <p:cNvSpPr>
            <a:spLocks noGrp="1"/>
          </p:cNvSpPr>
          <p:nvPr>
            <p:ph type="sldNum" sz="quarter" idx="10"/>
          </p:nvPr>
        </p:nvSpPr>
        <p:spPr/>
        <p:txBody>
          <a:bodyPr/>
          <a:lstStyle/>
          <a:p>
            <a:fld id="{DE9B7EA9-A690-144F-BA16-8B1F010DDC74}"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卡方值越小，偏差越小，越趋于符合，若两个值完全相等时，卡方值就为0，表明理论值完全符合。</a:t>
            </a:r>
          </a:p>
        </p:txBody>
      </p:sp>
      <p:sp>
        <p:nvSpPr>
          <p:cNvPr id="4" name="Slide Number Placeholder 3"/>
          <p:cNvSpPr>
            <a:spLocks noGrp="1"/>
          </p:cNvSpPr>
          <p:nvPr>
            <p:ph type="sldNum" sz="quarter" idx="10"/>
          </p:nvPr>
        </p:nvSpPr>
        <p:spPr/>
        <p:txBody>
          <a:bodyPr/>
          <a:lstStyle/>
          <a:p>
            <a:fld id="{DE9B7EA9-A690-144F-BA16-8B1F010DDC74}"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这一页重点放在 Summarizer 用来对 DataFrame 的向量列做摘要统计。只要把这一步的输入、输出和作用说清楚，后面的内容就容易接上。</a:t>
            </a:r>
          </a:p>
        </p:txBody>
      </p:sp>
      <p:sp>
        <p:nvSpPr>
          <p:cNvPr id="4" name="Slide Number Placeholder 3"/>
          <p:cNvSpPr>
            <a:spLocks noGrp="1"/>
          </p:cNvSpPr>
          <p:nvPr>
            <p:ph type="sldNum" sz="quarter" idx="10"/>
          </p:nvPr>
        </p:nvSpPr>
        <p:spPr/>
        <p:txBody>
          <a:bodyPr/>
          <a:lstStyle/>
          <a:p>
            <a:fld id="{DE9B7EA9-A690-144F-BA16-8B1F010DDC74}"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12</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7.4 统计基础</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一般的概要性统计用于概括一系列观测值</a:t>
            </a:r>
          </a:p>
          <a:p>
            <a:pPr lvl="0"/>
            <a:r>
              <a:rPr/>
              <a:t>spark.mllib 的部分工具仍有参考价值，但更多属于历史接口与兼容场景</a:t>
            </a:r>
          </a:p>
          <a:p>
            <a:pPr lvl="0"/>
            <a:r>
              <a:rPr/>
              <a:t>不是“多算几个统计量”，是帮助我们尽早回答几个实际问题</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7.4 统计基础：学习路线</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统计基础</a:t>
            </a:r>
          </a:p>
          <a:p>
            <a:pPr lvl="0"/>
            <a:r>
              <a:rPr/>
              <a:t>相关分析</a:t>
            </a:r>
          </a:p>
          <a:p>
            <a:pPr lvl="0"/>
            <a:r>
              <a:rPr/>
              <a:t>假设检验</a:t>
            </a:r>
          </a:p>
          <a:p>
            <a:pPr lvl="0"/>
            <a:r>
              <a:rPr/>
              <a:t>摘要统计</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7.4.1 相关分析（1/2）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计算两个系列数据之间的相关性是统计中的常见操作</a:t>
            </a:r>
          </a:p>
          <a:p>
            <a:pPr lvl="0"/>
            <a:r>
              <a:rPr/>
              <a:t>代码 7‑30</a:t>
            </a:r>
          </a:p>
          <a:p>
            <a:pPr lvl="0"/>
            <a:r>
              <a:rPr/>
              <a:t>皮尔逊相关系数(Pearson’s correlation</a:t>
            </a:r>
          </a:p>
          <a:p>
            <a:pPr lvl="0"/>
            <a:r>
              <a:rPr/>
              <a:t>可能使用皮尔逊相关系数来评估生产设备温度的升高是否与巧克力涂层厚度的降低有关</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7.4.1 相关分析（2/2）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当一个变量增大，另一个变量也增大时，表明它之间是正相关的，相关系数大于0</a:t>
            </a:r>
          </a:p>
          <a:p>
            <a:pPr lvl="0"/>
            <a:r>
              <a:rPr/>
              <a:t>如果一个变量增大，另一个变量却减小，表明它之间是负相关的，相关系数小于0</a:t>
            </a:r>
          </a:p>
          <a:p>
            <a:pPr lvl="0"/>
            <a:r>
              <a:rPr/>
              <a:t>如果相关系数等于0，表明它们之间不存在线性相关关系</a:t>
            </a:r>
          </a:p>
          <a:p>
            <a:pPr lvl="0"/>
            <a:r>
              <a:rPr/>
              <a:t>公式 7‑4</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7.4.1 相关分析：代码片段</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用 map 把输入转换成后续要处理的结构</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linalg</a:t>
            </a:r>
            <a:r>
              <a:rPr>
                <a:solidFill>
                  <a:srgbClr val="666666"/>
                </a:solidFill>
                <a:latin typeface="Courier"/>
              </a:rPr>
              <a:t>.{</a:t>
            </a:r>
            <a:r>
              <a:rPr>
                <a:latin typeface="Courier"/>
              </a:rPr>
              <a:t>Matrix</a:t>
            </a:r>
            <a:r>
              <a:rPr>
                <a:solidFill>
                  <a:srgbClr val="666666"/>
                </a:solidFill>
                <a:latin typeface="Courier"/>
              </a:rPr>
              <a:t>,</a:t>
            </a:r>
            <a:r>
              <a:rPr>
                <a:latin typeface="Courier"/>
              </a:rPr>
              <a:t> Vectors</a:t>
            </a:r>
            <a:r>
              <a:rPr>
                <a:solidFill>
                  <a:srgbClr val="666666"/>
                </a:solidFill>
                <a:latin typeface="Courier"/>
              </a:rPr>
              <a:t>}</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linalg</a:t>
            </a:r>
            <a:r>
              <a:rPr>
                <a:solidFill>
                  <a:srgbClr val="666666"/>
                </a:solidFill>
                <a:latin typeface="Courier"/>
              </a:rPr>
              <a:t>.{</a:t>
            </a:r>
            <a:r>
              <a:rPr>
                <a:latin typeface="Courier"/>
              </a:rPr>
              <a:t>Matrix</a:t>
            </a:r>
            <a:r>
              <a:rPr>
                <a:solidFill>
                  <a:srgbClr val="666666"/>
                </a:solidFill>
                <a:latin typeface="Courier"/>
              </a:rPr>
              <a:t>,</a:t>
            </a:r>
            <a:r>
              <a:rPr>
                <a:latin typeface="Courier"/>
              </a:rPr>
              <a:t> Vectors</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stat</a:t>
            </a:r>
            <a:r>
              <a:rPr>
                <a:solidFill>
                  <a:srgbClr val="666666"/>
                </a:solidFill>
                <a:latin typeface="Courier"/>
              </a:rPr>
              <a:t>.</a:t>
            </a:r>
            <a:r>
              <a:rPr>
                <a:latin typeface="Courier"/>
              </a:rPr>
              <a:t>Correlation</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stat</a:t>
            </a:r>
            <a:r>
              <a:rPr>
                <a:solidFill>
                  <a:srgbClr val="666666"/>
                </a:solidFill>
                <a:latin typeface="Courier"/>
              </a:rPr>
              <a:t>.</a:t>
            </a:r>
            <a:r>
              <a:rPr>
                <a:latin typeface="Courier"/>
              </a:rPr>
              <a:t>Correlation</a:t>
            </a:r>
            <a:b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sql</a:t>
            </a:r>
            <a:r>
              <a:rPr>
                <a:solidFill>
                  <a:srgbClr val="666666"/>
                </a:solidFill>
                <a:latin typeface="Courier"/>
              </a:rPr>
              <a:t>.</a:t>
            </a:r>
            <a:r>
              <a:rPr>
                <a:latin typeface="Courier"/>
              </a:rPr>
              <a:t>Row</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sql</a:t>
            </a:r>
            <a:r>
              <a:rPr>
                <a:solidFill>
                  <a:srgbClr val="666666"/>
                </a:solidFill>
                <a:latin typeface="Courier"/>
              </a:rPr>
              <a:t>.</a:t>
            </a:r>
            <a:r>
              <a:rPr>
                <a:latin typeface="Courier"/>
              </a:rPr>
              <a:t>Row</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data </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br/>
            <a:r>
              <a:rPr>
                <a:solidFill>
                  <a:srgbClr val="666666"/>
                </a:solidFill>
                <a:latin typeface="Courier"/>
              </a:rPr>
              <a:t>|</a:t>
            </a:r>
            <a:r>
              <a:rPr>
                <a:latin typeface="Courier"/>
              </a:rPr>
              <a:t> Vectors</a:t>
            </a:r>
            <a:r>
              <a:rPr>
                <a:solidFill>
                  <a:srgbClr val="666666"/>
                </a:solidFill>
                <a:latin typeface="Courier"/>
              </a:rPr>
              <a:t>.</a:t>
            </a:r>
            <a:r>
              <a:rPr>
                <a:solidFill>
                  <a:srgbClr val="06287E"/>
                </a:solidFill>
                <a:latin typeface="Courier"/>
              </a:rPr>
              <a:t>sparse</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2.0</a:t>
            </a:r>
            <a:r>
              <a:rPr>
                <a:solidFill>
                  <a:srgbClr val="666666"/>
                </a:solidFill>
                <a:latin typeface="Courier"/>
              </a:rPr>
              <a:t>))),</a:t>
            </a:r>
            <a:br/>
            <a:r>
              <a:rPr>
                <a:solidFill>
                  <a:srgbClr val="666666"/>
                </a:solidFill>
                <a:latin typeface="Courier"/>
              </a:rPr>
              <a:t>|</a:t>
            </a:r>
            <a:r>
              <a:rPr>
                <a:latin typeface="Courier"/>
              </a:rPr>
              <a:t> Vectors</a:t>
            </a:r>
            <a:r>
              <a:rPr>
                <a:solidFill>
                  <a:srgbClr val="666666"/>
                </a:solidFill>
                <a:latin typeface="Courier"/>
              </a:rPr>
              <a:t>.</a:t>
            </a:r>
            <a:r>
              <a:rPr>
                <a:solidFill>
                  <a:srgbClr val="06287E"/>
                </a:solidFill>
                <a:latin typeface="Courier"/>
              </a:rPr>
              <a:t>dense</a:t>
            </a:r>
            <a:r>
              <a:rPr>
                <a:solidFill>
                  <a:srgbClr val="666666"/>
                </a:solidFill>
                <a:latin typeface="Courier"/>
              </a:rPr>
              <a:t>(</a:t>
            </a:r>
            <a:r>
              <a:rPr>
                <a:solidFill>
                  <a:srgbClr val="40A070"/>
                </a:solidFill>
                <a:latin typeface="Courier"/>
              </a:rPr>
              <a:t>4.0</a:t>
            </a:r>
            <a:r>
              <a:rPr>
                <a:solidFill>
                  <a:srgbClr val="666666"/>
                </a:solidFill>
                <a:latin typeface="Courier"/>
              </a:rPr>
              <a:t>,</a:t>
            </a:r>
            <a:r>
              <a:rPr>
                <a:latin typeface="Courier"/>
              </a:rPr>
              <a:t> </a:t>
            </a:r>
            <a:r>
              <a:rPr>
                <a:solidFill>
                  <a:srgbClr val="40A070"/>
                </a:solidFill>
                <a:latin typeface="Courier"/>
              </a:rPr>
              <a:t>5.0</a:t>
            </a:r>
            <a:r>
              <a:rPr>
                <a:solidFill>
                  <a:srgbClr val="666666"/>
                </a:solidFill>
                <a:latin typeface="Courier"/>
              </a:rPr>
              <a:t>,</a:t>
            </a:r>
            <a:r>
              <a:rPr>
                <a:latin typeface="Courier"/>
              </a:rPr>
              <a:t> </a:t>
            </a:r>
            <a:r>
              <a:rPr>
                <a:solidFill>
                  <a:srgbClr val="40A070"/>
                </a:solidFill>
                <a:latin typeface="Courier"/>
              </a:rPr>
              <a:t>0.0</a:t>
            </a:r>
            <a:r>
              <a:rPr>
                <a:solidFill>
                  <a:srgbClr val="666666"/>
                </a:solidFill>
                <a:latin typeface="Courier"/>
              </a:rPr>
              <a:t>,</a:t>
            </a:r>
            <a:r>
              <a:rPr>
                <a:latin typeface="Courier"/>
              </a:rPr>
              <a:t> </a:t>
            </a:r>
            <a:r>
              <a:rPr>
                <a:solidFill>
                  <a:srgbClr val="40A070"/>
                </a:solidFill>
                <a:latin typeface="Courier"/>
              </a:rPr>
              <a:t>3.0</a:t>
            </a:r>
            <a:r>
              <a:rPr>
                <a:solidFill>
                  <a:srgbClr val="666666"/>
                </a:solidFill>
                <a:latin typeface="Courier"/>
              </a:rPr>
              <a:t>),</a:t>
            </a:r>
            <a:br/>
            <a:r>
              <a:rPr>
                <a:solidFill>
                  <a:srgbClr val="666666"/>
                </a:solidFill>
                <a:latin typeface="Courier"/>
              </a:rPr>
              <a:t>|</a:t>
            </a:r>
            <a:r>
              <a:rPr>
                <a:latin typeface="Courier"/>
              </a:rPr>
              <a:t> Vectors</a:t>
            </a:r>
            <a:r>
              <a:rPr>
                <a:solidFill>
                  <a:srgbClr val="666666"/>
                </a:solidFill>
                <a:latin typeface="Courier"/>
              </a:rPr>
              <a:t>.</a:t>
            </a:r>
            <a:r>
              <a:rPr>
                <a:solidFill>
                  <a:srgbClr val="06287E"/>
                </a:solidFill>
                <a:latin typeface="Courier"/>
              </a:rPr>
              <a:t>dense</a:t>
            </a:r>
            <a:r>
              <a:rPr>
                <a:solidFill>
                  <a:srgbClr val="666666"/>
                </a:solidFill>
                <a:latin typeface="Courier"/>
              </a:rPr>
              <a:t>(</a:t>
            </a:r>
            <a:r>
              <a:rPr>
                <a:solidFill>
                  <a:srgbClr val="40A070"/>
                </a:solidFill>
                <a:latin typeface="Courier"/>
              </a:rPr>
              <a:t>6.0</a:t>
            </a:r>
            <a:r>
              <a:rPr>
                <a:solidFill>
                  <a:srgbClr val="666666"/>
                </a:solidFill>
                <a:latin typeface="Courier"/>
              </a:rPr>
              <a:t>,</a:t>
            </a:r>
            <a:r>
              <a:rPr>
                <a:latin typeface="Courier"/>
              </a:rPr>
              <a:t> </a:t>
            </a:r>
            <a:r>
              <a:rPr>
                <a:solidFill>
                  <a:srgbClr val="40A070"/>
                </a:solidFill>
                <a:latin typeface="Courier"/>
              </a:rPr>
              <a:t>7.0</a:t>
            </a:r>
            <a:r>
              <a:rPr>
                <a:solidFill>
                  <a:srgbClr val="666666"/>
                </a:solidFill>
                <a:latin typeface="Courier"/>
              </a:rPr>
              <a:t>,</a:t>
            </a:r>
            <a:r>
              <a:rPr>
                <a:latin typeface="Courier"/>
              </a:rPr>
              <a:t> </a:t>
            </a:r>
            <a:r>
              <a:rPr>
                <a:solidFill>
                  <a:srgbClr val="40A070"/>
                </a:solidFill>
                <a:latin typeface="Courier"/>
              </a:rPr>
              <a:t>0.0</a:t>
            </a:r>
            <a:r>
              <a:rPr>
                <a:solidFill>
                  <a:srgbClr val="666666"/>
                </a:solidFill>
                <a:latin typeface="Courier"/>
              </a:rPr>
              <a:t>,</a:t>
            </a:r>
            <a:r>
              <a:rPr>
                <a:latin typeface="Courier"/>
              </a:rPr>
              <a:t> </a:t>
            </a:r>
            <a:r>
              <a:rPr>
                <a:solidFill>
                  <a:srgbClr val="40A070"/>
                </a:solidFill>
                <a:latin typeface="Courier"/>
              </a:rPr>
              <a:t>8.0</a:t>
            </a:r>
            <a:r>
              <a:rPr>
                <a:solidFill>
                  <a:srgbClr val="666666"/>
                </a:solidFill>
                <a:latin typeface="Courier"/>
              </a:rPr>
              <a:t>),</a:t>
            </a:r>
            <a:br/>
            <a:r>
              <a:rPr>
                <a:solidFill>
                  <a:srgbClr val="666666"/>
                </a:solidFill>
                <a:latin typeface="Courier"/>
              </a:rPr>
              <a:t>|</a:t>
            </a:r>
            <a:r>
              <a:rPr>
                <a:latin typeface="Courier"/>
              </a:rPr>
              <a:t> Vectors</a:t>
            </a:r>
            <a:r>
              <a:rPr>
                <a:solidFill>
                  <a:srgbClr val="666666"/>
                </a:solidFill>
                <a:latin typeface="Courier"/>
              </a:rPr>
              <a:t>.</a:t>
            </a:r>
            <a:r>
              <a:rPr>
                <a:solidFill>
                  <a:srgbClr val="06287E"/>
                </a:solidFill>
                <a:latin typeface="Courier"/>
              </a:rPr>
              <a:t>sparse</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 </a:t>
            </a:r>
            <a:r>
              <a:rPr>
                <a:solidFill>
                  <a:srgbClr val="40A070"/>
                </a:solidFill>
                <a:latin typeface="Courier"/>
              </a:rPr>
              <a:t>9.0</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i="1">
                <a:solidFill>
                  <a:srgbClr val="60A0B0"/>
                </a:solidFill>
                <a:latin typeface="Courier"/>
              </a:rPr>
              <a:t>// ...</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相关分析：可能使用皮尔逊相关系数来评估生产设备温度的升高是否</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indent="0" marL="0">
                  <a:buNone/>
                </a:pPr>
                <a14:m>
                  <m:oMathPara xmlns:m="http://schemas.openxmlformats.org/officeDocument/2006/math">
                    <m:oMathParaPr>
                      <m:jc m:val="center"/>
                    </m:oMathParaPr>
                    <m:oMath>
                      <m:sSub>
                        <m:e>
                          <m:r>
                            <m:t>ρ</m:t>
                          </m:r>
                        </m:e>
                        <m:sub>
                          <m:r>
                            <m:t>X</m:t>
                          </m:r>
                          <m:r>
                            <m:rPr>
                              <m:sty m:val="p"/>
                            </m:rPr>
                            <m:t>,</m:t>
                          </m:r>
                          <m:r>
                            <m:t>Y</m:t>
                          </m:r>
                        </m:sub>
                      </m:sSub>
                      <m:r>
                        <m:rPr>
                          <m:sty m:val="p"/>
                        </m:rPr>
                        <m:t>=</m:t>
                      </m:r>
                      <m:f>
                        <m:fPr>
                          <m:type m:val="bar"/>
                        </m:fPr>
                        <m:num>
                          <m:r>
                            <m:rPr>
                              <m:nor/>
                              <m:sty m:val="p"/>
                            </m:rPr>
                            <m:t>cov</m:t>
                          </m:r>
                          <m:r>
                            <m:rPr>
                              <m:sty m:val="p"/>
                            </m:rPr>
                            <m:t>(</m:t>
                          </m:r>
                          <m:r>
                            <m:t>X</m:t>
                          </m:r>
                          <m:r>
                            <m:rPr>
                              <m:sty m:val="p"/>
                            </m:rPr>
                            <m:t>,</m:t>
                          </m:r>
                          <m:r>
                            <m:t>Y</m:t>
                          </m:r>
                          <m:r>
                            <m:rPr>
                              <m:sty m:val="p"/>
                            </m:rPr>
                            <m:t>)</m:t>
                          </m:r>
                        </m:num>
                        <m:den>
                          <m:sSub>
                            <m:e>
                              <m:r>
                                <m:t>σ</m:t>
                              </m:r>
                            </m:e>
                            <m:sub>
                              <m:r>
                                <m:t>X</m:t>
                              </m:r>
                            </m:sub>
                          </m:sSub>
                          <m:sSub>
                            <m:e>
                              <m:r>
                                <m:t>σ</m:t>
                              </m:r>
                            </m:e>
                            <m:sub>
                              <m:r>
                                <m:t>Y</m:t>
                              </m:r>
                            </m:sub>
                          </m:sSub>
                        </m:den>
                      </m:f>
                    </m:oMath>
                  </m:oMathPara>
                </a14:m>
              </a:p>
            </p:txBody>
          </p:sp>
        </mc:Choice>
      </mc:AlternateContent>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相关分析：斯皮尔曼相关系数基于每个变量的排名值</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斯皮尔曼相关系数通常用于评估涉及序数变量的关系</a:t>
                </a:r>
              </a:p>
              <a:p>
                <a:pPr lvl="0" indent="0" marL="0">
                  <a:buNone/>
                </a:pPr>
                <a14:m>
                  <m:oMathPara xmlns:m="http://schemas.openxmlformats.org/officeDocument/2006/math">
                    <m:oMathParaPr>
                      <m:jc m:val="center"/>
                    </m:oMathParaPr>
                    <m:oMath>
                      <m:sSub>
                        <m:e>
                          <m:r>
                            <m:t>r</m:t>
                          </m:r>
                        </m:e>
                        <m:sub>
                          <m:r>
                            <m:t>s</m:t>
                          </m:r>
                        </m:sub>
                      </m:sSub>
                      <m:r>
                        <m:rPr>
                          <m:sty m:val="p"/>
                        </m:rPr>
                        <m:t>=</m:t>
                      </m:r>
                      <m:sSub>
                        <m:e>
                          <m:r>
                            <m:t>ρ</m:t>
                          </m:r>
                        </m:e>
                        <m:sub>
                          <m:sSub>
                            <m:e>
                              <m:r>
                                <m:rPr>
                                  <m:nor/>
                                  <m:sty m:val="p"/>
                                </m:rPr>
                                <m:t>rg</m:t>
                              </m:r>
                            </m:e>
                            <m:sub>
                              <m:r>
                                <m:t>X</m:t>
                              </m:r>
                            </m:sub>
                          </m:sSub>
                          <m:r>
                            <m:rPr>
                              <m:sty m:val="p"/>
                            </m:rPr>
                            <m:t>,</m:t>
                          </m:r>
                          <m:sSub>
                            <m:e>
                              <m:r>
                                <m:rPr>
                                  <m:nor/>
                                  <m:sty m:val="p"/>
                                </m:rPr>
                                <m:t>rg</m:t>
                              </m:r>
                            </m:e>
                            <m:sub>
                              <m:r>
                                <m:t>Y</m:t>
                              </m:r>
                            </m:sub>
                          </m:sSub>
                        </m:sub>
                      </m:sSub>
                      <m:r>
                        <m:rPr>
                          <m:sty m:val="p"/>
                        </m:rPr>
                        <m:t>=</m:t>
                      </m:r>
                      <m:f>
                        <m:fPr>
                          <m:type m:val="bar"/>
                        </m:fPr>
                        <m:num>
                          <m:r>
                            <m:rPr>
                              <m:nor/>
                              <m:sty m:val="p"/>
                            </m:rPr>
                            <m:t>cov</m:t>
                          </m:r>
                          <m:r>
                            <m:rPr>
                              <m:sty m:val="p"/>
                            </m:rPr>
                            <m:t>(</m:t>
                          </m:r>
                          <m:sSub>
                            <m:e>
                              <m:r>
                                <m:rPr>
                                  <m:nor/>
                                  <m:sty m:val="p"/>
                                </m:rPr>
                                <m:t>rg</m:t>
                              </m:r>
                            </m:e>
                            <m:sub>
                              <m:r>
                                <m:t>X</m:t>
                              </m:r>
                            </m:sub>
                          </m:sSub>
                          <m:r>
                            <m:rPr>
                              <m:sty m:val="p"/>
                            </m:rPr>
                            <m:t>,</m:t>
                          </m:r>
                          <m:sSub>
                            <m:e>
                              <m:r>
                                <m:rPr>
                                  <m:nor/>
                                  <m:sty m:val="p"/>
                                </m:rPr>
                                <m:t>rg</m:t>
                              </m:r>
                            </m:e>
                            <m:sub>
                              <m:r>
                                <m:t>Y</m:t>
                              </m:r>
                            </m:sub>
                          </m:sSub>
                          <m:r>
                            <m:rPr>
                              <m:sty m:val="p"/>
                            </m:rPr>
                            <m:t>)</m:t>
                          </m:r>
                        </m:num>
                        <m:den>
                          <m:sSub>
                            <m:e>
                              <m:r>
                                <m:t>σ</m:t>
                              </m:r>
                            </m:e>
                            <m:sub>
                              <m:sSub>
                                <m:e>
                                  <m:r>
                                    <m:rPr>
                                      <m:nor/>
                                      <m:sty m:val="p"/>
                                    </m:rPr>
                                    <m:t>rg</m:t>
                                  </m:r>
                                </m:e>
                                <m:sub>
                                  <m:r>
                                    <m:t>X</m:t>
                                  </m:r>
                                </m:sub>
                              </m:sSub>
                            </m:sub>
                          </m:sSub>
                          <m:sSub>
                            <m:e>
                              <m:r>
                                <m:t>σ</m:t>
                              </m:r>
                            </m:e>
                            <m:sub>
                              <m:sSub>
                                <m:e>
                                  <m:r>
                                    <m:rPr>
                                      <m:nor/>
                                      <m:sty m:val="p"/>
                                    </m:rPr>
                                    <m:t>rg</m:t>
                                  </m:r>
                                </m:e>
                                <m:sub>
                                  <m:r>
                                    <m:t>Y</m:t>
                                  </m:r>
                                </m:sub>
                              </m:sSub>
                            </m:sub>
                          </m:sSub>
                        </m:den>
                      </m:f>
                    </m:oMath>
                  </m:oMathPara>
                </a14:m>
              </a:p>
            </p:txBody>
          </p:sp>
        </mc:Choice>
      </mc:AlternateContent>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7.4.2 假设检验（1/2）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假设检验是统计学中一个强大的工具</a:t>
            </a:r>
          </a:p>
          <a:p>
            <a:pPr lvl="0"/>
            <a:r>
              <a:rPr/>
              <a:t>代码 7‑31</a:t>
            </a:r>
          </a:p>
          <a:p>
            <a:pPr lvl="0"/>
            <a:r>
              <a:rPr/>
              <a:t>卡方检验就是统计样本的实际观测值与理论推断值之间的偏离程度</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7.4.2 假设检验（2/2）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卡方检验是以χ2分布为基础的一种常用假设检验方法，它的无效假</a:t>
            </a:r>
          </a:p>
          <a:p>
            <a:pPr lvl="0"/>
            <a:r>
              <a:rPr/>
              <a:t>否则就不能拒绝无效假设，尚不能认为样本所代表的实际情况和理论假设有差别</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7.4.2 假设检验：代码片段</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假设检验是统计学中一个强大的工具</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linalg</a:t>
            </a:r>
            <a:r>
              <a:rPr>
                <a:solidFill>
                  <a:srgbClr val="666666"/>
                </a:solidFill>
                <a:latin typeface="Courier"/>
              </a:rPr>
              <a:t>.{</a:t>
            </a:r>
            <a:r>
              <a:rPr>
                <a:latin typeface="Courier"/>
              </a:rPr>
              <a:t>Vector</a:t>
            </a:r>
            <a:r>
              <a:rPr>
                <a:solidFill>
                  <a:srgbClr val="666666"/>
                </a:solidFill>
                <a:latin typeface="Courier"/>
              </a:rPr>
              <a:t>,</a:t>
            </a:r>
            <a:r>
              <a:rPr>
                <a:latin typeface="Courier"/>
              </a:rPr>
              <a:t> Vectors</a:t>
            </a:r>
            <a:r>
              <a:rPr>
                <a:solidFill>
                  <a:srgbClr val="666666"/>
                </a:solidFill>
                <a:latin typeface="Courier"/>
              </a:rPr>
              <a:t>}</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linalg</a:t>
            </a:r>
            <a:r>
              <a:rPr>
                <a:solidFill>
                  <a:srgbClr val="666666"/>
                </a:solidFill>
                <a:latin typeface="Courier"/>
              </a:rPr>
              <a:t>.{</a:t>
            </a:r>
            <a:r>
              <a:rPr>
                <a:latin typeface="Courier"/>
              </a:rPr>
              <a:t>Vector</a:t>
            </a:r>
            <a:r>
              <a:rPr>
                <a:solidFill>
                  <a:srgbClr val="666666"/>
                </a:solidFill>
                <a:latin typeface="Courier"/>
              </a:rPr>
              <a:t>,</a:t>
            </a:r>
            <a:r>
              <a:rPr>
                <a:latin typeface="Courier"/>
              </a:rPr>
              <a:t> Vectors</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stat</a:t>
            </a:r>
            <a:r>
              <a:rPr>
                <a:solidFill>
                  <a:srgbClr val="666666"/>
                </a:solidFill>
                <a:latin typeface="Courier"/>
              </a:rPr>
              <a:t>.</a:t>
            </a:r>
            <a:r>
              <a:rPr>
                <a:latin typeface="Courier"/>
              </a:rPr>
              <a:t>ChiSquareTest</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stat</a:t>
            </a:r>
            <a:r>
              <a:rPr>
                <a:solidFill>
                  <a:srgbClr val="666666"/>
                </a:solidFill>
                <a:latin typeface="Courier"/>
              </a:rPr>
              <a:t>.</a:t>
            </a:r>
            <a:r>
              <a:rPr>
                <a:latin typeface="Courier"/>
              </a:rPr>
              <a:t>ChiSquareTest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data </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0.0</a:t>
            </a:r>
            <a:r>
              <a:rPr>
                <a:solidFill>
                  <a:srgbClr val="666666"/>
                </a:solidFill>
                <a:latin typeface="Courier"/>
              </a:rPr>
              <a:t>,</a:t>
            </a:r>
            <a:r>
              <a:rPr>
                <a:latin typeface="Courier"/>
              </a:rPr>
              <a:t> Vectors</a:t>
            </a:r>
            <a:r>
              <a:rPr>
                <a:solidFill>
                  <a:srgbClr val="666666"/>
                </a:solidFill>
                <a:latin typeface="Courier"/>
              </a:rPr>
              <a:t>.</a:t>
            </a:r>
            <a:r>
              <a:rPr>
                <a:solidFill>
                  <a:srgbClr val="06287E"/>
                </a:solidFill>
                <a:latin typeface="Courier"/>
              </a:rPr>
              <a:t>dense</a:t>
            </a:r>
            <a:r>
              <a:rPr>
                <a:solidFill>
                  <a:srgbClr val="666666"/>
                </a:solidFill>
                <a:latin typeface="Courier"/>
              </a:rPr>
              <a:t>(</a:t>
            </a:r>
            <a:r>
              <a:rPr>
                <a:solidFill>
                  <a:srgbClr val="40A070"/>
                </a:solidFill>
                <a:latin typeface="Courier"/>
              </a:rPr>
              <a:t>0.5</a:t>
            </a:r>
            <a:r>
              <a:rPr>
                <a:solidFill>
                  <a:srgbClr val="666666"/>
                </a:solidFill>
                <a:latin typeface="Courier"/>
              </a:rPr>
              <a:t>,</a:t>
            </a:r>
            <a:r>
              <a:rPr>
                <a:latin typeface="Courier"/>
              </a:rPr>
              <a:t> </a:t>
            </a:r>
            <a:r>
              <a:rPr>
                <a:solidFill>
                  <a:srgbClr val="40A070"/>
                </a:solidFill>
                <a:latin typeface="Courier"/>
              </a:rPr>
              <a:t>10.0</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0.0</a:t>
            </a:r>
            <a:r>
              <a:rPr>
                <a:solidFill>
                  <a:srgbClr val="666666"/>
                </a:solidFill>
                <a:latin typeface="Courier"/>
              </a:rPr>
              <a:t>,</a:t>
            </a:r>
            <a:r>
              <a:rPr>
                <a:latin typeface="Courier"/>
              </a:rPr>
              <a:t> Vectors</a:t>
            </a:r>
            <a:r>
              <a:rPr>
                <a:solidFill>
                  <a:srgbClr val="666666"/>
                </a:solidFill>
                <a:latin typeface="Courier"/>
              </a:rPr>
              <a:t>.</a:t>
            </a:r>
            <a:r>
              <a:rPr>
                <a:solidFill>
                  <a:srgbClr val="06287E"/>
                </a:solidFill>
                <a:latin typeface="Courier"/>
              </a:rPr>
              <a:t>dense</a:t>
            </a:r>
            <a:r>
              <a:rPr>
                <a:solidFill>
                  <a:srgbClr val="666666"/>
                </a:solidFill>
                <a:latin typeface="Courier"/>
              </a:rPr>
              <a:t>(</a:t>
            </a:r>
            <a:r>
              <a:rPr>
                <a:solidFill>
                  <a:srgbClr val="40A070"/>
                </a:solidFill>
                <a:latin typeface="Courier"/>
              </a:rPr>
              <a:t>1.5</a:t>
            </a:r>
            <a:r>
              <a:rPr>
                <a:solidFill>
                  <a:srgbClr val="666666"/>
                </a:solidFill>
                <a:latin typeface="Courier"/>
              </a:rPr>
              <a:t>,</a:t>
            </a:r>
            <a:r>
              <a:rPr>
                <a:latin typeface="Courier"/>
              </a:rPr>
              <a:t> </a:t>
            </a:r>
            <a:r>
              <a:rPr>
                <a:solidFill>
                  <a:srgbClr val="40A070"/>
                </a:solidFill>
                <a:latin typeface="Courier"/>
              </a:rPr>
              <a:t>20.0</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1.0</a:t>
            </a:r>
            <a:r>
              <a:rPr>
                <a:solidFill>
                  <a:srgbClr val="666666"/>
                </a:solidFill>
                <a:latin typeface="Courier"/>
              </a:rPr>
              <a:t>,</a:t>
            </a:r>
            <a:r>
              <a:rPr>
                <a:latin typeface="Courier"/>
              </a:rPr>
              <a:t> Vectors</a:t>
            </a:r>
            <a:r>
              <a:rPr>
                <a:solidFill>
                  <a:srgbClr val="666666"/>
                </a:solidFill>
                <a:latin typeface="Courier"/>
              </a:rPr>
              <a:t>.</a:t>
            </a:r>
            <a:r>
              <a:rPr>
                <a:solidFill>
                  <a:srgbClr val="06287E"/>
                </a:solidFill>
                <a:latin typeface="Courier"/>
              </a:rPr>
              <a:t>dense</a:t>
            </a:r>
            <a:r>
              <a:rPr>
                <a:solidFill>
                  <a:srgbClr val="666666"/>
                </a:solidFill>
                <a:latin typeface="Courier"/>
              </a:rPr>
              <a:t>(</a:t>
            </a:r>
            <a:r>
              <a:rPr>
                <a:solidFill>
                  <a:srgbClr val="40A070"/>
                </a:solidFill>
                <a:latin typeface="Courier"/>
              </a:rPr>
              <a:t>1.5</a:t>
            </a:r>
            <a:r>
              <a:rPr>
                <a:solidFill>
                  <a:srgbClr val="666666"/>
                </a:solidFill>
                <a:latin typeface="Courier"/>
              </a:rPr>
              <a:t>,</a:t>
            </a:r>
            <a:r>
              <a:rPr>
                <a:latin typeface="Courier"/>
              </a:rPr>
              <a:t> </a:t>
            </a:r>
            <a:r>
              <a:rPr>
                <a:solidFill>
                  <a:srgbClr val="40A070"/>
                </a:solidFill>
                <a:latin typeface="Courier"/>
              </a:rPr>
              <a:t>30.0</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0.0</a:t>
            </a:r>
            <a:r>
              <a:rPr>
                <a:solidFill>
                  <a:srgbClr val="666666"/>
                </a:solidFill>
                <a:latin typeface="Courier"/>
              </a:rPr>
              <a:t>,</a:t>
            </a:r>
            <a:r>
              <a:rPr>
                <a:latin typeface="Courier"/>
              </a:rPr>
              <a:t> Vectors</a:t>
            </a:r>
            <a:r>
              <a:rPr>
                <a:solidFill>
                  <a:srgbClr val="666666"/>
                </a:solidFill>
                <a:latin typeface="Courier"/>
              </a:rPr>
              <a:t>.</a:t>
            </a:r>
            <a:r>
              <a:rPr>
                <a:solidFill>
                  <a:srgbClr val="06287E"/>
                </a:solidFill>
                <a:latin typeface="Courier"/>
              </a:rPr>
              <a:t>dense</a:t>
            </a:r>
            <a:r>
              <a:rPr>
                <a:solidFill>
                  <a:srgbClr val="666666"/>
                </a:solidFill>
                <a:latin typeface="Courier"/>
              </a:rPr>
              <a:t>(</a:t>
            </a:r>
            <a:r>
              <a:rPr>
                <a:solidFill>
                  <a:srgbClr val="40A070"/>
                </a:solidFill>
                <a:latin typeface="Courier"/>
              </a:rPr>
              <a:t>3.5</a:t>
            </a:r>
            <a:r>
              <a:rPr>
                <a:solidFill>
                  <a:srgbClr val="666666"/>
                </a:solidFill>
                <a:latin typeface="Courier"/>
              </a:rPr>
              <a:t>,</a:t>
            </a:r>
            <a:r>
              <a:rPr>
                <a:latin typeface="Courier"/>
              </a:rPr>
              <a:t> </a:t>
            </a:r>
            <a:r>
              <a:rPr>
                <a:solidFill>
                  <a:srgbClr val="40A070"/>
                </a:solidFill>
                <a:latin typeface="Courier"/>
              </a:rPr>
              <a:t>30.0</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0.0</a:t>
            </a:r>
            <a:r>
              <a:rPr>
                <a:solidFill>
                  <a:srgbClr val="666666"/>
                </a:solidFill>
                <a:latin typeface="Courier"/>
              </a:rPr>
              <a:t>,</a:t>
            </a:r>
            <a:r>
              <a:rPr>
                <a:latin typeface="Courier"/>
              </a:rPr>
              <a:t> Vectors</a:t>
            </a:r>
            <a:r>
              <a:rPr>
                <a:solidFill>
                  <a:srgbClr val="666666"/>
                </a:solidFill>
                <a:latin typeface="Courier"/>
              </a:rPr>
              <a:t>.</a:t>
            </a:r>
            <a:r>
              <a:rPr>
                <a:solidFill>
                  <a:srgbClr val="06287E"/>
                </a:solidFill>
                <a:latin typeface="Courier"/>
              </a:rPr>
              <a:t>dense</a:t>
            </a:r>
            <a:r>
              <a:rPr>
                <a:solidFill>
                  <a:srgbClr val="666666"/>
                </a:solidFill>
                <a:latin typeface="Courier"/>
              </a:rPr>
              <a:t>(</a:t>
            </a:r>
            <a:r>
              <a:rPr>
                <a:solidFill>
                  <a:srgbClr val="40A070"/>
                </a:solidFill>
                <a:latin typeface="Courier"/>
              </a:rPr>
              <a:t>3.5</a:t>
            </a:r>
            <a:r>
              <a:rPr>
                <a:solidFill>
                  <a:srgbClr val="666666"/>
                </a:solidFill>
                <a:latin typeface="Courier"/>
              </a:rPr>
              <a:t>,</a:t>
            </a:r>
            <a:r>
              <a:rPr>
                <a:latin typeface="Courier"/>
              </a:rPr>
              <a:t> </a:t>
            </a:r>
            <a:r>
              <a:rPr>
                <a:solidFill>
                  <a:srgbClr val="40A070"/>
                </a:solidFill>
                <a:latin typeface="Courier"/>
              </a:rPr>
              <a:t>40.0</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1.0</a:t>
            </a:r>
            <a:r>
              <a:rPr>
                <a:solidFill>
                  <a:srgbClr val="666666"/>
                </a:solidFill>
                <a:latin typeface="Courier"/>
              </a:rPr>
              <a:t>,</a:t>
            </a:r>
            <a:r>
              <a:rPr>
                <a:latin typeface="Courier"/>
              </a:rPr>
              <a:t> Vectors</a:t>
            </a:r>
            <a:r>
              <a:rPr>
                <a:solidFill>
                  <a:srgbClr val="666666"/>
                </a:solidFill>
                <a:latin typeface="Courier"/>
              </a:rPr>
              <a:t>.</a:t>
            </a:r>
            <a:r>
              <a:rPr>
                <a:solidFill>
                  <a:srgbClr val="06287E"/>
                </a:solidFill>
                <a:latin typeface="Courier"/>
              </a:rPr>
              <a:t>dense</a:t>
            </a:r>
            <a:r>
              <a:rPr>
                <a:solidFill>
                  <a:srgbClr val="666666"/>
                </a:solidFill>
                <a:latin typeface="Courier"/>
              </a:rPr>
              <a:t>(</a:t>
            </a:r>
            <a:r>
              <a:rPr>
                <a:solidFill>
                  <a:srgbClr val="40A070"/>
                </a:solidFill>
                <a:latin typeface="Courier"/>
              </a:rPr>
              <a:t>3.5</a:t>
            </a:r>
            <a:r>
              <a:rPr>
                <a:solidFill>
                  <a:srgbClr val="666666"/>
                </a:solidFill>
                <a:latin typeface="Courier"/>
              </a:rPr>
              <a:t>,</a:t>
            </a:r>
            <a:r>
              <a:rPr>
                <a:latin typeface="Courier"/>
              </a:rPr>
              <a:t> </a:t>
            </a:r>
            <a:r>
              <a:rPr>
                <a:solidFill>
                  <a:srgbClr val="40A070"/>
                </a:solidFill>
                <a:latin typeface="Courier"/>
              </a:rPr>
              <a:t>40.0</a:t>
            </a:r>
            <a:r>
              <a:rPr>
                <a:solidFill>
                  <a:srgbClr val="666666"/>
                </a:solidFill>
                <a:latin typeface="Courier"/>
              </a:rPr>
              <a:t>))</a:t>
            </a:r>
            <a:br/>
            <a:r>
              <a:rPr i="1">
                <a:solidFill>
                  <a:srgbClr val="60A0B0"/>
                </a:solidFill>
                <a:latin typeface="Courier"/>
              </a:rPr>
              <a:t>//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7.4.3 摘要统计</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Summarizer 用来对 DataFrame 的向量列做摘要统计</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7.4.3 摘要统计：代码片段</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在 spark.ml 中</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linalg</a:t>
            </a:r>
            <a:r>
              <a:rPr>
                <a:solidFill>
                  <a:srgbClr val="666666"/>
                </a:solidFill>
                <a:latin typeface="Courier"/>
              </a:rPr>
              <a:t>.{</a:t>
            </a:r>
            <a:r>
              <a:rPr>
                <a:latin typeface="Courier"/>
              </a:rPr>
              <a:t>Vector</a:t>
            </a:r>
            <a:r>
              <a:rPr>
                <a:solidFill>
                  <a:srgbClr val="666666"/>
                </a:solidFill>
                <a:latin typeface="Courier"/>
              </a:rPr>
              <a:t>,</a:t>
            </a:r>
            <a:r>
              <a:rPr>
                <a:latin typeface="Courier"/>
              </a:rPr>
              <a:t> Vectors</a:t>
            </a:r>
            <a:r>
              <a:rPr>
                <a:solidFill>
                  <a:srgbClr val="666666"/>
                </a:solidFill>
                <a:latin typeface="Courier"/>
              </a:rPr>
              <a:t>}</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linalg</a:t>
            </a:r>
            <a:r>
              <a:rPr>
                <a:solidFill>
                  <a:srgbClr val="666666"/>
                </a:solidFill>
                <a:latin typeface="Courier"/>
              </a:rPr>
              <a:t>.{</a:t>
            </a:r>
            <a:r>
              <a:rPr>
                <a:latin typeface="Courier"/>
              </a:rPr>
              <a:t>Vector</a:t>
            </a:r>
            <a:r>
              <a:rPr>
                <a:solidFill>
                  <a:srgbClr val="666666"/>
                </a:solidFill>
                <a:latin typeface="Courier"/>
              </a:rPr>
              <a:t>,</a:t>
            </a:r>
            <a:r>
              <a:rPr>
                <a:latin typeface="Courier"/>
              </a:rPr>
              <a:t> Vectors</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stat</a:t>
            </a:r>
            <a:r>
              <a:rPr>
                <a:solidFill>
                  <a:srgbClr val="666666"/>
                </a:solidFill>
                <a:latin typeface="Courier"/>
              </a:rPr>
              <a:t>.</a:t>
            </a:r>
            <a:r>
              <a:rPr>
                <a:latin typeface="Courier"/>
              </a:rPr>
              <a:t>Summarizer</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stat</a:t>
            </a:r>
            <a:r>
              <a:rPr>
                <a:solidFill>
                  <a:srgbClr val="666666"/>
                </a:solidFill>
                <a:latin typeface="Courier"/>
              </a:rPr>
              <a:t>.</a:t>
            </a:r>
            <a:r>
              <a:rPr>
                <a:latin typeface="Courier"/>
              </a:rPr>
              <a:t>Summarizer</a:t>
            </a:r>
            <a:b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spark</a:t>
            </a:r>
            <a:r>
              <a:rPr>
                <a:solidFill>
                  <a:srgbClr val="666666"/>
                </a:solidFill>
                <a:latin typeface="Courier"/>
              </a:rPr>
              <a:t>.</a:t>
            </a:r>
            <a:r>
              <a:rPr>
                <a:latin typeface="Courier"/>
              </a:rPr>
              <a:t>implicits</a:t>
            </a:r>
            <a:r>
              <a:rPr>
                <a:solidFill>
                  <a:srgbClr val="666666"/>
                </a:solidFill>
                <a:latin typeface="Courier"/>
              </a:rPr>
              <a:t>.</a:t>
            </a:r>
            <a:r>
              <a:rPr>
                <a:latin typeface="Courier"/>
              </a:rPr>
              <a:t>_</a:t>
            </a:r>
            <a:br/>
            <a:r>
              <a:rPr b="1">
                <a:solidFill>
                  <a:srgbClr val="007020"/>
                </a:solidFill>
                <a:latin typeface="Courier"/>
              </a:rPr>
              <a:t>import</a:t>
            </a:r>
            <a:r>
              <a:rPr>
                <a:latin typeface="Courier"/>
              </a:rPr>
              <a:t> spark</a:t>
            </a:r>
            <a:r>
              <a:rPr>
                <a:solidFill>
                  <a:srgbClr val="666666"/>
                </a:solidFill>
                <a:latin typeface="Courier"/>
              </a:rPr>
              <a:t>.</a:t>
            </a:r>
            <a:r>
              <a:rPr>
                <a:latin typeface="Courier"/>
              </a:rPr>
              <a:t>implicits</a:t>
            </a:r>
            <a:r>
              <a:rPr>
                <a:solidFill>
                  <a:srgbClr val="666666"/>
                </a:solidFill>
                <a:latin typeface="Courier"/>
              </a:rPr>
              <a:t>.</a:t>
            </a:r>
            <a:r>
              <a:rPr>
                <a:latin typeface="Courier"/>
              </a:rPr>
              <a:t>_</a:t>
            </a:r>
            <a:b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Summarizer</a:t>
            </a:r>
            <a:r>
              <a:rPr>
                <a:solidFill>
                  <a:srgbClr val="666666"/>
                </a:solidFill>
                <a:latin typeface="Courier"/>
              </a:rPr>
              <a:t>.</a:t>
            </a:r>
            <a:r>
              <a:rPr>
                <a:latin typeface="Courier"/>
              </a:rPr>
              <a:t>_</a:t>
            </a:r>
            <a:br/>
            <a:r>
              <a:rPr b="1">
                <a:solidFill>
                  <a:srgbClr val="007020"/>
                </a:solidFill>
                <a:latin typeface="Courier"/>
              </a:rPr>
              <a:t>import</a:t>
            </a:r>
            <a:r>
              <a:rPr>
                <a:latin typeface="Courier"/>
              </a:rPr>
              <a:t> Summarizer</a:t>
            </a:r>
            <a:r>
              <a:rPr>
                <a:solidFill>
                  <a:srgbClr val="666666"/>
                </a:solidFill>
                <a:latin typeface="Courier"/>
              </a:rPr>
              <a:t>.</a:t>
            </a:r>
            <a:r>
              <a:rPr>
                <a:latin typeface="Courier"/>
              </a:rPr>
              <a:t>_</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data </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latin typeface="Courier"/>
              </a:rPr>
              <a:t>Vectors</a:t>
            </a:r>
            <a:r>
              <a:rPr>
                <a:solidFill>
                  <a:srgbClr val="666666"/>
                </a:solidFill>
                <a:latin typeface="Courier"/>
              </a:rPr>
              <a:t>.</a:t>
            </a:r>
            <a:r>
              <a:rPr>
                <a:solidFill>
                  <a:srgbClr val="06287E"/>
                </a:solidFill>
                <a:latin typeface="Courier"/>
              </a:rPr>
              <a:t>dense</a:t>
            </a:r>
            <a:r>
              <a:rPr>
                <a:solidFill>
                  <a:srgbClr val="666666"/>
                </a:solidFill>
                <a:latin typeface="Courier"/>
              </a:rPr>
              <a:t>(</a:t>
            </a:r>
            <a:r>
              <a:rPr>
                <a:solidFill>
                  <a:srgbClr val="40A070"/>
                </a:solidFill>
                <a:latin typeface="Courier"/>
              </a:rPr>
              <a:t>2.0</a:t>
            </a:r>
            <a:r>
              <a:rPr>
                <a:solidFill>
                  <a:srgbClr val="666666"/>
                </a:solidFill>
                <a:latin typeface="Courier"/>
              </a:rPr>
              <a:t>,</a:t>
            </a:r>
            <a:r>
              <a:rPr>
                <a:latin typeface="Courier"/>
              </a:rPr>
              <a:t> </a:t>
            </a:r>
            <a:r>
              <a:rPr>
                <a:solidFill>
                  <a:srgbClr val="40A070"/>
                </a:solidFill>
                <a:latin typeface="Courier"/>
              </a:rPr>
              <a:t>3.0</a:t>
            </a:r>
            <a:r>
              <a:rPr>
                <a:solidFill>
                  <a:srgbClr val="666666"/>
                </a:solidFill>
                <a:latin typeface="Courier"/>
              </a:rPr>
              <a:t>,</a:t>
            </a:r>
            <a:r>
              <a:rPr>
                <a:latin typeface="Courier"/>
              </a:rPr>
              <a:t> </a:t>
            </a:r>
            <a:r>
              <a:rPr>
                <a:solidFill>
                  <a:srgbClr val="40A070"/>
                </a:solidFill>
                <a:latin typeface="Courier"/>
              </a:rPr>
              <a:t>5.0</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latin typeface="Courier"/>
              </a:rPr>
              <a:t>Vectors</a:t>
            </a:r>
            <a:r>
              <a:rPr>
                <a:solidFill>
                  <a:srgbClr val="666666"/>
                </a:solidFill>
                <a:latin typeface="Courier"/>
              </a:rPr>
              <a:t>.</a:t>
            </a:r>
            <a:r>
              <a:rPr>
                <a:solidFill>
                  <a:srgbClr val="06287E"/>
                </a:solidFill>
                <a:latin typeface="Courier"/>
              </a:rPr>
              <a:t>dense</a:t>
            </a:r>
            <a:r>
              <a:rPr>
                <a:solidFill>
                  <a:srgbClr val="666666"/>
                </a:solidFill>
                <a:latin typeface="Courier"/>
              </a:rPr>
              <a:t>(</a:t>
            </a:r>
            <a:r>
              <a:rPr>
                <a:solidFill>
                  <a:srgbClr val="40A070"/>
                </a:solidFill>
                <a:latin typeface="Courier"/>
              </a:rPr>
              <a:t>4.0</a:t>
            </a:r>
            <a:r>
              <a:rPr>
                <a:solidFill>
                  <a:srgbClr val="666666"/>
                </a:solidFill>
                <a:latin typeface="Courier"/>
              </a:rPr>
              <a:t>,</a:t>
            </a:r>
            <a:r>
              <a:rPr>
                <a:latin typeface="Courier"/>
              </a:rPr>
              <a:t> </a:t>
            </a:r>
            <a:r>
              <a:rPr>
                <a:solidFill>
                  <a:srgbClr val="40A070"/>
                </a:solidFill>
                <a:latin typeface="Courier"/>
              </a:rPr>
              <a:t>6.0</a:t>
            </a:r>
            <a:r>
              <a:rPr>
                <a:solidFill>
                  <a:srgbClr val="666666"/>
                </a:solidFill>
                <a:latin typeface="Courier"/>
              </a:rPr>
              <a:t>,</a:t>
            </a:r>
            <a:r>
              <a:rPr>
                <a:latin typeface="Courier"/>
              </a:rPr>
              <a:t> </a:t>
            </a:r>
            <a:r>
              <a:rPr>
                <a:solidFill>
                  <a:srgbClr val="40A070"/>
                </a:solidFill>
                <a:latin typeface="Courier"/>
              </a:rPr>
              <a:t>7.0</a:t>
            </a:r>
            <a:r>
              <a:rPr>
                <a:solidFill>
                  <a:srgbClr val="666666"/>
                </a:solidFill>
                <a:latin typeface="Courier"/>
              </a:rPr>
              <a:t>),</a:t>
            </a:r>
            <a:r>
              <a:rPr>
                <a:latin typeface="Courier"/>
              </a:rPr>
              <a:t> </a:t>
            </a:r>
            <a:r>
              <a:rPr>
                <a:solidFill>
                  <a:srgbClr val="40A070"/>
                </a:solidFill>
                <a:latin typeface="Courier"/>
              </a:rPr>
              <a:t>2.0</a:t>
            </a:r>
            <a:r>
              <a:rPr>
                <a:solidFill>
                  <a:srgbClr val="666666"/>
                </a:solidFill>
                <a:latin typeface="Courier"/>
              </a:rPr>
              <a:t>)</a:t>
            </a:r>
            <a:br/>
            <a:r>
              <a:rPr i="1">
                <a:solidFill>
                  <a:srgbClr val="60A0B0"/>
                </a:solidFill>
                <a:latin typeface="Courier"/>
              </a:rPr>
              <a:t>// ...</a:t>
            </a:r>
          </a:p>
        </p:txBody>
      </p:sp>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2026-04-05T02:25:22Z</dcterms:created>
  <dcterms:modified xsi:type="dcterms:W3CDTF">2026-04-05T02:25:22Z</dcterms:modified>
</cp:coreProperties>
</file>

<file path=docProps/custom.xml><?xml version="1.0" encoding="utf-8"?>
<Properties xmlns="http://schemas.openxmlformats.org/officeDocument/2006/custom-properties" xmlns:vt="http://schemas.openxmlformats.org/officeDocument/2006/docPropsVTypes"/>
</file>