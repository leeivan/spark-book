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notesMaster" Target="notesMasters/notesMaster1.xml" /><Relationship Id="rId3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34" Type="http://schemas.openxmlformats.org/officeDocument/2006/relationships/theme" Target="theme/theme1.xml" /><Relationship Id="rId33" Type="http://schemas.openxmlformats.org/officeDocument/2006/relationships/viewProps" Target="viewProps.xml" /><Relationship Id="rId3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本节保留两个案例：一个围绕推荐系统，一个围绕分类问题。需要注意，案例中的部分代码仍使用 spark.mllib / RDD 风格 API，目的是帮助读者理解历史写法和存量系统。如果在 Spark 4.x 中新建项目，应优先选择 spark.ml、DataFrame 和 Pipeline 的等价实现。 接下来会依次看 实例分析、预测用户偏好，以及 分析飞行延误，后面的实现和案例都会沿着这条线继续展开。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兼容性说明：适合说明矩阵分解与旧项目代码结构、保留下面的写法，是为了帮助读者识别历史推荐系统代码最常见的组织方式 和 这个案例其实可以拆成四步，先把用户 - 物品交互整理成可训练的数据集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ALS 的核心思路，是把原始的稀疏评分矩阵分解成两个更低维的稠密矩阵：一个表示用户在若干潜在因子上的偏好强度，另一个表示项目在同一组潜在因子上的表现。用户和项目在这些潜在因子上的匹配程度，决定了模型给出的预测评分。图例 7‑10 展示了这种“把用户兴趣和项目属性投影到同一潜在空间”的直观理解。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训练时，它会先固定用户因子，更新项目因子。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再固定项目因子，更新用户因子，如此交替进行，直到损失函数收敛或达到迭代上限。对于推荐问题，这种方法的优点在于能够较好地处理评分矩阵的稀疏性，并且天然适合并行化，因此长期都是分布式推荐系统里的经典方案。阅读下面的历史示例时，重点可以放在三件事上：评分数据如何组织、训练集与测试集如何拆分，以及模型如何从用户 - 物品交互中学习出潜在偏好结构。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这一句通常出现在同一份中间数据要被多次复用的时候。它的价值不在语法本身，而在于用空间换时间，减少重复执行前面的算子链。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连接操作的关键在于主键、外键和连接条件。讲的时候要说清楚两边各提供什么信息，以及接起来以后想补足哪部分业务语义。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ALS 的核心思路，是把原始的稀疏评分矩阵分解成两个更低维的稠密矩阵：一个表示用户在若干潜在因子上的偏好强度，另一个表示项目在同一组潜在因子上的表现。用户和项目在这些潜在因子上的匹配程度，决定了模型给出的预测评分。图例 7‑10 展示了这种“把用户兴趣和项目属性投影到同一潜在空间”的直观理解。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下图概括了这个案例的基本流程：先加载评分数据并整理成 ALS 可接受的输入格式，再拆分训练集与测试集，接着训练矩阵分解模型，最后用测试数据评估预测效果。下面先从读取 ratings.dat 开始，其中每一行都包含用户 ID、电影 ID、评分和时间戳。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兼容性说明：用于解释历史代码和算法参数、主要是为了帮助你在存量项目中读懂特征准备 和 这个案例使用的是航班信息数据集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这里把“延误 40 分钟以上”记为 Yes，否则记为 No。训练时使用的特征包括日期、星期、计划起降时间、承运人、计划飞行时长以及起降机场等字段，本质上是在做一个典型的表格二分类问题。下面先从 CSV 加载并解析数据。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这一步是在缩小计算范围。把过滤条件讲清楚，后面聚合出来的结果才能知道是在什么约束下得到的。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这里才真正把多条记录压成业务指标。讲解时要说明聚合函数在累加什么、合并什么，以及最终留下来的结果代表什么含义。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对于每一次航班，样本里都记录了日期、承运人、起降机场、计划起降时间、实际起降时间和飞行时长等字段。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先把表头对应的对象和维度说清楚，再指出哪些差异最大，以及这些差异能支持什么判断。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.jp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 实例分析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案例中的部分代码仍使用 spark.mllib / RDD 风格 API</a:t>
            </a:r>
          </a:p>
          <a:p>
            <a:pPr lvl="0"/>
            <a:r>
              <a:rPr/>
              <a:t>如果在 Spark 4.x 中新建项目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7.8.1 预测用户偏好（1/2）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兼容性说明：适合说明矩阵分解与旧项目代码结构</a:t>
            </a:r>
          </a:p>
          <a:p>
            <a:pPr lvl="0"/>
            <a:r>
              <a:rPr/>
              <a:t>保留下面的写法，是为了帮助读者识别历史推荐系统代码最常见的组织方式</a:t>
            </a:r>
          </a:p>
          <a:p>
            <a:pPr lvl="0"/>
            <a:r>
              <a:rPr/>
              <a:t>这个案例其实可以拆成四步，先把用户 - 物品交互整理成可训练的数据集</a:t>
            </a:r>
          </a:p>
          <a:p>
            <a:pPr lvl="0"/>
            <a:r>
              <a:rPr/>
              <a:t>用电影推荐说明协同过滤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7.8.1 预测用户偏好（2/2）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一个表示用户在若干潜在因子上的偏好强度</a:t>
            </a:r>
          </a:p>
          <a:p>
            <a:pPr lvl="0"/>
            <a:r>
              <a:rPr/>
              <a:t>图例 7‑10 交替最小二乘法</a:t>
            </a:r>
          </a:p>
          <a:p>
            <a:pPr lvl="0"/>
            <a:r>
              <a:rPr/>
              <a:t>ALS 是一种迭代优化算法</a:t>
            </a:r>
          </a:p>
          <a:p>
            <a:pPr lvl="0"/>
            <a:r>
              <a:rPr/>
              <a:t>重点可以放在三件事上，评分数据如何组织、训练集与测试集如何拆分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7.8.1 预测用户偏好：代码片段（1/10）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图例 7‑11 机器学习的工作流程 的执行步骤</a:t>
            </a:r>
          </a:p>
          <a:p>
            <a:pPr lvl="0"/>
            <a:r>
              <a:rPr/>
              <a:t>把原始数据从存储读入 Spark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recommendation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 ALS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MatrixFactorizationModel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Rating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recommendation</a:t>
            </a:r>
            <a:r>
              <a:rPr>
                <a:solidFill>
                  <a:srgbClr val="666666"/>
                </a:solidFill>
                <a:latin typeface="Courier"/>
              </a:rPr>
              <a:t>.{</a:t>
            </a:r>
            <a:r>
              <a:rPr>
                <a:latin typeface="Courier"/>
              </a:rPr>
              <a:t>ALS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MatrixFactorizationModel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Rating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ratingText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"/data/ratings.dat"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ratingText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root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ratings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textFile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ratingText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res3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40A070"/>
                </a:solidFill>
                <a:latin typeface="Courier"/>
              </a:rPr>
              <a:t>1193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40A070"/>
                </a:solidFill>
                <a:latin typeface="Courier"/>
              </a:rPr>
              <a:t>978300760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40A070"/>
                </a:solidFill>
                <a:latin typeface="Courier"/>
              </a:rPr>
              <a:t>661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40A070"/>
                </a:solidFill>
                <a:latin typeface="Courier"/>
              </a:rPr>
              <a:t>978302109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7.8.1 预测用户偏好：代码片段（2/10）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parseRating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Rating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fields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"::"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Rating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fields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fields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fields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parseRating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recommendation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Rating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ratingsRDD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ratingText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parseRating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cache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ratingsRDD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recommendation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Rating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29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7.8.1 预测用户偏好：代码片段（3/10）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把中间结果缓存起来避免重复计算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splits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ratingsRDD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randomSplit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splits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recommendation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Rating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randomSplit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randomSplit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trainingRatingsRDD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splits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cache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trainingRatingsRDD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recommendation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Rating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randomSplit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31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testRatingsRDD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splits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cache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testRatingsRDD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7.8.1 预测用户偏好：代码片段（4/10）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regParam</a:t>
            </a:r>
          </a:p>
          <a:p>
            <a:pPr lvl="0"/>
            <a:r>
              <a:rPr/>
              <a:t>先对照代码理解 模型训练好以后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ALS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train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trainingRatingsRDD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model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recommendation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MatrixFactorizationModel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recommendation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MatrixFactorizationModel@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f2f9ba4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testUserProductRDD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testRatingsRDD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Rating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product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rating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product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testUserProductRDD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392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35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7.8.1 预测用户偏好：代码片段（5/10）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接着调用 model.predict()</a:t>
            </a:r>
          </a:p>
          <a:p>
            <a:pPr lvl="0"/>
            <a:r>
              <a:rPr/>
              <a:t>先对照代码理解 为了把预测值和真实值一一对齐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predictionsForTestRDD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predict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testUserProductRDD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prdictionsForTestRDD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recommendation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Rating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401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MatrixFactorizationModel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140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predictionsKeyedByUserProductRDD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predictionsForTestRDD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Rating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product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rating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product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rating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|}</a:t>
            </a:r>
            <a:br/>
            <a:r>
              <a:rPr>
                <a:latin typeface="Courier"/>
              </a:rPr>
              <a:t>predictionsKeyedByUserProductRDD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402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43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7.8.1 预测用户偏好：代码片段（6/10）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为比较准备测试数据：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testKeyedByUserProductRDD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testRatingsRDD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Rating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product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rating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product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rating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|}</a:t>
            </a:r>
            <a:br/>
            <a:r>
              <a:rPr>
                <a:latin typeface="Courier"/>
              </a:rPr>
              <a:t>testKeyedByUserProductRDD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403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7.8.1 预测用户偏好：代码片段（7/10）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把不同来源的数据按关联键接起来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testAndPredictionsJoinedRDD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testKeyedByUserProductRDD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join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predictionsKeyedByUserProductRDD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testAndPredictionsJoinedRDD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406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join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47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testAndPredictionsJoinedRDD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mkString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"\n"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res5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233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1265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4.460843005222394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1308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1042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3.1014835510132865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5686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2967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2.103888739955093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4447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1100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1.4102976702457886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2131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512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3.111590795245745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7.8.1 预测用户偏好：代码片段（8/10）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除了看整体误差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falsePositives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testAndPredictionsJoinedRDD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filter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product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ratingT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ratingP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ratingT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ratingP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br/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falsePositives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409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filter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49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falsePositives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res6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(((</a:t>
            </a:r>
            <a:r>
              <a:rPr>
                <a:solidFill>
                  <a:srgbClr val="40A070"/>
                </a:solidFill>
                <a:latin typeface="Courier"/>
              </a:rPr>
              <a:t>1038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3545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4.64155564571005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5878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2875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4.1482372423348295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7.8.1 预测用户偏好：代码片段（9/10）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说明模型给出的评分越接近真实评分。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meanAbsoluteError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testAndPredictionsJoinedRDD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product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testRating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predRating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err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testRating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predRating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Math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abs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err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}.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meanAbsoluteError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0.6895645970856591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7.8.1 预测用户偏好：代码片段（10/10）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br/>
            <a:r>
              <a:rPr>
                <a:latin typeface="Courier"/>
              </a:rPr>
              <a:t>newRatingsRDD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Rating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260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Rating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newRatingsRDD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recommendation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Rating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413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unionRatingsRDD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ratingsRDD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union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newRatingsRDD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unionRatingsRDD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recommendation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Rating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UnionRDD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414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union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33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br/>
            <a:r>
              <a:rPr>
                <a:solidFill>
                  <a:srgbClr val="06287E"/>
                </a:solidFill>
                <a:latin typeface="Courier"/>
              </a:rPr>
              <a:t>ALS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setRank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setIterations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run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unionRatingsRDD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7.8.1 预测用户偏好：图示（1）</a:t>
            </a:r>
          </a:p>
        </p:txBody>
      </p:sp>
      <p:pic>
        <p:nvPicPr>
          <p:cNvPr descr="../../md/media/07_machine_learning/media/image10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1993900"/>
            <a:ext cx="1051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7.8.1 预测用户偏好：图示（2）</a:t>
            </a:r>
          </a:p>
        </p:txBody>
      </p:sp>
      <p:pic>
        <p:nvPicPr>
          <p:cNvPr descr="../../md/media/07_machine_learning/media/image1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55800" y="1816100"/>
            <a:ext cx="82804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7.8.2 分析飞行延误（1/2）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兼容性说明：用于解释历史代码和算法参数</a:t>
            </a:r>
          </a:p>
          <a:p>
            <a:pPr lvl="0"/>
            <a:r>
              <a:rPr/>
              <a:t>主要是为了帮助你在存量项目中读懂特征准备</a:t>
            </a:r>
          </a:p>
          <a:p>
            <a:pPr lvl="0"/>
            <a:r>
              <a:rPr/>
              <a:t>这个案例使用的是航班信息数据集</a:t>
            </a:r>
          </a:p>
          <a:p>
            <a:pPr lvl="0"/>
            <a:r>
              <a:rPr/>
              <a:t>表格 7‑3 数据描述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7.8.2 分析飞行延误（2/2）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这个任务的目标是预测航班是否会明显延误</a:t>
            </a:r>
          </a:p>
          <a:p>
            <a:pPr lvl="0"/>
            <a:r>
              <a:rPr/>
              <a:t>导入需要的软件包</a:t>
            </a:r>
          </a:p>
          <a:p>
            <a:pPr lvl="0"/>
            <a:r>
              <a:rPr/>
              <a:t>代码 7‑68</a:t>
            </a:r>
          </a:p>
          <a:p>
            <a:pPr lvl="0"/>
            <a:r>
              <a:rPr/>
              <a:t>先定义一个 Flight case class，对应 CSV 里的一行航班记录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7.8.2 分析飞行延误：代码片段（1/11）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导入需要的软件包：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regression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LabeledPoint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regression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LabeledPoint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Vectors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tree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DecisionTree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tree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DecisionTree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tree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DecisionTreeModel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tree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DecisionTreeModel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util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MLUtils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util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MLUtils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7.8.2 分析飞行延误：代码片段（2/11）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先定义一个 Flight case class</a:t>
            </a:r>
          </a:p>
          <a:p>
            <a:pPr lvl="0"/>
            <a:r>
              <a:rPr/>
              <a:t>先对照代码理解 // function to parse input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dofM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dofW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carrier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tailnum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flnum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org_id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origin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dest_id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dest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crsdeptime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deptime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depdelaymins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crsarrtime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arrtime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arrdelay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crselapsedtime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dist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defined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Flight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parseFlight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Flight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line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","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13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7.8.2 分析飞行延误：代码片段（3/11）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textRDD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"/root/data/rita2014jan.csv"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textRDD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root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rita2014jan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csv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textFile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29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flightsRDD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textRDD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parseFlight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cache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flightsRDD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35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flightsRDD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first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res0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Flight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06287E"/>
                </a:solidFill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AA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N338AA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12478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JFK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12892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LAX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900.0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914.0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14.0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1225.0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1238.0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13.0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385.0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2475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7.8.2 分析飞行延误：代码片段（4/11）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carrierMap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carrierMap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index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index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flightsRDD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flight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carrier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distinct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foreach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carrierMap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br/>
            <a:r>
              <a:rPr>
                <a:latin typeface="Courier"/>
              </a:rPr>
              <a:t>index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index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carrierMap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toString</a:t>
            </a:r>
            <a:br/>
            <a:r>
              <a:rPr>
                <a:latin typeface="Courier"/>
              </a:rPr>
              <a:t>res2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DL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F9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OO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B6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AA</a:t>
            </a:r>
            <a:br/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EV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FL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UA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MQ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WN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AS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VX</a:t>
            </a:r>
            <a:br/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HA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7.8.2 分析飞行延误：代码片段（5/11）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mlprep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flightsRDD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flight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monthday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flight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dofM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toInt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category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weekday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flight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dofW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toInt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category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crsdeptime1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flight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crsdeptime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toInt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crsarrtime1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flight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crsarrtime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toInt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carrier1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carrierMap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carrier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category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crselapsedtime1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flight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crselapsedtime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toDouble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origin1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originMap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origin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category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dest1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destMap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dest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category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delayed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flight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depdelaymins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toDouble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delayed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monthday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weekday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7.8.2 分析飞行延误：代码片段（6/11）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mldata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mlprep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LabeledPoint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Vectors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dense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))))</a:t>
            </a:r>
            <a:br/>
            <a:r>
              <a:rPr>
                <a:latin typeface="Courier"/>
              </a:rPr>
              <a:t>mldata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regression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LabeledPoint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29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45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mldata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res15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regression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LabeledPoint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,[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900.0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1225.0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385.0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216.0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294.0</a:t>
            </a:r>
            <a:r>
              <a:rPr>
                <a:solidFill>
                  <a:srgbClr val="666666"/>
                </a:solidFill>
                <a:latin typeface="Courier"/>
              </a:rPr>
              <a:t>]))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7.8.2 分析飞行延误：代码片段（7/11）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先过滤出真正要参与计算的数据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mldata0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mldata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label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br/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randomSplit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0.85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0.15</a:t>
            </a:r>
            <a:r>
              <a:rPr>
                <a:solidFill>
                  <a:srgbClr val="666666"/>
                </a:solidFill>
                <a:latin typeface="Courier"/>
              </a:rPr>
              <a:t>))(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mldata0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regression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LabeledPoint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randomSplit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47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mldata1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mldata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label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mldata1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regression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LabeledPoint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33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filter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47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mldata2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mldata0 </a:t>
            </a:r>
            <a:r>
              <a:rPr>
                <a:solidFill>
                  <a:srgbClr val="666666"/>
                </a:solidFill>
                <a:latin typeface="Courier"/>
              </a:rPr>
              <a:t>++</a:t>
            </a:r>
            <a:r>
              <a:rPr>
                <a:latin typeface="Courier"/>
              </a:rPr>
              <a:t> mldata1</a:t>
            </a:r>
            <a:br/>
            <a:r>
              <a:rPr>
                <a:latin typeface="Courier"/>
              </a:rPr>
              <a:t>mldata2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7.8.2 分析飞行延误：代码片段（8/11）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然后再把这个重组后的数据拆成训练集和测试集：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splits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mldata2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randomSplit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0.3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splits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regression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LabeledPoint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35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randomSplit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53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36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randomSplit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53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trainingData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testData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splits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splits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trainingData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regression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LabeledPoint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35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randomSplit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53</a:t>
            </a:r>
            <a:br/>
            <a:r>
              <a:rPr>
                <a:latin typeface="Courier"/>
              </a:rPr>
              <a:t>testData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regression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LabeledPoint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7.8.2 分析飞行延误：代码片段（9/11）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先把几个离散特征的取值范围告诉模型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categoricalFeaturesInfo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]()</a:t>
            </a:r>
            <a:br/>
            <a:r>
              <a:rPr>
                <a:latin typeface="Courier"/>
              </a:rPr>
              <a:t>categoricalFeaturesInfo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immutable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categoricalFeaturesInfo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categoricalFeaturesInfo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categoricalFeaturesInfo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carrierMap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size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categoricalFeaturesInfo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originMap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size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categoricalFeaturesInfo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destMap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size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numClasses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>
                <a:latin typeface="Courier"/>
              </a:rPr>
              <a:t>numClasses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7.8.2 分析飞行延误：代码片段（10/11）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再补齐其余训练参数：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impurity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"gini"</a:t>
            </a:r>
            <a:br/>
            <a:r>
              <a:rPr>
                <a:latin typeface="Courier"/>
              </a:rPr>
              <a:t>impurity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gini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maxDepth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br/>
            <a:r>
              <a:rPr>
                <a:latin typeface="Courier"/>
              </a:rPr>
              <a:t>maxDepth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maxBins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7000</a:t>
            </a:r>
            <a:br/>
            <a:r>
              <a:rPr>
                <a:latin typeface="Courier"/>
              </a:rPr>
              <a:t>maxBins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7000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DecisionTree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trainClassifier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trainingData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numClasses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categoricalFeaturesInfo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impurity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maxDepth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maxBins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model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mllib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tree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DecisionTreeModel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DecisionTreeModel classifier of depth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with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581</a:t>
            </a:r>
            <a:r>
              <a:rPr>
                <a:latin typeface="Courier"/>
              </a:rPr>
              <a:t> nodes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7.8.2 分析飞行延误：代码片段（11/11）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在分组后做聚合计算得到指标结果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labelAndPreds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testData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point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prediction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predict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point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features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point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label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prediction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labelAndPreds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75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43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labelAndPreds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res24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wrongPrediction </a:t>
            </a:r>
            <a:r>
              <a:rPr>
                <a:solidFill>
                  <a:srgbClr val="666666"/>
                </a:solidFill>
                <a:latin typeface="Courier"/>
              </a:rPr>
              <a:t>=(</a:t>
            </a:r>
            <a:r>
              <a:rPr>
                <a:latin typeface="Courier"/>
              </a:rPr>
              <a:t>labelAndPreds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label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prediction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 label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prediction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分析飞行延误：这个案例使用的是航班信息数据集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先辨认表头含义，再看不同项之间的差异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字段名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字段描述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例子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dOfM(String)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一个月中的某天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dOfW (String)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星期几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carrier (String)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运营商代码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tailNum (String)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飞机的唯一标识符-尾号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N787AA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flnum(Int)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航班号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org_id(String)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始发机场编号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12478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origin(String)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始发机场代码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JFK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dest_id (String)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目的地机场编号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12892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dest (String)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目的地机场代码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crsdeptime(Double)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预定出发时间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deptime (Double)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实际出发时间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855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depdelaymins (Double)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出发延迟分钟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crsarrtime (Double)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预定到达时间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arrtime (Double)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实际到达时间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arrdelaymins (Double)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到达延迟分钟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crselapsedtime (Double)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经过时间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 (Int)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距离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2475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2026-04-05T02:25:30Z</dcterms:created>
  <dcterms:modified xsi:type="dcterms:W3CDTF">2026-04-05T02:25:30Z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