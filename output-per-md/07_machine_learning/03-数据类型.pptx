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notesMaster" Target="notesMasters/notesMaster1.xml" /><Relationship Id="rId2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8" Type="http://schemas.openxmlformats.org/officeDocument/2006/relationships/theme" Target="theme/theme1.xml" /><Relationship Id="rId27" Type="http://schemas.openxmlformats.org/officeDocument/2006/relationships/viewProps" Target="viewProps.xml" /><Relationship Id="rId26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本节介绍本章后续会反复用到的数据表示方式。对于 Spark 4.x 新项目，最常见的入口是 DataFrame 中的 features 向量列和 label 列，以及 org.apache.spark.ml.linalg 下的向量/矩阵类型。 接下来会依次看 数据类型、局部向量，以及 标签向量，后面的实现和案例都会沿着这条线继续展开。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这一页先看前半段主线，重点包括 数据类型、局部向量、标签向量，以及 局部矩阵。先把前面的入口和处理顺序放稳，后面再继续往下展开。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这一页补上后半段主线，重点包括 分布式矩阵（历史/底层能力）。把这几步和前面的内容接起来，整节课的推进顺序就完整了。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局部向量将具有整数型、基于0的索引和双精度类型的值，存储在一台机器上。稠密向量由表示其输入值的双精度数组支持，而稀疏向量由两个并行数组支持：索引和值。例如一个向量（1.0,0.0,3.0）可以用稠密格式表示为1.0,0.0,3.0，或者以(3,0,2,1.0,3.0)的稀疏格式表示，其中第一个值3为向量的大小，第二个值表示向量的索引，第三个值表示向量的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通过指定非零条目的索引和值，创建一个稀疏向量（1.0，0.0，3.0）、代码 7‑3 和 通过指定非零条目来创建一个稀疏向量（1.0，0.0，3.0）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在MLlib中，标签向量用于有监督学习算法。使用双精度来存储标签，所以可以在回归和分类中使用标签向量。对于二元分类，标签应该是0（负）或1（正）。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在实践中，使用稀疏的训练数据是很常见的。Spark ML支持以LIBSVM格式存储的阅读训练样本，这是LIBSVM和LIBLINEAR使用的默认格式。这是一种文本格式，其中每行代表使用以下格式标记的稀疏特征向量。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这一句是在确定输入边界。讲的时候要说明数据来自哪里、现在进入了什么抽象对象，以及后面的转换是围绕哪个数据集继续推进的。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局部矩阵具有整数类型的行和列索引以及双重类型的值，它们存储在单个计算机上。MLlib支持密集矩阵（其条目值以列优先顺序图例 7‑2存储在单个双精度数组中）和稀疏矩阵（其非零条目值以列优先顺序和压缩稀疏列格式存储）。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例如下面的稠密矩阵。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以矩阵大小（3,2）存储在一维数组1.0,3.0,5.0,2.0,4.0,6.0中。建议使用在矩阵中实现的工厂方法来创建局部矩阵。请记住，MLlib中的局部矩阵以列优先顺序存储。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(5.0, 6.0))。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局部矩阵具有整数类型的行和列索引以及双重类型的值，它们存储在单个计算机上。MLlib支持密集矩阵（其条目值以列优先顺序图例 7‑2存储在单个双精度数组中）和稀疏矩阵（其非零条目值以列优先顺序和压缩稀疏列格式存储）。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更适合用来理解 Spark 早期在线性代数与分布式矩阵上的底层抽象、只有在需要底层矩阵运算、兼容旧代码或学习历史接口时，才会直接接触这些对象 和 阅读时建议重点理解“什么时候需要索引”“什么时候矩阵足够稀疏”“什么时候按块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4.jp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 数据类型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最常见的入口是 DataFrame 中的 features 向量列和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 数据类型：学习路线（1/2）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数据类型</a:t>
            </a:r>
          </a:p>
          <a:p>
            <a:pPr lvl="0"/>
            <a:r>
              <a:rPr/>
              <a:t>局部向量</a:t>
            </a:r>
          </a:p>
          <a:p>
            <a:pPr lvl="0"/>
            <a:r>
              <a:rPr/>
              <a:t>标签向量</a:t>
            </a:r>
          </a:p>
          <a:p>
            <a:pPr lvl="0"/>
            <a:r>
              <a:rPr/>
              <a:t>局部矩阵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 数据类型：学习路线（2/2）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分布式矩阵（历史/底层能力）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7.3.1 局部向量（1/2）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MLlib支持两种类型的局部向量：稠密和稀疏</a:t>
            </a:r>
          </a:p>
          <a:p>
            <a:pPr lvl="0"/>
            <a:r>
              <a:rPr/>
              <a:t>代码 7‑1</a:t>
            </a:r>
          </a:p>
          <a:p>
            <a:pPr lvl="0"/>
            <a:r>
              <a:rPr/>
              <a:t>创建稠密向量(1.0, 0.0, 3.0)</a:t>
            </a:r>
          </a:p>
          <a:p>
            <a:pPr lvl="0"/>
            <a:r>
              <a:rPr/>
              <a:t>代码 7‑2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7.3.1 局部向量（2/2）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通过指定非零条目的索引和值，创建一个稀疏向量（1.0，0.0，3.0）</a:t>
            </a:r>
          </a:p>
          <a:p>
            <a:pPr lvl="0"/>
            <a:r>
              <a:rPr/>
              <a:t>代码 7‑3</a:t>
            </a:r>
          </a:p>
          <a:p>
            <a:pPr lvl="0"/>
            <a:r>
              <a:rPr/>
              <a:t>通过指定非零条目来创建一个稀疏向量（1.0，0.0，3.0）</a:t>
            </a:r>
          </a:p>
          <a:p>
            <a:pPr lvl="0"/>
            <a:r>
              <a:rPr/>
              <a:t>代码 7‑4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7.3.1 局部向量：代码片段（1/4）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局部向量将具有整数型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Vectors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Vector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Vectors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Vector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7.3.1 局部向量：代码片段（2/4）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创建稠密向量(1.0, 0.0, 3.0)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dv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Vector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dv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7.3.1 局部向量：代码片段（3/4）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通过指定非零条目的索引和值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sv1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Vector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sparse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sv1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],[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])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7.3.1 局部向量：代码片段（4/4）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通过指定非零条目来创建一个稀疏向量（1.0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sv2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Vector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sparse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br/>
            <a:r>
              <a:rPr>
                <a:latin typeface="Courier"/>
              </a:rPr>
              <a:t>sv2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],[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])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7.3.2 标签向量（1/2）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标签向量是一个稠密或稀疏的局部向量，而且关联了标签</a:t>
            </a:r>
          </a:p>
          <a:p>
            <a:pPr lvl="0"/>
            <a:r>
              <a:rPr/>
              <a:t>代码 7‑5</a:t>
            </a:r>
          </a:p>
          <a:p>
            <a:pPr lvl="0"/>
            <a:r>
              <a:rPr/>
              <a:t>使用正标签和稠密特征向量创建标签向量</a:t>
            </a:r>
          </a:p>
          <a:p>
            <a:pPr lvl="0"/>
            <a:r>
              <a:rPr/>
              <a:t>代码 7‑6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7.3.2 标签向量（2/2）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使用负标签和稀疏特征向量创建标签向量</a:t>
            </a:r>
          </a:p>
          <a:p>
            <a:pPr lvl="0"/>
            <a:r>
              <a:rPr/>
              <a:t>代码 7‑7</a:t>
            </a:r>
          </a:p>
          <a:p>
            <a:pPr lvl="0"/>
            <a:r>
              <a:rPr/>
              <a:t>使用稀疏的训练数据是很常见的</a:t>
            </a:r>
          </a:p>
          <a:p>
            <a:pPr lvl="0"/>
            <a:r>
              <a:rPr/>
              <a:t>代码 7‑8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7.3.2 标签向量：代码片段（1/5）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标签向量是一个稠密或稀疏的局部向量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LabeledPoint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LabeledPoint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7.3.2 标签向量：代码片段（2/5）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使用正标签和稠密特征向量创建标签向量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pos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LabeledPoint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pos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LabeledPoint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,[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])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7.3.2 标签向量：代码片段（3/5）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使用负标签和稀疏特征向量创建标签向量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neg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LabeledPoint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sparse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br/>
            <a:r>
              <a:rPr>
                <a:latin typeface="Courier"/>
              </a:rPr>
              <a:t>neg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LabeledPoint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],[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]))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7.3.2 标签向量：代码片段（4/5）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在实践中</a:t>
            </a:r>
          </a:p>
          <a:p>
            <a:pPr lvl="0" indent="0">
              <a:buNone/>
            </a:pPr>
            <a:r>
              <a:rPr>
                <a:latin typeface="Courier"/>
              </a:rPr>
              <a:t>label index1:value1 index2:value2 ...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7.3.2 标签向量：代码片段（5/5）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把原始数据从存储读入 Spark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format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"libsvm"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option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"numFeatures"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"780"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load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"data/mllib/sample_libsvm_data.txt"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7.3.3 局部矩阵（1/2）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MLlib支持密集矩阵</a:t>
            </a:r>
          </a:p>
          <a:p>
            <a:pPr lvl="0"/>
            <a:r>
              <a:rPr/>
              <a:t>图例 7‑2 按列排序从左到右，从上到下</a:t>
            </a:r>
          </a:p>
          <a:p>
            <a:pPr lvl="0"/>
            <a:r>
              <a:rPr/>
              <a:t>的稠密矩阵</a:t>
            </a:r>
          </a:p>
          <a:p>
            <a:pPr lvl="0"/>
            <a:r>
              <a:rPr/>
              <a:t>公式 7‑1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7.3.3 局部矩阵（2/2）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局部矩阵的基类是Matrix，提供了两个实现：DenseMatrix和SparseMatrix</a:t>
            </a:r>
          </a:p>
          <a:p>
            <a:pPr lvl="0"/>
            <a:r>
              <a:rPr/>
              <a:t>代码 7‑10</a:t>
            </a:r>
          </a:p>
          <a:p>
            <a:pPr lvl="0"/>
            <a:r>
              <a:rPr/>
              <a:t>创建稠密矩阵((1.0, 2.0), (3.0, 4.0),</a:t>
            </a:r>
          </a:p>
          <a:p>
            <a:pPr lvl="0"/>
            <a:r>
              <a:rPr/>
              <a:t>代码 7‑11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7.3.3 局部矩阵：代码片段（1/3）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提供了两个实现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Matrix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Matrices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Matrix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Matrices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7.3.3 局部矩阵：代码片段（2/3）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创建稠密矩阵((1.0, 2.0),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Matrix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Matrices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A070"/>
                </a:solidFill>
                <a:latin typeface="Courier"/>
              </a:rPr>
              <a:t>4.0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6.0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dm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Matrix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br/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4.0</a:t>
            </a:r>
            <a:br/>
            <a:r>
              <a:rPr>
                <a:solidFill>
                  <a:srgbClr val="40A070"/>
                </a:solidFill>
                <a:latin typeface="Courier"/>
              </a:rPr>
              <a:t>5.0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6.0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7.3.3 局部矩阵：代码片段（3/3）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创建稀疏矩阵 ((9.0, 0.0),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Matrix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Matrices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sparse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Matrix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CSCMatrix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9.0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6.0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8.0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toDense</a:t>
            </a:r>
            <a:br/>
            <a:r>
              <a:rPr>
                <a:latin typeface="Courier"/>
              </a:rPr>
              <a:t>res4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DenseMatrix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40A070"/>
                </a:solidFill>
                <a:latin typeface="Courier"/>
              </a:rPr>
              <a:t>9.0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br/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8.0</a:t>
            </a:r>
            <a:br/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6.0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7.3.3 局部矩阵：图示</a:t>
            </a:r>
          </a:p>
        </p:txBody>
      </p:sp>
      <p:pic>
        <p:nvPicPr>
          <p:cNvPr descr="../../md/media/07_machine_learning/media/image2.jpe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184400" y="1816100"/>
            <a:ext cx="78232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7.3.4 分布式矩阵（历史/底层能力）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更适合用来理解 Spark 早期在线性代数与分布式矩阵上的底层抽象</a:t>
            </a:r>
          </a:p>
          <a:p>
            <a:pPr lvl="0"/>
            <a:r>
              <a:rPr/>
              <a:t>只有在需要底层矩阵运算、兼容旧代码或学习历史接口时，才会直接接触这些对象</a:t>
            </a:r>
          </a:p>
          <a:p>
            <a:pPr lvl="0"/>
            <a:r>
              <a:rPr/>
              <a:t>阅读时建议重点理解“什么时候需要索引”“什么时候矩阵足够稀疏”“什么时候按块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2026-04-05T02:25:20Z</dcterms:created>
  <dcterms:modified xsi:type="dcterms:W3CDTF">2026-04-05T02:25:20Z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