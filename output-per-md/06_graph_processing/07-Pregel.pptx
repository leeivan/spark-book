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notesMaster" Target="notesMasters/notesMaster1.xml" /><Relationship Id="rId3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34" Type="http://schemas.openxmlformats.org/officeDocument/2006/relationships/theme" Target="theme/theme1.xml" /><Relationship Id="rId33" Type="http://schemas.openxmlformats.org/officeDocument/2006/relationships/viewProps" Target="viewProps.xml" /><Relationship Id="rId3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从数学角度来说，图是非常有用的抽象可以用来解决许多实际的计算问题，例如借助PageRank图算法，今天我们可以搜索近50亿个网页。除了网络搜索之外，还有其他应用程序，例如社交媒体需要对其进行迭代图处理。图本质上具有递归数据结构，因为点的属性取决于其相邻节点的属性，而邻居的属性又依赖于其邻居的属性。 接下来会依次看 Pregel、一个例子，以及 Pregel运算符，后面的实现和案例都会沿着这条线继续展开。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这一页先看前半段主线，重点包括 Pregel、一个例子、Pregel运算符，以及 标签传播算法。先把前面的入口和处理顺序放稳，后面再继续往下展开。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这一页补上后半段主线，重点包括 PageRank算法。把这几步和前面的内容接起来，整节课的推进顺序就完整了。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先用一个“朋友之间逐步转移资金”的玩具例子来理解它的消息传递模型。假设社交网络里的每个人都会比较自己和朋友当前拥有的财富，并把一部分资金转给更穷的朋友。这个设定本身并不重要，关键在于它能直观展示 Pregel 每轮迭代的三个核心动作：接收上一轮消息、根据当前状态更新顶点属性、再向邻居发送新消息。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每次超步开始时，顶点先汇总上一轮从邻居那里收到的款项，因此第一步需要一个 mergeMsg 函数来合并入站消息。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其次，他们还将需要一个称为顶点程序的函数，以计算在上一个超集中收到钱后所拥有的钱。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最后，还需要一个名为sendMsg的函数来在朋友之间进行汇款。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sendMsg将边缘三元组作为输入而不是顶点，因此我们可以访问源节点和目标节点。sendMsg 的具体实现放在下一节展开。为了先把思路讲清楚，可以把问题进一步简化成“三个朋友构成的三角网络”。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现在把 Pregel 算子的编程接口正式写出来。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当边保持完整时，顶点的属性可能从一个超集更改为下一个超集。Pregel接受以下两个参数列表。第一个列表包含：•用户定义的类型A的初始消息-算法开始时，每个顶点都会接收到此消息•迭代的最大次数•发送消息所沿的边缘方向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在实施算法时，务必限制迭代次数，尤其是在不能保证算法收敛的情况下。如果未指定有效边沿方向，则Pregel会假定仅针对每个顶点的出站边发送消息。而且，如果一个顶点在上一个超集中未接收到消息，则在当前超集的末尾，将不会沿其输出边缘发送任何消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第二个参数列表必须包含三个函数、此函数是点程序，将更新点的属性，这些点从先前迭代中接收到消息 和 此函数合并每个点要接收的消息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用 Pregel 接口实现一个社区检测算法。标签传播算法（Label Propagation Algorithm, LPA）是一类基于图的半监督方法，核心思路是让已标记节点的标签沿着图结构逐步向邻居扩散，并在迭代中不断更新未标记节点的标签估计。对于无向图来说，节点越相似、连接越紧密，彼此标签就越容易趋同。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对本章来说，理解到这一层就足够了：LPA 依赖的是“节点反复接收邻居信息，再更新自身标签”的过程，因此非常适合用 Pregel 这样的消息传递模型来表达。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通过在Pregel中实现此算法，我们希望获得一个图，其中点属性是社区隶属关系的标签。所以，我们将首先通过将每个点的标签设置为其标识符来初始化LPA图。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接下来，我们将定义发送给Map Label，Long的消息的类型，该消息将社区标签与具有该标签的邻居数量相关联。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遵循Pregel编程模型，我们定义了sendMsg函数，每个节点使用该函数将其当前标签通知其邻居。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geRank即网页排名，又称网页级别，是Google创始人拉里·佩奇和谢尔盖·布林于1997年构建早期的搜索系统原型时提出的链接分析算法，该算法成为其他搜索引擎和学术界十分关注的计算模型。PageRank也可以用来测量图中每个点的重要性，假设从 u 到 v 的边表示为 u 对 v 重要性的一种度量。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用户为data/graphx/users.txt，用户之间的关系为data/graphx/followers.txt，计算每个用户的排名级别，如下所示。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前面已经看过 GraphX 自带页面排名算法的用法。下面换一个角度，用 Pregel 自己实现一次 PageRank，这样更容易看清它的消息传递过程。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连接操作的关键在于主键、外键和连接条件。讲的时候要说清楚两边各提供什么信息，以及接起来以后想补足哪部分业务语义。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 Pregel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从数学角度来说</a:t>
            </a:r>
          </a:p>
          <a:p>
            <a:pPr lvl="0"/>
            <a:r>
              <a:rPr/>
              <a:t>除了网络搜索之外，还有其他应用程序，例如社交媒体需要对其进行迭代图处理</a:t>
            </a:r>
          </a:p>
          <a:p>
            <a:pPr lvl="0"/>
            <a:r>
              <a:rPr/>
              <a:t>Pregel的计算过程是由一系列被称为“超步”的迭代组成的</a:t>
            </a:r>
          </a:p>
          <a:p>
            <a:pPr lvl="0"/>
            <a:r>
              <a:rPr/>
              <a:t>局部计算：每个参与的处理器都有自身的计算任务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 Pregel：学习路线（1/2）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Pregel</a:t>
            </a:r>
          </a:p>
          <a:p>
            <a:pPr lvl="0"/>
            <a:r>
              <a:rPr/>
              <a:t>一个例子</a:t>
            </a:r>
          </a:p>
          <a:p>
            <a:pPr lvl="0"/>
            <a:r>
              <a:rPr/>
              <a:t>Pregel运算符</a:t>
            </a:r>
          </a:p>
          <a:p>
            <a:pPr lvl="0"/>
            <a:r>
              <a:rPr/>
              <a:t>标签传播算法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 Pregel：学习路线（2/2）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PageRank算法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6.7.1 一个例子（1/2）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在正式介绍 Pregel API 之前</a:t>
            </a:r>
          </a:p>
          <a:p>
            <a:pPr lvl="0"/>
            <a:r>
              <a:rPr/>
              <a:t>第一步需要一个 mergeMsg 函数来合并入站消息</a:t>
            </a:r>
          </a:p>
          <a:p>
            <a:pPr lvl="0"/>
            <a:r>
              <a:rPr/>
              <a:t>代码 6‑95</a:t>
            </a:r>
          </a:p>
          <a:p>
            <a:pPr lvl="0"/>
            <a:r>
              <a:rPr/>
              <a:t>他们还将需要一个称为顶点程序的函数，以计算在上一个超集中收到钱后所拥有的钱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6.7.1 一个例子（2/2）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代码 6‑96</a:t>
            </a:r>
          </a:p>
          <a:p>
            <a:pPr lvl="0"/>
            <a:r>
              <a:rPr/>
              <a:t>还需要一个名为sendMsg的函数来在朋友之间进行汇款</a:t>
            </a:r>
          </a:p>
          <a:p>
            <a:pPr lvl="0"/>
            <a:r>
              <a:rPr/>
              <a:t>代码 6‑97</a:t>
            </a:r>
          </a:p>
          <a:p>
            <a:pPr lvl="0"/>
            <a:r>
              <a:rPr/>
              <a:t>从上一个函数签名可以看出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6.7.1 一个例子：代码片段（1/6）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在正式介绍 Pregel API 之前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mergeMsg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fromA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fromB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Double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fromA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fromB</a:t>
            </a:r>
            <a:br/>
            <a:r>
              <a:rPr>
                <a:latin typeface="Courier"/>
              </a:rPr>
              <a:t>mergeMsg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fromA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fromB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Double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6.7.1 一个例子：代码片段（2/6）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其次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vprog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balance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credit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balance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credit</a:t>
            </a:r>
            <a:br/>
            <a:r>
              <a:rPr>
                <a:latin typeface="Courier"/>
              </a:rPr>
              <a:t>vprog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balance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credit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Double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6.7.1 一个例子：代码片段（3/6）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最后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paste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Entering paste mode (ctrl-D to finish)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sendMsg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EdgeTriplet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srcAttr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dstAttr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Iterator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empty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Iterator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dstId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srcAttr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srcId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srcAttr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br/>
            <a:r>
              <a:rPr>
                <a:solidFill>
                  <a:srgbClr val="40A070"/>
                </a:solidFill>
                <a:latin typeface="Courier"/>
              </a:rPr>
              <a:t>0.05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Exiting paste mode, now interpreting.</a:t>
            </a:r>
            <a:br/>
            <a:r>
              <a:rPr>
                <a:latin typeface="Courier"/>
              </a:rPr>
              <a:t>sendMsg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EdgeTriplet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])</a:t>
            </a:r>
            <a:r>
              <a:rPr>
                <a:latin typeface="Courier"/>
              </a:rPr>
              <a:t>Iterator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6.7.1 一个例子：代码片段（4/6）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nodes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Long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10.0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nodes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Long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403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33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edges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edges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404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33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graph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Graph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nodes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edges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graph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impl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GraphImpl@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a94bd21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6.7.1 一个例子：代码片段（5/6）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先看一下输出结果：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afterOneIter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pregel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)(</a:t>
            </a:r>
            <a:r>
              <a:rPr>
                <a:latin typeface="Courier"/>
              </a:rPr>
              <a:t>vprog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sendMsg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mergeMsg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afterOneIter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impl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GraphImpl@</a:t>
            </a:r>
            <a:r>
              <a:rPr>
                <a:solidFill>
                  <a:srgbClr val="40A070"/>
                </a:solidFill>
                <a:latin typeface="Courier"/>
              </a:rPr>
              <a:t>2616</a:t>
            </a:r>
            <a:r>
              <a:rPr>
                <a:latin typeface="Courier"/>
              </a:rPr>
              <a:t>f1aa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afterOneIter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vertices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foreach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5.25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9.0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3.75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6.7.1 一个例子：代码片段（6/6）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到这里逻辑已经是通的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afterTenIter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pregel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)(</a:t>
            </a:r>
            <a:r>
              <a:rPr>
                <a:latin typeface="Courier"/>
              </a:rPr>
              <a:t>vprog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sendMsg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mergeMsg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afterTenIter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impl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GraphImpl@dbebab8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afterTenIter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vertices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foreach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5.999611965064453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6.37018749852539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5.630200536410156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afterHundredIters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pregel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solidFill>
                  <a:srgbClr val="666666"/>
                </a:solidFill>
                <a:latin typeface="Courier"/>
              </a:rPr>
              <a:t>)(</a:t>
            </a:r>
            <a:r>
              <a:rPr>
                <a:latin typeface="Courier"/>
              </a:rPr>
              <a:t>vprog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sendMsg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mergeMsg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afterHundredIters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6.7.2 Pregel运算符（1/2）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 Pregel 算子的编程接口正式写出来</a:t>
            </a:r>
          </a:p>
          <a:p>
            <a:pPr lvl="0"/>
            <a:r>
              <a:rPr/>
              <a:t>代码 6‑101</a:t>
            </a:r>
          </a:p>
          <a:p>
            <a:pPr lvl="0"/>
            <a:r>
              <a:rPr/>
              <a:t>Pregel方法在属性图上调用，并返回具有相同类型和结构的新图</a:t>
            </a:r>
          </a:p>
          <a:p>
            <a:pPr lvl="0"/>
            <a:r>
              <a:rPr/>
              <a:t>当没有更多消息要发送时，或者达到指定的最大迭代次数时，Pregel算法终止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6.7.2 Pregel运算符（2/2）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第二个参数列表必须包含三个函数</a:t>
            </a:r>
          </a:p>
          <a:p>
            <a:pPr lvl="0"/>
            <a:r>
              <a:rPr/>
              <a:t>此函数是点程序，将更新点的属性，这些点从先前迭代中接收到消息</a:t>
            </a:r>
          </a:p>
          <a:p>
            <a:pPr lvl="0"/>
            <a:r>
              <a:rPr/>
              <a:t>此函数合并每个点要接收的消息</a:t>
            </a:r>
          </a:p>
          <a:p>
            <a:pPr lvl="0"/>
            <a:r>
              <a:rPr/>
              <a:t>此函数采用三元组，并创建要发送到起始节点或目标节点的消息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6.7.2 Pregel运算符：代码片段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现在把 Pregel 算子的编程接口正式写出来： 的执行步骤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GraphOps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VD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ED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pregel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](</a:t>
            </a:r>
            <a:br/>
            <a:r>
              <a:rPr>
                <a:latin typeface="Courier"/>
              </a:rPr>
              <a:t>    initialMsg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maxIter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MaxValue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activeDir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EdgeDirection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EdgeDirection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Out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)(</a:t>
            </a:r>
            <a:br/>
            <a:r>
              <a:rPr>
                <a:latin typeface="Courier"/>
              </a:rPr>
              <a:t>    vprog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VD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sendMsg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EdgeTriplet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VD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ED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Iterator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</a:t>
            </a:r>
            <a:r>
              <a:rPr>
                <a:solidFill>
                  <a:srgbClr val="666666"/>
                </a:solidFill>
                <a:latin typeface="Courier"/>
              </a:rPr>
              <a:t>)],</a:t>
            </a:r>
            <a:br/>
            <a:r>
              <a:rPr>
                <a:latin typeface="Courier"/>
              </a:rPr>
              <a:t>    mergeMsg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A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VD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ED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6.7.3 标签传播算法（1/2）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标签传播算法（Label Propagation Algorithm</a:t>
            </a:r>
          </a:p>
          <a:p>
            <a:pPr lvl="0"/>
            <a:r>
              <a:rPr/>
              <a:t>当迭代稳定后，标签接近的一组节点往往可以视作同一个社区</a:t>
            </a:r>
          </a:p>
          <a:p>
            <a:pPr lvl="0"/>
            <a:r>
              <a:rPr/>
              <a:t>我们将首先通过将每个点的标签设置为其标识符来初始化LPA图</a:t>
            </a:r>
          </a:p>
          <a:p>
            <a:pPr lvl="0"/>
            <a:r>
              <a:rPr/>
              <a:t>代码 6‑102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6.7.3 标签传播算法（2/2）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将发送到每个节点的初始消息只是一个空映射</a:t>
            </a:r>
          </a:p>
          <a:p>
            <a:pPr lvl="0"/>
            <a:r>
              <a:rPr/>
              <a:t>代码 6‑103</a:t>
            </a:r>
          </a:p>
          <a:p>
            <a:pPr lvl="0"/>
            <a:r>
              <a:rPr/>
              <a:t>对于每个三元组，源节点将收到目标节点的标签，反之亦然</a:t>
            </a:r>
          </a:p>
          <a:p>
            <a:pPr lvl="0"/>
            <a:r>
              <a:rPr/>
              <a:t>代码 6‑104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6.7.3 标签传播算法：代码片段（1/5）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通过在Pregel中实现此算法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lpaGraph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mapVertices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vid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_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vid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6.7.3 标签传播算法：代码片段（2/5）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接下来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type</a:t>
            </a:r>
            <a:r>
              <a:rPr>
                <a:latin typeface="Courier"/>
              </a:rPr>
              <a:t> Label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VertexId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initialMessage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Label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Long</a:t>
            </a:r>
            <a:r>
              <a:rPr>
                <a:solidFill>
                  <a:srgbClr val="666666"/>
                </a:solidFill>
                <a:latin typeface="Courier"/>
              </a:rPr>
              <a:t>]()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6.7.3 标签传播算法：代码片段（3/5）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遵循Pregel编程模型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sendMsg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EdgeTriplet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Label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ED</a:t>
            </a:r>
            <a:r>
              <a:rPr>
                <a:solidFill>
                  <a:srgbClr val="666666"/>
                </a:solidFill>
                <a:latin typeface="Courier"/>
              </a:rPr>
              <a:t>]):</a:t>
            </a:r>
            <a:r>
              <a:rPr>
                <a:latin typeface="Courier"/>
              </a:rPr>
              <a:t> Iterator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Map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Label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Long</a:t>
            </a:r>
            <a:r>
              <a:rPr>
                <a:solidFill>
                  <a:srgbClr val="666666"/>
                </a:solidFill>
                <a:latin typeface="Courier"/>
              </a:rPr>
              <a:t>])]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  Iterator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srcId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dstAttr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1L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dstId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srcAttr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1L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6.7.3 标签传播算法：代码片段（4/5）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我们只需简单地为该标签求和相应的邻居数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mergeMsg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count1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Map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Label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Long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count2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Map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Label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Long</a:t>
            </a:r>
            <a:r>
              <a:rPr>
                <a:solidFill>
                  <a:srgbClr val="666666"/>
                </a:solidFill>
                <a:latin typeface="Courier"/>
              </a:rPr>
              <a:t>]):</a:t>
            </a:r>
            <a:r>
              <a:rPr>
                <a:latin typeface="Courier"/>
              </a:rPr>
              <a:t> Map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Long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count1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keySet </a:t>
            </a:r>
            <a:r>
              <a:rPr>
                <a:solidFill>
                  <a:srgbClr val="666666"/>
                </a:solidFill>
                <a:latin typeface="Courier"/>
              </a:rPr>
              <a:t>++</a:t>
            </a:r>
            <a:r>
              <a:rPr>
                <a:latin typeface="Courier"/>
              </a:rPr>
              <a:t> count2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keySet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map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count1Val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count1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getOrElse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0L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count2Val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count2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getOrElse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0L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i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count1Val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count2Val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}.</a:t>
            </a:r>
            <a:r>
              <a:rPr>
                <a:latin typeface="Courier"/>
              </a:rPr>
              <a:t>toMap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6.7.3 标签传播算法：代码片段（5/5）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最后</a:t>
            </a:r>
          </a:p>
          <a:p>
            <a:pPr lvl="0" indent="0">
              <a:buNone/>
            </a:pPr>
            <a:r>
              <a:rPr>
                <a:latin typeface="Courier"/>
              </a:rPr>
              <a:t>lpaGraph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pregel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initialMessage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50</a:t>
            </a:r>
            <a:r>
              <a:rPr>
                <a:solidFill>
                  <a:srgbClr val="666666"/>
                </a:solidFill>
                <a:latin typeface="Courier"/>
              </a:rPr>
              <a:t>)(</a:t>
            </a:r>
            <a:r>
              <a:rPr>
                <a:latin typeface="Courier"/>
              </a:rPr>
              <a:t>vprog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sendMsg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mergeMsg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6.7.4 PageRank算法（1/2）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目前很多重要的链接分析算法都是在PageRank算法基础上衍生出来的</a:t>
            </a:r>
          </a:p>
          <a:p>
            <a:pPr lvl="0"/>
            <a:r>
              <a:rPr/>
              <a:t>GraphX还包括一个社交网络数据集可以运行PageRank</a:t>
            </a:r>
          </a:p>
          <a:p>
            <a:pPr lvl="0"/>
            <a:r>
              <a:rPr/>
              <a:t>//加载边为Graph</a:t>
            </a:r>
          </a:p>
          <a:p>
            <a:pPr lvl="0"/>
            <a:r>
              <a:rPr/>
              <a:t>//运行PageRank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6.7.4 PageRank算法（2/2）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//用户名连接排名联结</a:t>
            </a:r>
          </a:p>
          <a:p>
            <a:pPr lvl="0"/>
            <a:r>
              <a:rPr/>
              <a:t>//打印出结果</a:t>
            </a:r>
          </a:p>
          <a:p>
            <a:pPr lvl="0"/>
            <a:r>
              <a:rPr/>
              <a:t>代码 6‑107</a:t>
            </a:r>
          </a:p>
          <a:p>
            <a:pPr lvl="0"/>
            <a:r>
              <a:rPr/>
              <a:t>用 Pregel 自己实现一次 PageRank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6.7.4 PageRank算法：代码片段（1/6）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GraphX还包括一个社交网络数据集可以运行PageRank</a:t>
            </a:r>
          </a:p>
          <a:p>
            <a:pPr lvl="0"/>
            <a:r>
              <a:rPr/>
              <a:t>先对照代码理解 //加载边为Graph 的执行步骤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GraphLoader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GraphLoader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graph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GraphLoader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edgeListFile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sc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70A0"/>
                </a:solidFill>
                <a:latin typeface="Courier"/>
              </a:rPr>
              <a:t>"/spark/data/graphx/followers.txt"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graph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impl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GraphImpl@</a:t>
            </a:r>
            <a:r>
              <a:rPr>
                <a:solidFill>
                  <a:srgbClr val="40A070"/>
                </a:solidFill>
                <a:latin typeface="Courier"/>
              </a:rPr>
              <a:t>153</a:t>
            </a:r>
            <a:r>
              <a:rPr>
                <a:latin typeface="Courier"/>
              </a:rPr>
              <a:t>f8c6a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6.7.4 PageRank算法：代码片段（2/6）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//运行PageRank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ranks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pageRank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0.0001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vertices</a:t>
            </a:r>
            <a:br/>
            <a:r>
              <a:rPr>
                <a:latin typeface="Courier"/>
              </a:rPr>
              <a:t>ranks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VertexRDD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VertexRDDImpl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3479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RDD at VertexRDD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57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6.7.4 PageRank算法：代码片段（3/6）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把原始数据从存储读入 Spark</a:t>
            </a:r>
          </a:p>
          <a:p>
            <a:pPr lvl="0"/>
            <a:r>
              <a:rPr/>
              <a:t>把不同来源的数据按关联键接起来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paste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Entering paste mode (ctrl-D to finish)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users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"/spark/data/graphx/users.txt"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map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line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fields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line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","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fields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toLong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fields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Exiting paste mode, now interpreting.</a:t>
            </a:r>
            <a:br/>
            <a:r>
              <a:rPr>
                <a:latin typeface="Courier"/>
              </a:rPr>
              <a:t>users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Long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3488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pastie\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34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paste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Entering paste mode (ctrl-D to finish)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6.7.4 PageRank算法：代码片段（4/6）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/>
            <a:r>
              <a:rPr/>
              <a:t>先对照代码理解 （1）首先我们需要初始化 PageRank 图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ranksByUsername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collect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mkString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"\n"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justinbieber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0.15007622780470478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matei_zaharia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0.7017164142469724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ladygaga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1.3907556008752426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BarackObama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1.4596227918476916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rankGraph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  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outerJoinVertices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graph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outDegrees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vid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vdata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deg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deg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getOrElse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}.</a:t>
            </a:r>
            <a:r>
              <a:rPr>
                <a:solidFill>
                  <a:srgbClr val="06287E"/>
                </a:solidFill>
                <a:latin typeface="Courier"/>
              </a:rPr>
              <a:t>mapTriplets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srcAttr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mapVertices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attr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6.7.4 PageRank算法：代码片段（5/6）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（2）按照Pregel的抽象定义</a:t>
            </a:r>
          </a:p>
          <a:p>
            <a:pPr lvl="0"/>
            <a:r>
              <a:rPr/>
              <a:t>先对照代码理解 接下来是创建消息函数： 的执行步骤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resetProb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0.15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vProg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attr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msgSum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oldPR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lastDelta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attr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newPR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oldPR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resetProb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msgSum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newPR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newPR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oldPR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tol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0.001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sendMessage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EdgeTriplet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])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srcAttr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tol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Iterator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dstId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edge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srcAttr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edge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attr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6.7.4 PageRank算法：代码片段（6/6）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第三个函数为mergeMsg，只是简单地增加等级： 的执行步骤</a:t>
            </a:r>
          </a:p>
          <a:p>
            <a:pPr lvl="0"/>
            <a:r>
              <a:rPr/>
              <a:t>先对照代码理解 然后我们将获得点排名，如下所示： 的执行步骤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mergeMsg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Double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b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rankGraph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pregel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initialMessage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activeDirection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EdgeDirection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Out</a:t>
            </a:r>
            <a:r>
              <a:rPr>
                <a:solidFill>
                  <a:srgbClr val="666666"/>
                </a:solidFill>
                <a:latin typeface="Courier"/>
              </a:rPr>
              <a:t>)(</a:t>
            </a:r>
            <a:r>
              <a:rPr>
                <a:latin typeface="Courier"/>
              </a:rPr>
              <a:t>vProg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sendMsg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mergeMsg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mapVertices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vid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attr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attr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2026-04-05T02:25:13Z</dcterms:created>
  <dcterms:modified xsi:type="dcterms:W3CDTF">2026-04-05T02:25:13Z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