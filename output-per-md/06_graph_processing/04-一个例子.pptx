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app.xml" ContentType="application/vnd.openxmlformats-officedocument.extended-propertie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Overrid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74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zh-CN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 horzBarState="maximized">
    <p:restoredLeft autoAdjust="0" sz="14995"/>
    <p:restoredTop autoAdjust="0" sz="73134"/>
  </p:normalViewPr>
  <p:slideViewPr>
    <p:cSldViewPr snapToGrid="0" snapToObjects="1">
      <p:cViewPr varScale="1">
        <p:scale>
          <a:sx d="100" n="111"/>
          <a:sy d="100" n="111"/>
        </p:scale>
        <p:origin x="594" y="114"/>
      </p:cViewPr>
      <p:guideLst>
        <p:guide orient="horz" pos="2160"/>
        <p:guide pos="3840"/>
      </p:guideLst>
    </p:cSldViewPr>
  </p:slideViewPr>
  <p:notesTextViewPr>
    <p:cViewPr>
      <p:scale>
        <a:sx d="100" n="125"/>
        <a:sy d="100" n="125"/>
      </p:scale>
      <p:origin x="0" y="0"/>
    </p:cViewPr>
  </p:notesTextViewPr>
  <p:sorterViewPr>
    <p:cViewPr>
      <p:scale>
        <a:sx d="100" n="66"/>
        <a:sy d="100" n="66"/>
      </p:scale>
      <p:origin x="0" y="0"/>
    </p:cViewPr>
  </p:sorterViewPr>
  <p:notesViewPr>
    <p:cSldViewPr snapToGrid="0" snapToObjects="1">
      <p:cViewPr varScale="1">
        <p:scale>
          <a:sx d="100" n="74"/>
          <a:sy d="100" n="74"/>
        </p:scale>
        <p:origin x="3528" y="192"/>
      </p:cViewPr>
      <p:guideLst/>
    </p:cSldViewPr>
  </p:notes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notesMaster" Target="notesMasters/notesMaster1.xml" /><Relationship Id="rId17" Type="http://schemas.openxmlformats.org/officeDocument/2006/relationships/tableStyles" Target="tableStyles.xml" /><Relationship Id="rId1" Type="http://schemas.openxmlformats.org/officeDocument/2006/relationships/slideMaster" Target="slideMasters/slideMaster1.xml" /><Relationship Id="rId16" Type="http://schemas.openxmlformats.org/officeDocument/2006/relationships/theme" Target="theme/theme1.xml" /><Relationship Id="rId15" Type="http://schemas.openxmlformats.org/officeDocument/2006/relationships/viewProps" Target="viewProps.xml" /><Relationship Id="rId14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63BC92-6832-A747-B637-CA8F71133A42}" type="datetimeFigureOut">
              <a:rPr lang="en-US" smtClean="0"/>
              <a:t>4/4/2026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9B7EA9-A690-144F-BA16-8B1F010DDC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35398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这一节先在 Spark 交互环境里构造一个最小社交网络，再用它演示 GraphX 最常见的建图与探索流程。开始之前，先导入 GraphX 和 RDD 相关包。 接下来重点看 一个例子，先把这一节要处理的对象和关键步骤放稳。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再用它演示 GraphX 最常见的建图与探索流程。开始之前，先导入 GraphX 和 RDD 相关包。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在交互环境中，SparkContext 通常已经自动创建好，可以直接用来从本地文件系统或分布式存储加载数据。这里我们使用 /data 目录下的两个 CSV 文件 people.csv 和 links.csv，分别表示人物节点和人物之间的连接关系。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在 GraphX 里，最核心的抽象是“属性图”：顶点和边都可以携带用户定义的属性对象。Graph 类可以粗略理解成下面这样的结构。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实际上，这是通过对Graph、VertexRDD和EdgeRDD类进行参数化来定义属性图，其中的VD和ED表示点或边的属性。另外，图的每个边定义为单向关系，但是任意一对点之间可以存在多个边。Graph类提供了获取方法来访问其点和边，它们被抽象为RDD的子类VertexRDD VD和EdgeRDD ED，VD，此处的VD和ED为Scala的类型参数。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这一句是在确定输入边界。讲的时候要说明数据来自哪里、现在进入了什么抽象对象，以及后面的转换是围绕哪个数据集继续推进的。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map 的作用是保持数据条数大体不变，但把每条记录改造成更适合后续计算的形式。讲的时候要点出转换前后的结构差异。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  <a:p>
            <a:pPr lvl="0" indent="0" marL="0">
              <a:buNone/>
            </a:pPr>
          </a:p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前面的转换大多只是把执行计划串起来，直到这里遇到 action，Spark 才会真正下发任务。这个时点是理解执行模型的关键。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讲这段代码时，先指出输入对象，再说明中间做了哪些转换，最后在哪里触发执行或写出结果。这样听众能把 API 调用和完整处理链对上。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9B7EA9-A690-144F-BA16-8B1F010DDC74}" type="slidenum">
              <a:rPr lang="en-US"/>
              <a:t>11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CABF76-9C2F-D371-903D-E97C0E1B9C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92F9890-10D8-CB5F-B6C5-6AA3D4B95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F913E87-A25C-F596-9980-BB331ACDF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832175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AA5FF4F-7DD0-1B50-1776-21D6767FEC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1660517-C7E1-2345-BAEE-7DE4EEC41D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ADE76A-020F-D5F0-0BC4-B610078D3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29570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1">
          <a:blip r:embed="rId3">
            <a:alphaModFix amt="40000"/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040073-8706-9CF2-AB5C-43344524D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8962" y="1709738"/>
            <a:ext cx="1007848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B6A5AA-2CE0-7F97-999B-C5F0DDBACE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68962" y="4589463"/>
            <a:ext cx="10078488" cy="1500187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106CB1-EA12-800C-FE5D-A580F81038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820A361-2D0D-58AE-A643-51A378977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87CFBA-3BD7-C2DF-B3EF-CB4E61251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88649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36834E-C79A-EEEC-7C4D-B21EC99CC7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E83A1-72B1-E824-1FEC-9FA81425D1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7D04530-5C4D-D318-A728-0F5A61C8A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011C699-0C81-4E34-1FBE-DAF9131B51B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FC7A728-6EA6-5B23-E109-2190ADC5E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651E736-A63F-E249-DAAD-375440957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7563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B7B26F5-D101-7F53-EEA6-B180C2D3E4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E523223-7C55-5B3B-9E25-5DBF0C9845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0B2B2FF-B432-8FC4-4967-D96BF98AF7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1C93D20-432B-7986-DC93-16510407A3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482581EC-B1B9-061F-D484-D2558A5863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6A5BF5B-F3CF-47CF-BE24-A37965296F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45CDA27-DD70-2B01-5F59-257B263DA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2875554E-B481-827A-280A-5CFE24C3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85392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4175C2C-5148-B92D-0F2C-01739D3A3B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86D78FA-5E3B-1D60-F1DF-9C9D717C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E05D53A-E3B7-A12B-A85C-94087F17F9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0B9AB23-A358-A513-F247-6668D1A71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1027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A1C6BA2-220C-C148-07F6-4F9EFDCF0BE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DC964A1C-DA2A-2AFD-30E4-0884A5B01E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A517830-35C2-8994-A464-96771B000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293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6D2CB4-AB0D-17DE-E2B4-209C273FC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F0E53D-7A81-84EB-758C-7F237FBAD6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99B1241-8411-8D36-A148-57CE3BE46F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E7D7C1-BED9-CCE3-1928-1646D4F172A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E176011-BC01-0349-F55D-BB6FB8393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3A4B918-0508-C574-25D4-E60D9AF291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0312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D2217CC-6ABA-2E5C-F68E-2016D6773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EF7925F-0C0E-5E47-AB8B-D7C46C5F2C0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37ACCD2-AA78-6C23-14F6-251A042FD0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DDF9F0E-8B9C-0C2B-54FC-1914BEC8A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F57E80-0D1C-034D-97FC-0F7515CC5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08D629-2887-6D93-5948-37C821477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7010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88E821-5A2C-D478-CC69-D9FCF918B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138B5FD-C9D5-1F5D-4127-D4692377A8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BADB43B-FD92-40FB-7B50-30ECF4001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4BC46E9-B1B0-7A6A-491D-CC69ED647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8019B09-F8C1-4ACD-8941-CB6457B59B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4897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12E23E3-A5B8-E1F3-CCAE-C8FC039869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5ABE13-47FF-9320-0BD9-0213F7FC7B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1BB3054-4D7F-3B3B-E1A3-1357944A128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8EEF123-5015-42F6-8687-0B3BE1403F52}" type="datetimeFigureOut">
              <a:rPr lang="zh-CN" altLang="en-US" smtClean="0"/>
              <a:t>2026/4/4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202E990-2169-8BC6-65CE-47FB9207B7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C2F675A-7299-AC6A-E0D6-3D6A6E1549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7B631E4-8720-4193-BD91-A57797451EA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27382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0307277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626394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14" name="标题 13">
            <a:extLst>
              <a:ext uri="{FF2B5EF4-FFF2-40B4-BE49-F238E27FC236}">
                <a16:creationId xmlns:a16="http://schemas.microsoft.com/office/drawing/2014/main" id="{64A1D4AA-A48D-D777-0AD4-B6CC476AC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670949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13" Target="../slideLayouts/slideLayout13.xml" Type="http://schemas.openxmlformats.org/officeDocument/2006/relationships/slideLayout" /><Relationship Id="rId18" Target="../media/hdphoto1.wdp" Type="http://schemas.microsoft.com/office/2007/relationships/hdphoto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slideLayouts/slideLayout12.xml" Type="http://schemas.openxmlformats.org/officeDocument/2006/relationships/slideLayout" /><Relationship Id="rId17" Target="../media/image2.png" Type="http://schemas.openxmlformats.org/officeDocument/2006/relationships/image" /><Relationship Id="rId2" Target="../slideLayouts/slideLayout2.xml" Type="http://schemas.openxmlformats.org/officeDocument/2006/relationships/slideLayout" /><Relationship Id="rId16" Target="../media/image1.jpeg" Type="http://schemas.openxmlformats.org/officeDocument/2006/relationships/image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5" Target="../theme/theme1.xml" Type="http://schemas.openxmlformats.org/officeDocument/2006/relationships/theme" /><Relationship Id="rId10" Target="../slideLayouts/slideLayout10.xml" Type="http://schemas.openxmlformats.org/officeDocument/2006/relationships/slideLayout" /><Relationship Id="rId19" Target="../media/image3.png" Type="http://schemas.openxmlformats.org/officeDocument/2006/relationships/image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Relationship Id="rId14" Target="../slideLayouts/slideLayout14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Pr>
        <a:blipFill dpi="0" rotWithShape="1">
          <a:blip r:embed="rId16">
            <a:alphaModFix amt="20000"/>
            <a:lum/>
          </a:blip>
          <a:srcRect/>
          <a:stretch>
            <a:fillRect b="-17000" t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714DF98-5C64-7150-9E37-0A26AD552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35519"/>
            <a:ext cx="10515600" cy="584775"/>
          </a:xfrm>
          <a:prstGeom prst="rect">
            <a:avLst/>
          </a:prstGeom>
          <a:noFill/>
        </p:spPr>
        <p:txBody>
          <a:bodyPr anchor="ctr" bIns="45720" lIns="91440" rIns="91440" rtlCol="0" tIns="45720" vert="horz" wrap="square">
            <a:spAutoFit/>
          </a:bodyPr>
          <a:lstStyle/>
          <a:p>
            <a:pPr lvl="0">
              <a:lnSpc>
                <a:spcPct val="100000"/>
              </a:lnSpc>
              <a:spcBef>
                <a:spcPts val="0"/>
              </a:spcBef>
            </a:pPr>
            <a:r>
              <a:rPr altLang="en-US" dirty="0" lang="zh-CN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F1ED77A-6F56-8189-29CB-B4EB20CA5FD3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altLang="en-US" dirty="0" lang="zh-CN"/>
              <a:t>单击此处编辑母版文本样式</a:t>
            </a:r>
          </a:p>
          <a:p>
            <a:pPr lvl="1"/>
            <a:r>
              <a:rPr altLang="en-US" dirty="0" lang="zh-CN"/>
              <a:t>二级</a:t>
            </a:r>
          </a:p>
          <a:p>
            <a:pPr lvl="2"/>
            <a:r>
              <a:rPr altLang="en-US" dirty="0" lang="zh-CN"/>
              <a:t>三级</a:t>
            </a:r>
          </a:p>
          <a:p>
            <a:pPr lvl="3"/>
            <a:r>
              <a:rPr altLang="en-US" dirty="0" lang="zh-CN"/>
              <a:t>四级</a:t>
            </a:r>
          </a:p>
          <a:p>
            <a:pPr lvl="4"/>
            <a:r>
              <a:rPr altLang="en-US" dirty="0" lang="zh-CN"/>
              <a:t>五级</a:t>
            </a:r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6CC9F776-5292-4839-0068-42EAAE8C7659}"/>
              </a:ext>
            </a:extLst>
          </p:cNvPr>
          <p:cNvPicPr>
            <a:picLocks noChangeAspect="1"/>
          </p:cNvPicPr>
          <p:nvPr/>
        </p:nvPicPr>
        <p:blipFill>
          <a:blip r:embed="rId1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16" name="文本框 15">
            <a:extLst>
              <a:ext uri="{FF2B5EF4-FFF2-40B4-BE49-F238E27FC236}">
                <a16:creationId xmlns:a16="http://schemas.microsoft.com/office/drawing/2014/main" id="{10252A6B-D22C-1FFF-7CD7-2797A3B06E02}"/>
              </a:ext>
            </a:extLst>
          </p:cNvPr>
          <p:cNvSpPr txBox="1"/>
          <p:nvPr userDrawn="1"/>
        </p:nvSpPr>
        <p:spPr>
          <a:xfrm>
            <a:off x="266700" y="6358381"/>
            <a:ext cx="7391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altLang="zh-CN" b="1" dirty="0" lang="en-US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Spark</a:t>
            </a:r>
            <a:r>
              <a:rPr altLang="en-US" b="1" dirty="0" lang="zh-CN" sz="1800">
                <a:solidFill>
                  <a:schemeClr val="accent1">
                    <a:lumMod val="50000"/>
                  </a:schemeClr>
                </a:solidFill>
                <a:latin typeface="+mn-ea"/>
                <a:ea typeface="+mn-ea"/>
              </a:rPr>
              <a:t>大数据处理与分析</a:t>
            </a:r>
            <a:endParaRPr altLang="zh-CN" b="1" dirty="0" lang="en-US" sz="1800">
              <a:solidFill>
                <a:schemeClr val="accent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7A2A7D-0836-8064-84AF-C5C04388AF55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20" name="灯片编号占位符 19">
            <a:extLst>
              <a:ext uri="{FF2B5EF4-FFF2-40B4-BE49-F238E27FC236}">
                <a16:creationId xmlns:a16="http://schemas.microsoft.com/office/drawing/2014/main" id="{4E42EA9E-7BFF-27BB-8638-431F7EB183E5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7B631E4-8720-4193-BD91-A57797451EA0}" type="slidenum">
              <a:rPr altLang="en-US" lang="zh-CN" smtClean="0"/>
              <a:t>‹#›</a:t>
            </a:fld>
            <a:endParaRPr altLang="en-US" lang="zh-CN"/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BD03D8B6-2E6F-DE3D-066C-D416D1C45132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3160EEE-490B-5030-FED2-0EC36FD18C3B}"/>
              </a:ext>
            </a:extLst>
          </p:cNvPr>
          <p:cNvPicPr>
            <a:picLocks noChangeAspect="1"/>
          </p:cNvPicPr>
          <p:nvPr/>
        </p:nvPicPr>
        <p:blipFill>
          <a:blip r:embed="rId19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18">
                    <a14:imgEffect>
                      <a14:sharpenSoften amount="500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555894" y="6281738"/>
            <a:ext cx="2255106" cy="482845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641C8EA-C930-33E7-0AF8-E3DC8FB99AE6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6B5E3EF-301A-2167-0ED5-3367AB2AEFAA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E6FC059A-07D8-B100-64B1-92B15B46D551}"/>
              </a:ext>
            </a:extLst>
          </p:cNvPr>
          <p:cNvSpPr/>
          <p:nvPr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3C829FA-2334-6AE9-EB03-26596912CE91}"/>
              </a:ext>
            </a:extLst>
          </p:cNvPr>
          <p:cNvSpPr/>
          <p:nvPr userDrawn="1"/>
        </p:nvSpPr>
        <p:spPr>
          <a:xfrm>
            <a:off x="0" y="6176963"/>
            <a:ext cx="12192000" cy="4571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 rtlCol="0"/>
          <a:lstStyle/>
          <a:p>
            <a:pPr algn="ctr"/>
            <a:endParaRPr altLang="en-US" lang="zh-CN"/>
          </a:p>
        </p:txBody>
      </p:sp>
    </p:spTree>
    <p:extLst>
      <p:ext uri="{BB962C8B-B14F-4D97-AF65-F5344CB8AC3E}">
        <p14:creationId xmlns:p14="http://schemas.microsoft.com/office/powerpoint/2010/main" val="196882706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73" r:id="rId14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altLang="en-US" b="1" kern="1200" lang="zh-CN" sz="3200">
          <a:solidFill>
            <a:schemeClr val="tx1">
              <a:lumMod val="85000"/>
              <a:lumOff val="15000"/>
            </a:schemeClr>
          </a:solidFill>
          <a:effectLst>
            <a:reflection algn="bl" blurRad="6350" dir="5400000" dist="25400" endPos="27000" rotWithShape="0" stA="30000" sy="-100000"/>
          </a:effectLst>
          <a:latin typeface="+mn-lt"/>
          <a:ea typeface="+mn-ea"/>
          <a:cs typeface="+mn-ea"/>
        </a:defRPr>
      </a:lvl1pPr>
    </p:titleStyle>
    <p:bodyStyle>
      <a:lvl1pPr algn="l" defTabSz="914400" eaLnBrk="1" hangingPunct="1" indent="-228600" latinLnBrk="0" marL="228600" rtl="0">
        <a:lnSpc>
          <a:spcPct val="114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114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这一节先在 Spark 交互环境里构造一个最小社交网络</a:t>
            </a:r>
          </a:p>
          <a:p>
            <a:pPr lvl="0"/>
            <a:r>
              <a:rPr/>
              <a:t>代码 6‑2</a:t>
            </a:r>
          </a:p>
          <a:p>
            <a:pPr lvl="0"/>
            <a:r>
              <a:rPr/>
              <a:t>可以直接用来从本地文件系统或分布式存储加载数据</a:t>
            </a:r>
          </a:p>
          <a:p>
            <a:pPr lvl="0"/>
            <a:r>
              <a:rPr/>
              <a:t>代码 6‑3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一个例子（1/2）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这一节先在 Spark 交互环境里构造一个最小社交网络</a:t>
            </a:r>
          </a:p>
          <a:p>
            <a:pPr lvl="0"/>
            <a:r>
              <a:rPr/>
              <a:t>代码 6‑2</a:t>
            </a:r>
          </a:p>
          <a:p>
            <a:pPr lvl="0"/>
            <a:r>
              <a:rPr/>
              <a:t>可以直接用来从本地文件系统或分布式存储加载数据</a:t>
            </a:r>
          </a:p>
          <a:p>
            <a:pPr lvl="0"/>
            <a:r>
              <a:rPr/>
              <a:t>代码 6‑3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一个例子（2/2）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从 CSV 读进来的只是字符串形式的 RDD</a:t>
            </a:r>
          </a:p>
          <a:p>
            <a:pPr lvl="0"/>
            <a:r>
              <a:rPr/>
              <a:t>要真正构建图，还需要把它们解析成顶点集合和边集合</a:t>
            </a:r>
          </a:p>
          <a:p>
            <a:pPr lvl="0"/>
            <a:r>
              <a:rPr/>
              <a:t>代码 6‑4</a:t>
            </a:r>
          </a:p>
          <a:p>
            <a:pPr lvl="0"/>
            <a:r>
              <a:rPr/>
              <a:t>这是通过对Graph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一个例子：代码片段（1/8）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这一节先在 Spark 交互环境里构造一个最小社交网络</a:t>
            </a:r>
          </a:p>
          <a:p>
            <a:pPr lvl="0"/>
            <a:r>
              <a:rPr/>
              <a:t>把原始数据从存储读入 Spark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_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import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people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"/data/people.csv"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people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people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links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sc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textFile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"/data/links.csv"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links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String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data</a:t>
            </a:r>
            <a:r>
              <a:rPr>
                <a:solidFill>
                  <a:srgbClr val="666666"/>
                </a:solidFill>
                <a:latin typeface="Courier"/>
              </a:rPr>
              <a:t>/</a:t>
            </a:r>
            <a:r>
              <a:rPr>
                <a:latin typeface="Courier"/>
              </a:rPr>
              <a:t>links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csv</a:t>
            </a:r>
            <a:br/>
            <a:r>
              <a:rPr>
                <a:latin typeface="Courier"/>
              </a:rPr>
              <a:t>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textFile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28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一个例子：代码片段（2/8）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从 CSV 读进来的只是字符串形式的 RDD</a:t>
            </a:r>
          </a:p>
          <a:p>
            <a:pPr lvl="0"/>
            <a:r>
              <a:rPr/>
              <a:t>先对照代码理解 （1）定义一个案例类Person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VD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vertices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VertexRDD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VD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edges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EdgeRDD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ED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VD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String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age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08000"/>
                </a:solidFill>
                <a:latin typeface="Courier"/>
              </a:rPr>
              <a:t>Int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Person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一个例子：代码片段（3/8）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用 map 把输入转换成后续要处理的结构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peopleRDD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Person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people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','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row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toInt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peopleRDD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RDD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MapPartitionsRDD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at map at \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console\</a:t>
            </a:r>
            <a:r>
              <a:rPr>
                <a:solidFill>
                  <a:srgbClr val="666666"/>
                </a:solidFill>
                <a:latin typeface="Courier"/>
              </a:rPr>
              <a:t>&gt;:</a:t>
            </a:r>
            <a:r>
              <a:rPr>
                <a:solidFill>
                  <a:srgbClr val="40A070"/>
                </a:solidFill>
                <a:latin typeface="Courier"/>
              </a:rPr>
              <a:t>31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Connection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String</a:t>
            </a:r>
            <a:br/>
            <a:r>
              <a:rPr>
                <a:latin typeface="Courier"/>
              </a:rPr>
              <a:t>defined </a:t>
            </a:r>
            <a:r>
              <a:rPr b="1">
                <a:solidFill>
                  <a:srgbClr val="007020"/>
                </a:solidFill>
                <a:latin typeface="Courier"/>
              </a:rPr>
              <a:t>type</a:t>
            </a:r>
            <a:r>
              <a:rPr>
                <a:latin typeface="Courier"/>
              </a:rPr>
              <a:t> alias Connection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linksRDD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RDD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Connection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links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split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','</a:t>
            </a:r>
            <a:r>
              <a:rPr>
                <a:solidFill>
                  <a:srgbClr val="666666"/>
                </a:solidFill>
                <a:latin typeface="Courier"/>
              </a:rPr>
              <a:t>)).</a:t>
            </a:r>
            <a:r>
              <a:rPr>
                <a:solidFill>
                  <a:srgbClr val="06287E"/>
                </a:solidFill>
                <a:latin typeface="Courier"/>
              </a:rPr>
              <a:t>map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row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toInt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row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linksRDD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一个例子：代码片段（4/8）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在GraphX中</a:t>
            </a:r>
          </a:p>
          <a:p>
            <a:pPr lvl="0"/>
            <a:r>
              <a:rPr/>
              <a:t>先对照代码理解 （3）使用工厂方法Graph()创建社交网络图</a:t>
            </a:r>
          </a:p>
          <a:p>
            <a:pPr lvl="0" indent="0" marL="0">
              <a:buNone/>
            </a:pPr>
            <a:r>
              <a:rPr/>
              <a:t>片段 1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srcId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dstId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attr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ED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  <a:p>
            <a:pPr lvl="0" indent="0" marL="0">
              <a:buNone/>
            </a:pPr>
            <a:r>
              <a:rPr/>
              <a:t>片段 2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tinySocial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Connection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peopleRDD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linksRDD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tinySocial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Connection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impl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GraphImpl@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latin typeface="Courier"/>
              </a:rPr>
              <a:t>dfc833b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一个例子：代码片段（5/8）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tinySocial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vertices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res0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[(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VertexId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Person</a:t>
            </a:r>
            <a:r>
              <a:rPr>
                <a:solidFill>
                  <a:srgbClr val="666666"/>
                </a:solidFill>
                <a:latin typeface="Courier"/>
              </a:rPr>
              <a:t>)]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Dave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25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Faith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21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Harvey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47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Bob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18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Alice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Charlie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br/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George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34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Ivy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21</a:t>
            </a:r>
            <a:r>
              <a:rPr>
                <a:solidFill>
                  <a:srgbClr val="666666"/>
                </a:solidFill>
                <a:latin typeface="Courier"/>
              </a:rPr>
              <a:t>)),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06287E"/>
                </a:solidFill>
                <a:latin typeface="Courier"/>
              </a:rPr>
              <a:t>Person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Eve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30</a:t>
            </a:r>
            <a:r>
              <a:rPr>
                <a:solidFill>
                  <a:srgbClr val="666666"/>
                </a:solidFill>
                <a:latin typeface="Courier"/>
              </a:rPr>
              <a:t>)))</a:t>
            </a:r>
            <a:br/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tinySocial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res1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Array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org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apache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spark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graphx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Connection</a:t>
            </a:r>
            <a:r>
              <a:rPr>
                <a:solidFill>
                  <a:srgbClr val="666666"/>
                </a:solidFill>
                <a:latin typeface="Courier"/>
              </a:rPr>
              <a:t>]]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br/>
            <a:r>
              <a:rPr>
                <a:latin typeface="Courier"/>
              </a:rPr>
              <a:t>Array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friend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sister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brother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3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2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boss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4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5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client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friend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6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cousin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br/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7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coworker</a:t>
            </a:r>
            <a:r>
              <a:rPr>
                <a:solidFill>
                  <a:srgbClr val="666666"/>
                </a:solidFill>
                <a:latin typeface="Courier"/>
              </a:rPr>
              <a:t>),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A070"/>
                </a:solidFill>
                <a:latin typeface="Courier"/>
              </a:rPr>
              <a:t>8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solidFill>
                  <a:srgbClr val="40A070"/>
                </a:solidFill>
                <a:latin typeface="Courier"/>
              </a:rPr>
              <a:t>9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father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一个例子：代码片段（6/8）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现在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profLinks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Connection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solidFill>
                  <a:srgbClr val="4070A0"/>
                </a:solidFill>
                <a:latin typeface="Courier"/>
              </a:rPr>
              <a:t>"coworker"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"boss"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solidFill>
                  <a:srgbClr val="4070A0"/>
                </a:solidFill>
                <a:latin typeface="Courier"/>
              </a:rPr>
              <a:t>"employee"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"client"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"supplier"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latin typeface="Courier"/>
              </a:rPr>
              <a:t>profLinks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[</a:t>
            </a:r>
            <a:r>
              <a:rPr>
                <a:latin typeface="Courier"/>
              </a:rPr>
              <a:t>Connection</a:t>
            </a:r>
            <a:r>
              <a:rPr>
                <a:solidFill>
                  <a:srgbClr val="666666"/>
                </a:solidFill>
                <a:latin typeface="Courier"/>
              </a:rPr>
              <a:t>]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List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coworker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boss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employee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client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br/>
            <a:r>
              <a:rPr>
                <a:latin typeface="Courier"/>
              </a:rPr>
              <a:t>supplier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一个例子：代码片段（7/8）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通过 action 触发前面的惰性计算真正执行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val</a:t>
            </a:r>
            <a:r>
              <a:rPr>
                <a:latin typeface="Courier"/>
              </a:rPr>
              <a:t> profNetwork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tinySocial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edges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filter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_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_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link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profLinks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link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solidFill>
                  <a:srgbClr val="06287E"/>
                </a:solidFill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src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dst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link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&lt;-</a:t>
            </a:r>
            <a:r>
              <a:rPr>
                <a:latin typeface="Courier"/>
              </a:rPr>
              <a:t> profNetwork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collect</a:t>
            </a:r>
            <a:r>
              <a:rPr>
                <a:solidFill>
                  <a:srgbClr val="666666"/>
                </a:solidFill>
                <a:latin typeface="Courier"/>
              </a:rPr>
              <a:t>()</a:t>
            </a:r>
            <a:br/>
            <a:r>
              <a:rPr>
                <a:latin typeface="Courier"/>
              </a:rPr>
              <a:t>srcName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peopleRDD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filter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person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id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src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first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</a:t>
            </a:r>
            <a:br/>
            <a:r>
              <a:rPr>
                <a:latin typeface="Courier"/>
              </a:rPr>
              <a:t>dstName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peopleRDD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filter </a:t>
            </a:r>
            <a:r>
              <a:rPr>
                <a:solidFill>
                  <a:srgbClr val="666666"/>
                </a:solidFill>
                <a:latin typeface="Courier"/>
              </a:rPr>
              <a:t>{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case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id</a:t>
            </a:r>
            <a:r>
              <a:rPr>
                <a:solidFill>
                  <a:srgbClr val="666666"/>
                </a:solidFill>
                <a:latin typeface="Courier"/>
              </a:rPr>
              <a:t>,</a:t>
            </a:r>
            <a:r>
              <a:rPr>
                <a:latin typeface="Courier"/>
              </a:rPr>
              <a:t> person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id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dst </a:t>
            </a:r>
            <a:r>
              <a:rPr>
                <a:solidFill>
                  <a:srgbClr val="666666"/>
                </a:solidFill>
                <a:latin typeface="Courier"/>
              </a:rPr>
              <a:t>}</a:t>
            </a:r>
            <a:br/>
            <a:r>
              <a:rPr>
                <a:latin typeface="Courier"/>
              </a:rPr>
              <a:t>first</a:t>
            </a:r>
            <a:r>
              <a:rPr>
                <a:solidFill>
                  <a:srgbClr val="666666"/>
                </a:solidFill>
                <a:latin typeface="Courier"/>
              </a:rPr>
              <a:t>).</a:t>
            </a:r>
            <a:r>
              <a:rPr>
                <a:latin typeface="Courier"/>
              </a:rPr>
              <a:t>_2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</a:t>
            </a:r>
            <a:br/>
            <a:r>
              <a:rPr>
                <a:solidFill>
                  <a:srgbClr val="666666"/>
                </a:solidFill>
                <a:latin typeface="Courier"/>
              </a:rPr>
              <a:t>}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srcName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is a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link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of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dstName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...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406B4F-424B-B307-C3E1-7BA847CEAC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6.4 一个例子：代码片段（8/8）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8627936-7FCB-D70F-0816-80204DB4F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先对照代码理解 代码 6‑10有两个问题。首先不是很简洁和富有表现力</a:t>
            </a:r>
          </a:p>
          <a:p>
            <a:pPr lvl="0" indent="0">
              <a:buNone/>
            </a:pPr>
            <a:r>
              <a:rPr>
                <a:latin typeface="Courier"/>
              </a:rPr>
              <a:t>scala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:</a:t>
            </a:r>
            <a:r>
              <a:rPr>
                <a:latin typeface="Courier"/>
              </a:rPr>
              <a:t>paste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Entering paste mode (ctrl-D to finish)</a:t>
            </a:r>
            <a:br/>
            <a:r>
              <a:rPr>
                <a:latin typeface="Courier"/>
              </a:rPr>
              <a:t>tinySocial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subgraph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epred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)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profLinks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contains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edge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triplets</a:t>
            </a:r>
            <a:br/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solidFill>
                  <a:srgbClr val="06287E"/>
                </a:solidFill>
                <a:latin typeface="Courier"/>
              </a:rPr>
              <a:t>foreach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 </a:t>
            </a:r>
            <a:r>
              <a:rPr>
                <a:solidFill>
                  <a:srgbClr val="666666"/>
                </a:solidFill>
                <a:latin typeface="Courier"/>
              </a:rPr>
              <a:t>=&gt;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println</a:t>
            </a:r>
            <a:r>
              <a:rPr>
                <a:solidFill>
                  <a:srgbClr val="666666"/>
                </a:solidFill>
                <a:latin typeface="Courier"/>
              </a:rPr>
              <a:t>(</a:t>
            </a:r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srcAttr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is a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attr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70A0"/>
                </a:solidFill>
                <a:latin typeface="Courier"/>
              </a:rPr>
              <a:t>" of "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666666"/>
                </a:solidFill>
                <a:latin typeface="Courier"/>
              </a:rPr>
              <a:t>+</a:t>
            </a:r>
            <a:br/>
            <a:r>
              <a:rPr>
                <a:latin typeface="Courier"/>
              </a:rPr>
              <a:t>t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dstAttr</a:t>
            </a:r>
            <a:r>
              <a:rPr>
                <a:solidFill>
                  <a:srgbClr val="666666"/>
                </a:solidFill>
                <a:latin typeface="Courier"/>
              </a:rPr>
              <a:t>.</a:t>
            </a:r>
            <a:r>
              <a:rPr>
                <a:latin typeface="Courier"/>
              </a:rPr>
              <a:t>name</a:t>
            </a:r>
            <a:r>
              <a:rPr>
                <a:solidFill>
                  <a:srgbClr val="666666"/>
                </a:solidFill>
                <a:latin typeface="Courier"/>
              </a:rPr>
              <a:t>))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// Exiting paste mode, now interpreting.</a:t>
            </a:r>
            <a:br/>
            <a:r>
              <a:rPr>
                <a:latin typeface="Courier"/>
              </a:rPr>
              <a:t>Charlie is a boss of Bob</a:t>
            </a:r>
            <a:br/>
            <a:r>
              <a:rPr>
                <a:latin typeface="Courier"/>
              </a:rPr>
              <a:t>George is a coworker of Ivy</a:t>
            </a:r>
            <a:br/>
            <a:r>
              <a:rPr>
                <a:latin typeface="Courier"/>
              </a:rPr>
              <a:t>Dave is a client of Eve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4EB0031E-9AF1-4EF9-947E-CF21025E1F57}" vid="{E1AA6518-1FF8-4BC2-BEB6-E59B2C6B167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Arial</vt:lpstr>
      <vt:lpstr>Calibri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2026-04-05T02:25:03Z</dcterms:created>
  <dcterms:modified xsi:type="dcterms:W3CDTF">2026-04-05T02:25:03Z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