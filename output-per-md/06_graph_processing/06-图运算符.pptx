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notesMaster" Target="notesMasters/notesMaster1.xml" /><Relationship Id="rId63" Type="http://schemas.openxmlformats.org/officeDocument/2006/relationships/tableStyles" Target="tableStyles.xml" /><Relationship Id="rId1" Type="http://schemas.openxmlformats.org/officeDocument/2006/relationships/slideMaster" Target="slideMasters/slideMaster1.xml" /><Relationship Id="rId62" Type="http://schemas.openxmlformats.org/officeDocument/2006/relationships/theme" Target="theme/theme1.xml" /><Relationship Id="rId61" Type="http://schemas.openxmlformats.org/officeDocument/2006/relationships/viewProps" Target="viewProps.xml" /><Relationship Id="rId6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如果已经决定使用 GraphX，真正有价值的就是这一组属性图运算符。GraphX将图计算和数据计算集成到一个系统中，数据不仅可以被当作图来进行操作，同样也可以被当作表进行操作。 接下来会依次看 图运算符、属性运算符，以及 结构运算符，后面的实现和案例都会沿着这条线继续展开。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这一页先看前半段主线，重点包括 图运算符、属性运算符、结构运算符，以及 联结运算符。先把前面的入口和处理顺序放稳，后面再继续往下展开。</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这一页补上后半段主线，重点包括 点和边操作 和 收集相邻信息。把这几步和前面的内容接起来，整节课的推进顺序就完整了。</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aphX将图计算和数据计算集成到一个系统中，数据不仅可以被当作图来进行操作，同样也可以被当作表进行操作。它支持大量图计算的基本操作，如subgraph()、mapReduceTriplets()等操作，也支持数据并行计算的基本操作，如map()、reduce()、filter()、join()等。</a:t>
            </a:r>
          </a:p>
          <a:p>
            <a:pPr lvl="0" indent="0" marL="0">
              <a:buNone/>
            </a:pPr>
          </a:p>
          <a:p>
            <a:pPr lvl="0" indent="0" marL="0">
              <a:buNone/>
            </a:pPr>
            <a:r>
              <a:rPr/>
              <a:t>正如RDD具有基本操作map()、filter()和reduceByKey()，属性图也具有基本操作集合，可以使用用户定义函数，并生成具有转换的属性和结构的新图。</a:t>
            </a:r>
          </a:p>
          <a:p>
            <a:pPr lvl="0" indent="0" marL="0">
              <a:buNone/>
            </a:pPr>
          </a:p>
          <a:p>
            <a:pPr lvl="0" indent="0" marL="0">
              <a:buNone/>
            </a:pPr>
            <a:r>
              <a:rPr/>
              <a:t>然后就可以通过Graph对象调用GraphOps类中的方法，例如可以通过以下方法计算每个点的度数，inDegrees()是在GraphOps类中定义。</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把核心图操作和 GraphOps 拆开，一个重要原因是 GraphX 未来可以支持不同的底层图表示：每种表示只要实现核心能力，就能复用 GraphOps 里这批更高层的辅助操作。下面先把 Graph 与 GraphOps 中最常用的一组函数汇总起来。</a:t>
            </a:r>
          </a:p>
          <a:p>
            <a:pPr lvl="0" indent="0" marL="0">
              <a:buNone/>
            </a:pPr>
          </a:p>
          <a:p>
            <a:pPr lvl="0" indent="0" marL="0">
              <a:buNone/>
            </a:pPr>
            <a:r>
              <a:rPr/>
              <a:t>这里对部分函数签名做了简化，例如省略默认参数、类型约束和更高级的变体。</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与RDD的map()运算符一样，属性图包含mapVertices()、mapEdges()和mapTriplets()等方法，这些运算符中的每一个产生一个新的图，其点或边属性被用户定义的map()函数修改。</a:t>
            </a:r>
          </a:p>
          <a:p>
            <a:pPr lvl="0" indent="0" marL="0">
              <a:buNone/>
            </a:pPr>
          </a:p>
          <a:p>
            <a:pPr lvl="0" indent="0" marL="0">
              <a:buNone/>
            </a:pPr>
            <a:r>
              <a:rPr/>
              <a:t>而是使用mapVertices()来保存索引。</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代码 6‑54、这些运算符通常用于初始化特定计算或项目的图以避免不必要的属性 和 代码 6‑55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目前，GraphX只支持一套简单的常用结构运算符，其中包括reverse()、subgraph()、mask()和groupEdges()，预计将来会增加更多。</a:t>
            </a:r>
          </a:p>
          <a:p>
            <a:pPr lvl="0" indent="0" marL="0">
              <a:buNone/>
            </a:pPr>
          </a:p>
          <a:p>
            <a:pPr lvl="0" indent="0" marL="0">
              <a:buNone/>
            </a:pPr>
            <a:r>
              <a:rPr/>
              <a:t>reverse()运算符返回一个新的图，其所有边的方向都相反，这在例如尝试计算逆页面排序时是有用的，因为反向操作不会修改点或边属性以及不改变边的数量，无需数据移动或重复，所以可以有效地实现。</a:t>
            </a:r>
          </a:p>
          <a:p>
            <a:pPr lvl="0" indent="0" marL="0">
              <a:buNone/>
            </a:pPr>
          </a:p>
          <a:p>
            <a:pPr lvl="0" indent="0" marL="0">
              <a:buNone/>
            </a:pPr>
            <a:r>
              <a:rPr/>
              <a:t>第一个判定函数为epred，输入参数为EdgeTriplet，并在三元组满足该判定条件时返回true。</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第二个判定函数为vpred，输入一对(VertexId, VD)，并在点满足判定条件时返回true。使用这些判定条件，subgraph()返回图中的点必须包含满足点判定，而且图中的边必须满足边判定。默认情况下，点或边判定函数在未提供时设置为返回true。</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许多情况下，有必要使用图联结外部集合数据，例如可能有额外的用户属性，要与现有的图合并，或者可能希望将点属性从一个图拉到另一个。可以使用联结运算符来完成这些任务，其中包括joinVertices()和outerJoinVertices()等。</a:t>
            </a:r>
          </a:p>
          <a:p>
            <a:pPr lvl="0" indent="0" marL="0">
              <a:buNone/>
            </a:pPr>
          </a:p>
          <a:p>
            <a:pPr lvl="0" indent="0" marL="0">
              <a:buNone/>
            </a:pPr>
            <a:r>
              <a:rPr/>
              <a:t>joinVertices()在GraphVD,ED对象上调用，需要两个输入参数，作为柯里化参数传递。首先，joinVertices()将图的顶点属性与RDD (VertexId, U)类型的输入点table联接。</a:t>
            </a:r>
          </a:p>
        </p:txBody>
      </p:sp>
      <p:sp>
        <p:nvSpPr>
          <p:cNvPr id="4" name="Slide Number Placeholder 3"/>
          <p:cNvSpPr>
            <a:spLocks noGrp="1"/>
          </p:cNvSpPr>
          <p:nvPr>
            <p:ph type="sldNum" sz="quarter" idx="10"/>
          </p:nvPr>
        </p:nvSpPr>
        <p:spPr/>
        <p:txBody>
          <a:bodyPr/>
          <a:lstStyle/>
          <a:p>
            <a:fld id="{DE9B7EA9-A690-144F-BA16-8B1F010DDC74}" type="slidenum">
              <a:rPr lang="en-US"/>
              <a:t>23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并引入到一个函数链中的函数，每个函数都使用一个参数。柯里化(Currying)函数用多个参数表定义，如下所示。</a:t>
            </a:r>
          </a:p>
        </p:txBody>
      </p:sp>
      <p:sp>
        <p:nvSpPr>
          <p:cNvPr id="4" name="Slide Number Placeholder 3"/>
          <p:cNvSpPr>
            <a:spLocks noGrp="1"/>
          </p:cNvSpPr>
          <p:nvPr>
            <p:ph type="sldNum" sz="quarter" idx="10"/>
          </p:nvPr>
        </p:nvSpPr>
        <p:spPr/>
        <p:txBody>
          <a:bodyPr/>
          <a:lstStyle/>
          <a:p>
            <a:fld id="{DE9B7EA9-A690-144F-BA16-8B1F010DDC74}" type="slidenum">
              <a:rPr lang="en-US"/>
              <a:t>24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29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30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p:txBody>
      </p:sp>
      <p:sp>
        <p:nvSpPr>
          <p:cNvPr id="4" name="Slide Number Placeholder 3"/>
          <p:cNvSpPr>
            <a:spLocks noGrp="1"/>
          </p:cNvSpPr>
          <p:nvPr>
            <p:ph type="sldNum" sz="quarter" idx="10"/>
          </p:nvPr>
        </p:nvSpPr>
        <p:spPr/>
        <p:txBody>
          <a:bodyPr/>
          <a:lstStyle/>
          <a:p>
            <a:fld id="{DE9B7EA9-A690-144F-BA16-8B1F010DDC74}" type="slidenum">
              <a:rPr lang="en-US"/>
              <a:t>33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GraphX将存储在图内的点和边RDD视图暴露出来，然而GraphX以优化的数据结构维护点和边，这些数据结构提供额外的功能，该点和边分别返回VertexRDD和EdgeRDD集合，这些集合的类型分别是RDD(VertexID, VD)和RDDEdge [ED]的子类型。在本节中，回顾一些在这些类型有用的附加功能。</a:t>
            </a:r>
          </a:p>
          <a:p>
            <a:pPr lvl="0" indent="0" marL="0">
              <a:buNone/>
            </a:pPr>
          </a:p>
          <a:p>
            <a:pPr lvl="0" indent="0" marL="0">
              <a:buNone/>
            </a:pPr>
            <a:r>
              <a:rPr/>
              <a:t>首先介绍VertexRDD 和EdgeRDD的映射操作。mapValues()将一个map()函数作为输入参数，该函数转换VertexRDD中的每个点属性，然后返回一个新的VertexRDD对象，同时保留原始的点索引。</a:t>
            </a:r>
          </a:p>
          <a:p>
            <a:pPr lvl="0" indent="0" marL="0">
              <a:buNone/>
            </a:pPr>
          </a:p>
          <a:p>
            <a:pPr lvl="0" indent="0" marL="0">
              <a:buNone/>
            </a:pPr>
            <a:r>
              <a:rPr/>
              <a:t>先取出 movieJoinedGraph 中保存明星与简介的 VertexRDD。</a:t>
            </a:r>
          </a:p>
        </p:txBody>
      </p:sp>
      <p:sp>
        <p:nvSpPr>
          <p:cNvPr id="4" name="Slide Number Placeholder 3"/>
          <p:cNvSpPr>
            <a:spLocks noGrp="1"/>
          </p:cNvSpPr>
          <p:nvPr>
            <p:ph type="sldNum" sz="quarter" idx="10"/>
          </p:nvPr>
        </p:nvSpPr>
        <p:spPr/>
        <p:txBody>
          <a:bodyPr/>
          <a:lstStyle/>
          <a:p>
            <a:fld id="{DE9B7EA9-A690-144F-BA16-8B1F010DDC74}" type="slidenum">
              <a:rPr lang="en-US"/>
              <a:t>40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现在，我们可以使用mapValues()将其名称提取到新的VertexRDD集合中。</a:t>
            </a:r>
          </a:p>
          <a:p>
            <a:pPr lvl="0" indent="0" marL="0">
              <a:buNone/>
            </a:pPr>
          </a:p>
          <a:p>
            <a:pPr lvl="0" indent="0" marL="0">
              <a:buNone/>
            </a:pPr>
            <a:r>
              <a:rPr/>
              <a:t>可以将点ID包含在map()函数的输入参数中，并且仍然得到类似的结果。</a:t>
            </a:r>
          </a:p>
        </p:txBody>
      </p:sp>
      <p:sp>
        <p:nvSpPr>
          <p:cNvPr id="4" name="Slide Number Placeholder 3"/>
          <p:cNvSpPr>
            <a:spLocks noGrp="1"/>
          </p:cNvSpPr>
          <p:nvPr>
            <p:ph type="sldNum" sz="quarter" idx="10"/>
          </p:nvPr>
        </p:nvSpPr>
        <p:spPr/>
        <p:txBody>
          <a:bodyPr/>
          <a:lstStyle/>
          <a:p>
            <a:fld id="{DE9B7EA9-A690-144F-BA16-8B1F010DDC74}" type="slidenum">
              <a:rPr lang="en-US"/>
              <a:t>41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44</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进行图计算时我们可能希望使用邻近信息，例如邻近顶点的属性，两个运算符collectNeighborIds()和collectNeighbors()允许我们执行此操作。collectNeighborIds()仅将每个节点的邻居点ID收集到VertexRDD中，而collectNeighbors()还会收集其属性。</a:t>
            </a:r>
          </a:p>
          <a:p>
            <a:pPr lvl="0" indent="0" marL="0">
              <a:buNone/>
            </a:pPr>
          </a:p>
          <a:p>
            <a:pPr lvl="0" indent="0" marL="0">
              <a:buNone/>
            </a:pPr>
            <a:r>
              <a:rPr/>
              <a:t>并与EdgeDirection一起作为输入参数传递，EdgeDirection属性可以采用四个可能的值。</a:t>
            </a:r>
          </a:p>
        </p:txBody>
      </p:sp>
      <p:sp>
        <p:nvSpPr>
          <p:cNvPr id="4" name="Slide Number Placeholder 3"/>
          <p:cNvSpPr>
            <a:spLocks noGrp="1"/>
          </p:cNvSpPr>
          <p:nvPr>
            <p:ph type="sldNum" sz="quarter" idx="10"/>
          </p:nvPr>
        </p:nvSpPr>
        <p:spPr/>
        <p:txBody>
          <a:bodyPr/>
          <a:lstStyle/>
          <a:p>
            <a:fld id="{DE9B7EA9-A690-144F-BA16-8B1F010DDC74}" type="slidenum">
              <a:rPr lang="en-US"/>
              <a:t>49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这可以通过首先收集foodNetwork图中每个合成物节点的成分ID来完成，就是将具有相同合成物的成分ID收集并分组到元组的RDD集合中(compound id, Arrayingredient id)，如下所示。</a:t>
            </a:r>
          </a:p>
        </p:txBody>
      </p:sp>
      <p:sp>
        <p:nvSpPr>
          <p:cNvPr id="4" name="Slide Number Placeholder 3"/>
          <p:cNvSpPr>
            <a:spLocks noGrp="1"/>
          </p:cNvSpPr>
          <p:nvPr>
            <p:ph type="sldNum" sz="quarter" idx="10"/>
          </p:nvPr>
        </p:nvSpPr>
        <p:spPr/>
        <p:txBody>
          <a:bodyPr/>
          <a:lstStyle/>
          <a:p>
            <a:fld id="{DE9B7EA9-A690-144F-BA16-8B1F010DDC74}" type="slidenum">
              <a:rPr lang="en-US"/>
              <a:t>50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54</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55</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56</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这一句是在主动控制后续数据怎么分布。讲解时要把分区器和后面的并行度、Shuffle 开销联系起来，而不是只把它当成一个 API 名字。</a:t>
            </a:r>
          </a:p>
        </p:txBody>
      </p:sp>
      <p:sp>
        <p:nvSpPr>
          <p:cNvPr id="4" name="Slide Number Placeholder 3"/>
          <p:cNvSpPr>
            <a:spLocks noGrp="1"/>
          </p:cNvSpPr>
          <p:nvPr>
            <p:ph type="sldNum" sz="quarter" idx="10"/>
          </p:nvPr>
        </p:nvSpPr>
        <p:spPr/>
        <p:txBody>
          <a:bodyPr/>
          <a:lstStyle/>
          <a:p>
            <a:fld id="{DE9B7EA9-A690-144F-BA16-8B1F010DDC74}" type="slidenum">
              <a:rPr lang="en-US"/>
              <a:t>57</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如果已经决定使用 GraphX，真正有价值的就是这一组属性图运算符</a:t>
            </a:r>
          </a:p>
          <a:p>
            <a:pPr lvl="0"/>
            <a:r>
              <a:rPr/>
              <a:t>可以使用用户定义函数，并生成具有转换的属性和结构的新图</a:t>
            </a:r>
          </a:p>
          <a:p>
            <a:pPr lvl="0"/>
            <a:r>
              <a:rPr/>
              <a:t>代码 6‑51</a:t>
            </a:r>
          </a:p>
          <a:p>
            <a:pPr lvl="0"/>
            <a:r>
              <a:rPr/>
              <a:t>就可以通过Graph对象调用GraphOps类中的方法</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图运算符：学习路线（1/2）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图运算符</a:t>
            </a:r>
          </a:p>
          <a:p>
            <a:pPr lvl="0"/>
            <a:r>
              <a:rPr/>
              <a:t>属性运算符</a:t>
            </a:r>
          </a:p>
          <a:p>
            <a:pPr lvl="0"/>
            <a:r>
              <a:rPr/>
              <a:t>结构运算符</a:t>
            </a:r>
          </a:p>
          <a:p>
            <a:pPr lvl="0"/>
            <a:r>
              <a:rPr/>
              <a:t>联结运算符</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图运算符：学习路线（2/2）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点和边操作</a:t>
            </a:r>
          </a:p>
          <a:p>
            <a:pPr lvl="0"/>
            <a:r>
              <a:rPr/>
              <a:t>收集相邻信息</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如果已经决定使用 GraphX，真正有价值的就是这一组属性图运算符</a:t>
            </a:r>
          </a:p>
          <a:p>
            <a:pPr lvl="0"/>
            <a:r>
              <a:rPr/>
              <a:t>可以使用用户定义函数，并生成具有转换的属性和结构的新图</a:t>
            </a:r>
          </a:p>
          <a:p>
            <a:pPr lvl="0"/>
            <a:r>
              <a:rPr/>
              <a:t>代码 6‑51</a:t>
            </a:r>
          </a:p>
          <a:p>
            <a:pPr lvl="0"/>
            <a:r>
              <a:rPr/>
              <a:t>就可以通过Graph对象调用GraphOps类中的方法</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代码 6‑52</a:t>
            </a:r>
          </a:p>
          <a:p>
            <a:pPr lvl="0"/>
            <a:r>
              <a:rPr/>
              <a:t>一个重要原因是 GraphX 未来可以支持不同的底层图表示</a:t>
            </a:r>
          </a:p>
          <a:p>
            <a:pPr lvl="0"/>
            <a:r>
              <a:rPr/>
              <a:t>为了便于阅读，正文里统一按 Graph 的成员来介绍</a:t>
            </a:r>
          </a:p>
          <a:p>
            <a:pPr lvl="0"/>
            <a:r>
              <a:rPr/>
              <a:t>如果需要精确接口，仍应回到官方 API 文档核对</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图运算符：代码片段（1/2）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正如RDD具有基本操作map()</a:t>
            </a:r>
          </a:p>
          <a:p>
            <a:pPr lvl="0" indent="0">
              <a:buNone/>
            </a:pPr>
            <a:r>
              <a:rPr b="1">
                <a:solidFill>
                  <a:srgbClr val="007020"/>
                </a:solidFill>
                <a:latin typeface="Courier"/>
              </a:rPr>
              <a:t>implicit</a:t>
            </a:r>
            <a:r>
              <a:rPr>
                <a:latin typeface="Courier"/>
              </a:rPr>
              <a:t> </a:t>
            </a:r>
            <a:r>
              <a:rPr b="1">
                <a:solidFill>
                  <a:srgbClr val="007020"/>
                </a:solidFill>
                <a:latin typeface="Courier"/>
              </a:rPr>
              <a:t>def</a:t>
            </a:r>
            <a:r>
              <a:rPr>
                <a:latin typeface="Courier"/>
              </a:rPr>
              <a:t> graphToGraphOps</a:t>
            </a:r>
            <a:r>
              <a:rPr>
                <a:solidFill>
                  <a:srgbClr val="666666"/>
                </a:solidFill>
                <a:latin typeface="Courier"/>
              </a:rPr>
              <a:t>[</a:t>
            </a:r>
            <a:r>
              <a:rPr>
                <a:latin typeface="Courier"/>
              </a:rPr>
              <a:t>VD</a:t>
            </a:r>
            <a:r>
              <a:rPr>
                <a:solidFill>
                  <a:srgbClr val="666666"/>
                </a:solidFill>
                <a:latin typeface="Courier"/>
              </a:rPr>
              <a:t>:</a:t>
            </a:r>
            <a:r>
              <a:rPr>
                <a:latin typeface="Courier"/>
              </a:rPr>
              <a:t> ClassTag</a:t>
            </a:r>
            <a:r>
              <a:rPr>
                <a:solidFill>
                  <a:srgbClr val="666666"/>
                </a:solidFill>
                <a:latin typeface="Courier"/>
              </a:rPr>
              <a:t>,</a:t>
            </a:r>
            <a:r>
              <a:rPr>
                <a:latin typeface="Courier"/>
              </a:rPr>
              <a:t> ED</a:t>
            </a:r>
            <a:r>
              <a:rPr>
                <a:solidFill>
                  <a:srgbClr val="666666"/>
                </a:solidFill>
                <a:latin typeface="Courier"/>
              </a:rPr>
              <a:t>:</a:t>
            </a:r>
            <a:r>
              <a:rPr>
                <a:latin typeface="Courier"/>
              </a:rPr>
              <a:t> ClassTag</a:t>
            </a:r>
            <a:r>
              <a:rPr>
                <a:solidFill>
                  <a:srgbClr val="666666"/>
                </a:solidFill>
                <a:latin typeface="Courier"/>
              </a:rPr>
              <a:t>]</a:t>
            </a:r>
            <a:br/>
            <a:r>
              <a:rPr>
                <a:latin typeface="Courier"/>
              </a:rPr>
              <a:t>  </a:t>
            </a:r>
            <a:r>
              <a:rPr>
                <a:solidFill>
                  <a:srgbClr val="666666"/>
                </a:solidFill>
                <a:latin typeface="Courier"/>
              </a:rPr>
              <a:t>(</a:t>
            </a:r>
            <a:r>
              <a:rPr>
                <a:latin typeface="Courier"/>
              </a:rPr>
              <a:t>g</a:t>
            </a:r>
            <a:r>
              <a:rPr>
                <a:solidFill>
                  <a:srgbClr val="666666"/>
                </a:solidFill>
                <a:latin typeface="Courier"/>
              </a:rPr>
              <a:t>:</a:t>
            </a:r>
            <a:r>
              <a:rPr>
                <a:latin typeface="Courier"/>
              </a:rPr>
              <a:t> Graph</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r>
              <a:rPr>
                <a:latin typeface="Courier"/>
              </a:rPr>
              <a:t> GraphOps</a:t>
            </a:r>
            <a:r>
              <a:rPr>
                <a:solidFill>
                  <a:srgbClr val="666666"/>
                </a:solidFill>
                <a:latin typeface="Courier"/>
              </a:rPr>
              <a:t>[</a:t>
            </a:r>
            <a:r>
              <a:rPr>
                <a:latin typeface="Courier"/>
              </a:rPr>
              <a:t>VD</a:t>
            </a:r>
            <a:r>
              <a:rPr>
                <a:solidFill>
                  <a:srgbClr val="666666"/>
                </a:solidFill>
                <a:latin typeface="Courier"/>
              </a:rPr>
              <a:t>,</a:t>
            </a:r>
            <a:r>
              <a:rPr>
                <a:latin typeface="Courier"/>
              </a:rPr>
              <a:t> ED</a:t>
            </a:r>
            <a:r>
              <a:rPr>
                <a:solidFill>
                  <a:srgbClr val="666666"/>
                </a:solidFill>
                <a:latin typeface="Courier"/>
              </a:rPr>
              <a:t>]</a:t>
            </a:r>
            <a:r>
              <a:rPr>
                <a:latin typeface="Courier"/>
              </a:rPr>
              <a:t> </a:t>
            </a:r>
            <a:r>
              <a:rPr>
                <a:solidFill>
                  <a:srgbClr val="666666"/>
                </a:solidFill>
                <a:latin typeface="Courier"/>
              </a:rPr>
              <a:t>=</a:t>
            </a:r>
            <a:r>
              <a:rPr>
                <a:latin typeface="Courier"/>
              </a:rPr>
              <a:t> g</a:t>
            </a:r>
            <a:r>
              <a:rPr>
                <a:solidFill>
                  <a:srgbClr val="666666"/>
                </a:solidFill>
                <a:latin typeface="Courier"/>
              </a:rPr>
              <a:t>.</a:t>
            </a:r>
            <a:r>
              <a:rPr>
                <a:latin typeface="Courier"/>
              </a:rPr>
              <a:t>ops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 图运算符：代码片段（2/2）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然后就可以通过Graph对象调用GraphOps类中的方法</a:t>
            </a:r>
          </a:p>
          <a:p>
            <a:pPr lvl="0" indent="0">
              <a:buNone/>
            </a:pPr>
            <a:r>
              <a:rPr b="1">
                <a:solidFill>
                  <a:srgbClr val="007020"/>
                </a:solidFill>
                <a:latin typeface="Courier"/>
              </a:rPr>
              <a:t>val</a:t>
            </a:r>
            <a:r>
              <a:rPr>
                <a:latin typeface="Courier"/>
              </a:rPr>
              <a:t> graph</a:t>
            </a:r>
            <a:r>
              <a:rPr>
                <a:solidFill>
                  <a:srgbClr val="666666"/>
                </a:solidFill>
                <a:latin typeface="Courier"/>
              </a:rPr>
              <a:t>:</a:t>
            </a:r>
            <a:r>
              <a:rPr>
                <a:latin typeface="Courier"/>
              </a:rPr>
              <a:t> 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String</a:t>
            </a:r>
            <a:r>
              <a:rPr>
                <a:solidFill>
                  <a:srgbClr val="666666"/>
                </a:solidFill>
                <a:latin typeface="Courier"/>
              </a:rPr>
              <a:t>]</a:t>
            </a:r>
            <a:br/>
            <a:r>
              <a:rPr i="1">
                <a:solidFill>
                  <a:srgbClr val="60A0B0"/>
                </a:solidFill>
                <a:latin typeface="Courier"/>
              </a:rPr>
              <a:t>// Use the implicit GraphOps.inDegrees operator</a:t>
            </a:r>
            <a:br/>
            <a:r>
              <a:rPr b="1">
                <a:solidFill>
                  <a:srgbClr val="007020"/>
                </a:solidFill>
                <a:latin typeface="Courier"/>
              </a:rPr>
              <a:t>val</a:t>
            </a:r>
            <a:r>
              <a:rPr>
                <a:latin typeface="Courier"/>
              </a:rPr>
              <a:t> inDegrees</a:t>
            </a:r>
            <a:r>
              <a:rPr>
                <a:solidFill>
                  <a:srgbClr val="666666"/>
                </a:solidFill>
                <a:latin typeface="Courier"/>
              </a:rPr>
              <a:t>:</a:t>
            </a:r>
            <a:r>
              <a:rPr>
                <a:latin typeface="Courier"/>
              </a:rPr>
              <a:t> VertexRDD</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graph</a:t>
            </a:r>
            <a:r>
              <a:rPr>
                <a:solidFill>
                  <a:srgbClr val="666666"/>
                </a:solidFill>
                <a:latin typeface="Courier"/>
              </a:rPr>
              <a:t>.</a:t>
            </a:r>
            <a:r>
              <a:rPr>
                <a:latin typeface="Courier"/>
              </a:rPr>
              <a:t>inDegrees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6.6.1 属性运算符（1/2）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顶底和边的转换</a:t>
            </a:r>
          </a:p>
          <a:p>
            <a:pPr lvl="0"/>
            <a:r>
              <a:rPr/>
              <a:t>属性图包含mapVertices()</a:t>
            </a:r>
          </a:p>
          <a:p>
            <a:pPr lvl="0"/>
            <a:r>
              <a:rPr/>
              <a:t>代码 6‑53</a:t>
            </a:r>
          </a:p>
          <a:p>
            <a:pPr lvl="0"/>
            <a:r>
              <a:rPr/>
              <a:t>是使用mapVertices()来保存索引</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6.6.1 属性运算符（2/2）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代码 6‑54</a:t>
            </a:r>
          </a:p>
          <a:p>
            <a:pPr lvl="0"/>
            <a:r>
              <a:rPr/>
              <a:t>这些运算符通常用于初始化特定计算或项目的图以避免不必要的属性</a:t>
            </a:r>
          </a:p>
          <a:p>
            <a:pPr lvl="0"/>
            <a:r>
              <a:rPr/>
              <a:t>代码 6‑55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6.6.1 属性运算符：代码片段（1/3）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与RDD的map()运算符一样</a:t>
            </a:r>
          </a:p>
          <a:p>
            <a:pPr lvl="0" indent="0">
              <a:buNone/>
            </a:pPr>
            <a:r>
              <a:rPr b="1">
                <a:solidFill>
                  <a:srgbClr val="007020"/>
                </a:solidFill>
                <a:latin typeface="Courier"/>
              </a:rPr>
              <a:t>val</a:t>
            </a:r>
            <a:r>
              <a:rPr>
                <a:latin typeface="Courier"/>
              </a:rPr>
              <a:t> newVertices </a:t>
            </a:r>
            <a:r>
              <a:rPr>
                <a:solidFill>
                  <a:srgbClr val="666666"/>
                </a:solidFill>
                <a:latin typeface="Courier"/>
              </a:rPr>
              <a:t>=</a:t>
            </a:r>
            <a:r>
              <a:rPr>
                <a:latin typeface="Courier"/>
              </a:rPr>
              <a:t> graph</a:t>
            </a:r>
            <a:r>
              <a:rPr>
                <a:solidFill>
                  <a:srgbClr val="666666"/>
                </a:solidFill>
                <a:latin typeface="Courier"/>
              </a:rPr>
              <a:t>.</a:t>
            </a:r>
            <a:r>
              <a:rPr>
                <a:latin typeface="Courier"/>
              </a:rPr>
              <a:t>vertices</a:t>
            </a:r>
            <a:r>
              <a:rPr>
                <a:solidFill>
                  <a:srgbClr val="666666"/>
                </a:solidFill>
                <a:latin typeface="Courier"/>
              </a:rPr>
              <a:t>.</a:t>
            </a:r>
            <a:r>
              <a:rPr>
                <a:latin typeface="Courier"/>
              </a:rPr>
              <a:t>map </a:t>
            </a: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06287E"/>
                </a:solidFill>
                <a:latin typeface="Courier"/>
              </a:rPr>
              <a:t>mapUdf</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r>
              <a:rPr>
                <a:latin typeface="Courier"/>
              </a:rPr>
              <a:t> </a:t>
            </a:r>
            <a:r>
              <a:rPr>
                <a:solidFill>
                  <a:srgbClr val="666666"/>
                </a:solidFill>
                <a:latin typeface="Courier"/>
              </a:rPr>
              <a:t>}</a:t>
            </a:r>
            <a:br/>
            <a:r>
              <a:rPr b="1">
                <a:solidFill>
                  <a:srgbClr val="007020"/>
                </a:solidFill>
                <a:latin typeface="Courier"/>
              </a:rPr>
              <a:t>val</a:t>
            </a:r>
            <a:r>
              <a:rPr>
                <a:latin typeface="Courier"/>
              </a:rPr>
              <a:t> newGraph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newVertices</a:t>
            </a:r>
            <a:r>
              <a:rPr>
                <a:solidFill>
                  <a:srgbClr val="666666"/>
                </a:solidFill>
                <a:latin typeface="Courier"/>
              </a:rPr>
              <a:t>,</a:t>
            </a:r>
            <a:r>
              <a:rPr>
                <a:latin typeface="Courier"/>
              </a:rPr>
              <a:t> graph</a:t>
            </a:r>
            <a:r>
              <a:rPr>
                <a:solidFill>
                  <a:srgbClr val="666666"/>
                </a:solidFill>
                <a:latin typeface="Courier"/>
              </a:rPr>
              <a:t>.</a:t>
            </a:r>
            <a:r>
              <a:rPr>
                <a:latin typeface="Courier"/>
              </a:rPr>
              <a:t>edges</a:t>
            </a:r>
            <a:r>
              <a:rPr>
                <a:solidFill>
                  <a:srgbClr val="666666"/>
                </a:solidFill>
                <a:latin typeface="Courie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6.6.1 属性运算符：代码片段（2/3）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而是使用mapVertices()来保存索引： 的执行步骤</a:t>
            </a:r>
          </a:p>
          <a:p>
            <a:pPr lvl="0" indent="0">
              <a:buNone/>
            </a:pPr>
            <a:r>
              <a:rPr b="1">
                <a:solidFill>
                  <a:srgbClr val="007020"/>
                </a:solidFill>
                <a:latin typeface="Courier"/>
              </a:rPr>
              <a:t>val</a:t>
            </a:r>
            <a:r>
              <a:rPr>
                <a:latin typeface="Courier"/>
              </a:rPr>
              <a:t> newGraph </a:t>
            </a:r>
            <a:r>
              <a:rPr>
                <a:solidFill>
                  <a:srgbClr val="666666"/>
                </a:solidFill>
                <a:latin typeface="Courier"/>
              </a:rPr>
              <a:t>=</a:t>
            </a:r>
            <a:r>
              <a:rPr>
                <a:latin typeface="Courier"/>
              </a:rPr>
              <a:t> graph</a:t>
            </a:r>
            <a:r>
              <a:rPr>
                <a:solidFill>
                  <a:srgbClr val="666666"/>
                </a:solidFill>
                <a:latin typeface="Courier"/>
              </a:rPr>
              <a:t>.</a:t>
            </a:r>
            <a:r>
              <a:rPr>
                <a:solidFill>
                  <a:srgbClr val="06287E"/>
                </a:solidFill>
                <a:latin typeface="Courier"/>
              </a:rPr>
              <a:t>mapVertices</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6287E"/>
                </a:solidFill>
                <a:latin typeface="Courier"/>
              </a:rPr>
              <a:t>mapUdf</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6.6.1 属性运算符：代码片段（3/3）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这些运算符通常用于初始化特定计算或项目的图以避免不必要的属性</a:t>
            </a:r>
          </a:p>
          <a:p>
            <a:pPr lvl="0" indent="0">
              <a:buNone/>
            </a:pPr>
            <a:r>
              <a:rPr i="1">
                <a:solidFill>
                  <a:srgbClr val="60A0B0"/>
                </a:solidFill>
                <a:latin typeface="Courier"/>
              </a:rPr>
              <a:t>// 定义一个图，点属性为出度</a:t>
            </a:r>
            <a:br/>
            <a:r>
              <a:rPr b="1">
                <a:solidFill>
                  <a:srgbClr val="007020"/>
                </a:solidFill>
                <a:latin typeface="Courier"/>
              </a:rPr>
              <a:t>val</a:t>
            </a:r>
            <a:r>
              <a:rPr>
                <a:latin typeface="Courier"/>
              </a:rPr>
              <a:t> inputGraph</a:t>
            </a:r>
            <a:r>
              <a:rPr>
                <a:solidFill>
                  <a:srgbClr val="666666"/>
                </a:solidFill>
                <a:latin typeface="Courier"/>
              </a:rPr>
              <a:t>:</a:t>
            </a:r>
            <a:r>
              <a:rPr>
                <a:latin typeface="Courier"/>
              </a:rPr>
              <a:t> Graph</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br/>
            <a:r>
              <a:rPr>
                <a:latin typeface="Courier"/>
              </a:rPr>
              <a:t>  graph</a:t>
            </a:r>
            <a:r>
              <a:rPr>
                <a:solidFill>
                  <a:srgbClr val="666666"/>
                </a:solidFill>
                <a:latin typeface="Courier"/>
              </a:rPr>
              <a:t>.</a:t>
            </a:r>
            <a:r>
              <a:rPr>
                <a:solidFill>
                  <a:srgbClr val="06287E"/>
                </a:solidFill>
                <a:latin typeface="Courier"/>
              </a:rPr>
              <a:t>outerJoinVertices</a:t>
            </a:r>
            <a:r>
              <a:rPr>
                <a:solidFill>
                  <a:srgbClr val="666666"/>
                </a:solidFill>
                <a:latin typeface="Courier"/>
              </a:rPr>
              <a:t>(</a:t>
            </a:r>
            <a:r>
              <a:rPr>
                <a:latin typeface="Courier"/>
              </a:rPr>
              <a:t>graph</a:t>
            </a:r>
            <a:r>
              <a:rPr>
                <a:solidFill>
                  <a:srgbClr val="666666"/>
                </a:solidFill>
                <a:latin typeface="Courier"/>
              </a:rPr>
              <a:t>.</a:t>
            </a:r>
            <a:r>
              <a:rPr>
                <a:latin typeface="Courier"/>
              </a:rPr>
              <a:t>outDegrees</a:t>
            </a:r>
            <a:r>
              <a:rPr>
                <a:solidFill>
                  <a:srgbClr val="666666"/>
                </a:solidFill>
                <a:latin typeface="Courier"/>
              </a:rPr>
              <a:t>)((</a:t>
            </a:r>
            <a:r>
              <a:rPr>
                <a:latin typeface="Courier"/>
              </a:rPr>
              <a:t>vid</a:t>
            </a:r>
            <a:r>
              <a:rPr>
                <a:solidFill>
                  <a:srgbClr val="666666"/>
                </a:solidFill>
                <a:latin typeface="Courier"/>
              </a:rPr>
              <a:t>,</a:t>
            </a:r>
            <a:r>
              <a:rPr>
                <a:latin typeface="Courier"/>
              </a:rPr>
              <a:t> _</a:t>
            </a:r>
            <a:r>
              <a:rPr>
                <a:solidFill>
                  <a:srgbClr val="666666"/>
                </a:solidFill>
                <a:latin typeface="Courier"/>
              </a:rPr>
              <a:t>,</a:t>
            </a:r>
            <a:r>
              <a:rPr>
                <a:latin typeface="Courier"/>
              </a:rPr>
              <a:t> degOpt</a:t>
            </a:r>
            <a:r>
              <a:rPr>
                <a:solidFill>
                  <a:srgbClr val="666666"/>
                </a:solidFill>
                <a:latin typeface="Courier"/>
              </a:rPr>
              <a:t>)</a:t>
            </a:r>
            <a:r>
              <a:rPr>
                <a:latin typeface="Courier"/>
              </a:rPr>
              <a:t> </a:t>
            </a:r>
            <a:r>
              <a:rPr>
                <a:solidFill>
                  <a:srgbClr val="666666"/>
                </a:solidFill>
                <a:latin typeface="Courier"/>
              </a:rPr>
              <a:t>=&gt;</a:t>
            </a:r>
            <a:r>
              <a:rPr>
                <a:latin typeface="Courier"/>
              </a:rPr>
              <a:t> degOpt</a:t>
            </a:r>
            <a:r>
              <a:rPr>
                <a:solidFill>
                  <a:srgbClr val="666666"/>
                </a:solidFill>
                <a:latin typeface="Courier"/>
              </a:rPr>
              <a:t>.</a:t>
            </a:r>
            <a:r>
              <a:rPr>
                <a:solidFill>
                  <a:srgbClr val="06287E"/>
                </a:solidFill>
                <a:latin typeface="Courier"/>
              </a:rPr>
              <a:t>getOrElse</a:t>
            </a:r>
            <a:r>
              <a:rPr>
                <a:solidFill>
                  <a:srgbClr val="666666"/>
                </a:solidFill>
                <a:latin typeface="Courier"/>
              </a:rPr>
              <a:t>(</a:t>
            </a:r>
            <a:r>
              <a:rPr>
                <a:solidFill>
                  <a:srgbClr val="40A070"/>
                </a:solidFill>
                <a:latin typeface="Courier"/>
              </a:rPr>
              <a:t>0</a:t>
            </a:r>
            <a:r>
              <a:rPr>
                <a:solidFill>
                  <a:srgbClr val="666666"/>
                </a:solidFill>
                <a:latin typeface="Courier"/>
              </a:rPr>
              <a:t>))</a:t>
            </a:r>
            <a:br/>
            <a:r>
              <a:rPr i="1">
                <a:solidFill>
                  <a:srgbClr val="60A0B0"/>
                </a:solidFill>
                <a:latin typeface="Courier"/>
              </a:rPr>
              <a:t>// 构造一个图，每个边包含权重，每个点是初始化的页面排序</a:t>
            </a:r>
            <a:br/>
            <a:r>
              <a:rPr b="1">
                <a:solidFill>
                  <a:srgbClr val="007020"/>
                </a:solidFill>
                <a:latin typeface="Courier"/>
              </a:rPr>
              <a:t>val</a:t>
            </a:r>
            <a:r>
              <a:rPr>
                <a:latin typeface="Courier"/>
              </a:rPr>
              <a:t> outputGraph</a:t>
            </a:r>
            <a:r>
              <a:rPr>
                <a:solidFill>
                  <a:srgbClr val="666666"/>
                </a:solidFill>
                <a:latin typeface="Courier"/>
              </a:rPr>
              <a:t>:</a:t>
            </a:r>
            <a:r>
              <a:rPr>
                <a:latin typeface="Courier"/>
              </a:rPr>
              <a:t> Graph</a:t>
            </a:r>
            <a:r>
              <a:rPr>
                <a:solidFill>
                  <a:srgbClr val="666666"/>
                </a:solidFill>
                <a:latin typeface="Courier"/>
              </a:rPr>
              <a:t>[</a:t>
            </a:r>
            <a:r>
              <a:rPr>
                <a:latin typeface="Courier"/>
              </a:rPr>
              <a:t>Double</a:t>
            </a:r>
            <a:r>
              <a:rPr>
                <a:solidFill>
                  <a:srgbClr val="666666"/>
                </a:solidFill>
                <a:latin typeface="Courier"/>
              </a:rPr>
              <a:t>,</a:t>
            </a:r>
            <a:r>
              <a:rPr>
                <a:latin typeface="Courier"/>
              </a:rPr>
              <a:t> Double</a:t>
            </a:r>
            <a:r>
              <a:rPr>
                <a:solidFill>
                  <a:srgbClr val="666666"/>
                </a:solidFill>
                <a:latin typeface="Courier"/>
              </a:rPr>
              <a:t>]</a:t>
            </a:r>
            <a:r>
              <a:rPr>
                <a:latin typeface="Courier"/>
              </a:rPr>
              <a:t> </a:t>
            </a:r>
            <a:r>
              <a:rPr>
                <a:solidFill>
                  <a:srgbClr val="666666"/>
                </a:solidFill>
                <a:latin typeface="Courier"/>
              </a:rPr>
              <a:t>=</a:t>
            </a:r>
            <a:br/>
            <a:r>
              <a:rPr>
                <a:latin typeface="Courier"/>
              </a:rPr>
              <a:t>  inputGraph</a:t>
            </a:r>
            <a:r>
              <a:rPr>
                <a:solidFill>
                  <a:srgbClr val="666666"/>
                </a:solidFill>
                <a:latin typeface="Courier"/>
              </a:rPr>
              <a:t>.</a:t>
            </a:r>
            <a:r>
              <a:rPr>
                <a:solidFill>
                  <a:srgbClr val="06287E"/>
                </a:solidFill>
                <a:latin typeface="Courier"/>
              </a:rPr>
              <a:t>mapTriplets</a:t>
            </a:r>
            <a:r>
              <a:rPr>
                <a:solidFill>
                  <a:srgbClr val="666666"/>
                </a:solidFill>
                <a:latin typeface="Courier"/>
              </a:rPr>
              <a:t>(</a:t>
            </a:r>
            <a:r>
              <a:rPr>
                <a:latin typeface="Courier"/>
              </a:rPr>
              <a:t>triplet </a:t>
            </a:r>
            <a:r>
              <a:rPr>
                <a:solidFill>
                  <a:srgbClr val="666666"/>
                </a:solidFill>
                <a:latin typeface="Courier"/>
              </a:rPr>
              <a:t>=&gt;</a:t>
            </a:r>
            <a:r>
              <a:rPr>
                <a:latin typeface="Courier"/>
              </a:rPr>
              <a:t> </a:t>
            </a:r>
            <a:r>
              <a:rPr>
                <a:solidFill>
                  <a:srgbClr val="40A070"/>
                </a:solidFill>
                <a:latin typeface="Courier"/>
              </a:rPr>
              <a:t>1.0</a:t>
            </a:r>
            <a:r>
              <a:rPr>
                <a:latin typeface="Courier"/>
              </a:rPr>
              <a:t> </a:t>
            </a:r>
            <a:r>
              <a:rPr>
                <a:solidFill>
                  <a:srgbClr val="666666"/>
                </a:solidFill>
                <a:latin typeface="Courier"/>
              </a:rPr>
              <a:t>/</a:t>
            </a:r>
            <a:r>
              <a:rPr>
                <a:latin typeface="Courier"/>
              </a:rPr>
              <a:t> triplet</a:t>
            </a:r>
            <a:r>
              <a:rPr>
                <a:solidFill>
                  <a:srgbClr val="666666"/>
                </a:solidFill>
                <a:latin typeface="Courier"/>
              </a:rPr>
              <a:t>.</a:t>
            </a:r>
            <a:r>
              <a:rPr>
                <a:latin typeface="Courier"/>
              </a:rPr>
              <a:t>srcAttr</a:t>
            </a:r>
            <a:r>
              <a:rPr>
                <a:solidFill>
                  <a:srgbClr val="666666"/>
                </a:solidFill>
                <a:latin typeface="Courier"/>
              </a:rPr>
              <a:t>).</a:t>
            </a:r>
            <a:r>
              <a:rPr>
                <a:solidFill>
                  <a:srgbClr val="06287E"/>
                </a:solidFill>
                <a:latin typeface="Courier"/>
              </a:rPr>
              <a:t>mapVertices</a:t>
            </a:r>
            <a:r>
              <a:rPr>
                <a:solidFill>
                  <a:srgbClr val="666666"/>
                </a:solidFill>
                <a:latin typeface="Courier"/>
              </a:rPr>
              <a:t>((</a:t>
            </a:r>
            <a:r>
              <a:rPr>
                <a:latin typeface="Courier"/>
              </a:rPr>
              <a:t>id</a:t>
            </a:r>
            <a:r>
              <a:rPr>
                <a:solidFill>
                  <a:srgbClr val="666666"/>
                </a:solidFill>
                <a:latin typeface="Courier"/>
              </a:rPr>
              <a:t>,</a:t>
            </a:r>
            <a:r>
              <a:rPr>
                <a:latin typeface="Courier"/>
              </a:rPr>
              <a:t> _</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40A070"/>
                </a:solidFill>
                <a:latin typeface="Courier"/>
              </a:rPr>
              <a:t>1.0</a:t>
            </a:r>
            <a:r>
              <a:rPr>
                <a:solidFill>
                  <a:srgbClr val="666666"/>
                </a:solidFill>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修改图的结构</a:t>
            </a:r>
          </a:p>
          <a:p>
            <a:pPr lvl="0"/>
            <a:r>
              <a:rPr/>
              <a:t>GraphX只支持一套简单的常用结构运算符</a:t>
            </a:r>
          </a:p>
          <a:p>
            <a:pPr lvl="0"/>
            <a:r>
              <a:rPr/>
              <a:t>这在例如尝试计算逆页面排序时是有用的</a:t>
            </a:r>
          </a:p>
          <a:p>
            <a:pPr lvl="0"/>
            <a:r>
              <a:rPr/>
              <a:t>subgraph()使用两个返回布尔值的条件判定函数作为参数</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这意味着我们可以只传递边判定，或只传递点判定或两者都传递</a:t>
            </a:r>
          </a:p>
          <a:p>
            <a:pPr lvl="0"/>
            <a:r>
              <a:rPr/>
              <a:t>（1）为点创建RDD</a:t>
            </a:r>
          </a:p>
          <a:p>
            <a:pPr lvl="0"/>
            <a:r>
              <a:rPr/>
              <a:t>代码 6‑56</a:t>
            </a:r>
          </a:p>
          <a:p>
            <a:pPr lvl="0"/>
            <a:r>
              <a:rPr/>
              <a:t>（2）为边创建RDD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结构运算符：代码片段（1/8）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users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br/>
            <a:r>
              <a:rPr>
                <a:latin typeface="Courier"/>
              </a:rPr>
              <a:t>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latin typeface="Courier"/>
              </a:rPr>
              <a:t>Array</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"rxin"</a:t>
            </a:r>
            <a:r>
              <a:rPr>
                <a:solidFill>
                  <a:srgbClr val="666666"/>
                </a:solidFill>
                <a:latin typeface="Courier"/>
              </a:rPr>
              <a:t>,</a:t>
            </a:r>
            <a:r>
              <a:rPr>
                <a:latin typeface="Courier"/>
              </a:rPr>
              <a:t> </a:t>
            </a:r>
            <a:r>
              <a:rPr>
                <a:solidFill>
                  <a:srgbClr val="4070A0"/>
                </a:solidFill>
                <a:latin typeface="Courier"/>
              </a:rPr>
              <a:t>"student"</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"jgonzal"</a:t>
            </a:r>
            <a:r>
              <a:rPr>
                <a:solidFill>
                  <a:srgbClr val="666666"/>
                </a:solidFill>
                <a:latin typeface="Courier"/>
              </a:rPr>
              <a:t>,</a:t>
            </a:r>
            <a:br/>
            <a:r>
              <a:rPr>
                <a:solidFill>
                  <a:srgbClr val="4070A0"/>
                </a:solidFill>
                <a:latin typeface="Courier"/>
              </a:rPr>
              <a:t>"postdoc"</a:t>
            </a:r>
            <a:r>
              <a:rPr>
                <a:solidFill>
                  <a:srgbClr val="666666"/>
                </a:solidFill>
                <a:latin typeface="Courier"/>
              </a:rPr>
              <a:t>)),</a:t>
            </a:r>
            <a:b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"franklin"</a:t>
            </a:r>
            <a:r>
              <a:rPr>
                <a:solidFill>
                  <a:srgbClr val="666666"/>
                </a:solidFill>
                <a:latin typeface="Courier"/>
              </a:rPr>
              <a:t>,</a:t>
            </a:r>
            <a:r>
              <a:rPr>
                <a:latin typeface="Courier"/>
              </a:rPr>
              <a:t> </a:t>
            </a:r>
            <a:r>
              <a:rPr>
                <a:solidFill>
                  <a:srgbClr val="4070A0"/>
                </a:solidFill>
                <a:latin typeface="Courier"/>
              </a:rPr>
              <a:t>"prof"</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"istoica"</a:t>
            </a:r>
            <a:r>
              <a:rPr>
                <a:solidFill>
                  <a:srgbClr val="666666"/>
                </a:solidFill>
                <a:latin typeface="Courier"/>
              </a:rPr>
              <a:t>,</a:t>
            </a:r>
            <a:r>
              <a:rPr>
                <a:latin typeface="Courier"/>
              </a:rPr>
              <a:t> </a:t>
            </a:r>
            <a:r>
              <a:rPr>
                <a:solidFill>
                  <a:srgbClr val="4070A0"/>
                </a:solidFill>
                <a:latin typeface="Courier"/>
              </a:rPr>
              <a:t>"prof"</a:t>
            </a:r>
            <a:r>
              <a:rPr>
                <a:solidFill>
                  <a:srgbClr val="666666"/>
                </a:solidFill>
                <a:latin typeface="Courier"/>
              </a:rPr>
              <a:t>)),</a:t>
            </a:r>
            <a:br/>
            <a:r>
              <a:rPr>
                <a:solidFill>
                  <a:srgbClr val="666666"/>
                </a:solidFill>
                <a:latin typeface="Courier"/>
              </a:rPr>
              <a:t>(</a:t>
            </a:r>
            <a:r>
              <a:rPr>
                <a:solidFill>
                  <a:srgbClr val="40A070"/>
                </a:solidFill>
                <a:latin typeface="Courier"/>
              </a:rPr>
              <a:t>4L</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"peter"</a:t>
            </a:r>
            <a:r>
              <a:rPr>
                <a:solidFill>
                  <a:srgbClr val="666666"/>
                </a:solidFill>
                <a:latin typeface="Courier"/>
              </a:rPr>
              <a:t>,</a:t>
            </a:r>
            <a:r>
              <a:rPr>
                <a:latin typeface="Courier"/>
              </a:rPr>
              <a:t> </a:t>
            </a:r>
            <a:r>
              <a:rPr>
                <a:solidFill>
                  <a:srgbClr val="4070A0"/>
                </a:solidFill>
                <a:latin typeface="Courier"/>
              </a:rPr>
              <a:t>"student"</a:t>
            </a:r>
            <a:r>
              <a:rPr>
                <a:solidFill>
                  <a:srgbClr val="666666"/>
                </a:solidFill>
                <a:latin typeface="Courier"/>
              </a:rPr>
              <a:t>))))</a:t>
            </a:r>
            <a:br/>
            <a:r>
              <a:rPr i="1">
                <a:solidFill>
                  <a:srgbClr val="60A0B0"/>
                </a:solidFill>
                <a:latin typeface="Courier"/>
              </a:rPr>
              <a:t>// Exiting paste mode, now interpreting.</a:t>
            </a:r>
            <a:br/>
            <a:r>
              <a:rPr>
                <a:latin typeface="Courier"/>
              </a:rPr>
              <a:t>users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ParallelCollectionRDD</a:t>
            </a:r>
            <a:r>
              <a:rPr>
                <a:solidFill>
                  <a:srgbClr val="666666"/>
                </a:solidFill>
                <a:latin typeface="Courier"/>
              </a:rPr>
              <a:t>[</a:t>
            </a:r>
            <a:r>
              <a:rPr>
                <a:solidFill>
                  <a:srgbClr val="40A070"/>
                </a:solidFill>
                <a:latin typeface="Courier"/>
              </a:rPr>
              <a:t>100</a:t>
            </a:r>
            <a:r>
              <a:rPr>
                <a:solidFill>
                  <a:srgbClr val="666666"/>
                </a:solidFill>
                <a:latin typeface="Courier"/>
              </a:rPr>
              <a:t>]</a:t>
            </a:r>
            <a:r>
              <a:rPr>
                <a:latin typeface="Courier"/>
              </a:rPr>
              <a:t> at parallelize at</a:t>
            </a:r>
            <a:br/>
            <a:r>
              <a:rPr>
                <a:latin typeface="Courier"/>
              </a:rPr>
              <a:t>\</a:t>
            </a:r>
            <a:r>
              <a:rPr>
                <a:solidFill>
                  <a:srgbClr val="666666"/>
                </a:solidFill>
                <a:latin typeface="Courier"/>
              </a:rPr>
              <a:t>&lt;</a:t>
            </a:r>
            <a:r>
              <a:rPr>
                <a:latin typeface="Courier"/>
              </a:rPr>
              <a:t>pastie\</a:t>
            </a:r>
            <a:r>
              <a:rPr>
                <a:solidFill>
                  <a:srgbClr val="666666"/>
                </a:solidFill>
                <a:latin typeface="Courier"/>
              </a:rPr>
              <a:t>&gt;:</a:t>
            </a:r>
            <a:r>
              <a:rPr>
                <a:solidFill>
                  <a:srgbClr val="40A070"/>
                </a:solidFill>
                <a:latin typeface="Courier"/>
              </a:rPr>
              <a:t>34</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结构运算符：代码片段（2/8）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relationships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latin typeface="Courier"/>
              </a:rPr>
              <a:t>Array</a:t>
            </a:r>
            <a:r>
              <a:rPr>
                <a:solidFill>
                  <a:srgbClr val="666666"/>
                </a:solidFill>
                <a:latin typeface="Courier"/>
              </a:rPr>
              <a:t>(</a:t>
            </a:r>
            <a:r>
              <a:rPr>
                <a:solidFill>
                  <a:srgbClr val="06287E"/>
                </a:solidFill>
                <a:latin typeface="Courier"/>
              </a:rPr>
              <a:t>Edge</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40A070"/>
                </a:solidFill>
                <a:latin typeface="Courier"/>
              </a:rPr>
              <a:t>7L</a:t>
            </a:r>
            <a:r>
              <a:rPr>
                <a:solidFill>
                  <a:srgbClr val="666666"/>
                </a:solidFill>
                <a:latin typeface="Courier"/>
              </a:rPr>
              <a:t>,</a:t>
            </a:r>
            <a:r>
              <a:rPr>
                <a:latin typeface="Courier"/>
              </a:rPr>
              <a:t> </a:t>
            </a:r>
            <a:r>
              <a:rPr>
                <a:solidFill>
                  <a:srgbClr val="4070A0"/>
                </a:solidFill>
                <a:latin typeface="Courier"/>
              </a:rPr>
              <a:t>"collab"</a:t>
            </a:r>
            <a:r>
              <a:rPr>
                <a:solidFill>
                  <a:srgbClr val="666666"/>
                </a:solidFill>
                <a:latin typeface="Courier"/>
              </a:rPr>
              <a:t>),</a:t>
            </a:r>
            <a:r>
              <a:rPr>
                <a:latin typeface="Courier"/>
              </a:rPr>
              <a:t> </a:t>
            </a:r>
            <a:r>
              <a:rPr>
                <a:solidFill>
                  <a:srgbClr val="06287E"/>
                </a:solidFill>
                <a:latin typeface="Courier"/>
              </a:rPr>
              <a:t>Edge</a:t>
            </a: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40A070"/>
                </a:solidFill>
                <a:latin typeface="Courier"/>
              </a:rPr>
              <a:t>3L</a:t>
            </a:r>
            <a:r>
              <a:rPr>
                <a:solidFill>
                  <a:srgbClr val="666666"/>
                </a:solidFill>
                <a:latin typeface="Courier"/>
              </a:rPr>
              <a:t>,</a:t>
            </a:r>
            <a:r>
              <a:rPr>
                <a:latin typeface="Courier"/>
              </a:rPr>
              <a:t> </a:t>
            </a:r>
            <a:r>
              <a:rPr>
                <a:solidFill>
                  <a:srgbClr val="4070A0"/>
                </a:solidFill>
                <a:latin typeface="Courier"/>
              </a:rPr>
              <a:t>"advisor"</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40A070"/>
                </a:solidFill>
                <a:latin typeface="Courier"/>
              </a:rPr>
              <a:t>5L</a:t>
            </a:r>
            <a:r>
              <a:rPr>
                <a:solidFill>
                  <a:srgbClr val="666666"/>
                </a:solidFill>
                <a:latin typeface="Courier"/>
              </a:rPr>
              <a:t>,</a:t>
            </a:r>
            <a:r>
              <a:rPr>
                <a:latin typeface="Courier"/>
              </a:rPr>
              <a:t> </a:t>
            </a:r>
            <a:r>
              <a:rPr>
                <a:solidFill>
                  <a:srgbClr val="4070A0"/>
                </a:solidFill>
                <a:latin typeface="Courier"/>
              </a:rPr>
              <a:t>"colleague"</a:t>
            </a:r>
            <a:r>
              <a:rPr>
                <a:solidFill>
                  <a:srgbClr val="666666"/>
                </a:solidFill>
                <a:latin typeface="Courier"/>
              </a:rPr>
              <a:t>),</a:t>
            </a:r>
            <a:r>
              <a:rPr>
                <a:latin typeface="Courier"/>
              </a:rPr>
              <a:t> </a:t>
            </a:r>
            <a:r>
              <a:rPr>
                <a:solidFill>
                  <a:srgbClr val="06287E"/>
                </a:solidFill>
                <a:latin typeface="Courier"/>
              </a:rPr>
              <a:t>Edge</a:t>
            </a: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40A070"/>
                </a:solidFill>
                <a:latin typeface="Courier"/>
              </a:rPr>
              <a:t>7L</a:t>
            </a:r>
            <a:r>
              <a:rPr>
                <a:solidFill>
                  <a:srgbClr val="666666"/>
                </a:solidFill>
                <a:latin typeface="Courier"/>
              </a:rPr>
              <a:t>,</a:t>
            </a:r>
            <a:r>
              <a:rPr>
                <a:latin typeface="Courier"/>
              </a:rPr>
              <a:t> </a:t>
            </a:r>
            <a:r>
              <a:rPr>
                <a:solidFill>
                  <a:srgbClr val="4070A0"/>
                </a:solidFill>
                <a:latin typeface="Courier"/>
              </a:rPr>
              <a:t>"pi"</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4L</a:t>
            </a:r>
            <a:r>
              <a:rPr>
                <a:solidFill>
                  <a:srgbClr val="666666"/>
                </a:solidFill>
                <a:latin typeface="Courier"/>
              </a:rPr>
              <a:t>,</a:t>
            </a:r>
            <a:r>
              <a:rPr>
                <a:latin typeface="Courier"/>
              </a:rPr>
              <a:t> </a:t>
            </a:r>
            <a:r>
              <a:rPr>
                <a:solidFill>
                  <a:srgbClr val="40A070"/>
                </a:solidFill>
                <a:latin typeface="Courier"/>
              </a:rPr>
              <a:t>0L</a:t>
            </a:r>
            <a:r>
              <a:rPr>
                <a:solidFill>
                  <a:srgbClr val="666666"/>
                </a:solidFill>
                <a:latin typeface="Courier"/>
              </a:rPr>
              <a:t>,</a:t>
            </a:r>
            <a:r>
              <a:rPr>
                <a:latin typeface="Courier"/>
              </a:rPr>
              <a:t> </a:t>
            </a:r>
            <a:r>
              <a:rPr>
                <a:solidFill>
                  <a:srgbClr val="4070A0"/>
                </a:solidFill>
                <a:latin typeface="Courier"/>
              </a:rPr>
              <a:t>"student"</a:t>
            </a:r>
            <a:r>
              <a:rPr>
                <a:solidFill>
                  <a:srgbClr val="666666"/>
                </a:solidFill>
                <a:latin typeface="Courier"/>
              </a:rPr>
              <a:t>),</a:t>
            </a:r>
            <a:r>
              <a:rPr>
                <a:latin typeface="Courier"/>
              </a:rPr>
              <a:t> </a:t>
            </a:r>
            <a:r>
              <a:rPr>
                <a:solidFill>
                  <a:srgbClr val="06287E"/>
                </a:solidFill>
                <a:latin typeface="Courier"/>
              </a:rPr>
              <a:t>Edge</a:t>
            </a: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40A070"/>
                </a:solidFill>
                <a:latin typeface="Courier"/>
              </a:rPr>
              <a:t>0L</a:t>
            </a:r>
            <a:r>
              <a:rPr>
                <a:solidFill>
                  <a:srgbClr val="666666"/>
                </a:solidFill>
                <a:latin typeface="Courier"/>
              </a:rPr>
              <a:t>,</a:t>
            </a:r>
            <a:r>
              <a:rPr>
                <a:latin typeface="Courier"/>
              </a:rPr>
              <a:t> </a:t>
            </a:r>
            <a:r>
              <a:rPr>
                <a:solidFill>
                  <a:srgbClr val="4070A0"/>
                </a:solidFill>
                <a:latin typeface="Courier"/>
              </a:rPr>
              <a:t>"colleague"</a:t>
            </a:r>
            <a:r>
              <a:rPr>
                <a:solidFill>
                  <a:srgbClr val="666666"/>
                </a:solidFill>
                <a:latin typeface="Courier"/>
              </a:rPr>
              <a:t>)))</a:t>
            </a:r>
            <a:br/>
            <a:r>
              <a:rPr i="1">
                <a:solidFill>
                  <a:srgbClr val="60A0B0"/>
                </a:solidFill>
                <a:latin typeface="Courier"/>
              </a:rPr>
              <a:t>// Exiting paste mode, now interpreting.</a:t>
            </a:r>
            <a:br/>
            <a:r>
              <a:rPr>
                <a:latin typeface="Courier"/>
              </a:rPr>
              <a:t>relationships</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ParallelCollectionRDD</a:t>
            </a:r>
            <a:r>
              <a:rPr>
                <a:solidFill>
                  <a:srgbClr val="666666"/>
                </a:solidFill>
                <a:latin typeface="Courier"/>
              </a:rPr>
              <a:t>[</a:t>
            </a:r>
            <a:r>
              <a:rPr>
                <a:solidFill>
                  <a:srgbClr val="40A070"/>
                </a:solidFill>
                <a:latin typeface="Courier"/>
              </a:rPr>
              <a:t>101</a:t>
            </a:r>
            <a:r>
              <a:rPr>
                <a:solidFill>
                  <a:srgbClr val="666666"/>
                </a:solidFill>
                <a:latin typeface="Courier"/>
              </a:rPr>
              <a:t>]</a:t>
            </a:r>
            <a:r>
              <a:rPr>
                <a:latin typeface="Courier"/>
              </a:rPr>
              <a:t> at parallelize at \</a:t>
            </a:r>
            <a:r>
              <a:rPr>
                <a:solidFill>
                  <a:srgbClr val="666666"/>
                </a:solidFill>
                <a:latin typeface="Courier"/>
              </a:rPr>
              <a:t>&lt;</a:t>
            </a:r>
            <a:r>
              <a:rPr>
                <a:latin typeface="Courier"/>
              </a:rPr>
              <a:t>pastie\</a:t>
            </a:r>
            <a:r>
              <a:rPr>
                <a:solidFill>
                  <a:srgbClr val="666666"/>
                </a:solidFill>
                <a:latin typeface="Courier"/>
              </a:rPr>
              <a:t>&gt;:</a:t>
            </a:r>
            <a:r>
              <a:rPr>
                <a:solidFill>
                  <a:srgbClr val="40A070"/>
                </a:solidFill>
                <a:latin typeface="Courier"/>
              </a:rPr>
              <a:t>34</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结构运算符：代码片段（3/8）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（3）定义缺省的用户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defaultUser </a:t>
            </a:r>
            <a:r>
              <a:rPr>
                <a:solidFill>
                  <a:srgbClr val="666666"/>
                </a:solidFill>
                <a:latin typeface="Courier"/>
              </a:rPr>
              <a:t>=</a:t>
            </a:r>
            <a:r>
              <a:rPr>
                <a:latin typeface="Courier"/>
              </a:rPr>
              <a:t> </a:t>
            </a:r>
            <a:r>
              <a:rPr>
                <a:solidFill>
                  <a:srgbClr val="666666"/>
                </a:solidFill>
                <a:latin typeface="Courier"/>
              </a:rPr>
              <a:t>(</a:t>
            </a:r>
            <a:r>
              <a:rPr>
                <a:solidFill>
                  <a:srgbClr val="4070A0"/>
                </a:solidFill>
                <a:latin typeface="Courier"/>
              </a:rPr>
              <a:t>"John Doe"</a:t>
            </a:r>
            <a:r>
              <a:rPr>
                <a:solidFill>
                  <a:srgbClr val="666666"/>
                </a:solidFill>
                <a:latin typeface="Courier"/>
              </a:rPr>
              <a:t>,</a:t>
            </a:r>
            <a:r>
              <a:rPr>
                <a:latin typeface="Courier"/>
              </a:rPr>
              <a:t> </a:t>
            </a:r>
            <a:r>
              <a:rPr>
                <a:solidFill>
                  <a:srgbClr val="4070A0"/>
                </a:solidFill>
                <a:latin typeface="Courier"/>
              </a:rPr>
              <a:t>"Missing"</a:t>
            </a:r>
            <a:r>
              <a:rPr>
                <a:solidFill>
                  <a:srgbClr val="666666"/>
                </a:solidFill>
                <a:latin typeface="Courier"/>
              </a:rPr>
              <a:t>)</a:t>
            </a:r>
            <a:br/>
            <a:r>
              <a:rPr>
                <a:latin typeface="Courier"/>
              </a:rPr>
              <a:t>defaultUser</a:t>
            </a:r>
            <a:r>
              <a:rPr>
                <a:solidFill>
                  <a:srgbClr val="666666"/>
                </a:solidFill>
                <a:latin typeface="Courier"/>
              </a:rPr>
              <a:t>:</a:t>
            </a:r>
            <a:r>
              <a:rPr>
                <a:latin typeface="Courier"/>
              </a:rPr>
              <a:t> </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John Doe</a:t>
            </a:r>
            <a:r>
              <a:rPr>
                <a:solidFill>
                  <a:srgbClr val="666666"/>
                </a:solidFill>
                <a:latin typeface="Courier"/>
              </a:rPr>
              <a:t>,</a:t>
            </a:r>
            <a:r>
              <a:rPr>
                <a:latin typeface="Courier"/>
              </a:rPr>
              <a:t>Missing</a:t>
            </a:r>
            <a:r>
              <a:rPr>
                <a:solidFill>
                  <a:srgbClr val="666666"/>
                </a:solidFill>
                <a:latin typeface="Courier"/>
              </a:rPr>
              <a: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结构运算符：代码片段（4/8）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graph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users</a:t>
            </a:r>
            <a:r>
              <a:rPr>
                <a:solidFill>
                  <a:srgbClr val="666666"/>
                </a:solidFill>
                <a:latin typeface="Courier"/>
              </a:rPr>
              <a:t>,</a:t>
            </a:r>
            <a:r>
              <a:rPr>
                <a:latin typeface="Courier"/>
              </a:rPr>
              <a:t> relationships</a:t>
            </a:r>
            <a:r>
              <a:rPr>
                <a:solidFill>
                  <a:srgbClr val="666666"/>
                </a:solidFill>
                <a:latin typeface="Courier"/>
              </a:rPr>
              <a:t>,</a:t>
            </a:r>
            <a:r>
              <a:rPr>
                <a:latin typeface="Courier"/>
              </a:rPr>
              <a:t> defaultUser</a:t>
            </a:r>
            <a:r>
              <a:rPr>
                <a:solidFill>
                  <a:srgbClr val="666666"/>
                </a:solidFill>
                <a:latin typeface="Courier"/>
              </a:rPr>
              <a:t>)</a:t>
            </a:r>
            <a:br/>
            <a:r>
              <a:rPr>
                <a:latin typeface="Courier"/>
              </a:rPr>
              <a:t>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3517</a:t>
            </a:r>
            <a:r>
              <a:rPr>
                <a:latin typeface="Courier"/>
              </a:rPr>
              <a:t>a60</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a:latin typeface="Courier"/>
              </a:rPr>
              <a:t>graph</a:t>
            </a:r>
            <a:r>
              <a:rPr>
                <a:solidFill>
                  <a:srgbClr val="666666"/>
                </a:solidFill>
                <a:latin typeface="Courier"/>
              </a:rPr>
              <a:t>.</a:t>
            </a:r>
            <a:r>
              <a:rPr>
                <a:latin typeface="Courier"/>
              </a:rPr>
              <a:t>triplets</a:t>
            </a:r>
            <a:r>
              <a:rPr>
                <a:solidFill>
                  <a:srgbClr val="666666"/>
                </a:solidFill>
                <a:latin typeface="Courier"/>
              </a:rPr>
              <a:t>.</a:t>
            </a:r>
            <a:r>
              <a:rPr>
                <a:solidFill>
                  <a:srgbClr val="06287E"/>
                </a:solidFill>
                <a:latin typeface="Courier"/>
              </a:rPr>
              <a:t>map</a:t>
            </a:r>
            <a:r>
              <a:rPr>
                <a:solidFill>
                  <a:srgbClr val="666666"/>
                </a:solidFill>
                <a:latin typeface="Courier"/>
              </a:rPr>
              <a:t>(</a:t>
            </a:r>
            <a:br/>
            <a:r>
              <a:rPr>
                <a:latin typeface="Courier"/>
              </a:rPr>
              <a:t>triplet </a:t>
            </a:r>
            <a:r>
              <a:rPr>
                <a:solidFill>
                  <a:srgbClr val="666666"/>
                </a:solidFill>
                <a:latin typeface="Courier"/>
              </a:rPr>
              <a:t>=&gt;</a:t>
            </a:r>
            <a:r>
              <a:rPr>
                <a:latin typeface="Courier"/>
              </a:rPr>
              <a:t> triplet</a:t>
            </a:r>
            <a:r>
              <a:rPr>
                <a:solidFill>
                  <a:srgbClr val="666666"/>
                </a:solidFill>
                <a:latin typeface="Courier"/>
              </a:rPr>
              <a:t>.</a:t>
            </a:r>
            <a:r>
              <a:rPr>
                <a:latin typeface="Courier"/>
              </a:rPr>
              <a:t>srcAttr</a:t>
            </a:r>
            <a:r>
              <a:rPr>
                <a:solidFill>
                  <a:srgbClr val="666666"/>
                </a:solidFill>
                <a:latin typeface="Courier"/>
              </a:rPr>
              <a:t>.</a:t>
            </a:r>
            <a:r>
              <a:rPr>
                <a:latin typeface="Courier"/>
              </a:rPr>
              <a:t>_1 </a:t>
            </a:r>
            <a:r>
              <a:rPr>
                <a:solidFill>
                  <a:srgbClr val="666666"/>
                </a:solidFill>
                <a:latin typeface="Courier"/>
              </a:rPr>
              <a:t>+</a:t>
            </a:r>
            <a:r>
              <a:rPr>
                <a:latin typeface="Courier"/>
              </a:rPr>
              <a:t> </a:t>
            </a:r>
            <a:r>
              <a:rPr>
                <a:solidFill>
                  <a:srgbClr val="4070A0"/>
                </a:solidFill>
                <a:latin typeface="Courier"/>
              </a:rPr>
              <a:t>" is the "</a:t>
            </a:r>
            <a:r>
              <a:rPr>
                <a:latin typeface="Courier"/>
              </a:rPr>
              <a:t> </a:t>
            </a:r>
            <a:r>
              <a:rPr>
                <a:solidFill>
                  <a:srgbClr val="666666"/>
                </a:solidFill>
                <a:latin typeface="Courier"/>
              </a:rPr>
              <a:t>+</a:t>
            </a:r>
            <a:r>
              <a:rPr>
                <a:latin typeface="Courier"/>
              </a:rPr>
              <a:t> triplet</a:t>
            </a:r>
            <a:r>
              <a:rPr>
                <a:solidFill>
                  <a:srgbClr val="666666"/>
                </a:solidFill>
                <a:latin typeface="Courier"/>
              </a:rPr>
              <a:t>.</a:t>
            </a:r>
            <a:r>
              <a:rPr>
                <a:latin typeface="Courier"/>
              </a:rPr>
              <a:t>attr </a:t>
            </a:r>
            <a:r>
              <a:rPr>
                <a:solidFill>
                  <a:srgbClr val="666666"/>
                </a:solidFill>
                <a:latin typeface="Courier"/>
              </a:rPr>
              <a:t>+</a:t>
            </a:r>
            <a:r>
              <a:rPr>
                <a:latin typeface="Courier"/>
              </a:rPr>
              <a:t> </a:t>
            </a:r>
            <a:r>
              <a:rPr>
                <a:solidFill>
                  <a:srgbClr val="4070A0"/>
                </a:solidFill>
                <a:latin typeface="Courier"/>
              </a:rPr>
              <a:t>" of "</a:t>
            </a:r>
            <a:r>
              <a:rPr>
                <a:latin typeface="Courier"/>
              </a:rPr>
              <a:t> </a:t>
            </a:r>
            <a:r>
              <a:rPr>
                <a:solidFill>
                  <a:srgbClr val="666666"/>
                </a:solidFill>
                <a:latin typeface="Courier"/>
              </a:rPr>
              <a:t>+</a:t>
            </a:r>
            <a:br/>
            <a:r>
              <a:rPr>
                <a:latin typeface="Courier"/>
              </a:rPr>
              <a:t>triplet</a:t>
            </a:r>
            <a:r>
              <a:rPr>
                <a:solidFill>
                  <a:srgbClr val="666666"/>
                </a:solidFill>
                <a:latin typeface="Courier"/>
              </a:rPr>
              <a:t>.</a:t>
            </a:r>
            <a:r>
              <a:rPr>
                <a:latin typeface="Courier"/>
              </a:rPr>
              <a:t>dstAttr</a:t>
            </a:r>
            <a:r>
              <a:rPr>
                <a:solidFill>
                  <a:srgbClr val="666666"/>
                </a:solidFill>
                <a:latin typeface="Courier"/>
              </a:rPr>
              <a:t>.</a:t>
            </a:r>
            <a:r>
              <a:rPr>
                <a:latin typeface="Courier"/>
              </a:rPr>
              <a:t>_1</a:t>
            </a:r>
            <a:b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br/>
            <a:r>
              <a:rPr i="1">
                <a:solidFill>
                  <a:srgbClr val="60A0B0"/>
                </a:solidFill>
                <a:latin typeface="Courier"/>
              </a:rPr>
              <a:t>// Exiting paste mode, now interpreting.</a:t>
            </a:r>
            <a:br/>
            <a:r>
              <a:rPr>
                <a:latin typeface="Courier"/>
              </a:rPr>
              <a:t>rxin is the collab of jgonzal</a:t>
            </a:r>
            <a:br/>
            <a:r>
              <a:rPr i="1">
                <a:solidFill>
                  <a:srgbClr val="60A0B0"/>
                </a:solidFill>
                <a:latin typeface="Courier"/>
              </a:rPr>
              <a:t>//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结构运算符：代码片段（5/8）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validGraph </a:t>
            </a:r>
            <a:r>
              <a:rPr>
                <a:solidFill>
                  <a:srgbClr val="666666"/>
                </a:solidFill>
                <a:latin typeface="Courier"/>
              </a:rPr>
              <a:t>=</a:t>
            </a:r>
            <a:r>
              <a:rPr>
                <a:latin typeface="Courier"/>
              </a:rPr>
              <a:t> graph</a:t>
            </a:r>
            <a:r>
              <a:rPr>
                <a:solidFill>
                  <a:srgbClr val="666666"/>
                </a:solidFill>
                <a:latin typeface="Courier"/>
              </a:rPr>
              <a:t>.</a:t>
            </a:r>
            <a:r>
              <a:rPr>
                <a:solidFill>
                  <a:srgbClr val="06287E"/>
                </a:solidFill>
                <a:latin typeface="Courier"/>
              </a:rPr>
              <a:t>subgraph</a:t>
            </a:r>
            <a:r>
              <a:rPr>
                <a:solidFill>
                  <a:srgbClr val="666666"/>
                </a:solidFill>
                <a:latin typeface="Courier"/>
              </a:rPr>
              <a:t>(</a:t>
            </a:r>
            <a:r>
              <a:rPr>
                <a:latin typeface="Courier"/>
              </a:rPr>
              <a:t>vpred </a:t>
            </a:r>
            <a:r>
              <a:rPr>
                <a:solidFill>
                  <a:srgbClr val="666666"/>
                </a:solidFill>
                <a:latin typeface="Courier"/>
              </a:rPr>
              <a: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r>
              <a:rPr>
                <a:latin typeface="Courier"/>
              </a:rPr>
              <a:t> </a:t>
            </a:r>
            <a:r>
              <a:rPr>
                <a:solidFill>
                  <a:srgbClr val="666666"/>
                </a:solidFill>
                <a:latin typeface="Courier"/>
              </a:rPr>
              <a:t>=&gt;</a:t>
            </a:r>
            <a:r>
              <a:rPr>
                <a:latin typeface="Courier"/>
              </a:rPr>
              <a:t> attr</a:t>
            </a:r>
            <a:r>
              <a:rPr>
                <a:solidFill>
                  <a:srgbClr val="666666"/>
                </a:solidFill>
                <a:latin typeface="Courier"/>
              </a:rPr>
              <a:t>.</a:t>
            </a:r>
            <a:r>
              <a:rPr>
                <a:latin typeface="Courier"/>
              </a:rPr>
              <a:t>_2</a:t>
            </a:r>
            <a:br/>
            <a:r>
              <a:rPr>
                <a:solidFill>
                  <a:srgbClr val="666666"/>
                </a:solidFill>
                <a:latin typeface="Courier"/>
              </a:rPr>
              <a:t>!=</a:t>
            </a:r>
            <a:r>
              <a:rPr>
                <a:latin typeface="Courier"/>
              </a:rPr>
              <a:t> </a:t>
            </a:r>
            <a:r>
              <a:rPr>
                <a:solidFill>
                  <a:srgbClr val="4070A0"/>
                </a:solidFill>
                <a:latin typeface="Courier"/>
              </a:rPr>
              <a:t>"Missing"</a:t>
            </a:r>
            <a:r>
              <a:rPr>
                <a:solidFill>
                  <a:srgbClr val="666666"/>
                </a:solidFill>
                <a:latin typeface="Courier"/>
              </a:rPr>
              <a:t>)</a:t>
            </a:r>
            <a:br/>
            <a:r>
              <a:rPr>
                <a:latin typeface="Courier"/>
              </a:rPr>
              <a:t>validGraph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43995813</a:t>
            </a:r>
            <a:br/>
            <a:r>
              <a:rPr>
                <a:latin typeface="Courier"/>
              </a:rPr>
              <a:t>scala</a:t>
            </a:r>
            <a:r>
              <a:rPr>
                <a:solidFill>
                  <a:srgbClr val="666666"/>
                </a:solidFill>
                <a:latin typeface="Courier"/>
              </a:rPr>
              <a:t>&gt;</a:t>
            </a:r>
            <a:r>
              <a:rPr>
                <a:latin typeface="Courier"/>
              </a:rPr>
              <a:t> validGraph</a:t>
            </a:r>
            <a:r>
              <a:rPr>
                <a:solidFill>
                  <a:srgbClr val="666666"/>
                </a:solidFill>
                <a:latin typeface="Courier"/>
              </a:rPr>
              <a:t>.</a:t>
            </a:r>
            <a:r>
              <a:rPr>
                <a:latin typeface="Courier"/>
              </a:rPr>
              <a:t>vertices</a:t>
            </a: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istoica</a:t>
            </a:r>
            <a:r>
              <a:rPr>
                <a:solidFill>
                  <a:srgbClr val="666666"/>
                </a:solidFill>
                <a:latin typeface="Courier"/>
              </a:rPr>
              <a:t>,</a:t>
            </a:r>
            <a:r>
              <a:rPr>
                <a:latin typeface="Courier"/>
              </a:rPr>
              <a:t>prof</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rxin</a:t>
            </a:r>
            <a:r>
              <a:rPr>
                <a:solidFill>
                  <a:srgbClr val="666666"/>
                </a:solidFill>
                <a:latin typeface="Courier"/>
              </a:rPr>
              <a:t>,</a:t>
            </a:r>
            <a:r>
              <a:rPr>
                <a:latin typeface="Courier"/>
              </a:rPr>
              <a:t>student</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peter</a:t>
            </a:r>
            <a:r>
              <a:rPr>
                <a:solidFill>
                  <a:srgbClr val="666666"/>
                </a:solidFill>
                <a:latin typeface="Courier"/>
              </a:rPr>
              <a:t>,</a:t>
            </a:r>
            <a:r>
              <a:rPr>
                <a:latin typeface="Courier"/>
              </a:rPr>
              <a:t>student</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franklin</a:t>
            </a:r>
            <a:r>
              <a:rPr>
                <a:solidFill>
                  <a:srgbClr val="666666"/>
                </a:solidFill>
                <a:latin typeface="Courier"/>
              </a:rPr>
              <a:t>,</a:t>
            </a:r>
            <a:r>
              <a:rPr>
                <a:latin typeface="Courier"/>
              </a:rPr>
              <a:t>prof</a:t>
            </a:r>
            <a:r>
              <a:rPr>
                <a:solidFill>
                  <a:srgbClr val="666666"/>
                </a:solidFill>
                <a:latin typeface="Courier"/>
              </a:rPr>
              <a:t>))</a:t>
            </a:r>
            <a:b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jgonzal</a:t>
            </a:r>
            <a:r>
              <a:rPr>
                <a:solidFill>
                  <a:srgbClr val="666666"/>
                </a:solidFill>
                <a:latin typeface="Courier"/>
              </a:rPr>
              <a:t>,</a:t>
            </a:r>
            <a:r>
              <a:rPr>
                <a:latin typeface="Courier"/>
              </a:rPr>
              <a:t>postdoc</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结构运算符：代码片段（6/8）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（1）获得连接的部分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ccGraph </a:t>
            </a:r>
            <a:r>
              <a:rPr>
                <a:solidFill>
                  <a:srgbClr val="666666"/>
                </a:solidFill>
                <a:latin typeface="Courier"/>
              </a:rPr>
              <a:t>=</a:t>
            </a:r>
            <a:r>
              <a:rPr>
                <a:latin typeface="Courier"/>
              </a:rPr>
              <a:t> graph</a:t>
            </a:r>
            <a:r>
              <a:rPr>
                <a:solidFill>
                  <a:srgbClr val="666666"/>
                </a:solidFill>
                <a:latin typeface="Courier"/>
              </a:rPr>
              <a:t>.</a:t>
            </a:r>
            <a:r>
              <a:rPr>
                <a:solidFill>
                  <a:srgbClr val="06287E"/>
                </a:solidFill>
                <a:latin typeface="Courier"/>
              </a:rPr>
              <a:t>connectedComponents</a:t>
            </a:r>
            <a:r>
              <a:rPr>
                <a:solidFill>
                  <a:srgbClr val="666666"/>
                </a:solidFill>
                <a:latin typeface="Courier"/>
              </a:rPr>
              <a:t>()</a:t>
            </a:r>
            <a:br/>
            <a:r>
              <a:rPr>
                <a:latin typeface="Courier"/>
              </a:rPr>
              <a:t>ccGraph</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String</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&lt;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5025</a:t>
            </a:r>
            <a:r>
              <a:rPr>
                <a:latin typeface="Courier"/>
              </a:rPr>
              <a:t>b871</a:t>
            </a:r>
            <a:r>
              <a:rPr>
                <a:solidFill>
                  <a:srgbClr val="666666"/>
                </a:solidFill>
                <a:latin typeface="Courier"/>
              </a:rPr>
              <a:t>&gt;</a:t>
            </a:r>
            <a:br/>
            <a:r>
              <a:rPr>
                <a:latin typeface="Courier"/>
              </a:rPr>
              <a:t>scala</a:t>
            </a:r>
            <a:r>
              <a:rPr>
                <a:solidFill>
                  <a:srgbClr val="666666"/>
                </a:solidFill>
                <a:latin typeface="Courier"/>
              </a:rPr>
              <a:t>&gt;</a:t>
            </a:r>
            <a:r>
              <a:rPr>
                <a:latin typeface="Courier"/>
              </a:rPr>
              <a:t> ccGraph</a:t>
            </a:r>
            <a:r>
              <a:rPr>
                <a:solidFill>
                  <a:srgbClr val="666666"/>
                </a:solidFill>
                <a:latin typeface="Courier"/>
              </a:rPr>
              <a:t>.</a:t>
            </a:r>
            <a:r>
              <a:rPr>
                <a:latin typeface="Courier"/>
              </a:rPr>
              <a:t>edges</a:t>
            </a: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collab</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advisor</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colleague</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pi</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student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colleague</a:t>
            </a:r>
            <a:r>
              <a:rPr>
                <a:solidFill>
                  <a:srgbClr val="666666"/>
                </a:solidFill>
                <a:latin typeface="Courie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结构运算符：代码片段（7/8）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（2）移除缺失属性信息的点点以及连接到它们的边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validGraph </a:t>
            </a:r>
            <a:r>
              <a:rPr>
                <a:solidFill>
                  <a:srgbClr val="666666"/>
                </a:solidFill>
                <a:latin typeface="Courier"/>
              </a:rPr>
              <a:t>=</a:t>
            </a:r>
            <a:r>
              <a:rPr>
                <a:latin typeface="Courier"/>
              </a:rPr>
              <a:t> graph</a:t>
            </a:r>
            <a:r>
              <a:rPr>
                <a:solidFill>
                  <a:srgbClr val="666666"/>
                </a:solidFill>
                <a:latin typeface="Courier"/>
              </a:rPr>
              <a:t>.</a:t>
            </a:r>
            <a:r>
              <a:rPr>
                <a:solidFill>
                  <a:srgbClr val="06287E"/>
                </a:solidFill>
                <a:latin typeface="Courier"/>
              </a:rPr>
              <a:t>subgraph</a:t>
            </a:r>
            <a:r>
              <a:rPr>
                <a:solidFill>
                  <a:srgbClr val="666666"/>
                </a:solidFill>
                <a:latin typeface="Courier"/>
              </a:rPr>
              <a:t>(</a:t>
            </a:r>
            <a:r>
              <a:rPr>
                <a:latin typeface="Courier"/>
              </a:rPr>
              <a:t>vpred </a:t>
            </a:r>
            <a:r>
              <a:rPr>
                <a:solidFill>
                  <a:srgbClr val="666666"/>
                </a:solidFill>
                <a:latin typeface="Courier"/>
              </a:rPr>
              <a: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attr</a:t>
            </a:r>
            <a:r>
              <a:rPr>
                <a:solidFill>
                  <a:srgbClr val="666666"/>
                </a:solidFill>
                <a:latin typeface="Courier"/>
              </a:rPr>
              <a:t>)</a:t>
            </a:r>
            <a:r>
              <a:rPr>
                <a:latin typeface="Courier"/>
              </a:rPr>
              <a:t> </a:t>
            </a:r>
            <a:r>
              <a:rPr>
                <a:solidFill>
                  <a:srgbClr val="666666"/>
                </a:solidFill>
                <a:latin typeface="Courier"/>
              </a:rPr>
              <a:t>=&gt;</a:t>
            </a:r>
            <a:r>
              <a:rPr>
                <a:latin typeface="Courier"/>
              </a:rPr>
              <a:t> attr</a:t>
            </a:r>
            <a:r>
              <a:rPr>
                <a:solidFill>
                  <a:srgbClr val="666666"/>
                </a:solidFill>
                <a:latin typeface="Courier"/>
              </a:rPr>
              <a:t>.</a:t>
            </a:r>
            <a:r>
              <a:rPr>
                <a:latin typeface="Courier"/>
              </a:rPr>
              <a:t>_2</a:t>
            </a:r>
            <a:br/>
            <a:r>
              <a:rPr>
                <a:solidFill>
                  <a:srgbClr val="666666"/>
                </a:solidFill>
                <a:latin typeface="Courier"/>
              </a:rPr>
              <a:t>!=</a:t>
            </a:r>
            <a:r>
              <a:rPr>
                <a:latin typeface="Courier"/>
              </a:rPr>
              <a:t> </a:t>
            </a:r>
            <a:r>
              <a:rPr>
                <a:solidFill>
                  <a:srgbClr val="4070A0"/>
                </a:solidFill>
                <a:latin typeface="Courier"/>
              </a:rPr>
              <a:t>"Missing"</a:t>
            </a:r>
            <a:r>
              <a:rPr>
                <a:solidFill>
                  <a:srgbClr val="666666"/>
                </a:solidFill>
                <a:latin typeface="Courier"/>
              </a:rPr>
              <a:t>)</a:t>
            </a:r>
            <a:br/>
            <a:r>
              <a:rPr>
                <a:latin typeface="Courier"/>
              </a:rPr>
              <a:t>validGraph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54</a:t>
            </a:r>
            <a:r>
              <a:rPr>
                <a:latin typeface="Courier"/>
              </a:rPr>
              <a:t>d1dfa1</a:t>
            </a:r>
            <a:br/>
            <a:r>
              <a:rPr>
                <a:latin typeface="Courier"/>
              </a:rPr>
              <a:t>scala</a:t>
            </a:r>
            <a:r>
              <a:rPr>
                <a:solidFill>
                  <a:srgbClr val="666666"/>
                </a:solidFill>
                <a:latin typeface="Courier"/>
              </a:rPr>
              <a:t>&gt;</a:t>
            </a:r>
            <a:r>
              <a:rPr>
                <a:latin typeface="Courier"/>
              </a:rPr>
              <a:t> validGraph</a:t>
            </a:r>
            <a:r>
              <a:rPr>
                <a:solidFill>
                  <a:srgbClr val="666666"/>
                </a:solidFill>
                <a:latin typeface="Courier"/>
              </a:rPr>
              <a:t>.</a:t>
            </a:r>
            <a:r>
              <a:rPr>
                <a:latin typeface="Courier"/>
              </a:rPr>
              <a:t>edges</a:t>
            </a: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collab</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advisor</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colleague</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pi</a:t>
            </a:r>
            <a:r>
              <a:rPr>
                <a:solidFill>
                  <a:srgbClr val="666666"/>
                </a:solidFill>
                <a:latin typeface="Courie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6.6.2 结构运算符：代码片段（8/8）</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（3）使用子图过滤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validCCGraph </a:t>
            </a:r>
            <a:r>
              <a:rPr>
                <a:solidFill>
                  <a:srgbClr val="666666"/>
                </a:solidFill>
                <a:latin typeface="Courier"/>
              </a:rPr>
              <a:t>=</a:t>
            </a:r>
            <a:r>
              <a:rPr>
                <a:latin typeface="Courier"/>
              </a:rPr>
              <a:t> ccGraph</a:t>
            </a:r>
            <a:r>
              <a:rPr>
                <a:solidFill>
                  <a:srgbClr val="666666"/>
                </a:solidFill>
                <a:latin typeface="Courier"/>
              </a:rPr>
              <a:t>.</a:t>
            </a:r>
            <a:r>
              <a:rPr>
                <a:solidFill>
                  <a:srgbClr val="06287E"/>
                </a:solidFill>
                <a:latin typeface="Courier"/>
              </a:rPr>
              <a:t>mask</a:t>
            </a:r>
            <a:r>
              <a:rPr>
                <a:solidFill>
                  <a:srgbClr val="666666"/>
                </a:solidFill>
                <a:latin typeface="Courier"/>
              </a:rPr>
              <a:t>(</a:t>
            </a:r>
            <a:r>
              <a:rPr>
                <a:latin typeface="Courier"/>
              </a:rPr>
              <a:t>validGraph</a:t>
            </a:r>
            <a:r>
              <a:rPr>
                <a:solidFill>
                  <a:srgbClr val="666666"/>
                </a:solidFill>
                <a:latin typeface="Courier"/>
              </a:rPr>
              <a:t>)</a:t>
            </a:r>
            <a:br/>
            <a:r>
              <a:rPr>
                <a:latin typeface="Courier"/>
              </a:rPr>
              <a:t>validCCGraph</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String</a:t>
            </a:r>
            <a:r>
              <a:rPr>
                <a:solidFill>
                  <a:srgbClr val="666666"/>
                </a:solidFill>
                <a:latin typeface="Courier"/>
              </a:rPr>
              <a:t>]</a:t>
            </a:r>
            <a:b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17645849</a:t>
            </a:r>
            <a:br/>
            <a:r>
              <a:rPr>
                <a:latin typeface="Courier"/>
              </a:rPr>
              <a:t>scala</a:t>
            </a:r>
            <a:r>
              <a:rPr>
                <a:solidFill>
                  <a:srgbClr val="666666"/>
                </a:solidFill>
                <a:latin typeface="Courier"/>
              </a:rPr>
              <a:t>&gt;</a:t>
            </a:r>
            <a:r>
              <a:rPr>
                <a:latin typeface="Courier"/>
              </a:rPr>
              <a:t> validCCGraph</a:t>
            </a:r>
            <a:r>
              <a:rPr>
                <a:solidFill>
                  <a:srgbClr val="666666"/>
                </a:solidFill>
                <a:latin typeface="Courier"/>
              </a:rPr>
              <a:t>.</a:t>
            </a:r>
            <a:r>
              <a:rPr>
                <a:latin typeface="Courier"/>
              </a:rPr>
              <a:t>edges</a:t>
            </a:r>
            <a:r>
              <a:rPr>
                <a:solidFill>
                  <a:srgbClr val="666666"/>
                </a:solidFill>
                <a:latin typeface="Courier"/>
              </a:rPr>
              <a:t>.</a:t>
            </a:r>
            <a:r>
              <a:rPr>
                <a:latin typeface="Courier"/>
              </a:rPr>
              <a:t>collect</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_</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collab</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advisor</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colleague</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7</a:t>
            </a:r>
            <a:r>
              <a:rPr>
                <a:solidFill>
                  <a:srgbClr val="666666"/>
                </a:solidFill>
                <a:latin typeface="Courier"/>
              </a:rPr>
              <a:t>,</a:t>
            </a:r>
            <a:r>
              <a:rPr>
                <a:latin typeface="Courier"/>
              </a:rPr>
              <a:t>pi</a:t>
            </a:r>
            <a:r>
              <a:rPr>
                <a:solidFill>
                  <a:srgbClr val="666666"/>
                </a:solidFill>
                <a:latin typeface="Courier"/>
              </a:rPr>
              <a: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连接RDD和图</a:t>
            </a:r>
          </a:p>
          <a:p>
            <a:pPr lvl="0"/>
            <a:r>
              <a:rPr/>
              <a:t>可以使用联结运算符来完成这些任务</a:t>
            </a:r>
          </a:p>
          <a:p>
            <a:pPr lvl="0"/>
            <a:r>
              <a:rPr/>
              <a:t>第二个联结运算符是outerJoinVertices()</a:t>
            </a:r>
          </a:p>
          <a:p>
            <a:pPr lvl="0"/>
            <a:r>
              <a:rPr/>
              <a:t>Scala柯里化函数</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柯里化(Currying)函数是一个带有多个参数</a:t>
            </a:r>
          </a:p>
          <a:p>
            <a:pPr lvl="0"/>
            <a:r>
              <a:rPr/>
              <a:t>代码 6‑64</a:t>
            </a:r>
          </a:p>
          <a:p>
            <a:pPr lvl="0"/>
            <a:r>
              <a:rPr/>
              <a:t>或者，还可以使用以下语法定义柯里化(Currying)函数</a:t>
            </a:r>
          </a:p>
          <a:p>
            <a:pPr lvl="0"/>
            <a:r>
              <a:rPr/>
              <a:t>代码 6‑65</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柯里化(Currying)函数是一个带有多个参数</a:t>
            </a:r>
          </a:p>
          <a:p>
            <a:pPr lvl="0"/>
            <a:r>
              <a:rPr/>
              <a:t>先对照代码理解 或者</a:t>
            </a:r>
          </a:p>
          <a:p>
            <a:pPr lvl="0" indent="0" marL="0">
              <a:buNone/>
            </a:pPr>
            <a:r>
              <a:rPr/>
              <a:t>片段 1</a:t>
            </a:r>
          </a:p>
          <a:p>
            <a:pPr lvl="0" indent="0">
              <a:buNone/>
            </a:pPr>
            <a:r>
              <a:rPr b="1">
                <a:solidFill>
                  <a:srgbClr val="007020"/>
                </a:solidFill>
                <a:latin typeface="Courier"/>
              </a:rPr>
              <a:t>def</a:t>
            </a:r>
            <a:r>
              <a:rPr>
                <a:latin typeface="Courier"/>
              </a:rPr>
              <a:t> </a:t>
            </a:r>
            <a:r>
              <a:rPr>
                <a:solidFill>
                  <a:srgbClr val="06287E"/>
                </a:solidFill>
                <a:latin typeface="Courier"/>
              </a:rPr>
              <a:t>strcat</a:t>
            </a:r>
            <a:r>
              <a:rPr>
                <a:solidFill>
                  <a:srgbClr val="666666"/>
                </a:solidFill>
                <a:latin typeface="Courier"/>
              </a:rPr>
              <a:t>(</a:t>
            </a:r>
            <a:r>
              <a:rPr>
                <a:latin typeface="Courier"/>
              </a:rPr>
              <a:t>s1</a:t>
            </a:r>
            <a:r>
              <a:rPr>
                <a:solidFill>
                  <a:srgbClr val="666666"/>
                </a:solidFill>
                <a:latin typeface="Courier"/>
              </a:rPr>
              <a:t>:</a:t>
            </a:r>
            <a:r>
              <a:rPr>
                <a:latin typeface="Courier"/>
              </a:rPr>
              <a:t> String</a:t>
            </a:r>
            <a:r>
              <a:rPr>
                <a:solidFill>
                  <a:srgbClr val="666666"/>
                </a:solidFill>
                <a:latin typeface="Courier"/>
              </a:rPr>
              <a:t>)(</a:t>
            </a:r>
            <a:r>
              <a:rPr>
                <a:latin typeface="Courier"/>
              </a:rPr>
              <a:t>s2</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s1 </a:t>
            </a:r>
            <a:r>
              <a:rPr>
                <a:solidFill>
                  <a:srgbClr val="666666"/>
                </a:solidFill>
                <a:latin typeface="Courier"/>
              </a:rPr>
              <a:t>+</a:t>
            </a:r>
            <a:r>
              <a:rPr>
                <a:latin typeface="Courier"/>
              </a:rPr>
              <a:t> s2</a:t>
            </a:r>
          </a:p>
          <a:p>
            <a:pPr lvl="0" indent="0" marL="0">
              <a:buNone/>
            </a:pPr>
            <a:r>
              <a:rPr/>
              <a:t>片段 2</a:t>
            </a:r>
          </a:p>
          <a:p>
            <a:pPr lvl="0" indent="0">
              <a:buNone/>
            </a:pPr>
            <a:r>
              <a:rPr b="1">
                <a:solidFill>
                  <a:srgbClr val="007020"/>
                </a:solidFill>
                <a:latin typeface="Courier"/>
              </a:rPr>
              <a:t>def</a:t>
            </a:r>
            <a:r>
              <a:rPr>
                <a:latin typeface="Courier"/>
              </a:rPr>
              <a:t> </a:t>
            </a:r>
            <a:r>
              <a:rPr>
                <a:solidFill>
                  <a:srgbClr val="06287E"/>
                </a:solidFill>
                <a:latin typeface="Courier"/>
              </a:rPr>
              <a:t>strcat</a:t>
            </a:r>
            <a:r>
              <a:rPr>
                <a:solidFill>
                  <a:srgbClr val="666666"/>
                </a:solidFill>
                <a:latin typeface="Courier"/>
              </a:rPr>
              <a:t>(</a:t>
            </a:r>
            <a:r>
              <a:rPr>
                <a:latin typeface="Courier"/>
              </a:rPr>
              <a:t>s1</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s2</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=&gt;</a:t>
            </a:r>
            <a:r>
              <a:rPr>
                <a:latin typeface="Courier"/>
              </a:rPr>
              <a:t> s1 </a:t>
            </a:r>
            <a:r>
              <a:rPr>
                <a:solidFill>
                  <a:srgbClr val="666666"/>
                </a:solidFill>
                <a:latin typeface="Courier"/>
              </a:rPr>
              <a:t>+</a:t>
            </a:r>
            <a:r>
              <a:rPr>
                <a:latin typeface="Courier"/>
              </a:rPr>
              <a:t> s2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联结运算符：代码片段（2/15）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以下是调用柯里化(Currying)函数的语法： 的执行步骤</a:t>
            </a:r>
          </a:p>
          <a:p>
            <a:pPr lvl="0" indent="0">
              <a:buNone/>
            </a:pPr>
            <a:r>
              <a:rPr>
                <a:solidFill>
                  <a:srgbClr val="06287E"/>
                </a:solidFill>
                <a:latin typeface="Courier"/>
              </a:rPr>
              <a:t>strcat</a:t>
            </a:r>
            <a:r>
              <a:rPr>
                <a:solidFill>
                  <a:srgbClr val="666666"/>
                </a:solidFill>
                <a:latin typeface="Courier"/>
              </a:rPr>
              <a:t>(</a:t>
            </a:r>
            <a:r>
              <a:rPr>
                <a:solidFill>
                  <a:srgbClr val="4070A0"/>
                </a:solidFill>
                <a:latin typeface="Courier"/>
              </a:rPr>
              <a:t>"foo"</a:t>
            </a:r>
            <a:r>
              <a:rPr>
                <a:solidFill>
                  <a:srgbClr val="666666"/>
                </a:solidFill>
                <a:latin typeface="Courier"/>
              </a:rPr>
              <a:t>)(</a:t>
            </a:r>
            <a:r>
              <a:rPr>
                <a:solidFill>
                  <a:srgbClr val="4070A0"/>
                </a:solidFill>
                <a:latin typeface="Courier"/>
              </a:rPr>
              <a:t>"bar"</a:t>
            </a:r>
            <a:r>
              <a:rPr>
                <a:solidFill>
                  <a:srgbClr val="666666"/>
                </a:solidFill>
                <a:latin typeface="Courie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联结运算符：代码片段（3/15）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可以根据需要在柯里化</a:t>
            </a:r>
          </a:p>
          <a:p>
            <a:pPr lvl="0" indent="0">
              <a:buNone/>
            </a:pPr>
            <a:r>
              <a:rPr b="1">
                <a:solidFill>
                  <a:srgbClr val="007020"/>
                </a:solidFill>
                <a:latin typeface="Courier"/>
              </a:rPr>
              <a:t>object</a:t>
            </a:r>
            <a:r>
              <a:rPr>
                <a:latin typeface="Courier"/>
              </a:rPr>
              <a:t> Demo </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main</a:t>
            </a:r>
            <a:r>
              <a:rPr>
                <a:solidFill>
                  <a:srgbClr val="666666"/>
                </a:solidFill>
                <a:latin typeface="Courier"/>
              </a:rPr>
              <a:t>(</a:t>
            </a:r>
            <a:r>
              <a:rPr>
                <a:latin typeface="Courier"/>
              </a:rPr>
              <a:t>args</a:t>
            </a:r>
            <a:r>
              <a:rPr>
                <a:solidFill>
                  <a:srgbClr val="666666"/>
                </a:solidFill>
                <a:latin typeface="Courier"/>
              </a:rPr>
              <a:t>:</a:t>
            </a:r>
            <a:r>
              <a:rPr>
                <a:latin typeface="Courier"/>
              </a:rPr>
              <a:t> Array</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str1</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70A0"/>
                </a:solidFill>
                <a:latin typeface="Courier"/>
              </a:rPr>
              <a:t>"Hello, "</a:t>
            </a:r>
            <a:br/>
            <a:r>
              <a:rPr>
                <a:latin typeface="Courier"/>
              </a:rPr>
              <a:t>    </a:t>
            </a:r>
            <a:r>
              <a:rPr b="1">
                <a:solidFill>
                  <a:srgbClr val="007020"/>
                </a:solidFill>
                <a:latin typeface="Courier"/>
              </a:rPr>
              <a:t>val</a:t>
            </a:r>
            <a:r>
              <a:rPr>
                <a:latin typeface="Courier"/>
              </a:rPr>
              <a:t> str2</a:t>
            </a:r>
            <a:r>
              <a:rPr>
                <a:solidFill>
                  <a:srgbClr val="666666"/>
                </a:solidFill>
                <a:latin typeface="Courier"/>
              </a:rPr>
              <a:t>:</a:t>
            </a:r>
            <a:r>
              <a:rPr>
                <a:latin typeface="Courier"/>
              </a:rPr>
              <a:t> String </a:t>
            </a:r>
            <a:r>
              <a:rPr>
                <a:solidFill>
                  <a:srgbClr val="666666"/>
                </a:solidFill>
                <a:latin typeface="Courier"/>
              </a:rPr>
              <a:t>=</a:t>
            </a:r>
            <a:r>
              <a:rPr>
                <a:latin typeface="Courier"/>
              </a:rPr>
              <a:t> </a:t>
            </a:r>
            <a:r>
              <a:rPr>
                <a:solidFill>
                  <a:srgbClr val="4070A0"/>
                </a:solidFill>
                <a:latin typeface="Courier"/>
              </a:rPr>
              <a:t>"Scala!"</a:t>
            </a:r>
            <a:b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"str1 + str2 = "</a:t>
            </a:r>
            <a:r>
              <a:rPr>
                <a:latin typeface="Courier"/>
              </a:rPr>
              <a:t> </a:t>
            </a:r>
            <a:r>
              <a:rPr>
                <a:solidFill>
                  <a:srgbClr val="666666"/>
                </a:solidFill>
                <a:latin typeface="Courier"/>
              </a:rPr>
              <a:t>+</a:t>
            </a:r>
            <a:r>
              <a:rPr>
                <a:latin typeface="Courier"/>
              </a:rPr>
              <a:t> </a:t>
            </a:r>
            <a:r>
              <a:rPr>
                <a:solidFill>
                  <a:srgbClr val="06287E"/>
                </a:solidFill>
                <a:latin typeface="Courier"/>
              </a:rPr>
              <a:t>strcat</a:t>
            </a:r>
            <a:r>
              <a:rPr>
                <a:solidFill>
                  <a:srgbClr val="666666"/>
                </a:solidFill>
                <a:latin typeface="Courier"/>
              </a:rPr>
              <a:t>(</a:t>
            </a:r>
            <a:r>
              <a:rPr>
                <a:latin typeface="Courier"/>
              </a:rPr>
              <a:t>str1</a:t>
            </a:r>
            <a:r>
              <a:rPr>
                <a:solidFill>
                  <a:srgbClr val="666666"/>
                </a:solidFill>
                <a:latin typeface="Courier"/>
              </a:rPr>
              <a:t>)(</a:t>
            </a:r>
            <a:r>
              <a:rPr>
                <a:latin typeface="Courier"/>
              </a:rPr>
              <a:t>str2</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strcat</a:t>
            </a:r>
            <a:r>
              <a:rPr>
                <a:solidFill>
                  <a:srgbClr val="666666"/>
                </a:solidFill>
                <a:latin typeface="Courier"/>
              </a:rPr>
              <a:t>(</a:t>
            </a:r>
            <a:r>
              <a:rPr>
                <a:latin typeface="Courier"/>
              </a:rPr>
              <a:t>s1</a:t>
            </a:r>
            <a:r>
              <a:rPr>
                <a:solidFill>
                  <a:srgbClr val="666666"/>
                </a:solidFill>
                <a:latin typeface="Courier"/>
              </a:rPr>
              <a:t>:</a:t>
            </a:r>
            <a:r>
              <a:rPr>
                <a:latin typeface="Courier"/>
              </a:rPr>
              <a:t> String</a:t>
            </a:r>
            <a:r>
              <a:rPr>
                <a:solidFill>
                  <a:srgbClr val="666666"/>
                </a:solidFill>
                <a:latin typeface="Courier"/>
              </a:rPr>
              <a:t>)(</a:t>
            </a:r>
            <a:r>
              <a:rPr>
                <a:latin typeface="Courier"/>
              </a:rPr>
              <a:t>s2</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s1 </a:t>
            </a:r>
            <a:r>
              <a:rPr>
                <a:solidFill>
                  <a:srgbClr val="666666"/>
                </a:solidFill>
                <a:latin typeface="Courier"/>
              </a:rPr>
              <a:t>+</a:t>
            </a:r>
            <a:r>
              <a:rPr>
                <a:latin typeface="Courier"/>
              </a:rPr>
              <a:t> s2</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联结运算符：代码片段（4/15）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代码 6‑67 的执行步骤</a:t>
            </a:r>
          </a:p>
          <a:p>
            <a:pPr lvl="0" indent="0">
              <a:buNone/>
            </a:pPr>
            <a:r>
              <a:rPr>
                <a:latin typeface="Courier"/>
              </a:rPr>
              <a:t>str1 + str2 = Hello, Scala!</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联结运算符：代码片段（5/15）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actors</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latin typeface="Courier"/>
              </a:rPr>
              <a:t>List</a:t>
            </a:r>
            <a:r>
              <a:rPr>
                <a:solidFill>
                  <a:srgbClr val="666666"/>
                </a:solidFill>
                <a:latin typeface="Courier"/>
              </a:rPr>
              <a:t>(</a:t>
            </a:r>
            <a:br/>
            <a:r>
              <a:rPr>
                <a:solidFill>
                  <a:srgbClr val="666666"/>
                </a:solidFill>
                <a:latin typeface="Courier"/>
              </a:rPr>
              <a:t>(</a:t>
            </a:r>
            <a:r>
              <a:rPr>
                <a:solidFill>
                  <a:srgbClr val="40A070"/>
                </a:solidFill>
                <a:latin typeface="Courier"/>
              </a:rPr>
              <a:t>1L</a:t>
            </a:r>
            <a:r>
              <a:rPr>
                <a:solidFill>
                  <a:srgbClr val="666666"/>
                </a:solidFill>
                <a:latin typeface="Courier"/>
              </a:rPr>
              <a:t>,</a:t>
            </a:r>
            <a:r>
              <a:rPr>
                <a:latin typeface="Courier"/>
              </a:rPr>
              <a:t> </a:t>
            </a:r>
            <a:r>
              <a:rPr>
                <a:solidFill>
                  <a:srgbClr val="4070A0"/>
                </a:solidFill>
                <a:latin typeface="Courier"/>
              </a:rPr>
              <a:t>"George Clooney"</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4070A0"/>
                </a:solidFill>
                <a:latin typeface="Courier"/>
              </a:rPr>
              <a:t>"Julia Stiles"</a:t>
            </a:r>
            <a:r>
              <a:rPr>
                <a:solidFill>
                  <a:srgbClr val="666666"/>
                </a:solidFill>
                <a:latin typeface="Courier"/>
              </a:rPr>
              <a:t>),</a:t>
            </a:r>
            <a:b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4070A0"/>
                </a:solidFill>
                <a:latin typeface="Courier"/>
              </a:rPr>
              <a:t>"Will Smith"</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4L</a:t>
            </a:r>
            <a:r>
              <a:rPr>
                <a:solidFill>
                  <a:srgbClr val="666666"/>
                </a:solidFill>
                <a:latin typeface="Courier"/>
              </a:rPr>
              <a:t>,</a:t>
            </a:r>
            <a:r>
              <a:rPr>
                <a:latin typeface="Courier"/>
              </a:rPr>
              <a:t> </a:t>
            </a:r>
            <a:r>
              <a:rPr>
                <a:solidFill>
                  <a:srgbClr val="4070A0"/>
                </a:solidFill>
                <a:latin typeface="Courier"/>
              </a:rPr>
              <a:t>"Matt Damon"</a:t>
            </a:r>
            <a:r>
              <a:rPr>
                <a:solidFill>
                  <a:srgbClr val="666666"/>
                </a:solidFill>
                <a:latin typeface="Courier"/>
              </a:rPr>
              <a:t>),</a:t>
            </a:r>
            <a:b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4070A0"/>
                </a:solidFill>
                <a:latin typeface="Courier"/>
              </a:rPr>
              <a:t>"Salma Hayek"</a:t>
            </a:r>
            <a:r>
              <a:rPr>
                <a:solidFill>
                  <a:srgbClr val="666666"/>
                </a:solidFill>
                <a:latin typeface="Courier"/>
              </a:rPr>
              <a:t>)))</a:t>
            </a:r>
            <a:br/>
            <a:r>
              <a:rPr i="1">
                <a:solidFill>
                  <a:srgbClr val="60A0B0"/>
                </a:solidFill>
                <a:latin typeface="Courier"/>
              </a:rPr>
              <a:t>// Exiting paste mode, now interpreting.</a:t>
            </a:r>
            <a:br/>
            <a:r>
              <a:rPr>
                <a:latin typeface="Courier"/>
              </a:rPr>
              <a:t>actors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ParallelCollectionRDD</a:t>
            </a:r>
            <a:r>
              <a:rPr>
                <a:solidFill>
                  <a:srgbClr val="666666"/>
                </a:solidFill>
                <a:latin typeface="Courier"/>
              </a:rPr>
              <a:t>[</a:t>
            </a:r>
            <a:r>
              <a:rPr>
                <a:solidFill>
                  <a:srgbClr val="40A070"/>
                </a:solidFill>
                <a:latin typeface="Courier"/>
              </a:rPr>
              <a:t>277</a:t>
            </a:r>
            <a:r>
              <a:rPr>
                <a:solidFill>
                  <a:srgbClr val="666666"/>
                </a:solidFill>
                <a:latin typeface="Courier"/>
              </a:rPr>
              <a:t>]</a:t>
            </a:r>
            <a:r>
              <a:rPr>
                <a:latin typeface="Courier"/>
              </a:rPr>
              <a:t> at parallelize at \</a:t>
            </a:r>
            <a:r>
              <a:rPr>
                <a:solidFill>
                  <a:srgbClr val="666666"/>
                </a:solidFill>
                <a:latin typeface="Courier"/>
              </a:rPr>
              <a:t>&lt;</a:t>
            </a:r>
            <a:r>
              <a:rPr>
                <a:latin typeface="Courier"/>
              </a:rPr>
              <a:t>pastie\</a:t>
            </a:r>
            <a:r>
              <a:rPr>
                <a:solidFill>
                  <a:srgbClr val="666666"/>
                </a:solidFill>
                <a:latin typeface="Courier"/>
              </a:rPr>
              <a:t>&gt;:</a:t>
            </a:r>
            <a:r>
              <a:rPr>
                <a:solidFill>
                  <a:srgbClr val="40A070"/>
                </a:solidFill>
                <a:latin typeface="Courier"/>
              </a:rPr>
              <a:t>33</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联结运算符：代码片段（6/15）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movies</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latin typeface="Courier"/>
              </a:rPr>
              <a:t>List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1L</a:t>
            </a:r>
            <a:r>
              <a:rPr>
                <a:solidFill>
                  <a:srgbClr val="666666"/>
                </a:solidFill>
                <a:latin typeface="Courier"/>
              </a:rPr>
              <a:t>,</a:t>
            </a:r>
            <a:r>
              <a:rPr>
                <a:latin typeface="Courier"/>
              </a:rPr>
              <a:t> </a:t>
            </a:r>
            <a:r>
              <a:rPr>
                <a:solidFill>
                  <a:srgbClr val="40A070"/>
                </a:solidFill>
                <a:latin typeface="Courier"/>
              </a:rPr>
              <a:t>4L</a:t>
            </a:r>
            <a:r>
              <a:rPr>
                <a:solidFill>
                  <a:srgbClr val="666666"/>
                </a:solidFill>
                <a:latin typeface="Courier"/>
              </a:rPr>
              <a:t>,</a:t>
            </a:r>
            <a:r>
              <a:rPr>
                <a:latin typeface="Courier"/>
              </a:rPr>
              <a:t> </a:t>
            </a:r>
            <a:r>
              <a:rPr>
                <a:solidFill>
                  <a:srgbClr val="4070A0"/>
                </a:solidFill>
                <a:latin typeface="Courier"/>
              </a:rPr>
              <a:t>"Ocean's Eleven"</a:t>
            </a:r>
            <a:r>
              <a:rPr>
                <a:solidFill>
                  <a:srgbClr val="666666"/>
                </a:solidFill>
                <a:latin typeface="Courier"/>
              </a:rPr>
              <a:t>),</a:t>
            </a:r>
            <a:r>
              <a:rPr>
                <a:latin typeface="Courier"/>
              </a:rPr>
              <a:t> </a:t>
            </a:r>
            <a:r>
              <a:rPr>
                <a:solidFill>
                  <a:srgbClr val="06287E"/>
                </a:solidFill>
                <a:latin typeface="Courier"/>
              </a:rPr>
              <a:t>Edge</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40A070"/>
                </a:solidFill>
                <a:latin typeface="Courier"/>
              </a:rPr>
              <a:t>4L</a:t>
            </a:r>
            <a:r>
              <a:rPr>
                <a:solidFill>
                  <a:srgbClr val="666666"/>
                </a:solidFill>
                <a:latin typeface="Courier"/>
              </a:rPr>
              <a:t>,</a:t>
            </a:r>
            <a:r>
              <a:rPr>
                <a:latin typeface="Courier"/>
              </a:rPr>
              <a:t> </a:t>
            </a:r>
            <a:r>
              <a:rPr>
                <a:solidFill>
                  <a:srgbClr val="4070A0"/>
                </a:solidFill>
                <a:latin typeface="Courier"/>
              </a:rPr>
              <a:t>"Bourne Ultimatum"</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40A070"/>
                </a:solidFill>
                <a:latin typeface="Courier"/>
              </a:rPr>
              <a:t>5L</a:t>
            </a:r>
            <a:r>
              <a:rPr>
                <a:solidFill>
                  <a:srgbClr val="666666"/>
                </a:solidFill>
                <a:latin typeface="Courier"/>
              </a:rPr>
              <a:t>,</a:t>
            </a:r>
            <a:r>
              <a:rPr>
                <a:latin typeface="Courier"/>
              </a:rPr>
              <a:t> </a:t>
            </a:r>
            <a:r>
              <a:rPr>
                <a:solidFill>
                  <a:srgbClr val="4070A0"/>
                </a:solidFill>
                <a:latin typeface="Courier"/>
              </a:rPr>
              <a:t>"Wild Wild West"</a:t>
            </a:r>
            <a:r>
              <a:rPr>
                <a:solidFill>
                  <a:srgbClr val="666666"/>
                </a:solidFill>
                <a:latin typeface="Courier"/>
              </a:rPr>
              <a:t>),</a:t>
            </a:r>
            <a:r>
              <a:rPr>
                <a:latin typeface="Courier"/>
              </a:rPr>
              <a:t> </a:t>
            </a:r>
            <a:r>
              <a:rPr>
                <a:solidFill>
                  <a:srgbClr val="06287E"/>
                </a:solidFill>
                <a:latin typeface="Courier"/>
              </a:rPr>
              <a:t>Edge</a:t>
            </a:r>
            <a:r>
              <a:rPr>
                <a:solidFill>
                  <a:srgbClr val="666666"/>
                </a:solidFill>
                <a:latin typeface="Courier"/>
              </a:rPr>
              <a:t>(</a:t>
            </a:r>
            <a:r>
              <a:rPr>
                <a:solidFill>
                  <a:srgbClr val="40A070"/>
                </a:solidFill>
                <a:latin typeface="Courier"/>
              </a:rPr>
              <a:t>1L</a:t>
            </a:r>
            <a:r>
              <a:rPr>
                <a:solidFill>
                  <a:srgbClr val="666666"/>
                </a:solidFill>
                <a:latin typeface="Courier"/>
              </a:rPr>
              <a:t>,</a:t>
            </a:r>
            <a:r>
              <a:rPr>
                <a:latin typeface="Courier"/>
              </a:rPr>
              <a:t> </a:t>
            </a:r>
            <a:r>
              <a:rPr>
                <a:solidFill>
                  <a:srgbClr val="40A070"/>
                </a:solidFill>
                <a:latin typeface="Courier"/>
              </a:rPr>
              <a:t>5L</a:t>
            </a:r>
            <a:r>
              <a:rPr>
                <a:solidFill>
                  <a:srgbClr val="666666"/>
                </a:solidFill>
                <a:latin typeface="Courier"/>
              </a:rPr>
              <a:t>,</a:t>
            </a:r>
            <a:r>
              <a:rPr>
                <a:latin typeface="Courier"/>
              </a:rPr>
              <a:t> </a:t>
            </a:r>
            <a:r>
              <a:rPr>
                <a:solidFill>
                  <a:srgbClr val="4070A0"/>
                </a:solidFill>
                <a:latin typeface="Courier"/>
              </a:rPr>
              <a:t>"From Dusk Till Dawn"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40A070"/>
                </a:solidFill>
                <a:latin typeface="Courier"/>
              </a:rPr>
              <a:t>4L</a:t>
            </a:r>
            <a:r>
              <a:rPr>
                <a:solidFill>
                  <a:srgbClr val="666666"/>
                </a:solidFill>
                <a:latin typeface="Courier"/>
              </a:rPr>
              <a:t>,</a:t>
            </a:r>
            <a:r>
              <a:rPr>
                <a:latin typeface="Courier"/>
              </a:rPr>
              <a:t> </a:t>
            </a:r>
            <a:r>
              <a:rPr>
                <a:solidFill>
                  <a:srgbClr val="4070A0"/>
                </a:solidFill>
                <a:latin typeface="Courier"/>
              </a:rPr>
              <a:t>"The Legend of Bagger Vance"</a:t>
            </a:r>
            <a:r>
              <a:rPr>
                <a:solidFill>
                  <a:srgbClr val="666666"/>
                </a:solidFill>
                <a:latin typeface="Courier"/>
              </a:rPr>
              <a:t>)))</a:t>
            </a:r>
            <a:br/>
            <a:r>
              <a:rPr i="1">
                <a:solidFill>
                  <a:srgbClr val="60A0B0"/>
                </a:solidFill>
                <a:latin typeface="Courier"/>
              </a:rPr>
              <a:t>// Exiting paste mode, now interpreting.</a:t>
            </a:r>
            <a:br/>
            <a:r>
              <a:rPr>
                <a:latin typeface="Courier"/>
              </a:rPr>
              <a:t>movies</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ParallelCollectionRDD</a:t>
            </a:r>
            <a:r>
              <a:rPr>
                <a:solidFill>
                  <a:srgbClr val="666666"/>
                </a:solidFill>
                <a:latin typeface="Courier"/>
              </a:rPr>
              <a:t>[</a:t>
            </a:r>
            <a:r>
              <a:rPr>
                <a:solidFill>
                  <a:srgbClr val="40A070"/>
                </a:solidFill>
                <a:latin typeface="Courier"/>
              </a:rPr>
              <a:t>278</a:t>
            </a:r>
            <a:r>
              <a:rPr>
                <a:solidFill>
                  <a:srgbClr val="666666"/>
                </a:solidFill>
                <a:latin typeface="Courier"/>
              </a:rPr>
              <a:t>]</a:t>
            </a:r>
            <a:r>
              <a:rPr>
                <a:latin typeface="Courier"/>
              </a:rPr>
              <a:t> at parallelize at \</a:t>
            </a:r>
            <a:r>
              <a:rPr>
                <a:solidFill>
                  <a:srgbClr val="666666"/>
                </a:solidFill>
                <a:latin typeface="Courier"/>
              </a:rPr>
              <a:t>&lt;</a:t>
            </a:r>
            <a:r>
              <a:rPr>
                <a:latin typeface="Courier"/>
              </a:rPr>
              <a:t>pastie\</a:t>
            </a:r>
            <a:r>
              <a:rPr>
                <a:solidFill>
                  <a:srgbClr val="666666"/>
                </a:solidFill>
                <a:latin typeface="Courier"/>
              </a:rPr>
              <a:t>&gt;:</a:t>
            </a:r>
            <a:r>
              <a:rPr>
                <a:solidFill>
                  <a:srgbClr val="40A070"/>
                </a:solidFill>
                <a:latin typeface="Courier"/>
              </a:rPr>
              <a:t>33</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联结运算符：代码片段（7/15）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现在，我们可以构建图并查看其中的内容：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movieGraph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actors</a:t>
            </a:r>
            <a:r>
              <a:rPr>
                <a:solidFill>
                  <a:srgbClr val="666666"/>
                </a:solidFill>
                <a:latin typeface="Courier"/>
              </a:rPr>
              <a:t>,</a:t>
            </a:r>
            <a:r>
              <a:rPr>
                <a:latin typeface="Courier"/>
              </a:rPr>
              <a:t> movies</a:t>
            </a:r>
            <a:r>
              <a:rPr>
                <a:solidFill>
                  <a:srgbClr val="666666"/>
                </a:solidFill>
                <a:latin typeface="Courier"/>
              </a:rPr>
              <a:t>)</a:t>
            </a:r>
            <a:br/>
            <a:r>
              <a:rPr>
                <a:latin typeface="Courier"/>
              </a:rPr>
              <a:t>movieGraph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24e3f</a:t>
            </a:r>
            <a:r>
              <a:rPr>
                <a:latin typeface="Courier"/>
              </a:rPr>
              <a:t>f69</a:t>
            </a:r>
            <a:br/>
            <a:r>
              <a:rPr>
                <a:latin typeface="Courier"/>
              </a:rPr>
              <a:t>scala</a:t>
            </a:r>
            <a:r>
              <a:rPr>
                <a:solidFill>
                  <a:srgbClr val="666666"/>
                </a:solidFill>
                <a:latin typeface="Courier"/>
              </a:rPr>
              <a:t>&gt;</a:t>
            </a:r>
            <a:r>
              <a:rPr>
                <a:latin typeface="Courier"/>
              </a:rPr>
              <a:t> movieGraph</a:t>
            </a:r>
            <a:r>
              <a:rPr>
                <a:solidFill>
                  <a:srgbClr val="666666"/>
                </a:solidFill>
                <a:latin typeface="Courier"/>
              </a:rPr>
              <a:t>.</a:t>
            </a:r>
            <a:r>
              <a:rPr>
                <a:latin typeface="Courier"/>
              </a:rPr>
              <a:t>triplets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t </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latin typeface="Courier"/>
              </a:rPr>
              <a:t>t</a:t>
            </a:r>
            <a:r>
              <a:rPr>
                <a:solidFill>
                  <a:srgbClr val="666666"/>
                </a:solidFill>
                <a:latin typeface="Courier"/>
              </a:rPr>
              <a:t>.</a:t>
            </a:r>
            <a:r>
              <a:rPr>
                <a:latin typeface="Courier"/>
              </a:rPr>
              <a:t>srcAttr </a:t>
            </a:r>
            <a:r>
              <a:rPr>
                <a:solidFill>
                  <a:srgbClr val="666666"/>
                </a:solidFill>
                <a:latin typeface="Courier"/>
              </a:rPr>
              <a:t>+</a:t>
            </a:r>
            <a:r>
              <a:rPr>
                <a:latin typeface="Courier"/>
              </a:rPr>
              <a:t> </a:t>
            </a:r>
            <a:r>
              <a:rPr>
                <a:solidFill>
                  <a:srgbClr val="4070A0"/>
                </a:solidFill>
                <a:latin typeface="Courier"/>
              </a:rPr>
              <a:t>" &amp; "</a:t>
            </a:r>
            <a:r>
              <a:rPr>
                <a:latin typeface="Courier"/>
              </a:rPr>
              <a:t> </a:t>
            </a:r>
            <a:r>
              <a:rPr>
                <a:solidFill>
                  <a:srgbClr val="666666"/>
                </a:solidFill>
                <a:latin typeface="Courier"/>
              </a:rPr>
              <a:t>+</a:t>
            </a:r>
            <a:br/>
            <a:r>
              <a:rPr>
                <a:latin typeface="Courier"/>
              </a:rPr>
              <a:t>t</a:t>
            </a:r>
            <a:r>
              <a:rPr>
                <a:solidFill>
                  <a:srgbClr val="666666"/>
                </a:solidFill>
                <a:latin typeface="Courier"/>
              </a:rPr>
              <a:t>.</a:t>
            </a:r>
            <a:r>
              <a:rPr>
                <a:latin typeface="Courier"/>
              </a:rPr>
              <a:t>dstAttr </a:t>
            </a:r>
            <a:r>
              <a:rPr>
                <a:solidFill>
                  <a:srgbClr val="666666"/>
                </a:solidFill>
                <a:latin typeface="Courier"/>
              </a:rPr>
              <a:t>+</a:t>
            </a:r>
            <a:r>
              <a:rPr>
                <a:latin typeface="Courier"/>
              </a:rPr>
              <a:t> </a:t>
            </a:r>
            <a:r>
              <a:rPr>
                <a:solidFill>
                  <a:srgbClr val="4070A0"/>
                </a:solidFill>
                <a:latin typeface="Courier"/>
              </a:rPr>
              <a:t>" appeared in "</a:t>
            </a:r>
            <a:r>
              <a:rPr>
                <a:latin typeface="Courier"/>
              </a:rPr>
              <a:t> </a:t>
            </a:r>
            <a:r>
              <a:rPr>
                <a:solidFill>
                  <a:srgbClr val="666666"/>
                </a:solidFill>
                <a:latin typeface="Courier"/>
              </a:rPr>
              <a:t>+</a:t>
            </a:r>
            <a:r>
              <a:rPr>
                <a:latin typeface="Courier"/>
              </a:rPr>
              <a:t> t</a:t>
            </a:r>
            <a:r>
              <a:rPr>
                <a:solidFill>
                  <a:srgbClr val="666666"/>
                </a:solidFill>
                <a:latin typeface="Courier"/>
              </a:rPr>
              <a:t>.</a:t>
            </a:r>
            <a:r>
              <a:rPr>
                <a:latin typeface="Courier"/>
              </a:rPr>
              <a:t>attr</a:t>
            </a:r>
            <a:r>
              <a:rPr>
                <a:solidFill>
                  <a:srgbClr val="666666"/>
                </a:solidFill>
                <a:latin typeface="Courier"/>
              </a:rPr>
              <a:t>))</a:t>
            </a:r>
            <a:br/>
            <a:r>
              <a:rPr>
                <a:latin typeface="Courier"/>
              </a:rPr>
              <a:t>Julia Stiles </a:t>
            </a:r>
            <a:r>
              <a:rPr>
                <a:solidFill>
                  <a:srgbClr val="666666"/>
                </a:solidFill>
                <a:latin typeface="Courier"/>
              </a:rPr>
              <a:t>&amp;</a:t>
            </a:r>
            <a:r>
              <a:rPr>
                <a:latin typeface="Courier"/>
              </a:rPr>
              <a:t> Matt Damon appeared in Bourne Ultimatum</a:t>
            </a:r>
            <a:br/>
            <a:r>
              <a:rPr>
                <a:latin typeface="Courier"/>
              </a:rPr>
              <a:t>Will Smith </a:t>
            </a:r>
            <a:r>
              <a:rPr>
                <a:solidFill>
                  <a:srgbClr val="666666"/>
                </a:solidFill>
                <a:latin typeface="Courier"/>
              </a:rPr>
              <a:t>&amp;</a:t>
            </a:r>
            <a:r>
              <a:rPr>
                <a:latin typeface="Courier"/>
              </a:rPr>
              <a:t> Salma Hayek appeared in Wild Wild West</a:t>
            </a:r>
            <a:br/>
            <a:r>
              <a:rPr>
                <a:latin typeface="Courier"/>
              </a:rPr>
              <a:t>George Clooney </a:t>
            </a:r>
            <a:r>
              <a:rPr>
                <a:solidFill>
                  <a:srgbClr val="666666"/>
                </a:solidFill>
                <a:latin typeface="Courier"/>
              </a:rPr>
              <a:t>&amp;</a:t>
            </a:r>
            <a:r>
              <a:rPr>
                <a:latin typeface="Courier"/>
              </a:rPr>
              <a:t> Salma Hayek appeared in From Dusk Till Dawn</a:t>
            </a:r>
            <a:br/>
            <a:r>
              <a:rPr>
                <a:latin typeface="Courier"/>
              </a:rPr>
              <a:t>George Clooney </a:t>
            </a:r>
            <a:r>
              <a:rPr>
                <a:solidFill>
                  <a:srgbClr val="666666"/>
                </a:solidFill>
                <a:latin typeface="Courier"/>
              </a:rPr>
              <a:t>&amp;</a:t>
            </a:r>
            <a:r>
              <a:rPr>
                <a:latin typeface="Courier"/>
              </a:rPr>
              <a:t> Matt Damon appeared in Ocean</a:t>
            </a:r>
            <a:r>
              <a:rPr b="1">
                <a:solidFill>
                  <a:srgbClr val="FF0000"/>
                </a:solidFill>
                <a:latin typeface="Courier"/>
              </a:rPr>
              <a:t>'</a:t>
            </a:r>
            <a:r>
              <a:rPr>
                <a:latin typeface="Courier"/>
              </a:rPr>
              <a:t>s Eleven</a:t>
            </a:r>
            <a:br/>
            <a:r>
              <a:rPr>
                <a:latin typeface="Courier"/>
              </a:rPr>
              <a:t>Will Smith </a:t>
            </a:r>
            <a:r>
              <a:rPr>
                <a:solidFill>
                  <a:srgbClr val="666666"/>
                </a:solidFill>
                <a:latin typeface="Courier"/>
              </a:rPr>
              <a:t>&amp;</a:t>
            </a:r>
            <a:r>
              <a:rPr>
                <a:latin typeface="Courier"/>
              </a:rPr>
              <a:t> Matt Damon appeared in The Legend of Bagger Vance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联结运算符：代码片段（8/15）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现在，图中的点仅包含每个演员的名称： 的执行步骤</a:t>
            </a:r>
          </a:p>
          <a:p>
            <a:pPr lvl="0" indent="0">
              <a:buNone/>
            </a:pPr>
            <a:r>
              <a:rPr>
                <a:latin typeface="Courier"/>
              </a:rPr>
              <a:t>scala</a:t>
            </a:r>
            <a:r>
              <a:rPr>
                <a:solidFill>
                  <a:srgbClr val="666666"/>
                </a:solidFill>
                <a:latin typeface="Courier"/>
              </a:rPr>
              <a:t>&gt;</a:t>
            </a:r>
            <a:r>
              <a:rPr>
                <a:latin typeface="Courier"/>
              </a:rPr>
              <a:t> movieGraph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联结运算符：代码片段（9/15）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Biography</a:t>
            </a:r>
            <a:r>
              <a:rPr>
                <a:solidFill>
                  <a:srgbClr val="666666"/>
                </a:solidFill>
                <a:latin typeface="Courier"/>
              </a:rPr>
              <a:t>(</a:t>
            </a:r>
            <a:r>
              <a:rPr>
                <a:latin typeface="Courier"/>
              </a:rPr>
              <a:t>birthname</a:t>
            </a:r>
            <a:r>
              <a:rPr>
                <a:solidFill>
                  <a:srgbClr val="666666"/>
                </a:solidFill>
                <a:latin typeface="Courier"/>
              </a:rPr>
              <a:t>:</a:t>
            </a:r>
            <a:r>
              <a:rPr>
                <a:latin typeface="Courier"/>
              </a:rPr>
              <a:t> String</a:t>
            </a:r>
            <a:r>
              <a:rPr>
                <a:solidFill>
                  <a:srgbClr val="666666"/>
                </a:solidFill>
                <a:latin typeface="Courier"/>
              </a:rPr>
              <a:t>,</a:t>
            </a:r>
            <a:r>
              <a:rPr>
                <a:latin typeface="Courier"/>
              </a:rPr>
              <a:t> hometown</a:t>
            </a:r>
            <a:r>
              <a:rPr>
                <a:solidFill>
                  <a:srgbClr val="666666"/>
                </a:solidFill>
                <a:latin typeface="Courier"/>
              </a:rPr>
              <a:t>:</a:t>
            </a:r>
            <a:r>
              <a:rPr>
                <a:latin typeface="Courier"/>
              </a:rPr>
              <a:t> String</a:t>
            </a:r>
            <a:r>
              <a:rPr>
                <a:solidFill>
                  <a:srgbClr val="666666"/>
                </a:solidFill>
                <a:latin typeface="Courier"/>
              </a:rPr>
              <a:t>)</a:t>
            </a:r>
            <a:br/>
            <a:r>
              <a:rPr>
                <a:latin typeface="Courier"/>
              </a:rPr>
              <a:t>defined </a:t>
            </a:r>
            <a:r>
              <a:rPr b="1">
                <a:solidFill>
                  <a:srgbClr val="007020"/>
                </a:solidFill>
                <a:latin typeface="Courier"/>
              </a:rPr>
              <a:t>class</a:t>
            </a:r>
            <a:r>
              <a:rPr>
                <a:latin typeface="Courier"/>
              </a:rPr>
              <a:t> Biography</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bio</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Biography</a:t>
            </a:r>
            <a:r>
              <a:rPr>
                <a:solidFill>
                  <a:srgbClr val="666666"/>
                </a:solidFill>
                <a:latin typeface="Courier"/>
              </a:rPr>
              <a:t>)]</a:t>
            </a:r>
            <a:r>
              <a:rPr>
                <a:latin typeface="Courier"/>
              </a:rPr>
              <a:t>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latin typeface="Courier"/>
              </a:rPr>
              <a:t>List</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06287E"/>
                </a:solidFill>
                <a:latin typeface="Courier"/>
              </a:rPr>
              <a:t>Biography</a:t>
            </a:r>
            <a:r>
              <a:rPr>
                <a:solidFill>
                  <a:srgbClr val="666666"/>
                </a:solidFill>
                <a:latin typeface="Courier"/>
              </a:rPr>
              <a:t>(</a:t>
            </a:r>
            <a:r>
              <a:rPr>
                <a:solidFill>
                  <a:srgbClr val="4070A0"/>
                </a:solidFill>
                <a:latin typeface="Courier"/>
              </a:rPr>
              <a:t>"Julia O'Hara Stiles"</a:t>
            </a:r>
            <a:r>
              <a:rPr>
                <a:solidFill>
                  <a:srgbClr val="666666"/>
                </a:solidFill>
                <a:latin typeface="Courier"/>
              </a:rPr>
              <a:t>,</a:t>
            </a:r>
            <a:r>
              <a:rPr>
                <a:latin typeface="Courier"/>
              </a:rPr>
              <a:t> </a:t>
            </a:r>
            <a:r>
              <a:rPr>
                <a:solidFill>
                  <a:srgbClr val="4070A0"/>
                </a:solidFill>
                <a:latin typeface="Courier"/>
              </a:rPr>
              <a:t>"NY City, NY, USA"</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06287E"/>
                </a:solidFill>
                <a:latin typeface="Courier"/>
              </a:rPr>
              <a:t>Biography</a:t>
            </a:r>
            <a:r>
              <a:rPr>
                <a:solidFill>
                  <a:srgbClr val="666666"/>
                </a:solidFill>
                <a:latin typeface="Courier"/>
              </a:rPr>
              <a:t>(</a:t>
            </a:r>
            <a:r>
              <a:rPr>
                <a:solidFill>
                  <a:srgbClr val="4070A0"/>
                </a:solidFill>
                <a:latin typeface="Courier"/>
              </a:rPr>
              <a:t>"Willard Christopher Smith Jr."</a:t>
            </a:r>
            <a:r>
              <a:rPr>
                <a:solidFill>
                  <a:srgbClr val="666666"/>
                </a:solidFill>
                <a:latin typeface="Courier"/>
              </a:rPr>
              <a:t>,</a:t>
            </a:r>
            <a:r>
              <a:rPr>
                <a:latin typeface="Courier"/>
              </a:rPr>
              <a:t> </a:t>
            </a:r>
            <a:r>
              <a:rPr>
                <a:solidFill>
                  <a:srgbClr val="4070A0"/>
                </a:solidFill>
                <a:latin typeface="Courier"/>
              </a:rPr>
              <a:t>"Philadelphia, PA,</a:t>
            </a:r>
            <a:br/>
            <a:r>
              <a:rPr>
                <a:latin typeface="Courier"/>
              </a:rPr>
              <a:t>USA</a:t>
            </a:r>
            <a:r>
              <a:rPr>
                <a:solidFill>
                  <a:srgbClr val="4070A0"/>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06287E"/>
                </a:solidFill>
                <a:latin typeface="Courier"/>
              </a:rPr>
              <a:t>Biography</a:t>
            </a:r>
            <a:r>
              <a:rPr>
                <a:solidFill>
                  <a:srgbClr val="666666"/>
                </a:solidFill>
                <a:latin typeface="Courier"/>
              </a:rPr>
              <a:t>(</a:t>
            </a:r>
            <a:r>
              <a:rPr>
                <a:solidFill>
                  <a:srgbClr val="4070A0"/>
                </a:solidFill>
                <a:latin typeface="Courier"/>
              </a:rPr>
              <a:t>"Matthew Paige Damon"</a:t>
            </a:r>
            <a:r>
              <a:rPr>
                <a:solidFill>
                  <a:srgbClr val="666666"/>
                </a:solidFill>
                <a:latin typeface="Courier"/>
              </a:rPr>
              <a:t>,</a:t>
            </a:r>
            <a:r>
              <a:rPr>
                <a:latin typeface="Courier"/>
              </a:rPr>
              <a:t> </a:t>
            </a:r>
            <a:r>
              <a:rPr>
                <a:solidFill>
                  <a:srgbClr val="4070A0"/>
                </a:solidFill>
                <a:latin typeface="Courier"/>
              </a:rPr>
              <a:t>"Boston, MA, USA"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06287E"/>
                </a:solidFill>
                <a:latin typeface="Courier"/>
              </a:rPr>
              <a:t>Biography</a:t>
            </a:r>
            <a:r>
              <a:rPr>
                <a:solidFill>
                  <a:srgbClr val="666666"/>
                </a:solidFill>
                <a:latin typeface="Courier"/>
              </a:rPr>
              <a:t>(</a:t>
            </a:r>
            <a:r>
              <a:rPr>
                <a:solidFill>
                  <a:srgbClr val="4070A0"/>
                </a:solidFill>
                <a:latin typeface="Courier"/>
              </a:rPr>
              <a:t>"Salma Valgarma Hayek-Jimenez"</a:t>
            </a:r>
            <a:r>
              <a:rPr>
                <a:solidFill>
                  <a:srgbClr val="666666"/>
                </a:solidFill>
                <a:latin typeface="Courier"/>
              </a:rPr>
              <a:t>,</a:t>
            </a:r>
            <a:r>
              <a:rPr>
                <a:latin typeface="Courier"/>
              </a:rPr>
              <a:t> </a:t>
            </a:r>
            <a:r>
              <a:rPr>
                <a:solidFill>
                  <a:srgbClr val="4070A0"/>
                </a:solidFill>
                <a:latin typeface="Courier"/>
              </a:rPr>
              <a:t>"Coatzacoalcos, Veracruz,</a:t>
            </a:r>
            <a:br/>
            <a:r>
              <a:rPr>
                <a:latin typeface="Courier"/>
              </a:rPr>
              <a:t>Mexico</a:t>
            </a:r>
            <a:r>
              <a:rPr>
                <a:solidFill>
                  <a:srgbClr val="4070A0"/>
                </a:solidFill>
                <a:latin typeface="Courier"/>
              </a:rPr>
              <a:t>")),</a:t>
            </a:r>
            <a:br/>
            <a:r>
              <a:rPr i="1">
                <a:solidFill>
                  <a:srgbClr val="60A0B0"/>
                </a:solidFill>
                <a:latin typeface="Courier"/>
              </a:rPr>
              <a:t>// ...</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联结运算符：代码片段（10/15）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把演员家乡追加到演员名字后面</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appendHometown</a:t>
            </a:r>
            <a:r>
              <a:rPr>
                <a:solidFill>
                  <a:srgbClr val="666666"/>
                </a:solidFill>
                <a:latin typeface="Courier"/>
              </a:rPr>
              <a:t>(</a:t>
            </a:r>
            <a:r>
              <a:rPr>
                <a:latin typeface="Courier"/>
              </a:rPr>
              <a:t>id</a:t>
            </a:r>
            <a:r>
              <a:rPr>
                <a:solidFill>
                  <a:srgbClr val="666666"/>
                </a:solidFill>
                <a:latin typeface="Courier"/>
              </a:rPr>
              <a:t>:</a:t>
            </a:r>
            <a:r>
              <a:rPr>
                <a:latin typeface="Courier"/>
              </a:rPr>
              <a:t> VertexId</a:t>
            </a:r>
            <a:r>
              <a:rPr>
                <a:solidFill>
                  <a:srgbClr val="666666"/>
                </a:solidFill>
                <a:latin typeface="Courier"/>
              </a:rPr>
              <a:t>,</a:t>
            </a:r>
            <a:r>
              <a:rPr>
                <a:latin typeface="Courier"/>
              </a:rPr>
              <a:t> name</a:t>
            </a:r>
            <a:r>
              <a:rPr>
                <a:solidFill>
                  <a:srgbClr val="666666"/>
                </a:solidFill>
                <a:latin typeface="Courier"/>
              </a:rPr>
              <a:t>:</a:t>
            </a:r>
            <a:r>
              <a:rPr>
                <a:latin typeface="Courier"/>
              </a:rPr>
              <a:t> String</a:t>
            </a:r>
            <a:r>
              <a:rPr>
                <a:solidFill>
                  <a:srgbClr val="666666"/>
                </a:solidFill>
                <a:latin typeface="Courier"/>
              </a:rPr>
              <a:t>,</a:t>
            </a:r>
            <a:r>
              <a:rPr>
                <a:latin typeface="Courier"/>
              </a:rPr>
              <a:t> bio</a:t>
            </a:r>
            <a:r>
              <a:rPr>
                <a:solidFill>
                  <a:srgbClr val="666666"/>
                </a:solidFill>
                <a:latin typeface="Courier"/>
              </a:rPr>
              <a:t>:</a:t>
            </a:r>
            <a:r>
              <a:rPr>
                <a:latin typeface="Courier"/>
              </a:rPr>
              <a:t> Biography</a:t>
            </a:r>
            <a:r>
              <a:rPr>
                <a:solidFill>
                  <a:srgbClr val="666666"/>
                </a:solidFill>
                <a:latin typeface="Courier"/>
              </a:rPr>
              <a:t>):</a:t>
            </a:r>
            <a:br/>
            <a:r>
              <a:rPr>
                <a:latin typeface="Courier"/>
              </a:rPr>
              <a:t>String </a:t>
            </a:r>
            <a:r>
              <a:rPr>
                <a:solidFill>
                  <a:srgbClr val="666666"/>
                </a:solidFill>
                <a:latin typeface="Courier"/>
              </a:rPr>
              <a:t>=</a:t>
            </a:r>
            <a:r>
              <a:rPr>
                <a:latin typeface="Courier"/>
              </a:rPr>
              <a:t> name </a:t>
            </a:r>
            <a:r>
              <a:rPr>
                <a:solidFill>
                  <a:srgbClr val="666666"/>
                </a:solidFill>
                <a:latin typeface="Courier"/>
              </a:rPr>
              <a:t>+</a:t>
            </a:r>
            <a:r>
              <a:rPr>
                <a:latin typeface="Courier"/>
              </a:rPr>
              <a:t> </a:t>
            </a:r>
            <a:r>
              <a:rPr>
                <a:solidFill>
                  <a:srgbClr val="4070A0"/>
                </a:solidFill>
                <a:latin typeface="Courier"/>
              </a:rPr>
              <a:t>":"</a:t>
            </a:r>
            <a:r>
              <a:rPr>
                <a:latin typeface="Courier"/>
              </a:rPr>
              <a:t> </a:t>
            </a:r>
            <a:r>
              <a:rPr>
                <a:solidFill>
                  <a:srgbClr val="666666"/>
                </a:solidFill>
                <a:latin typeface="Courier"/>
              </a:rPr>
              <a:t>+</a:t>
            </a:r>
            <a:r>
              <a:rPr>
                <a:latin typeface="Courier"/>
              </a:rPr>
              <a:t> bio</a:t>
            </a:r>
            <a:r>
              <a:rPr>
                <a:solidFill>
                  <a:srgbClr val="666666"/>
                </a:solidFill>
                <a:latin typeface="Courier"/>
              </a:rPr>
              <a:t>.</a:t>
            </a:r>
            <a:r>
              <a:rPr>
                <a:latin typeface="Courier"/>
              </a:rPr>
              <a:t>hometown</a:t>
            </a:r>
            <a:br/>
            <a:r>
              <a:rPr>
                <a:latin typeface="Courier"/>
              </a:rPr>
              <a:t>appendHometown</a:t>
            </a:r>
            <a:r>
              <a:rPr>
                <a:solidFill>
                  <a:srgbClr val="666666"/>
                </a:solidFill>
                <a:latin typeface="Courier"/>
              </a:rPr>
              <a: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name</a:t>
            </a:r>
            <a:r>
              <a:rPr>
                <a:solidFill>
                  <a:srgbClr val="666666"/>
                </a:solidFill>
                <a:latin typeface="Courier"/>
              </a:rPr>
              <a:t>:</a:t>
            </a:r>
            <a:r>
              <a:rPr>
                <a:latin typeface="Courier"/>
              </a:rPr>
              <a:t> String</a:t>
            </a:r>
            <a:r>
              <a:rPr>
                <a:solidFill>
                  <a:srgbClr val="666666"/>
                </a:solidFill>
                <a:latin typeface="Courier"/>
              </a:rPr>
              <a:t>,</a:t>
            </a:r>
            <a:br/>
            <a:r>
              <a:rPr>
                <a:latin typeface="Courier"/>
              </a:rPr>
              <a:t>bio</a:t>
            </a:r>
            <a:r>
              <a:rPr>
                <a:solidFill>
                  <a:srgbClr val="666666"/>
                </a:solidFill>
                <a:latin typeface="Courier"/>
              </a:rPr>
              <a:t>:</a:t>
            </a:r>
            <a:r>
              <a:rPr>
                <a:latin typeface="Courier"/>
              </a:rPr>
              <a:t> Biography</a:t>
            </a:r>
            <a:r>
              <a:rPr>
                <a:solidFill>
                  <a:srgbClr val="666666"/>
                </a:solidFill>
                <a:latin typeface="Courier"/>
              </a:rPr>
              <a:t>)</a:t>
            </a:r>
            <a:r>
              <a:rPr>
                <a:latin typeface="Courier"/>
              </a:rPr>
              <a:t>String</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联结运算符：代码片段（11/15）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这里 joinVertices() 的映射函数必须返回字符串</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movieJoinedGraph </a:t>
            </a:r>
            <a:r>
              <a:rPr>
                <a:solidFill>
                  <a:srgbClr val="666666"/>
                </a:solidFill>
                <a:latin typeface="Courier"/>
              </a:rPr>
              <a:t>=</a:t>
            </a:r>
            <a:br/>
            <a:r>
              <a:rPr>
                <a:latin typeface="Courier"/>
              </a:rPr>
              <a:t>movieGraph</a:t>
            </a:r>
            <a:r>
              <a:rPr>
                <a:solidFill>
                  <a:srgbClr val="666666"/>
                </a:solidFill>
                <a:latin typeface="Courier"/>
              </a:rPr>
              <a:t>.</a:t>
            </a:r>
            <a:r>
              <a:rPr>
                <a:solidFill>
                  <a:srgbClr val="06287E"/>
                </a:solidFill>
                <a:latin typeface="Courier"/>
              </a:rPr>
              <a:t>joinVertices</a:t>
            </a:r>
            <a:r>
              <a:rPr>
                <a:solidFill>
                  <a:srgbClr val="666666"/>
                </a:solidFill>
                <a:latin typeface="Courier"/>
              </a:rPr>
              <a:t>(</a:t>
            </a:r>
            <a:r>
              <a:rPr>
                <a:latin typeface="Courier"/>
              </a:rPr>
              <a:t>bio</a:t>
            </a:r>
            <a:r>
              <a:rPr>
                <a:solidFill>
                  <a:srgbClr val="666666"/>
                </a:solidFill>
                <a:latin typeface="Courier"/>
              </a:rPr>
              <a:t>)(</a:t>
            </a:r>
            <a:r>
              <a:rPr>
                <a:latin typeface="Courier"/>
              </a:rPr>
              <a:t>appendHometown</a:t>
            </a:r>
            <a:r>
              <a:rPr>
                <a:solidFill>
                  <a:srgbClr val="666666"/>
                </a:solidFill>
                <a:latin typeface="Courier"/>
              </a:rPr>
              <a:t>)</a:t>
            </a:r>
            <a:br/>
            <a:r>
              <a:rPr>
                <a:latin typeface="Courier"/>
              </a:rPr>
              <a:t>movieJoinedGraph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808</a:t>
            </a:r>
            <a:r>
              <a:rPr>
                <a:latin typeface="Courier"/>
              </a:rPr>
              <a:t>a07b</a:t>
            </a:r>
            <a:br/>
            <a:r>
              <a:rPr>
                <a:latin typeface="Courier"/>
              </a:rPr>
              <a:t>scala</a:t>
            </a:r>
            <a:r>
              <a:rPr>
                <a:solidFill>
                  <a:srgbClr val="666666"/>
                </a:solidFill>
                <a:latin typeface="Courier"/>
              </a:rPr>
              <a:t>&gt;</a:t>
            </a:r>
            <a:r>
              <a:rPr>
                <a:latin typeface="Courier"/>
              </a:rPr>
              <a:t> movieJoinedGraph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r>
              <a:rPr>
                <a:latin typeface="Courier"/>
              </a:rPr>
              <a:t>Coatzacoalcos</a:t>
            </a:r>
            <a:r>
              <a:rPr>
                <a:solidFill>
                  <a:srgbClr val="666666"/>
                </a:solidFill>
                <a:latin typeface="Courier"/>
              </a:rPr>
              <a:t>,</a:t>
            </a:r>
            <a:r>
              <a:rPr>
                <a:latin typeface="Courier"/>
              </a:rPr>
              <a:t> 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r>
              <a:rPr>
                <a:latin typeface="Courier"/>
              </a:rPr>
              <a:t>Philadelphia</a:t>
            </a:r>
            <a:r>
              <a:rPr>
                <a:solidFill>
                  <a:srgbClr val="666666"/>
                </a:solidFill>
                <a:latin typeface="Courier"/>
              </a:rPr>
              <a:t>,</a:t>
            </a:r>
            <a:r>
              <a:rPr>
                <a:latin typeface="Courier"/>
              </a:rPr>
              <a:t> PA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a:t>
            </a:r>
            <a:r>
              <a:rPr>
                <a:solidFill>
                  <a:srgbClr val="666666"/>
                </a:solidFill>
                <a:latin typeface="Courier"/>
              </a:rPr>
              <a:t>:</a:t>
            </a:r>
            <a:r>
              <a:rPr>
                <a:latin typeface="Courier"/>
              </a:rPr>
              <a:t>Boston</a:t>
            </a:r>
            <a:r>
              <a:rPr>
                <a:solidFill>
                  <a:srgbClr val="666666"/>
                </a:solidFill>
                <a:latin typeface="Courier"/>
              </a:rPr>
              <a:t>,</a:t>
            </a:r>
            <a:r>
              <a:rPr>
                <a:latin typeface="Courier"/>
              </a:rPr>
              <a:t> MA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a:t>
            </a:r>
            <a:r>
              <a:rPr>
                <a:solidFill>
                  <a:srgbClr val="666666"/>
                </a:solidFill>
                <a:latin typeface="Courier"/>
              </a:rPr>
              <a:t>:</a:t>
            </a:r>
            <a:r>
              <a:rPr>
                <a:latin typeface="Courier"/>
              </a:rPr>
              <a:t>NY City</a:t>
            </a:r>
            <a:r>
              <a:rPr>
                <a:solidFill>
                  <a:srgbClr val="666666"/>
                </a:solidFill>
                <a:latin typeface="Courier"/>
              </a:rPr>
              <a:t>,</a:t>
            </a:r>
            <a:r>
              <a:rPr>
                <a:latin typeface="Courier"/>
              </a:rPr>
              <a:t> NY</a:t>
            </a:r>
            <a:r>
              <a:rPr>
                <a:solidFill>
                  <a:srgbClr val="666666"/>
                </a:solidFill>
                <a:latin typeface="Courier"/>
              </a:rPr>
              <a:t>,</a:t>
            </a:r>
            <a:r>
              <a:rPr>
                <a:latin typeface="Courier"/>
              </a:rPr>
              <a:t> USA</a:t>
            </a:r>
            <a:r>
              <a:rPr>
                <a:solidFill>
                  <a:srgbClr val="666666"/>
                </a:solidFill>
                <a:latin typeface="Courier"/>
              </a:rPr>
              <a: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联结运算符：代码片段（12/15）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把演员名字和介绍组合成一个二元组</a:t>
            </a:r>
          </a:p>
          <a:p>
            <a:pPr lvl="0"/>
            <a:r>
              <a:rPr/>
              <a:t>这种差异会很直观</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movieOuterJoinedGraph </a:t>
            </a:r>
            <a:r>
              <a:rPr>
                <a:solidFill>
                  <a:srgbClr val="666666"/>
                </a:solidFill>
                <a:latin typeface="Courier"/>
              </a:rPr>
              <a:t>=</a:t>
            </a:r>
            <a:br/>
            <a:r>
              <a:rPr>
                <a:latin typeface="Courier"/>
              </a:rPr>
              <a:t>movieGraph</a:t>
            </a:r>
            <a:r>
              <a:rPr>
                <a:solidFill>
                  <a:srgbClr val="666666"/>
                </a:solidFill>
                <a:latin typeface="Courier"/>
              </a:rPr>
              <a:t>.</a:t>
            </a:r>
            <a:r>
              <a:rPr>
                <a:solidFill>
                  <a:srgbClr val="06287E"/>
                </a:solidFill>
                <a:latin typeface="Courier"/>
              </a:rPr>
              <a:t>outerJoinVertices</a:t>
            </a:r>
            <a:r>
              <a:rPr>
                <a:solidFill>
                  <a:srgbClr val="666666"/>
                </a:solidFill>
                <a:latin typeface="Courier"/>
              </a:rPr>
              <a:t>(</a:t>
            </a:r>
            <a:r>
              <a:rPr>
                <a:latin typeface="Courier"/>
              </a:rPr>
              <a:t>bio</a:t>
            </a:r>
            <a:r>
              <a:rPr>
                <a:solidFill>
                  <a:srgbClr val="666666"/>
                </a:solidFill>
                <a:latin typeface="Courier"/>
              </a:rPr>
              <a:t>)((</a:t>
            </a:r>
            <a:r>
              <a:rPr>
                <a:latin typeface="Courier"/>
              </a:rPr>
              <a:t>_</a:t>
            </a:r>
            <a:r>
              <a:rPr>
                <a:solidFill>
                  <a:srgbClr val="666666"/>
                </a:solidFill>
                <a:latin typeface="Courier"/>
              </a:rPr>
              <a:t>,</a:t>
            </a:r>
            <a:r>
              <a:rPr>
                <a:latin typeface="Courier"/>
              </a:rPr>
              <a:t> name</a:t>
            </a:r>
            <a:r>
              <a:rPr>
                <a:solidFill>
                  <a:srgbClr val="666666"/>
                </a:solidFill>
                <a:latin typeface="Courier"/>
              </a:rPr>
              <a:t>,</a:t>
            </a:r>
            <a:r>
              <a:rPr>
                <a:latin typeface="Courier"/>
              </a:rPr>
              <a:t> bio</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r>
              <a:rPr>
                <a:latin typeface="Courier"/>
              </a:rPr>
              <a:t>name</a:t>
            </a:r>
            <a:r>
              <a:rPr>
                <a:solidFill>
                  <a:srgbClr val="666666"/>
                </a:solidFill>
                <a:latin typeface="Courier"/>
              </a:rPr>
              <a:t>,</a:t>
            </a:r>
            <a:r>
              <a:rPr>
                <a:latin typeface="Courier"/>
              </a:rPr>
              <a:t> bio</a:t>
            </a:r>
            <a:r>
              <a:rPr>
                <a:solidFill>
                  <a:srgbClr val="666666"/>
                </a:solidFill>
                <a:latin typeface="Courier"/>
              </a:rPr>
              <a:t>))</a:t>
            </a:r>
            <a:br/>
            <a:r>
              <a:rPr>
                <a:latin typeface="Courier"/>
              </a:rPr>
              <a:t>movieOuterJoinedGraph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br/>
            <a:r>
              <a:rPr>
                <a:latin typeface="Courier"/>
              </a:rPr>
              <a:t>Option</a:t>
            </a:r>
            <a:r>
              <a:rPr>
                <a:solidFill>
                  <a:srgbClr val="666666"/>
                </a:solidFill>
                <a:latin typeface="Courier"/>
              </a:rPr>
              <a:t>[</a:t>
            </a:r>
            <a:r>
              <a:rPr>
                <a:latin typeface="Courier"/>
              </a:rPr>
              <a:t>Biography</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&lt;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5</a:t>
            </a:r>
            <a:r>
              <a:rPr>
                <a:latin typeface="Courier"/>
              </a:rPr>
              <a:t>abf71b5</a:t>
            </a:r>
            <a:r>
              <a:rPr>
                <a:solidFill>
                  <a:srgbClr val="666666"/>
                </a:solidFill>
                <a:latin typeface="Courier"/>
              </a:rPr>
              <a:t>&gt;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movieOuterJoinedGraph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r>
              <a:rPr>
                <a:solidFill>
                  <a:srgbClr val="008000"/>
                </a:solidFill>
                <a:latin typeface="Courier"/>
              </a:rPr>
              <a:t>Some</a:t>
            </a:r>
            <a:r>
              <a:rPr>
                <a:solidFill>
                  <a:srgbClr val="666666"/>
                </a:solidFill>
                <a:latin typeface="Courier"/>
              </a:rPr>
              <a:t>(</a:t>
            </a:r>
            <a:r>
              <a:rPr>
                <a:solidFill>
                  <a:srgbClr val="06287E"/>
                </a:solidFill>
                <a:latin typeface="Courier"/>
              </a:rPr>
              <a:t>Biography</a:t>
            </a:r>
            <a:r>
              <a:rPr>
                <a:solidFill>
                  <a:srgbClr val="666666"/>
                </a:solidFill>
                <a:latin typeface="Courier"/>
              </a:rPr>
              <a:t>(</a:t>
            </a:r>
            <a:r>
              <a:rPr>
                <a:latin typeface="Courier"/>
              </a:rPr>
              <a:t>Willard Christopher Smith</a:t>
            </a:r>
            <a:br/>
            <a:r>
              <a:rPr>
                <a:latin typeface="Courier"/>
              </a:rPr>
              <a:t>Jr</a:t>
            </a:r>
            <a:r>
              <a:rPr>
                <a:solidFill>
                  <a:srgbClr val="666666"/>
                </a:solidFill>
                <a:latin typeface="Courier"/>
              </a:rPr>
              <a:t>.,</a:t>
            </a:r>
            <a:r>
              <a:rPr>
                <a:latin typeface="Courier"/>
              </a:rPr>
              <a:t>Philadelphia</a:t>
            </a:r>
            <a:r>
              <a:rPr>
                <a:solidFill>
                  <a:srgbClr val="666666"/>
                </a:solidFill>
                <a:latin typeface="Courier"/>
              </a:rPr>
              <a:t>,</a:t>
            </a:r>
            <a:r>
              <a:rPr>
                <a:latin typeface="Courier"/>
              </a:rPr>
              <a:t> PA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r>
              <a:rPr>
                <a:solidFill>
                  <a:srgbClr val="008000"/>
                </a:solidFill>
                <a:latin typeface="Courier"/>
              </a:rPr>
              <a:t>Some</a:t>
            </a:r>
            <a:r>
              <a:rPr>
                <a:solidFill>
                  <a:srgbClr val="666666"/>
                </a:solidFill>
                <a:latin typeface="Courier"/>
              </a:rPr>
              <a:t>(</a:t>
            </a:r>
            <a:r>
              <a:rPr>
                <a:solidFill>
                  <a:srgbClr val="06287E"/>
                </a:solidFill>
                <a:latin typeface="Courier"/>
              </a:rPr>
              <a:t>Biography</a:t>
            </a:r>
            <a:r>
              <a:rPr>
                <a:solidFill>
                  <a:srgbClr val="666666"/>
                </a:solidFill>
                <a:latin typeface="Courier"/>
              </a:rPr>
              <a:t>(</a:t>
            </a:r>
            <a:r>
              <a:rPr>
                <a:latin typeface="Courier"/>
              </a:rPr>
              <a:t>Salma Valgarma</a:t>
            </a:r>
            <a:br/>
            <a:r>
              <a:rPr>
                <a:latin typeface="Courier"/>
              </a:rPr>
              <a:t>Hayek</a:t>
            </a:r>
            <a:r>
              <a:rPr>
                <a:solidFill>
                  <a:srgbClr val="666666"/>
                </a:solidFill>
                <a:latin typeface="Courier"/>
              </a:rPr>
              <a:t>-</a:t>
            </a:r>
            <a:r>
              <a:rPr>
                <a:latin typeface="Courier"/>
              </a:rPr>
              <a:t>Jimenez</a:t>
            </a:r>
            <a:r>
              <a:rPr>
                <a:solidFill>
                  <a:srgbClr val="666666"/>
                </a:solidFill>
                <a:latin typeface="Courier"/>
              </a:rPr>
              <a:t>,</a:t>
            </a:r>
            <a:r>
              <a:rPr>
                <a:latin typeface="Courier"/>
              </a:rPr>
              <a:t>Coatzacoalcos</a:t>
            </a:r>
            <a:r>
              <a:rPr>
                <a:solidFill>
                  <a:srgbClr val="666666"/>
                </a:solidFill>
                <a:latin typeface="Courier"/>
              </a:rPr>
              <a:t>,</a:t>
            </a:r>
            <a:r>
              <a:rPr>
                <a:latin typeface="Courier"/>
              </a:rPr>
              <a:t> Veracruz</a:t>
            </a:r>
            <a:r>
              <a:rPr>
                <a:solidFill>
                  <a:srgbClr val="666666"/>
                </a:solidFill>
                <a:latin typeface="Courier"/>
              </a:rPr>
              <a:t>,</a:t>
            </a:r>
            <a:r>
              <a:rPr>
                <a:latin typeface="Courier"/>
              </a:rPr>
              <a:t> Mexico</a:t>
            </a:r>
            <a:r>
              <a:rPr>
                <a:solidFill>
                  <a:srgbClr val="666666"/>
                </a:solidFill>
                <a:latin typeface="Courier"/>
              </a:rPr>
              <a:t>))))</a:t>
            </a:r>
            <a:br/>
            <a:r>
              <a:rPr i="1">
                <a:solidFill>
                  <a:srgbClr val="60A0B0"/>
                </a:solidFill>
                <a:latin typeface="Courier"/>
              </a:rPr>
              <a:t>//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联结运算符：代码片段（13/15）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如前所述</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movieOuterJoinedGraph </a:t>
            </a:r>
            <a:r>
              <a:rPr>
                <a:solidFill>
                  <a:srgbClr val="666666"/>
                </a:solidFill>
                <a:latin typeface="Courier"/>
              </a:rPr>
              <a:t>=</a:t>
            </a:r>
            <a:br/>
            <a:r>
              <a:rPr>
                <a:latin typeface="Courier"/>
              </a:rPr>
              <a:t>movieGraph</a:t>
            </a:r>
            <a:r>
              <a:rPr>
                <a:solidFill>
                  <a:srgbClr val="666666"/>
                </a:solidFill>
                <a:latin typeface="Courier"/>
              </a:rPr>
              <a:t>.</a:t>
            </a:r>
            <a:r>
              <a:rPr>
                <a:solidFill>
                  <a:srgbClr val="06287E"/>
                </a:solidFill>
                <a:latin typeface="Courier"/>
              </a:rPr>
              <a:t>outerJoinVertices</a:t>
            </a:r>
            <a:r>
              <a:rPr>
                <a:solidFill>
                  <a:srgbClr val="666666"/>
                </a:solidFill>
                <a:latin typeface="Courier"/>
              </a:rPr>
              <a:t>(</a:t>
            </a:r>
            <a:r>
              <a:rPr>
                <a:latin typeface="Courier"/>
              </a:rPr>
              <a:t>bio</a:t>
            </a:r>
            <a:r>
              <a:rPr>
                <a:solidFill>
                  <a:srgbClr val="666666"/>
                </a:solidFill>
                <a:latin typeface="Courier"/>
              </a:rPr>
              <a:t>)((</a:t>
            </a:r>
            <a:r>
              <a:rPr>
                <a:latin typeface="Courier"/>
              </a:rPr>
              <a:t>_</a:t>
            </a:r>
            <a:r>
              <a:rPr>
                <a:solidFill>
                  <a:srgbClr val="666666"/>
                </a:solidFill>
                <a:latin typeface="Courier"/>
              </a:rPr>
              <a:t>,</a:t>
            </a:r>
            <a:r>
              <a:rPr>
                <a:latin typeface="Courier"/>
              </a:rPr>
              <a:t> name</a:t>
            </a:r>
            <a:r>
              <a:rPr>
                <a:solidFill>
                  <a:srgbClr val="666666"/>
                </a:solidFill>
                <a:latin typeface="Courier"/>
              </a:rPr>
              <a:t>,</a:t>
            </a:r>
            <a:r>
              <a:rPr>
                <a:latin typeface="Courier"/>
              </a:rPr>
              <a:t> bio</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r>
              <a:rPr>
                <a:latin typeface="Courier"/>
              </a:rPr>
              <a:t>name</a:t>
            </a:r>
            <a:r>
              <a:rPr>
                <a:solidFill>
                  <a:srgbClr val="666666"/>
                </a:solidFill>
                <a:latin typeface="Courier"/>
              </a:rPr>
              <a:t>,</a:t>
            </a:r>
            <a:br/>
            <a:r>
              <a:rPr>
                <a:latin typeface="Courier"/>
              </a:rPr>
              <a:t>bio</a:t>
            </a:r>
            <a:r>
              <a:rPr>
                <a:solidFill>
                  <a:srgbClr val="666666"/>
                </a:solidFill>
                <a:latin typeface="Courier"/>
              </a:rPr>
              <a:t>.</a:t>
            </a:r>
            <a:r>
              <a:rPr>
                <a:solidFill>
                  <a:srgbClr val="06287E"/>
                </a:solidFill>
                <a:latin typeface="Courier"/>
              </a:rPr>
              <a:t>getOrElse</a:t>
            </a:r>
            <a:r>
              <a:rPr>
                <a:solidFill>
                  <a:srgbClr val="666666"/>
                </a:solidFill>
                <a:latin typeface="Courier"/>
              </a:rPr>
              <a:t>(</a:t>
            </a:r>
            <a:r>
              <a:rPr>
                <a:solidFill>
                  <a:srgbClr val="06287E"/>
                </a:solidFill>
                <a:latin typeface="Courier"/>
              </a:rPr>
              <a:t>Biography</a:t>
            </a:r>
            <a:r>
              <a:rPr>
                <a:solidFill>
                  <a:srgbClr val="666666"/>
                </a:solidFill>
                <a:latin typeface="Courier"/>
              </a:rPr>
              <a:t>(</a:t>
            </a:r>
            <a:r>
              <a:rPr>
                <a:solidFill>
                  <a:srgbClr val="4070A0"/>
                </a:solidFill>
                <a:latin typeface="Courier"/>
              </a:rPr>
              <a:t>"NA"</a:t>
            </a:r>
            <a:r>
              <a:rPr>
                <a:solidFill>
                  <a:srgbClr val="666666"/>
                </a:solidFill>
                <a:latin typeface="Courier"/>
              </a:rPr>
              <a:t>,</a:t>
            </a:r>
            <a:r>
              <a:rPr>
                <a:latin typeface="Courier"/>
              </a:rPr>
              <a:t> </a:t>
            </a:r>
            <a:r>
              <a:rPr>
                <a:solidFill>
                  <a:srgbClr val="4070A0"/>
                </a:solidFill>
                <a:latin typeface="Courier"/>
              </a:rPr>
              <a:t>"NA"</a:t>
            </a:r>
            <a:r>
              <a:rPr>
                <a:solidFill>
                  <a:srgbClr val="666666"/>
                </a:solidFill>
                <a:latin typeface="Courier"/>
              </a:rPr>
              <a:t>))))</a:t>
            </a:r>
            <a:br/>
            <a:r>
              <a:rPr>
                <a:latin typeface="Courier"/>
              </a:rPr>
              <a:t>movieOuterJoinedGraph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br/>
            <a:r>
              <a:rPr>
                <a:latin typeface="Courier"/>
              </a:rPr>
              <a:t>Biography</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59</a:t>
            </a:r>
            <a:r>
              <a:rPr>
                <a:latin typeface="Courier"/>
              </a:rPr>
              <a:t>aac4dd</a:t>
            </a:r>
            <a:br/>
            <a:r>
              <a:rPr>
                <a:latin typeface="Courier"/>
              </a:rPr>
              <a:t>scala</a:t>
            </a:r>
            <a:r>
              <a:rPr>
                <a:solidFill>
                  <a:srgbClr val="666666"/>
                </a:solidFill>
                <a:latin typeface="Courier"/>
              </a:rPr>
              <a:t>&gt;</a:t>
            </a:r>
            <a:r>
              <a:rPr>
                <a:latin typeface="Courier"/>
              </a:rPr>
              <a:t> movieOuterJoinedGraph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r>
              <a:rPr>
                <a:solidFill>
                  <a:srgbClr val="06287E"/>
                </a:solidFill>
                <a:latin typeface="Courier"/>
              </a:rPr>
              <a:t>Biography</a:t>
            </a:r>
            <a:r>
              <a:rPr>
                <a:solidFill>
                  <a:srgbClr val="666666"/>
                </a:solidFill>
                <a:latin typeface="Courier"/>
              </a:rPr>
              <a:t>(</a:t>
            </a:r>
            <a:r>
              <a:rPr>
                <a:latin typeface="Courier"/>
              </a:rPr>
              <a:t>NA</a:t>
            </a:r>
            <a:r>
              <a:rPr>
                <a:solidFill>
                  <a:srgbClr val="666666"/>
                </a:solidFill>
                <a:latin typeface="Courier"/>
              </a:rPr>
              <a:t>,</a:t>
            </a:r>
            <a:r>
              <a:rPr>
                <a:latin typeface="Courier"/>
              </a:rPr>
              <a:t>NA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r>
              <a:rPr>
                <a:solidFill>
                  <a:srgbClr val="06287E"/>
                </a:solidFill>
                <a:latin typeface="Courier"/>
              </a:rPr>
              <a:t>Biography</a:t>
            </a:r>
            <a:r>
              <a:rPr>
                <a:solidFill>
                  <a:srgbClr val="666666"/>
                </a:solidFill>
                <a:latin typeface="Courier"/>
              </a:rPr>
              <a:t>(</a:t>
            </a:r>
            <a:r>
              <a:rPr>
                <a:latin typeface="Courier"/>
              </a:rPr>
              <a:t>Salma Valgarma Hayek</a:t>
            </a:r>
            <a:r>
              <a:rPr>
                <a:solidFill>
                  <a:srgbClr val="666666"/>
                </a:solidFill>
                <a:latin typeface="Courier"/>
              </a:rPr>
              <a:t>-</a:t>
            </a:r>
            <a:r>
              <a:rPr>
                <a:latin typeface="Courier"/>
              </a:rPr>
              <a:t>Jimenez</a:t>
            </a:r>
            <a:r>
              <a:rPr>
                <a:solidFill>
                  <a:srgbClr val="666666"/>
                </a:solidFill>
                <a:latin typeface="Courier"/>
              </a:rPr>
              <a:t>,</a:t>
            </a:r>
            <a:r>
              <a:rPr>
                <a:latin typeface="Courier"/>
              </a:rPr>
              <a:t>Coatzacoalcos</a:t>
            </a:r>
            <a:r>
              <a:rPr>
                <a:solidFill>
                  <a:srgbClr val="666666"/>
                </a:solidFill>
                <a:latin typeface="Courier"/>
              </a:rPr>
              <a:t>,</a:t>
            </a:r>
            <a:br/>
            <a:r>
              <a:rPr>
                <a:latin typeface="Courier"/>
              </a:rPr>
              <a:t>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r>
              <a:rPr>
                <a:solidFill>
                  <a:srgbClr val="06287E"/>
                </a:solidFill>
                <a:latin typeface="Courier"/>
              </a:rPr>
              <a:t>Biography</a:t>
            </a:r>
            <a:r>
              <a:rPr>
                <a:solidFill>
                  <a:srgbClr val="666666"/>
                </a:solidFill>
                <a:latin typeface="Courier"/>
              </a:rPr>
              <a:t>(</a:t>
            </a:r>
            <a:r>
              <a:rPr>
                <a:latin typeface="Courier"/>
              </a:rPr>
              <a:t>Willard Christopher Smith Jr</a:t>
            </a:r>
            <a:r>
              <a:rPr>
                <a:solidFill>
                  <a:srgbClr val="666666"/>
                </a:solidFill>
                <a:latin typeface="Courier"/>
              </a:rPr>
              <a:t>.,</a:t>
            </a:r>
            <a:r>
              <a:rPr>
                <a:latin typeface="Courier"/>
              </a:rPr>
              <a:t>Philadelphia</a:t>
            </a:r>
            <a:r>
              <a:rPr>
                <a:solidFill>
                  <a:srgbClr val="666666"/>
                </a:solidFill>
                <a:latin typeface="Courier"/>
              </a:rPr>
              <a:t>,</a:t>
            </a:r>
            <a:r>
              <a:rPr>
                <a:latin typeface="Courier"/>
              </a:rPr>
              <a:t> PA</a:t>
            </a:r>
            <a:r>
              <a:rPr>
                <a:solidFill>
                  <a:srgbClr val="666666"/>
                </a:solidFill>
                <a:latin typeface="Courier"/>
              </a:rPr>
              <a:t>,</a:t>
            </a:r>
            <a:br/>
            <a:r>
              <a:rPr>
                <a:latin typeface="Courier"/>
              </a:rPr>
              <a:t>USA</a:t>
            </a:r>
            <a:r>
              <a:rPr>
                <a:solidFill>
                  <a:srgbClr val="666666"/>
                </a:solidFill>
                <a:latin typeface="Courier"/>
              </a:rPr>
              <a:t>)))</a:t>
            </a:r>
            <a:br/>
            <a:r>
              <a:rPr i="1">
                <a:solidFill>
                  <a:srgbClr val="60A0B0"/>
                </a:solidFill>
                <a:latin typeface="Courier"/>
              </a:rPr>
              <a:t>// ...</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联结运算符：代码片段（14/15）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或者</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08000"/>
                </a:solidFill>
                <a:latin typeface="Courier"/>
              </a:rPr>
              <a:t>Actor</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birthname</a:t>
            </a:r>
            <a:r>
              <a:rPr>
                <a:solidFill>
                  <a:srgbClr val="666666"/>
                </a:solidFill>
                <a:latin typeface="Courier"/>
              </a:rPr>
              <a:t>:</a:t>
            </a:r>
            <a:r>
              <a:rPr>
                <a:latin typeface="Courier"/>
              </a:rPr>
              <a:t> String</a:t>
            </a:r>
            <a:r>
              <a:rPr>
                <a:solidFill>
                  <a:srgbClr val="666666"/>
                </a:solidFill>
                <a:latin typeface="Courier"/>
              </a:rPr>
              <a:t>,</a:t>
            </a:r>
            <a:r>
              <a:rPr>
                <a:latin typeface="Courier"/>
              </a:rPr>
              <a:t> hometown</a:t>
            </a:r>
            <a:r>
              <a:rPr>
                <a:solidFill>
                  <a:srgbClr val="666666"/>
                </a:solidFill>
                <a:latin typeface="Courier"/>
              </a:rPr>
              <a:t>:</a:t>
            </a:r>
            <a:br/>
            <a:r>
              <a:rPr>
                <a:latin typeface="Courier"/>
              </a:rPr>
              <a:t>String</a:t>
            </a:r>
            <a:r>
              <a:rPr>
                <a:solidFill>
                  <a:srgbClr val="666666"/>
                </a:solidFill>
                <a:latin typeface="Courier"/>
              </a:rPr>
              <a:t>)</a:t>
            </a:r>
            <a:br/>
            <a:r>
              <a:rPr>
                <a:latin typeface="Courier"/>
              </a:rPr>
              <a:t>defined </a:t>
            </a:r>
            <a:r>
              <a:rPr b="1">
                <a:solidFill>
                  <a:srgbClr val="007020"/>
                </a:solidFill>
                <a:latin typeface="Courier"/>
              </a:rPr>
              <a:t>class</a:t>
            </a:r>
            <a:r>
              <a:rPr>
                <a:latin typeface="Courier"/>
              </a:rPr>
              <a:t> </a:t>
            </a:r>
            <a:r>
              <a:rPr>
                <a:solidFill>
                  <a:srgbClr val="008000"/>
                </a:solidFill>
                <a:latin typeface="Courier"/>
              </a:rPr>
              <a:t>Actor</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val</a:t>
            </a:r>
            <a:r>
              <a:rPr>
                <a:latin typeface="Courier"/>
              </a:rPr>
              <a:t> movieOuterJoinedGraph </a:t>
            </a:r>
            <a:r>
              <a:rPr>
                <a:solidFill>
                  <a:srgbClr val="666666"/>
                </a:solidFill>
                <a:latin typeface="Courier"/>
              </a:rPr>
              <a:t>=</a:t>
            </a:r>
            <a:r>
              <a:rPr>
                <a:latin typeface="Courier"/>
              </a:rPr>
              <a:t> movieGraph</a:t>
            </a:r>
            <a:r>
              <a:rPr>
                <a:solidFill>
                  <a:srgbClr val="666666"/>
                </a:solidFill>
                <a:latin typeface="Courier"/>
              </a:rPr>
              <a:t>.</a:t>
            </a:r>
            <a:r>
              <a:rPr>
                <a:solidFill>
                  <a:srgbClr val="06287E"/>
                </a:solidFill>
                <a:latin typeface="Courier"/>
              </a:rPr>
              <a:t>outerJoinVertices</a:t>
            </a:r>
            <a:r>
              <a:rPr>
                <a:solidFill>
                  <a:srgbClr val="666666"/>
                </a:solidFill>
                <a:latin typeface="Courier"/>
              </a:rPr>
              <a:t>(</a:t>
            </a:r>
            <a:r>
              <a:rPr>
                <a:latin typeface="Courier"/>
              </a:rPr>
              <a:t>bio</a:t>
            </a:r>
            <a:r>
              <a:rPr>
                <a:solidFill>
                  <a:srgbClr val="666666"/>
                </a:solidFill>
                <a:latin typeface="Courier"/>
              </a:rPr>
              <a:t>)((</a:t>
            </a:r>
            <a:r>
              <a:rPr>
                <a:latin typeface="Courier"/>
              </a:rPr>
              <a:t>_</a:t>
            </a:r>
            <a:r>
              <a:rPr>
                <a:solidFill>
                  <a:srgbClr val="666666"/>
                </a:solidFill>
                <a:latin typeface="Courier"/>
              </a:rPr>
              <a:t>,</a:t>
            </a:r>
            <a:r>
              <a:rPr>
                <a:latin typeface="Courier"/>
              </a:rPr>
              <a:t> name</a:t>
            </a:r>
            <a:r>
              <a:rPr>
                <a:solidFill>
                  <a:srgbClr val="666666"/>
                </a:solidFill>
                <a:latin typeface="Courier"/>
              </a:rPr>
              <a:t>,</a:t>
            </a:r>
            <a:br/>
            <a:r>
              <a:rPr>
                <a:latin typeface="Courier"/>
              </a:rPr>
              <a:t>b</a:t>
            </a:r>
            <a:r>
              <a:rPr>
                <a:solidFill>
                  <a:srgbClr val="666666"/>
                </a:solidFill>
                <a:latin typeface="Courier"/>
              </a:rPr>
              <a:t>)</a:t>
            </a:r>
            <a:r>
              <a:rPr>
                <a:latin typeface="Courier"/>
              </a:rPr>
              <a:t> </a:t>
            </a:r>
            <a:r>
              <a:rPr>
                <a:solidFill>
                  <a:srgbClr val="666666"/>
                </a:solidFill>
                <a:latin typeface="Courier"/>
              </a:rPr>
              <a:t>=&gt;</a:t>
            </a:r>
            <a:r>
              <a:rPr>
                <a:latin typeface="Courier"/>
              </a:rPr>
              <a:t> b </a:t>
            </a:r>
            <a:r>
              <a:rPr b="1">
                <a:solidFill>
                  <a:srgbClr val="007020"/>
                </a:solidFill>
                <a:latin typeface="Courier"/>
              </a:rPr>
              <a:t>match</a:t>
            </a:r>
            <a:r>
              <a:rPr>
                <a:latin typeface="Courier"/>
              </a:rPr>
              <a:t> </a:t>
            </a:r>
            <a:r>
              <a:rPr>
                <a:solidFill>
                  <a:srgbClr val="666666"/>
                </a:solidFill>
                <a:latin typeface="Courier"/>
              </a:rPr>
              <a:t>{</a:t>
            </a:r>
            <a:br/>
            <a:r>
              <a:rPr b="1">
                <a:solidFill>
                  <a:srgbClr val="007020"/>
                </a:solidFill>
                <a:latin typeface="Courier"/>
              </a:rPr>
              <a:t>case</a:t>
            </a:r>
            <a:r>
              <a:rPr>
                <a:latin typeface="Courier"/>
              </a:rPr>
              <a:t> </a:t>
            </a:r>
            <a:r>
              <a:rPr>
                <a:solidFill>
                  <a:srgbClr val="008000"/>
                </a:solidFill>
                <a:latin typeface="Courier"/>
              </a:rPr>
              <a:t>Some</a:t>
            </a:r>
            <a:r>
              <a:rPr>
                <a:solidFill>
                  <a:srgbClr val="666666"/>
                </a:solidFill>
                <a:latin typeface="Courier"/>
              </a:rPr>
              <a:t>(</a:t>
            </a:r>
            <a:r>
              <a:rPr>
                <a:latin typeface="Courier"/>
              </a:rPr>
              <a:t>bio</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08000"/>
                </a:solidFill>
                <a:latin typeface="Courier"/>
              </a:rPr>
              <a:t>Actor</a:t>
            </a:r>
            <a:r>
              <a:rPr>
                <a:solidFill>
                  <a:srgbClr val="666666"/>
                </a:solidFill>
                <a:latin typeface="Courier"/>
              </a:rPr>
              <a:t>(</a:t>
            </a:r>
            <a:r>
              <a:rPr>
                <a:latin typeface="Courier"/>
              </a:rPr>
              <a:t>name</a:t>
            </a:r>
            <a:r>
              <a:rPr>
                <a:solidFill>
                  <a:srgbClr val="666666"/>
                </a:solidFill>
                <a:latin typeface="Courier"/>
              </a:rPr>
              <a:t>,</a:t>
            </a:r>
            <a:r>
              <a:rPr>
                <a:latin typeface="Courier"/>
              </a:rPr>
              <a:t> bio</a:t>
            </a:r>
            <a:r>
              <a:rPr>
                <a:solidFill>
                  <a:srgbClr val="666666"/>
                </a:solidFill>
                <a:latin typeface="Courier"/>
              </a:rPr>
              <a:t>.</a:t>
            </a:r>
            <a:r>
              <a:rPr>
                <a:latin typeface="Courier"/>
              </a:rPr>
              <a:t>birthname</a:t>
            </a:r>
            <a:r>
              <a:rPr>
                <a:solidFill>
                  <a:srgbClr val="666666"/>
                </a:solidFill>
                <a:latin typeface="Courier"/>
              </a:rPr>
              <a:t>,</a:t>
            </a:r>
            <a:r>
              <a:rPr>
                <a:latin typeface="Courier"/>
              </a:rPr>
              <a:t> bio</a:t>
            </a:r>
            <a:r>
              <a:rPr>
                <a:solidFill>
                  <a:srgbClr val="666666"/>
                </a:solidFill>
                <a:latin typeface="Courier"/>
              </a:rPr>
              <a:t>.</a:t>
            </a:r>
            <a:r>
              <a:rPr>
                <a:latin typeface="Courier"/>
              </a:rPr>
              <a:t>hometown</a:t>
            </a:r>
            <a:r>
              <a:rPr>
                <a:solidFill>
                  <a:srgbClr val="666666"/>
                </a:solidFill>
                <a:latin typeface="Courier"/>
              </a:rPr>
              <a:t>)</a:t>
            </a:r>
            <a:br/>
            <a:r>
              <a:rPr b="1">
                <a:solidFill>
                  <a:srgbClr val="007020"/>
                </a:solidFill>
                <a:latin typeface="Courier"/>
              </a:rPr>
              <a:t>case</a:t>
            </a:r>
            <a:r>
              <a:rPr>
                <a:latin typeface="Courier"/>
              </a:rPr>
              <a:t> </a:t>
            </a:r>
            <a:r>
              <a:rPr>
                <a:solidFill>
                  <a:srgbClr val="008000"/>
                </a:solidFill>
                <a:latin typeface="Courier"/>
              </a:rPr>
              <a:t>None</a:t>
            </a:r>
            <a:r>
              <a:rPr>
                <a:latin typeface="Courier"/>
              </a:rPr>
              <a:t> </a:t>
            </a:r>
            <a:r>
              <a:rPr>
                <a:solidFill>
                  <a:srgbClr val="666666"/>
                </a:solidFill>
                <a:latin typeface="Courier"/>
              </a:rPr>
              <a:t>=&gt;</a:t>
            </a:r>
            <a:r>
              <a:rPr>
                <a:latin typeface="Courier"/>
              </a:rPr>
              <a:t> </a:t>
            </a:r>
            <a:r>
              <a:rPr>
                <a:solidFill>
                  <a:srgbClr val="008000"/>
                </a:solidFill>
                <a:latin typeface="Courier"/>
              </a:rPr>
              <a:t>Actor</a:t>
            </a:r>
            <a:r>
              <a:rPr>
                <a:solidFill>
                  <a:srgbClr val="666666"/>
                </a:solidFill>
                <a:latin typeface="Courier"/>
              </a:rPr>
              <a:t>(</a:t>
            </a:r>
            <a:r>
              <a:rPr>
                <a:latin typeface="Courier"/>
              </a:rPr>
              <a:t>name</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solidFill>
                  <a:srgbClr val="666666"/>
                </a:solidFill>
                <a:latin typeface="Courier"/>
              </a:rPr>
              <a:t>})</a:t>
            </a:r>
            <a:br/>
            <a:r>
              <a:rPr i="1">
                <a:solidFill>
                  <a:srgbClr val="60A0B0"/>
                </a:solidFill>
                <a:latin typeface="Courier"/>
              </a:rPr>
              <a:t>// Exiting paste mode, now interpreting.</a:t>
            </a:r>
            <a:br/>
            <a:r>
              <a:rPr i="1">
                <a:solidFill>
                  <a:srgbClr val="60A0B0"/>
                </a:solidFill>
                <a:latin typeface="Courier"/>
              </a:rPr>
              <a:t>// ...</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6.6.3 联结运算符：代码片段（15/15）</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列出新图中的点，看一看是不是得到预期的结果： 的执行步骤</a:t>
            </a:r>
          </a:p>
          <a:p>
            <a:pPr lvl="0" indent="0">
              <a:buNone/>
            </a:pPr>
            <a:r>
              <a:rPr>
                <a:latin typeface="Courier"/>
              </a:rPr>
              <a:t>scala</a:t>
            </a:r>
            <a:r>
              <a:rPr>
                <a:solidFill>
                  <a:srgbClr val="666666"/>
                </a:solidFill>
                <a:latin typeface="Courier"/>
              </a:rPr>
              <a:t>&gt;</a:t>
            </a:r>
            <a:r>
              <a:rPr>
                <a:latin typeface="Courier"/>
              </a:rPr>
              <a:t> movieOuterJoinedGraph</a:t>
            </a:r>
            <a:r>
              <a:rPr>
                <a:solidFill>
                  <a:srgbClr val="666666"/>
                </a:solidFill>
                <a:latin typeface="Courier"/>
              </a:rPr>
              <a:t>.</a:t>
            </a:r>
            <a:r>
              <a:rPr>
                <a:latin typeface="Courier"/>
              </a:rPr>
              <a:t>vertices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008000"/>
                </a:solidFill>
                <a:latin typeface="Courier"/>
              </a:rPr>
              <a:t>Actor</a:t>
            </a:r>
            <a:r>
              <a:rPr>
                <a:solidFill>
                  <a:srgbClr val="666666"/>
                </a:solidFill>
                <a:latin typeface="Courier"/>
              </a:rPr>
              <a:t>(</a:t>
            </a:r>
            <a:r>
              <a:rPr>
                <a:latin typeface="Courier"/>
              </a:rPr>
              <a:t>George Clooney</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008000"/>
                </a:solidFill>
                <a:latin typeface="Courier"/>
              </a:rPr>
              <a:t>Actor</a:t>
            </a:r>
            <a:r>
              <a:rPr>
                <a:solidFill>
                  <a:srgbClr val="666666"/>
                </a:solidFill>
                <a:latin typeface="Courier"/>
              </a:rPr>
              <a:t>(</a:t>
            </a:r>
            <a:r>
              <a:rPr>
                <a:latin typeface="Courier"/>
              </a:rPr>
              <a:t>Salma Hayek</a:t>
            </a:r>
            <a:r>
              <a:rPr>
                <a:solidFill>
                  <a:srgbClr val="666666"/>
                </a:solidFill>
                <a:latin typeface="Courier"/>
              </a:rPr>
              <a:t>,</a:t>
            </a:r>
            <a:r>
              <a:rPr>
                <a:latin typeface="Courier"/>
              </a:rPr>
              <a:t>Salma Valgarma Hayek</a:t>
            </a:r>
            <a:r>
              <a:rPr>
                <a:solidFill>
                  <a:srgbClr val="666666"/>
                </a:solidFill>
                <a:latin typeface="Courier"/>
              </a:rPr>
              <a:t>-</a:t>
            </a:r>
            <a:r>
              <a:rPr>
                <a:latin typeface="Courier"/>
              </a:rPr>
              <a:t>Jimenez</a:t>
            </a:r>
            <a:r>
              <a:rPr>
                <a:solidFill>
                  <a:srgbClr val="666666"/>
                </a:solidFill>
                <a:latin typeface="Courier"/>
              </a:rPr>
              <a:t>,</a:t>
            </a:r>
            <a:r>
              <a:rPr>
                <a:latin typeface="Courier"/>
              </a:rPr>
              <a:t>Coatzacoalcos</a:t>
            </a:r>
            <a:r>
              <a:rPr>
                <a:solidFill>
                  <a:srgbClr val="666666"/>
                </a:solidFill>
                <a:latin typeface="Courier"/>
              </a:rPr>
              <a:t>,</a:t>
            </a:r>
            <a:br/>
            <a:r>
              <a:rPr>
                <a:latin typeface="Courier"/>
              </a:rPr>
              <a:t>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008000"/>
                </a:solidFill>
                <a:latin typeface="Courier"/>
              </a:rPr>
              <a:t>Actor</a:t>
            </a:r>
            <a:r>
              <a:rPr>
                <a:solidFill>
                  <a:srgbClr val="666666"/>
                </a:solidFill>
                <a:latin typeface="Courier"/>
              </a:rPr>
              <a:t>(</a:t>
            </a:r>
            <a:r>
              <a:rPr>
                <a:latin typeface="Courier"/>
              </a:rPr>
              <a:t>Matt Damon</a:t>
            </a:r>
            <a:r>
              <a:rPr>
                <a:solidFill>
                  <a:srgbClr val="666666"/>
                </a:solidFill>
                <a:latin typeface="Courier"/>
              </a:rPr>
              <a:t>,</a:t>
            </a:r>
            <a:r>
              <a:rPr>
                <a:latin typeface="Courier"/>
              </a:rPr>
              <a:t>Matthew Paige Damon</a:t>
            </a:r>
            <a:r>
              <a:rPr>
                <a:solidFill>
                  <a:srgbClr val="666666"/>
                </a:solidFill>
                <a:latin typeface="Courier"/>
              </a:rPr>
              <a:t>,</a:t>
            </a:r>
            <a:r>
              <a:rPr>
                <a:latin typeface="Courier"/>
              </a:rPr>
              <a:t>Boston</a:t>
            </a:r>
            <a:r>
              <a:rPr>
                <a:solidFill>
                  <a:srgbClr val="666666"/>
                </a:solidFill>
                <a:latin typeface="Courier"/>
              </a:rPr>
              <a:t>,</a:t>
            </a:r>
            <a:r>
              <a:rPr>
                <a:latin typeface="Courier"/>
              </a:rPr>
              <a:t> MA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08000"/>
                </a:solidFill>
                <a:latin typeface="Courier"/>
              </a:rPr>
              <a:t>Actor</a:t>
            </a:r>
            <a:r>
              <a:rPr>
                <a:solidFill>
                  <a:srgbClr val="666666"/>
                </a:solidFill>
                <a:latin typeface="Courier"/>
              </a:rPr>
              <a:t>(</a:t>
            </a:r>
            <a:r>
              <a:rPr>
                <a:latin typeface="Courier"/>
              </a:rPr>
              <a:t>Will Smith</a:t>
            </a:r>
            <a:r>
              <a:rPr>
                <a:solidFill>
                  <a:srgbClr val="666666"/>
                </a:solidFill>
                <a:latin typeface="Courier"/>
              </a:rPr>
              <a:t>,</a:t>
            </a:r>
            <a:r>
              <a:rPr>
                <a:latin typeface="Courier"/>
              </a:rPr>
              <a:t>Willard Christopher Smith Jr</a:t>
            </a:r>
            <a:r>
              <a:rPr>
                <a:solidFill>
                  <a:srgbClr val="666666"/>
                </a:solidFill>
                <a:latin typeface="Courier"/>
              </a:rPr>
              <a:t>.,</a:t>
            </a:r>
            <a:r>
              <a:rPr>
                <a:latin typeface="Courier"/>
              </a:rPr>
              <a:t>Philadelphia</a:t>
            </a:r>
            <a:r>
              <a:rPr>
                <a:solidFill>
                  <a:srgbClr val="666666"/>
                </a:solidFill>
                <a:latin typeface="Courier"/>
              </a:rPr>
              <a:t>,</a:t>
            </a:r>
            <a:r>
              <a:rPr>
                <a:latin typeface="Courier"/>
              </a:rPr>
              <a:t> PA</a:t>
            </a:r>
            <a:r>
              <a:rPr>
                <a:solidFill>
                  <a:srgbClr val="666666"/>
                </a:solidFill>
                <a:latin typeface="Courier"/>
              </a:rPr>
              <a:t>,</a:t>
            </a:r>
            <a:br/>
            <a:r>
              <a:rPr>
                <a:latin typeface="Courier"/>
              </a:rPr>
              <a:t>USA</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008000"/>
                </a:solidFill>
                <a:latin typeface="Courier"/>
              </a:rPr>
              <a:t>Actor</a:t>
            </a:r>
            <a:r>
              <a:rPr>
                <a:solidFill>
                  <a:srgbClr val="666666"/>
                </a:solidFill>
                <a:latin typeface="Courier"/>
              </a:rPr>
              <a:t>(</a:t>
            </a:r>
            <a:r>
              <a:rPr>
                <a:latin typeface="Courier"/>
              </a:rPr>
              <a:t>Julia Stiles</a:t>
            </a:r>
            <a:r>
              <a:rPr>
                <a:solidFill>
                  <a:srgbClr val="666666"/>
                </a:solidFill>
                <a:latin typeface="Courier"/>
              </a:rPr>
              <a:t>,</a:t>
            </a:r>
            <a:r>
              <a:rPr>
                <a:latin typeface="Courier"/>
              </a:rPr>
              <a:t>Julia O</a:t>
            </a:r>
            <a:r>
              <a:rPr b="1">
                <a:solidFill>
                  <a:srgbClr val="FF0000"/>
                </a:solidFill>
                <a:latin typeface="Courier"/>
              </a:rPr>
              <a:t>'</a:t>
            </a:r>
            <a:r>
              <a:rPr>
                <a:latin typeface="Courier"/>
              </a:rPr>
              <a:t>Hara Stiles</a:t>
            </a:r>
            <a:r>
              <a:rPr>
                <a:solidFill>
                  <a:srgbClr val="666666"/>
                </a:solidFill>
                <a:latin typeface="Courier"/>
              </a:rPr>
              <a:t>,</a:t>
            </a:r>
            <a:r>
              <a:rPr>
                <a:latin typeface="Courier"/>
              </a:rPr>
              <a:t>NY City</a:t>
            </a:r>
            <a:r>
              <a:rPr>
                <a:solidFill>
                  <a:srgbClr val="666666"/>
                </a:solidFill>
                <a:latin typeface="Courier"/>
              </a:rPr>
              <a:t>,</a:t>
            </a:r>
            <a:r>
              <a:rPr>
                <a:latin typeface="Courier"/>
              </a:rPr>
              <a:t> NY</a:t>
            </a:r>
            <a:r>
              <a:rPr>
                <a:solidFill>
                  <a:srgbClr val="666666"/>
                </a:solidFill>
                <a:latin typeface="Courier"/>
              </a:rPr>
              <a:t>,</a:t>
            </a:r>
            <a:r>
              <a:rPr>
                <a:latin typeface="Courier"/>
              </a:rPr>
              <a:t> USA</a:t>
            </a:r>
            <a:r>
              <a:rPr>
                <a:solidFill>
                  <a:srgbClr val="666666"/>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这些集合的类型分别是RDD(VertexID VD)和RDDEdge</a:t>
            </a:r>
          </a:p>
          <a:p>
            <a:pPr lvl="0"/>
            <a:r>
              <a:rPr/>
              <a:t>介绍VertexRDD 和EdgeRDD的映射操作</a:t>
            </a:r>
          </a:p>
          <a:p>
            <a:pPr lvl="0"/>
            <a:r>
              <a:rPr/>
              <a:t>为了把这个差异看得更直观</a:t>
            </a:r>
          </a:p>
          <a:p>
            <a:pPr lvl="0"/>
            <a:r>
              <a:rPr/>
              <a:t>代码 6‑81</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我们可以使用mapValues()将其名称提取到新的VertexRDD集合中</a:t>
            </a:r>
          </a:p>
          <a:p>
            <a:pPr lvl="0"/>
            <a:r>
              <a:rPr/>
              <a:t>使用重载的mapValues()方法</a:t>
            </a:r>
          </a:p>
          <a:p>
            <a:pPr lvl="0"/>
            <a:r>
              <a:rPr/>
              <a:t>代码 6‑82</a:t>
            </a:r>
          </a:p>
          <a:p>
            <a:pPr lvl="0"/>
            <a:r>
              <a:rPr/>
              <a:t>还有一种mapValues()方法可用于转换EdgeRDD</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点和边操作：代码片段（1/7）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为了把这个差异看得更直观</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actorsBio </a:t>
            </a:r>
            <a:r>
              <a:rPr>
                <a:solidFill>
                  <a:srgbClr val="666666"/>
                </a:solidFill>
                <a:latin typeface="Courier"/>
              </a:rPr>
              <a:t>=</a:t>
            </a:r>
            <a:r>
              <a:rPr>
                <a:latin typeface="Courier"/>
              </a:rPr>
              <a:t> movieJoinedGraph</a:t>
            </a:r>
            <a:r>
              <a:rPr>
                <a:solidFill>
                  <a:srgbClr val="666666"/>
                </a:solidFill>
                <a:latin typeface="Courier"/>
              </a:rPr>
              <a:t>.</a:t>
            </a:r>
            <a:r>
              <a:rPr>
                <a:latin typeface="Courier"/>
              </a:rPr>
              <a:t>vertices</a:t>
            </a:r>
            <a:br/>
            <a:r>
              <a:rPr>
                <a:latin typeface="Courier"/>
              </a:rPr>
              <a:t>actorsBio</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VertexRDDImpl</a:t>
            </a:r>
            <a:r>
              <a:rPr>
                <a:solidFill>
                  <a:srgbClr val="666666"/>
                </a:solidFill>
                <a:latin typeface="Courier"/>
              </a:rPr>
              <a:t>[</a:t>
            </a:r>
            <a:r>
              <a:rPr>
                <a:solidFill>
                  <a:srgbClr val="40A070"/>
                </a:solidFill>
                <a:latin typeface="Courier"/>
              </a:rPr>
              <a:t>299</a:t>
            </a:r>
            <a:r>
              <a:rPr>
                <a:solidFill>
                  <a:srgbClr val="666666"/>
                </a:solidFill>
                <a:latin typeface="Courier"/>
              </a:rPr>
              <a:t>]</a:t>
            </a:r>
            <a:r>
              <a:rPr>
                <a:latin typeface="Courier"/>
              </a:rPr>
              <a:t> at RDD at VertexRDD</a:t>
            </a:r>
            <a:r>
              <a:rPr>
                <a:solidFill>
                  <a:srgbClr val="666666"/>
                </a:solidFill>
                <a:latin typeface="Courier"/>
              </a:rPr>
              <a:t>.</a:t>
            </a:r>
            <a:r>
              <a:rPr>
                <a:latin typeface="Courier"/>
              </a:rPr>
              <a:t>scala</a:t>
            </a:r>
            <a:r>
              <a:rPr>
                <a:solidFill>
                  <a:srgbClr val="666666"/>
                </a:solidFill>
                <a:latin typeface="Courier"/>
              </a:rPr>
              <a:t>:</a:t>
            </a:r>
            <a:r>
              <a:rPr>
                <a:solidFill>
                  <a:srgbClr val="40A070"/>
                </a:solidFill>
                <a:latin typeface="Courier"/>
              </a:rPr>
              <a:t>57</a:t>
            </a:r>
            <a:br/>
            <a:r>
              <a:rPr>
                <a:latin typeface="Courier"/>
              </a:rPr>
              <a:t>scala</a:t>
            </a:r>
            <a:r>
              <a:rPr>
                <a:solidFill>
                  <a:srgbClr val="666666"/>
                </a:solidFill>
                <a:latin typeface="Courier"/>
              </a:rPr>
              <a:t>&gt;</a:t>
            </a:r>
            <a:r>
              <a:rPr>
                <a:latin typeface="Courier"/>
              </a:rPr>
              <a:t> actorsBio</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a:t>
            </a:r>
            <a:r>
              <a:rPr>
                <a:solidFill>
                  <a:srgbClr val="666666"/>
                </a:solidFill>
                <a:latin typeface="Courier"/>
              </a:rPr>
              <a:t>:</a:t>
            </a:r>
            <a:r>
              <a:rPr>
                <a:latin typeface="Courier"/>
              </a:rPr>
              <a:t>NY City</a:t>
            </a:r>
            <a:r>
              <a:rPr>
                <a:solidFill>
                  <a:srgbClr val="666666"/>
                </a:solidFill>
                <a:latin typeface="Courier"/>
              </a:rPr>
              <a:t>,</a:t>
            </a:r>
            <a:r>
              <a:rPr>
                <a:latin typeface="Courier"/>
              </a:rPr>
              <a:t> NY</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r>
              <a:rPr>
                <a:latin typeface="Courier"/>
              </a:rPr>
              <a:t>Coatzacoalcos</a:t>
            </a:r>
            <a:r>
              <a:rPr>
                <a:solidFill>
                  <a:srgbClr val="666666"/>
                </a:solidFill>
                <a:latin typeface="Courier"/>
              </a:rPr>
              <a:t>,</a:t>
            </a:r>
            <a:r>
              <a:rPr>
                <a:latin typeface="Courier"/>
              </a:rPr>
              <a:t> 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r>
              <a:rPr>
                <a:latin typeface="Courier"/>
              </a:rPr>
              <a:t>Philadelphia</a:t>
            </a:r>
            <a:r>
              <a:rPr>
                <a:solidFill>
                  <a:srgbClr val="666666"/>
                </a:solidFill>
                <a:latin typeface="Courier"/>
              </a:rPr>
              <a:t>,</a:t>
            </a:r>
            <a:r>
              <a:rPr>
                <a:latin typeface="Courier"/>
              </a:rPr>
              <a:t> PA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a:t>
            </a:r>
            <a:r>
              <a:rPr>
                <a:solidFill>
                  <a:srgbClr val="666666"/>
                </a:solidFill>
                <a:latin typeface="Courier"/>
              </a:rPr>
              <a:t>:</a:t>
            </a:r>
            <a:r>
              <a:rPr>
                <a:latin typeface="Courier"/>
              </a:rPr>
              <a:t>Boston</a:t>
            </a:r>
            <a:r>
              <a:rPr>
                <a:solidFill>
                  <a:srgbClr val="666666"/>
                </a:solidFill>
                <a:latin typeface="Courier"/>
              </a:rPr>
              <a:t>,</a:t>
            </a:r>
            <a:r>
              <a:rPr>
                <a:latin typeface="Courier"/>
              </a:rPr>
              <a:t> MA</a:t>
            </a:r>
            <a:r>
              <a:rPr>
                <a:solidFill>
                  <a:srgbClr val="666666"/>
                </a:solidFill>
                <a:latin typeface="Courier"/>
              </a:rPr>
              <a:t>,</a:t>
            </a:r>
            <a:r>
              <a:rPr>
                <a:latin typeface="Courier"/>
              </a:rPr>
              <a:t> USA</a:t>
            </a:r>
            <a:r>
              <a:rPr>
                <a:solidFill>
                  <a:srgbClr val="666666"/>
                </a:solidFill>
                <a:latin typeface="Courier"/>
              </a:rPr>
              <a: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现在</a:t>
            </a:r>
          </a:p>
          <a:p>
            <a:pPr lvl="0"/>
            <a:r>
              <a:rPr/>
              <a:t>先对照代码理解 使用重载的mapValues()方法</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actorsBio</a:t>
            </a:r>
            <a:r>
              <a:rPr>
                <a:solidFill>
                  <a:srgbClr val="666666"/>
                </a:solidFill>
                <a:latin typeface="Courier"/>
              </a:rPr>
              <a:t>.</a:t>
            </a:r>
            <a:r>
              <a:rPr>
                <a:solidFill>
                  <a:srgbClr val="06287E"/>
                </a:solidFill>
                <a:latin typeface="Courier"/>
              </a:rPr>
              <a:t>mapValues</a:t>
            </a:r>
            <a:r>
              <a:rPr>
                <a:solidFill>
                  <a:srgbClr val="666666"/>
                </a:solidFill>
                <a:latin typeface="Courier"/>
              </a:rPr>
              <a:t>(</a:t>
            </a:r>
            <a:r>
              <a:rPr>
                <a:latin typeface="Courier"/>
              </a:rPr>
              <a:t>s </a:t>
            </a:r>
            <a:r>
              <a:rPr>
                <a:solidFill>
                  <a:srgbClr val="666666"/>
                </a:solidFill>
                <a:latin typeface="Courier"/>
              </a:rPr>
              <a:t>=&gt;</a:t>
            </a:r>
            <a:r>
              <a:rPr>
                <a:latin typeface="Courier"/>
              </a:rPr>
              <a:t> s</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a:t>
            </a:r>
            <a:r>
              <a:rPr>
                <a:solidFill>
                  <a:srgbClr val="666666"/>
                </a:solidFill>
                <a:latin typeface="Courier"/>
              </a:rPr>
              <a:t>)(</a:t>
            </a:r>
            <a:r>
              <a:rPr>
                <a:solidFill>
                  <a:srgbClr val="40A070"/>
                </a:solidFill>
                <a:latin typeface="Courier"/>
              </a:rPr>
              <a:t>0</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actorsBio</a:t>
            </a:r>
            <a:r>
              <a:rPr>
                <a:solidFill>
                  <a:srgbClr val="666666"/>
                </a:solidFill>
                <a:latin typeface="Courier"/>
              </a:rPr>
              <a:t>.</a:t>
            </a:r>
            <a:r>
              <a:rPr>
                <a:solidFill>
                  <a:srgbClr val="06287E"/>
                </a:solidFill>
                <a:latin typeface="Courier"/>
              </a:rPr>
              <a:t>mapValues</a:t>
            </a:r>
            <a:r>
              <a:rPr>
                <a:solidFill>
                  <a:srgbClr val="666666"/>
                </a:solidFill>
                <a:latin typeface="Courier"/>
              </a:rPr>
              <a:t>((</a:t>
            </a:r>
            <a:r>
              <a:rPr>
                <a:latin typeface="Courier"/>
              </a:rPr>
              <a:t>vid</a:t>
            </a:r>
            <a:r>
              <a:rPr>
                <a:solidFill>
                  <a:srgbClr val="666666"/>
                </a:solidFill>
                <a:latin typeface="Courier"/>
              </a:rPr>
              <a:t>,</a:t>
            </a:r>
            <a:r>
              <a:rPr>
                <a:latin typeface="Courier"/>
              </a:rPr>
              <a:t>s</a:t>
            </a:r>
            <a:r>
              <a:rPr>
                <a:solidFill>
                  <a:srgbClr val="666666"/>
                </a:solidFill>
                <a:latin typeface="Courier"/>
              </a:rPr>
              <a:t>)</a:t>
            </a:r>
            <a:r>
              <a:rPr>
                <a:latin typeface="Courier"/>
              </a:rPr>
              <a:t> </a:t>
            </a:r>
            <a:r>
              <a:rPr>
                <a:solidFill>
                  <a:srgbClr val="666666"/>
                </a:solidFill>
                <a:latin typeface="Courier"/>
              </a:rPr>
              <a:t>=&gt;</a:t>
            </a:r>
            <a:br/>
            <a:r>
              <a:rPr>
                <a:latin typeface="Courier"/>
              </a:rPr>
              <a:t>s</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a:t>
            </a:r>
            <a:r>
              <a:rPr>
                <a:solidFill>
                  <a:srgbClr val="666666"/>
                </a:solidFill>
                <a:latin typeface="Courier"/>
              </a:rPr>
              <a:t>)(</a:t>
            </a:r>
            <a:r>
              <a:rPr>
                <a:solidFill>
                  <a:srgbClr val="40A070"/>
                </a:solidFill>
                <a:latin typeface="Courier"/>
              </a:rPr>
              <a:t>0</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a:t>
            </a:r>
            <a:r>
              <a:rPr>
                <a:solidFill>
                  <a:srgbClr val="666666"/>
                </a:solidFill>
                <a:latin typeface="Courier"/>
              </a:rPr>
              <a:t>)</a:t>
            </a:r>
            <a:br/>
            <a:r>
              <a:rPr i="1">
                <a:solidFill>
                  <a:srgbClr val="60A0B0"/>
                </a:solidFill>
                <a:latin typeface="Courier"/>
              </a:rPr>
              <a:t>// ...</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点和边操作：代码片段（3/7）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第一个运算符是innerJoin()</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actors </a:t>
            </a:r>
            <a:r>
              <a:rPr>
                <a:solidFill>
                  <a:srgbClr val="666666"/>
                </a:solidFill>
                <a:latin typeface="Courier"/>
              </a:rPr>
              <a:t>=</a:t>
            </a:r>
            <a:r>
              <a:rPr>
                <a:latin typeface="Courier"/>
              </a:rPr>
              <a:t> movieGraph</a:t>
            </a:r>
            <a:r>
              <a:rPr>
                <a:solidFill>
                  <a:srgbClr val="666666"/>
                </a:solidFill>
                <a:latin typeface="Courier"/>
              </a:rPr>
              <a:t>.</a:t>
            </a:r>
            <a:r>
              <a:rPr>
                <a:latin typeface="Courier"/>
              </a:rPr>
              <a:t>vertices</a:t>
            </a:r>
            <a:br/>
            <a:r>
              <a:rPr>
                <a:latin typeface="Courier"/>
              </a:rPr>
              <a:t>actors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VertexRDDImpl</a:t>
            </a:r>
            <a:r>
              <a:rPr>
                <a:solidFill>
                  <a:srgbClr val="666666"/>
                </a:solidFill>
                <a:latin typeface="Courier"/>
              </a:rPr>
              <a:t>[</a:t>
            </a:r>
            <a:r>
              <a:rPr>
                <a:solidFill>
                  <a:srgbClr val="40A070"/>
                </a:solidFill>
                <a:latin typeface="Courier"/>
              </a:rPr>
              <a:t>288</a:t>
            </a:r>
            <a:r>
              <a:rPr>
                <a:solidFill>
                  <a:srgbClr val="666666"/>
                </a:solidFill>
                <a:latin typeface="Courier"/>
              </a:rPr>
              <a:t>]</a:t>
            </a:r>
            <a:r>
              <a:rPr>
                <a:latin typeface="Courier"/>
              </a:rPr>
              <a:t> at RDD at VertexRDD</a:t>
            </a:r>
            <a:r>
              <a:rPr>
                <a:solidFill>
                  <a:srgbClr val="666666"/>
                </a:solidFill>
                <a:latin typeface="Courier"/>
              </a:rPr>
              <a:t>.</a:t>
            </a:r>
            <a:r>
              <a:rPr>
                <a:latin typeface="Courier"/>
              </a:rPr>
              <a:t>scala</a:t>
            </a:r>
            <a:r>
              <a:rPr>
                <a:solidFill>
                  <a:srgbClr val="666666"/>
                </a:solidFill>
                <a:latin typeface="Courier"/>
              </a:rPr>
              <a:t>:</a:t>
            </a:r>
            <a:r>
              <a:rPr>
                <a:solidFill>
                  <a:srgbClr val="40A070"/>
                </a:solidFill>
                <a:latin typeface="Courier"/>
              </a:rPr>
              <a:t>57</a:t>
            </a:r>
            <a:br/>
            <a:r>
              <a:rPr>
                <a:latin typeface="Courier"/>
              </a:rPr>
              <a:t>scala</a:t>
            </a:r>
            <a:r>
              <a:rPr>
                <a:solidFill>
                  <a:srgbClr val="666666"/>
                </a:solidFill>
                <a:latin typeface="Courier"/>
              </a:rPr>
              <a:t>&gt;</a:t>
            </a:r>
            <a:r>
              <a:rPr>
                <a:latin typeface="Courier"/>
              </a:rPr>
              <a:t> actors</a:t>
            </a:r>
            <a:r>
              <a:rPr>
                <a:solidFill>
                  <a:srgbClr val="666666"/>
                </a:solidFill>
                <a:latin typeface="Courier"/>
              </a:rPr>
              <a:t>.</a:t>
            </a:r>
            <a:r>
              <a:rPr>
                <a:solidFill>
                  <a:srgbClr val="06287E"/>
                </a:solidFill>
                <a:latin typeface="Courier"/>
              </a:rPr>
              <a:t>innerJoin</a:t>
            </a:r>
            <a:r>
              <a:rPr>
                <a:solidFill>
                  <a:srgbClr val="666666"/>
                </a:solidFill>
                <a:latin typeface="Courier"/>
              </a:rPr>
              <a:t>(</a:t>
            </a:r>
            <a:r>
              <a:rPr>
                <a:latin typeface="Courier"/>
              </a:rPr>
              <a:t>bio</a:t>
            </a:r>
            <a:r>
              <a:rPr>
                <a:solidFill>
                  <a:srgbClr val="666666"/>
                </a:solidFill>
                <a:latin typeface="Courier"/>
              </a:rPr>
              <a:t>)((</a:t>
            </a:r>
            <a:r>
              <a:rPr>
                <a:latin typeface="Courier"/>
              </a:rPr>
              <a:t>vid</a:t>
            </a:r>
            <a:r>
              <a:rPr>
                <a:solidFill>
                  <a:srgbClr val="666666"/>
                </a:solidFill>
                <a:latin typeface="Courier"/>
              </a:rPr>
              <a:t>,</a:t>
            </a:r>
            <a:r>
              <a:rPr>
                <a:latin typeface="Courier"/>
              </a:rPr>
              <a:t> name</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666666"/>
                </a:solidFill>
                <a:latin typeface="Courier"/>
              </a:rPr>
              <a:t>=&gt;</a:t>
            </a:r>
            <a:r>
              <a:rPr>
                <a:latin typeface="Courier"/>
              </a:rPr>
              <a:t> name </a:t>
            </a:r>
            <a:r>
              <a:rPr>
                <a:solidFill>
                  <a:srgbClr val="666666"/>
                </a:solidFill>
                <a:latin typeface="Courier"/>
              </a:rPr>
              <a:t>+</a:t>
            </a:r>
            <a:r>
              <a:rPr>
                <a:latin typeface="Courier"/>
              </a:rPr>
              <a:t> </a:t>
            </a:r>
            <a:r>
              <a:rPr>
                <a:solidFill>
                  <a:srgbClr val="4070A0"/>
                </a:solidFill>
                <a:latin typeface="Courier"/>
              </a:rPr>
              <a:t>" is from "</a:t>
            </a:r>
            <a:r>
              <a:rPr>
                <a:latin typeface="Courier"/>
              </a:rPr>
              <a:t> </a:t>
            </a:r>
            <a:r>
              <a:rPr>
                <a:solidFill>
                  <a:srgbClr val="666666"/>
                </a:solidFill>
                <a:latin typeface="Courier"/>
              </a:rPr>
              <a:t>+</a:t>
            </a:r>
            <a:br/>
            <a:r>
              <a:rPr>
                <a:latin typeface="Courier"/>
              </a:rPr>
              <a:t>b</a:t>
            </a:r>
            <a:r>
              <a:rPr>
                <a:solidFill>
                  <a:srgbClr val="666666"/>
                </a:solidFill>
                <a:latin typeface="Courier"/>
              </a:rPr>
              <a:t>.</a:t>
            </a:r>
            <a:r>
              <a:rPr>
                <a:latin typeface="Courier"/>
              </a:rPr>
              <a:t>hometown</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 is from Boston</a:t>
            </a:r>
            <a:r>
              <a:rPr>
                <a:solidFill>
                  <a:srgbClr val="666666"/>
                </a:solidFill>
                <a:latin typeface="Courier"/>
              </a:rPr>
              <a:t>,</a:t>
            </a:r>
            <a:r>
              <a:rPr>
                <a:latin typeface="Courier"/>
              </a:rPr>
              <a:t> MA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 is from NY City</a:t>
            </a:r>
            <a:r>
              <a:rPr>
                <a:solidFill>
                  <a:srgbClr val="666666"/>
                </a:solidFill>
                <a:latin typeface="Courier"/>
              </a:rPr>
              <a:t>,</a:t>
            </a:r>
            <a:r>
              <a:rPr>
                <a:latin typeface="Courier"/>
              </a:rPr>
              <a:t> NY</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 is from Coatzacoalcos</a:t>
            </a:r>
            <a:r>
              <a:rPr>
                <a:solidFill>
                  <a:srgbClr val="666666"/>
                </a:solidFill>
                <a:latin typeface="Courier"/>
              </a:rPr>
              <a:t>,</a:t>
            </a:r>
            <a:r>
              <a:rPr>
                <a:latin typeface="Courier"/>
              </a:rPr>
              <a:t> 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 is from Philadelphia</a:t>
            </a:r>
            <a:r>
              <a:rPr>
                <a:solidFill>
                  <a:srgbClr val="666666"/>
                </a:solidFill>
                <a:latin typeface="Courier"/>
              </a:rPr>
              <a:t>,</a:t>
            </a:r>
            <a:r>
              <a:rPr>
                <a:latin typeface="Courier"/>
              </a:rPr>
              <a:t> PA</a:t>
            </a:r>
            <a:r>
              <a:rPr>
                <a:solidFill>
                  <a:srgbClr val="666666"/>
                </a:solidFill>
                <a:latin typeface="Courier"/>
              </a:rPr>
              <a:t>,</a:t>
            </a:r>
            <a:r>
              <a:rPr>
                <a:latin typeface="Courier"/>
              </a:rPr>
              <a:t> USA</a:t>
            </a:r>
            <a:r>
              <a:rPr>
                <a:solidFill>
                  <a:srgbClr val="666666"/>
                </a:solidFill>
                <a:latin typeface="Courier"/>
              </a:rPr>
              <a: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点和边操作：代码片段（4/7）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第二个运算符leftJoin()类似于在Graph [VD</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a:latin typeface="Courier"/>
              </a:rPr>
              <a:t>actors</a:t>
            </a:r>
            <a:r>
              <a:rPr>
                <a:solidFill>
                  <a:srgbClr val="666666"/>
                </a:solidFill>
                <a:latin typeface="Courier"/>
              </a:rPr>
              <a:t>.</a:t>
            </a:r>
            <a:r>
              <a:rPr>
                <a:solidFill>
                  <a:srgbClr val="06287E"/>
                </a:solidFill>
                <a:latin typeface="Courier"/>
              </a:rPr>
              <a:t>leftJoin</a:t>
            </a:r>
            <a:r>
              <a:rPr>
                <a:solidFill>
                  <a:srgbClr val="666666"/>
                </a:solidFill>
                <a:latin typeface="Courier"/>
              </a:rPr>
              <a:t>(</a:t>
            </a:r>
            <a:r>
              <a:rPr>
                <a:latin typeface="Courier"/>
              </a:rPr>
              <a:t>bio</a:t>
            </a:r>
            <a:r>
              <a:rPr>
                <a:solidFill>
                  <a:srgbClr val="666666"/>
                </a:solidFill>
                <a:latin typeface="Courier"/>
              </a:rPr>
              <a:t>)((</a:t>
            </a:r>
            <a:r>
              <a:rPr>
                <a:latin typeface="Courier"/>
              </a:rPr>
              <a:t>vid</a:t>
            </a:r>
            <a:r>
              <a:rPr>
                <a:solidFill>
                  <a:srgbClr val="666666"/>
                </a:solidFill>
                <a:latin typeface="Courier"/>
              </a:rPr>
              <a:t>,</a:t>
            </a:r>
            <a:r>
              <a:rPr>
                <a:latin typeface="Courier"/>
              </a:rPr>
              <a:t> name</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666666"/>
                </a:solidFill>
                <a:latin typeface="Courier"/>
              </a:rPr>
              <a:t>=&gt;</a:t>
            </a:r>
            <a:r>
              <a:rPr>
                <a:latin typeface="Courier"/>
              </a:rPr>
              <a:t> b </a:t>
            </a:r>
            <a:r>
              <a:rPr b="1">
                <a:solidFill>
                  <a:srgbClr val="007020"/>
                </a:solidFill>
                <a:latin typeface="Courier"/>
              </a:rPr>
              <a:t>match</a:t>
            </a:r>
            <a:r>
              <a:rPr>
                <a:latin typeface="Courier"/>
              </a:rPr>
              <a:t> </a:t>
            </a:r>
            <a:r>
              <a:rPr>
                <a:solidFill>
                  <a:srgbClr val="666666"/>
                </a:solidFill>
                <a:latin typeface="Courier"/>
              </a:rPr>
              <a:t>{</a:t>
            </a:r>
            <a:br/>
            <a:r>
              <a:rPr b="1">
                <a:solidFill>
                  <a:srgbClr val="007020"/>
                </a:solidFill>
                <a:latin typeface="Courier"/>
              </a:rPr>
              <a:t>case</a:t>
            </a:r>
            <a:r>
              <a:rPr>
                <a:latin typeface="Courier"/>
              </a:rPr>
              <a:t> </a:t>
            </a:r>
            <a:r>
              <a:rPr>
                <a:solidFill>
                  <a:srgbClr val="008000"/>
                </a:solidFill>
                <a:latin typeface="Courier"/>
              </a:rPr>
              <a:t>Some</a:t>
            </a:r>
            <a:r>
              <a:rPr>
                <a:solidFill>
                  <a:srgbClr val="666666"/>
                </a:solidFill>
                <a:latin typeface="Courier"/>
              </a:rPr>
              <a:t>(</a:t>
            </a:r>
            <a:r>
              <a:rPr>
                <a:latin typeface="Courier"/>
              </a:rPr>
              <a:t>bio</a:t>
            </a:r>
            <a:r>
              <a:rPr>
                <a:solidFill>
                  <a:srgbClr val="666666"/>
                </a:solidFill>
                <a:latin typeface="Courier"/>
              </a:rPr>
              <a:t>)</a:t>
            </a:r>
            <a:r>
              <a:rPr>
                <a:latin typeface="Courier"/>
              </a:rPr>
              <a:t> </a:t>
            </a:r>
            <a:r>
              <a:rPr>
                <a:solidFill>
                  <a:srgbClr val="666666"/>
                </a:solidFill>
                <a:latin typeface="Courier"/>
              </a:rPr>
              <a:t>=&gt;</a:t>
            </a:r>
            <a:r>
              <a:rPr>
                <a:latin typeface="Courier"/>
              </a:rPr>
              <a:t> name </a:t>
            </a:r>
            <a:r>
              <a:rPr>
                <a:solidFill>
                  <a:srgbClr val="666666"/>
                </a:solidFill>
                <a:latin typeface="Courier"/>
              </a:rPr>
              <a:t>+</a:t>
            </a:r>
            <a:r>
              <a:rPr>
                <a:latin typeface="Courier"/>
              </a:rPr>
              <a:t> </a:t>
            </a:r>
            <a:r>
              <a:rPr>
                <a:solidFill>
                  <a:srgbClr val="4070A0"/>
                </a:solidFill>
                <a:latin typeface="Courier"/>
              </a:rPr>
              <a:t>" is from "</a:t>
            </a:r>
            <a:r>
              <a:rPr>
                <a:latin typeface="Courier"/>
              </a:rPr>
              <a:t> </a:t>
            </a:r>
            <a:r>
              <a:rPr>
                <a:solidFill>
                  <a:srgbClr val="666666"/>
                </a:solidFill>
                <a:latin typeface="Courier"/>
              </a:rPr>
              <a:t>+</a:t>
            </a:r>
            <a:r>
              <a:rPr>
                <a:latin typeface="Courier"/>
              </a:rPr>
              <a:t> bio</a:t>
            </a:r>
            <a:r>
              <a:rPr>
                <a:solidFill>
                  <a:srgbClr val="666666"/>
                </a:solidFill>
                <a:latin typeface="Courier"/>
              </a:rPr>
              <a:t>.</a:t>
            </a:r>
            <a:r>
              <a:rPr>
                <a:latin typeface="Courier"/>
              </a:rPr>
              <a:t>hometown</a:t>
            </a:r>
            <a:br/>
            <a:r>
              <a:rPr b="1">
                <a:solidFill>
                  <a:srgbClr val="007020"/>
                </a:solidFill>
                <a:latin typeface="Courier"/>
              </a:rPr>
              <a:t>case</a:t>
            </a:r>
            <a:r>
              <a:rPr>
                <a:latin typeface="Courier"/>
              </a:rPr>
              <a:t> </a:t>
            </a:r>
            <a:r>
              <a:rPr>
                <a:solidFill>
                  <a:srgbClr val="008000"/>
                </a:solidFill>
                <a:latin typeface="Courier"/>
              </a:rPr>
              <a:t>None</a:t>
            </a:r>
            <a:r>
              <a:rPr>
                <a:latin typeface="Courier"/>
              </a:rPr>
              <a:t> </a:t>
            </a:r>
            <a:r>
              <a:rPr>
                <a:solidFill>
                  <a:srgbClr val="666666"/>
                </a:solidFill>
                <a:latin typeface="Courier"/>
              </a:rPr>
              <a:t>=&gt;</a:t>
            </a:r>
            <a:r>
              <a:rPr>
                <a:latin typeface="Courier"/>
              </a:rPr>
              <a:t> name </a:t>
            </a:r>
            <a:r>
              <a:rPr>
                <a:solidFill>
                  <a:srgbClr val="666666"/>
                </a:solidFill>
                <a:latin typeface="Courier"/>
              </a:rPr>
              <a:t>+</a:t>
            </a:r>
            <a:r>
              <a:rPr>
                <a:latin typeface="Courier"/>
              </a:rPr>
              <a:t> </a:t>
            </a:r>
            <a:r>
              <a:rPr>
                <a:solidFill>
                  <a:srgbClr val="4070A0"/>
                </a:solidFill>
                <a:latin typeface="Courier"/>
              </a:rPr>
              <a:t>"\'s hometown is unknown"</a:t>
            </a:r>
            <a:b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i="1">
                <a:solidFill>
                  <a:srgbClr val="60A0B0"/>
                </a:solidFill>
                <a:latin typeface="Courier"/>
              </a:rPr>
              <a:t>// Exiting paste mode, now interpreting.</a:t>
            </a:r>
            <a:b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Will Smith is from Philadelphia</a:t>
            </a:r>
            <a:r>
              <a:rPr>
                <a:solidFill>
                  <a:srgbClr val="666666"/>
                </a:solidFill>
                <a:latin typeface="Courier"/>
              </a:rPr>
              <a:t>,</a:t>
            </a:r>
            <a:r>
              <a:rPr>
                <a:latin typeface="Courier"/>
              </a:rPr>
              <a:t> PA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Salma Hayek is from Coatzacoalcos</a:t>
            </a:r>
            <a:r>
              <a:rPr>
                <a:solidFill>
                  <a:srgbClr val="666666"/>
                </a:solidFill>
                <a:latin typeface="Courier"/>
              </a:rPr>
              <a:t>,</a:t>
            </a:r>
            <a:r>
              <a:rPr>
                <a:latin typeface="Courier"/>
              </a:rPr>
              <a:t> Veracruz</a:t>
            </a:r>
            <a:r>
              <a:rPr>
                <a:solidFill>
                  <a:srgbClr val="666666"/>
                </a:solidFill>
                <a:latin typeface="Courier"/>
              </a:rPr>
              <a:t>,</a:t>
            </a:r>
            <a:r>
              <a:rPr>
                <a:latin typeface="Courier"/>
              </a:rPr>
              <a:t> Mexico</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Julia Stiles is from NY City</a:t>
            </a:r>
            <a:r>
              <a:rPr>
                <a:solidFill>
                  <a:srgbClr val="666666"/>
                </a:solidFill>
                <a:latin typeface="Courier"/>
              </a:rPr>
              <a:t>,</a:t>
            </a:r>
            <a:r>
              <a:rPr>
                <a:latin typeface="Courier"/>
              </a:rPr>
              <a:t> NY</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Matt Damon is from Boston</a:t>
            </a:r>
            <a:r>
              <a:rPr>
                <a:solidFill>
                  <a:srgbClr val="666666"/>
                </a:solidFill>
                <a:latin typeface="Courier"/>
              </a:rPr>
              <a:t>,</a:t>
            </a:r>
            <a:r>
              <a:rPr>
                <a:latin typeface="Courier"/>
              </a:rPr>
              <a:t> MA</a:t>
            </a:r>
            <a:r>
              <a:rPr>
                <a:solidFill>
                  <a:srgbClr val="666666"/>
                </a:solidFill>
                <a:latin typeface="Courier"/>
              </a:rPr>
              <a:t>,</a:t>
            </a:r>
            <a:r>
              <a:rPr>
                <a:latin typeface="Courier"/>
              </a:rPr>
              <a:t> USA</a:t>
            </a:r>
            <a:r>
              <a:rPr>
                <a:solidFill>
                  <a:srgbClr val="666666"/>
                </a:solidFill>
                <a:latin typeface="Courier"/>
              </a:rPr>
              <a:t>)</a:t>
            </a:r>
            <a:b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George Clooney</a:t>
            </a:r>
            <a:r>
              <a:rPr b="1">
                <a:solidFill>
                  <a:srgbClr val="FF0000"/>
                </a:solidFill>
                <a:latin typeface="Courier"/>
              </a:rPr>
              <a:t>'</a:t>
            </a:r>
            <a:r>
              <a:rPr>
                <a:latin typeface="Courier"/>
              </a:rPr>
              <a:t>s hometown is unknown</a:t>
            </a:r>
            <a:r>
              <a:rPr>
                <a:solidFill>
                  <a:srgbClr val="666666"/>
                </a:solidFill>
                <a:latin typeface="Courier"/>
              </a:rPr>
              <a: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点和边操作：代码片段（5/7）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例如</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movies </a:t>
            </a:r>
            <a:r>
              <a:rPr>
                <a:solidFill>
                  <a:srgbClr val="666666"/>
                </a:solidFill>
                <a:latin typeface="Courier"/>
              </a:rPr>
              <a:t>=</a:t>
            </a:r>
            <a:r>
              <a:rPr>
                <a:latin typeface="Courier"/>
              </a:rPr>
              <a:t> movieGraph</a:t>
            </a:r>
            <a:r>
              <a:rPr>
                <a:solidFill>
                  <a:srgbClr val="666666"/>
                </a:solidFill>
                <a:latin typeface="Courier"/>
              </a:rPr>
              <a:t>.</a:t>
            </a:r>
            <a:r>
              <a:rPr>
                <a:latin typeface="Courier"/>
              </a:rPr>
              <a:t>edges</a:t>
            </a:r>
            <a:br/>
            <a:r>
              <a:rPr>
                <a:latin typeface="Courier"/>
              </a:rPr>
              <a:t>movies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EdgeRDDImpl</a:t>
            </a:r>
            <a:r>
              <a:rPr>
                <a:solidFill>
                  <a:srgbClr val="666666"/>
                </a:solidFill>
                <a:latin typeface="Courier"/>
              </a:rPr>
              <a:t>[</a:t>
            </a:r>
            <a:r>
              <a:rPr>
                <a:solidFill>
                  <a:srgbClr val="40A070"/>
                </a:solidFill>
                <a:latin typeface="Courier"/>
              </a:rPr>
              <a:t>290</a:t>
            </a:r>
            <a:r>
              <a:rPr>
                <a:solidFill>
                  <a:srgbClr val="666666"/>
                </a:solidFill>
                <a:latin typeface="Courier"/>
              </a:rPr>
              <a:t>]</a:t>
            </a:r>
            <a:br/>
            <a:r>
              <a:rPr>
                <a:latin typeface="Courier"/>
              </a:rPr>
              <a:t>at RDD at EdgeRDD</a:t>
            </a:r>
            <a:r>
              <a:rPr>
                <a:solidFill>
                  <a:srgbClr val="666666"/>
                </a:solidFill>
                <a:latin typeface="Courier"/>
              </a:rPr>
              <a:t>.</a:t>
            </a:r>
            <a:r>
              <a:rPr>
                <a:latin typeface="Courier"/>
              </a:rPr>
              <a:t>scala</a:t>
            </a:r>
            <a:r>
              <a:rPr>
                <a:solidFill>
                  <a:srgbClr val="666666"/>
                </a:solidFill>
                <a:latin typeface="Courier"/>
              </a:rPr>
              <a:t>:</a:t>
            </a:r>
            <a:r>
              <a:rPr>
                <a:solidFill>
                  <a:srgbClr val="40A070"/>
                </a:solidFill>
                <a:latin typeface="Courier"/>
              </a:rPr>
              <a:t>41</a:t>
            </a:r>
            <a:br/>
            <a:r>
              <a:rPr>
                <a:latin typeface="Courier"/>
              </a:rPr>
              <a:t>scala</a:t>
            </a:r>
            <a:r>
              <a:rPr>
                <a:solidFill>
                  <a:srgbClr val="666666"/>
                </a:solidFill>
                <a:latin typeface="Courier"/>
              </a:rPr>
              <a:t>&gt;</a:t>
            </a:r>
            <a:r>
              <a:rPr>
                <a:latin typeface="Courier"/>
              </a:rPr>
              <a:t> movies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Ocean</a:t>
            </a:r>
            <a:r>
              <a:rPr b="1">
                <a:solidFill>
                  <a:srgbClr val="FF0000"/>
                </a:solidFill>
                <a:latin typeface="Courier"/>
              </a:rPr>
              <a:t>'</a:t>
            </a:r>
            <a:r>
              <a:rPr>
                <a:latin typeface="Courier"/>
              </a:rPr>
              <a:t>s Eleven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Bourne Ultimatum</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Wild Wild West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The Legend of Bagger Vance</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From Dusk Till Dawn</a:t>
            </a:r>
            <a:r>
              <a:rPr>
                <a:solidFill>
                  <a:srgbClr val="666666"/>
                </a:solidFill>
                <a:latin typeface="Courie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点和边操作：代码片段（6/7）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然后</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bidirectedGraph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actors</a:t>
            </a:r>
            <a:r>
              <a:rPr>
                <a:solidFill>
                  <a:srgbClr val="666666"/>
                </a:solidFill>
                <a:latin typeface="Courier"/>
              </a:rPr>
              <a:t>,</a:t>
            </a:r>
            <a:r>
              <a:rPr>
                <a:latin typeface="Courier"/>
              </a:rPr>
              <a:t> movies union movies</a:t>
            </a:r>
            <a:r>
              <a:rPr>
                <a:solidFill>
                  <a:srgbClr val="666666"/>
                </a:solidFill>
                <a:latin typeface="Courier"/>
              </a:rPr>
              <a:t>.</a:t>
            </a:r>
            <a:r>
              <a:rPr>
                <a:latin typeface="Courier"/>
              </a:rPr>
              <a:t>reverse</a:t>
            </a:r>
            <a:r>
              <a:rPr>
                <a:solidFill>
                  <a:srgbClr val="666666"/>
                </a:solidFill>
                <a:latin typeface="Courier"/>
              </a:rPr>
              <a:t>)</a:t>
            </a:r>
            <a:br/>
            <a:r>
              <a:rPr>
                <a:latin typeface="Courier"/>
              </a:rPr>
              <a:t>bidirectedGraph</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String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152</a:t>
            </a:r>
            <a:r>
              <a:rPr>
                <a:latin typeface="Courier"/>
              </a:rPr>
              <a:t>c0025</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6.6.4 点和边操作：代码片段（7/7）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打印出新的边集合： 的执行步骤</a:t>
            </a:r>
          </a:p>
          <a:p>
            <a:pPr lvl="0" indent="0">
              <a:buNone/>
            </a:pPr>
            <a:r>
              <a:rPr>
                <a:latin typeface="Courier"/>
              </a:rPr>
              <a:t>scala</a:t>
            </a:r>
            <a:r>
              <a:rPr>
                <a:solidFill>
                  <a:srgbClr val="666666"/>
                </a:solidFill>
                <a:latin typeface="Courier"/>
              </a:rPr>
              <a:t>&gt;</a:t>
            </a:r>
            <a:r>
              <a:rPr>
                <a:latin typeface="Courier"/>
              </a:rPr>
              <a:t> bidirectedGraph</a:t>
            </a:r>
            <a:r>
              <a:rPr>
                <a:solidFill>
                  <a:srgbClr val="666666"/>
                </a:solidFill>
                <a:latin typeface="Courier"/>
              </a:rPr>
              <a:t>.</a:t>
            </a:r>
            <a:r>
              <a:rPr>
                <a:latin typeface="Courier"/>
              </a:rPr>
              <a:t>edges</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2</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Bourne Ultimatum</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From Dusk Till Dawn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Bourne Ultimatum</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From Dusk Till Dawn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Wild Wild West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Wild Wild West</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1</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Ocean</a:t>
            </a:r>
            <a:r>
              <a:rPr b="1">
                <a:solidFill>
                  <a:srgbClr val="FF0000"/>
                </a:solidFill>
                <a:latin typeface="Courier"/>
              </a:rPr>
              <a:t>'</a:t>
            </a:r>
            <a:r>
              <a:rPr>
                <a:latin typeface="Courier"/>
              </a:rPr>
              <a:t>s Eleven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Ocean</a:t>
            </a:r>
            <a:r>
              <a:rPr b="1">
                <a:solidFill>
                  <a:srgbClr val="FF0000"/>
                </a:solidFill>
                <a:latin typeface="Courier"/>
              </a:rPr>
              <a:t>'</a:t>
            </a:r>
            <a:r>
              <a:rPr>
                <a:latin typeface="Courier"/>
              </a:rPr>
              <a:t>s Eleven</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The Legend of Bagger Vance</a:t>
            </a:r>
            <a:r>
              <a:rPr>
                <a:solidFill>
                  <a:srgbClr val="666666"/>
                </a:solidFill>
                <a:latin typeface="Courier"/>
              </a:rPr>
              <a:t>)</a:t>
            </a:r>
            <a:br/>
            <a:r>
              <a:rPr>
                <a:solidFill>
                  <a:srgbClr val="06287E"/>
                </a:solidFill>
                <a:latin typeface="Courier"/>
              </a:rPr>
              <a:t>Edge</a:t>
            </a:r>
            <a:r>
              <a:rPr>
                <a:solidFill>
                  <a:srgbClr val="666666"/>
                </a:solidFill>
                <a:latin typeface="Courier"/>
              </a:rPr>
              <a:t>(</a:t>
            </a:r>
            <a:r>
              <a:rPr>
                <a:solidFill>
                  <a:srgbClr val="40A070"/>
                </a:solidFill>
                <a:latin typeface="Courier"/>
              </a:rPr>
              <a:t>4</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The Legend of Bagger Vance</a:t>
            </a:r>
            <a:r>
              <a:rPr>
                <a:solidFill>
                  <a:srgbClr val="666666"/>
                </a:solidFill>
                <a:latin typeface="Courier"/>
              </a:rPr>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两个运算符collectNeighborIds</a:t>
            </a:r>
          </a:p>
          <a:p>
            <a:pPr lvl="0"/>
            <a:r>
              <a:rPr/>
              <a:t>这两个方法通过属性图调用</a:t>
            </a:r>
          </a:p>
          <a:p>
            <a:pPr lvl="0"/>
            <a:r>
              <a:rPr/>
              <a:t>Edge.Direction.In：每个点仅收集具有传入链接的相邻属性</a:t>
            </a:r>
          </a:p>
          <a:p>
            <a:pPr lvl="0"/>
            <a:r>
              <a:rPr/>
              <a:t>Edge.Direction.Out：每个点仅收集具有传出链接的相邻属性</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Edge.Direction.Either：每个顶点都收集其所有邻居的属性</a:t>
            </a:r>
          </a:p>
          <a:p>
            <a:pPr lvl="0"/>
            <a:r>
              <a:rPr/>
              <a:t>Edge.Direction.Both：每个顶点都收集同时具有传入和传出链接的相邻属性</a:t>
            </a:r>
          </a:p>
          <a:p>
            <a:pPr lvl="0"/>
            <a:r>
              <a:rPr/>
              <a:t>代码 6‑87</a:t>
            </a:r>
          </a:p>
          <a:p>
            <a:pPr lvl="0"/>
            <a:r>
              <a:rPr/>
              <a:t>要创建新的调料网络，我们需要知道哪些成分共享某些合成物</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收集相邻信息：代码片段（1/7）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Edge.Direction.Both</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nodes </a:t>
            </a:r>
            <a:r>
              <a:rPr>
                <a:solidFill>
                  <a:srgbClr val="666666"/>
                </a:solidFill>
                <a:latin typeface="Courier"/>
              </a:rPr>
              <a:t>=</a:t>
            </a:r>
            <a:r>
              <a:rPr>
                <a:latin typeface="Courier"/>
              </a:rPr>
              <a:t> ingredients </a:t>
            </a:r>
            <a:r>
              <a:rPr>
                <a:solidFill>
                  <a:srgbClr val="666666"/>
                </a:solidFill>
                <a:latin typeface="Courier"/>
              </a:rPr>
              <a:t>++</a:t>
            </a:r>
            <a:r>
              <a:rPr>
                <a:latin typeface="Courier"/>
              </a:rPr>
              <a:t> compounds</a:t>
            </a:r>
            <a:br/>
            <a:r>
              <a:rPr>
                <a:latin typeface="Courier"/>
              </a:rPr>
              <a:t>nodes</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latin typeface="Courier"/>
              </a:rPr>
              <a:t>FNNode</a:t>
            </a:r>
            <a:r>
              <a:rPr>
                <a:solidFill>
                  <a:srgbClr val="666666"/>
                </a:solidFill>
                <a:latin typeface="Courier"/>
              </a:rPr>
              <a:t>)]</a:t>
            </a:r>
            <a:r>
              <a:rPr>
                <a:latin typeface="Courier"/>
              </a:rPr>
              <a:t> </a:t>
            </a:r>
            <a:r>
              <a:rPr>
                <a:solidFill>
                  <a:srgbClr val="666666"/>
                </a:solidFill>
                <a:latin typeface="Courier"/>
              </a:rPr>
              <a:t>=</a:t>
            </a:r>
            <a:r>
              <a:rPr>
                <a:latin typeface="Courier"/>
              </a:rPr>
              <a:t> UnionRDD</a:t>
            </a:r>
            <a:r>
              <a:rPr>
                <a:solidFill>
                  <a:srgbClr val="666666"/>
                </a:solidFill>
                <a:latin typeface="Courier"/>
              </a:rPr>
              <a:t>[</a:t>
            </a:r>
            <a:r>
              <a:rPr>
                <a:solidFill>
                  <a:srgbClr val="40A070"/>
                </a:solidFill>
                <a:latin typeface="Courier"/>
              </a:rPr>
              <a:t>345</a:t>
            </a:r>
            <a:r>
              <a:rPr>
                <a:solidFill>
                  <a:srgbClr val="666666"/>
                </a:solidFill>
                <a:latin typeface="Courier"/>
              </a:rPr>
              <a:t>]</a:t>
            </a:r>
            <a:r>
              <a:rPr>
                <a:latin typeface="Courier"/>
              </a:rPr>
              <a:t> at $plus$plus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36</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foodNetwork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nodes</a:t>
            </a:r>
            <a:r>
              <a:rPr>
                <a:solidFill>
                  <a:srgbClr val="666666"/>
                </a:solidFill>
                <a:latin typeface="Courier"/>
              </a:rPr>
              <a:t>,</a:t>
            </a:r>
            <a:r>
              <a:rPr>
                <a:latin typeface="Courier"/>
              </a:rPr>
              <a:t> links</a:t>
            </a:r>
            <a:r>
              <a:rPr>
                <a:solidFill>
                  <a:srgbClr val="666666"/>
                </a:solidFill>
                <a:latin typeface="Courier"/>
              </a:rPr>
              <a:t>)</a:t>
            </a:r>
            <a:br/>
            <a:r>
              <a:rPr>
                <a:latin typeface="Courier"/>
              </a:rPr>
              <a:t>foodNetwork</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FNNode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&lt;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176</a:t>
            </a:r>
            <a:r>
              <a:rPr>
                <a:latin typeface="Courier"/>
              </a:rPr>
              <a:t>ec7ba</a:t>
            </a:r>
            <a:r>
              <a:rPr>
                <a:solidFill>
                  <a:srgbClr val="666666"/>
                </a:solidFill>
                <a:latin typeface="Courier"/>
              </a:rPr>
              <a:t>&gt;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收集相邻信息：代码片段（2/7）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要创建新的调料网络</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similarIngr</a:t>
            </a:r>
            <a:r>
              <a:rPr>
                <a:solidFill>
                  <a:srgbClr val="666666"/>
                </a:solidFill>
                <a:latin typeface="Courier"/>
              </a:rPr>
              <a:t>:</a:t>
            </a:r>
            <a:r>
              <a:rPr>
                <a:latin typeface="Courier"/>
              </a:rPr>
              <a:t> RDD</a:t>
            </a:r>
            <a:r>
              <a:rPr>
                <a:solidFill>
                  <a:srgbClr val="666666"/>
                </a:solidFill>
                <a:latin typeface="Courier"/>
              </a:rPr>
              <a:t>[(</a:t>
            </a:r>
            <a:r>
              <a:rPr>
                <a:latin typeface="Courier"/>
              </a:rPr>
              <a:t>VertexId</a:t>
            </a:r>
            <a:r>
              <a:rPr>
                <a:solidFill>
                  <a:srgbClr val="666666"/>
                </a:solidFill>
                <a:latin typeface="Courier"/>
              </a:rPr>
              <a:t>,</a:t>
            </a:r>
            <a:r>
              <a:rPr>
                <a:latin typeface="Courier"/>
              </a:rPr>
              <a:t> Array</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br/>
            <a:r>
              <a:rPr>
                <a:latin typeface="Courier"/>
              </a:rPr>
              <a:t>foodNetwork</a:t>
            </a:r>
            <a:r>
              <a:rPr>
                <a:solidFill>
                  <a:srgbClr val="666666"/>
                </a:solidFill>
                <a:latin typeface="Courier"/>
              </a:rPr>
              <a:t>.</a:t>
            </a:r>
            <a:r>
              <a:rPr>
                <a:solidFill>
                  <a:srgbClr val="06287E"/>
                </a:solidFill>
                <a:latin typeface="Courier"/>
              </a:rPr>
              <a:t>collectNeighborIds</a:t>
            </a:r>
            <a:r>
              <a:rPr>
                <a:solidFill>
                  <a:srgbClr val="666666"/>
                </a:solidFill>
                <a:latin typeface="Courier"/>
              </a:rPr>
              <a:t>(</a:t>
            </a:r>
            <a:r>
              <a:rPr>
                <a:latin typeface="Courier"/>
              </a:rPr>
              <a:t>EdgeDirection</a:t>
            </a:r>
            <a:r>
              <a:rPr>
                <a:solidFill>
                  <a:srgbClr val="666666"/>
                </a:solidFill>
                <a:latin typeface="Courier"/>
              </a:rPr>
              <a:t>.</a:t>
            </a:r>
            <a:r>
              <a:rPr>
                <a:latin typeface="Courier"/>
              </a:rPr>
              <a:t>In</a:t>
            </a:r>
            <a:r>
              <a:rPr>
                <a:solidFill>
                  <a:srgbClr val="666666"/>
                </a:solidFill>
                <a:latin typeface="Courier"/>
              </a:rPr>
              <a:t>)</a:t>
            </a:r>
            <a:br/>
            <a:r>
              <a:rPr>
                <a:latin typeface="Courier"/>
              </a:rPr>
              <a:t>similarIngr</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latin typeface="Courier"/>
              </a:rPr>
              <a:t>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latin typeface="Courier"/>
              </a:rPr>
              <a:t> </a:t>
            </a:r>
            <a:r>
              <a:rPr>
                <a:solidFill>
                  <a:srgbClr val="666666"/>
                </a:solidFill>
                <a:latin typeface="Courier"/>
              </a:rPr>
              <a:t>=</a:t>
            </a:r>
            <a:r>
              <a:rPr>
                <a:latin typeface="Courier"/>
              </a:rPr>
              <a:t> VertexRDDImpl</a:t>
            </a:r>
            <a:r>
              <a:rPr>
                <a:solidFill>
                  <a:srgbClr val="666666"/>
                </a:solidFill>
                <a:latin typeface="Courier"/>
              </a:rPr>
              <a:t>[</a:t>
            </a:r>
            <a:r>
              <a:rPr>
                <a:solidFill>
                  <a:srgbClr val="40A070"/>
                </a:solidFill>
                <a:latin typeface="Courier"/>
              </a:rPr>
              <a:t>363</a:t>
            </a:r>
            <a:r>
              <a:rPr>
                <a:solidFill>
                  <a:srgbClr val="666666"/>
                </a:solidFill>
                <a:latin typeface="Courier"/>
              </a:rPr>
              <a:t>]</a:t>
            </a:r>
            <a:r>
              <a:rPr>
                <a:latin typeface="Courier"/>
              </a:rPr>
              <a:t> at</a:t>
            </a:r>
            <a:br/>
            <a:r>
              <a:rPr>
                <a:latin typeface="Courier"/>
              </a:rPr>
              <a:t>RDD at VertexRDD</a:t>
            </a:r>
            <a:r>
              <a:rPr>
                <a:solidFill>
                  <a:srgbClr val="666666"/>
                </a:solidFill>
                <a:latin typeface="Courier"/>
              </a:rPr>
              <a:t>.</a:t>
            </a:r>
            <a:r>
              <a:rPr>
                <a:latin typeface="Courier"/>
              </a:rPr>
              <a:t>scala</a:t>
            </a:r>
            <a:r>
              <a:rPr>
                <a:solidFill>
                  <a:srgbClr val="666666"/>
                </a:solidFill>
                <a:latin typeface="Courier"/>
              </a:rPr>
              <a:t>:</a:t>
            </a:r>
            <a:r>
              <a:rPr>
                <a:solidFill>
                  <a:srgbClr val="40A070"/>
                </a:solidFill>
                <a:latin typeface="Courier"/>
              </a:rPr>
              <a:t>57</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收集相邻信息：代码片段（3/7）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接下来</a:t>
            </a:r>
          </a:p>
          <a:p>
            <a:pPr lvl="0" indent="0">
              <a:buNone/>
            </a:pP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br/>
            <a:r>
              <a:rPr b="1">
                <a:solidFill>
                  <a:srgbClr val="007020"/>
                </a:solidFill>
                <a:latin typeface="Courier"/>
              </a:rPr>
              <a:t>def</a:t>
            </a:r>
            <a:r>
              <a:rPr>
                <a:latin typeface="Courier"/>
              </a:rPr>
              <a:t> </a:t>
            </a:r>
            <a:r>
              <a:rPr>
                <a:solidFill>
                  <a:srgbClr val="06287E"/>
                </a:solidFill>
                <a:latin typeface="Courier"/>
              </a:rPr>
              <a:t>pairIngredients</a:t>
            </a:r>
            <a:r>
              <a:rPr>
                <a:solidFill>
                  <a:srgbClr val="666666"/>
                </a:solidFill>
                <a:latin typeface="Courier"/>
              </a:rPr>
              <a:t>(</a:t>
            </a:r>
            <a:r>
              <a:rPr>
                <a:latin typeface="Courier"/>
              </a:rPr>
              <a:t>ingPerComp</a:t>
            </a:r>
            <a:r>
              <a:rPr>
                <a:solidFill>
                  <a:srgbClr val="666666"/>
                </a:solidFill>
                <a:latin typeface="Courier"/>
              </a:rPr>
              <a:t>:</a:t>
            </a:r>
            <a:r>
              <a:rPr>
                <a:latin typeface="Courier"/>
              </a:rPr>
              <a:t> </a:t>
            </a:r>
            <a:r>
              <a:rPr>
                <a:solidFill>
                  <a:srgbClr val="666666"/>
                </a:solidFill>
                <a:latin typeface="Courier"/>
              </a:rPr>
              <a:t>(</a:t>
            </a:r>
            <a:r>
              <a:rPr>
                <a:latin typeface="Courier"/>
              </a:rPr>
              <a:t>VertexId</a:t>
            </a:r>
            <a:r>
              <a:rPr>
                <a:solidFill>
                  <a:srgbClr val="666666"/>
                </a:solidFill>
                <a:latin typeface="Courier"/>
              </a:rPr>
              <a:t>,</a:t>
            </a:r>
            <a:r>
              <a:rPr>
                <a:latin typeface="Courier"/>
              </a:rPr>
              <a:t> Array</a:t>
            </a:r>
            <a:r>
              <a:rPr>
                <a:solidFill>
                  <a:srgbClr val="666666"/>
                </a:solidFill>
                <a:latin typeface="Courier"/>
              </a:rPr>
              <a:t>[</a:t>
            </a:r>
            <a:r>
              <a:rPr>
                <a:latin typeface="Courier"/>
              </a:rPr>
              <a:t>VertexId</a:t>
            </a:r>
            <a:r>
              <a:rPr>
                <a:solidFill>
                  <a:srgbClr val="666666"/>
                </a:solidFill>
                <a:latin typeface="Courier"/>
              </a:rPr>
              <a:t>])):</a:t>
            </a:r>
            <a:br/>
            <a:r>
              <a:rPr>
                <a:solidFill>
                  <a:srgbClr val="008000"/>
                </a:solidFill>
                <a:latin typeface="Courier"/>
              </a:rPr>
              <a:t>Seq</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b="1">
                <a:solidFill>
                  <a:srgbClr val="007020"/>
                </a:solidFill>
                <a:latin typeface="Courier"/>
              </a:rPr>
              <a:t>for</a:t>
            </a:r>
            <a:r>
              <a:rPr>
                <a:latin typeface="Courier"/>
              </a:rPr>
              <a:t> </a:t>
            </a:r>
            <a:r>
              <a:rPr>
                <a:solidFill>
                  <a:srgbClr val="666666"/>
                </a:solidFill>
                <a:latin typeface="Courier"/>
              </a:rPr>
              <a:t>{</a:t>
            </a:r>
            <a:br/>
            <a:r>
              <a:rPr>
                <a:latin typeface="Courier"/>
              </a:rPr>
              <a:t>x </a:t>
            </a:r>
            <a:r>
              <a:rPr>
                <a:solidFill>
                  <a:srgbClr val="666666"/>
                </a:solidFill>
                <a:latin typeface="Courier"/>
              </a:rPr>
              <a:t>&lt;-</a:t>
            </a:r>
            <a:r>
              <a:rPr>
                <a:latin typeface="Courier"/>
              </a:rPr>
              <a:t> ingPerComp</a:t>
            </a:r>
            <a:r>
              <a:rPr>
                <a:solidFill>
                  <a:srgbClr val="666666"/>
                </a:solidFill>
                <a:latin typeface="Courier"/>
              </a:rPr>
              <a:t>.</a:t>
            </a:r>
            <a:r>
              <a:rPr>
                <a:latin typeface="Courier"/>
              </a:rPr>
              <a:t>_2</a:t>
            </a:r>
            <a:br/>
            <a:r>
              <a:rPr>
                <a:latin typeface="Courier"/>
              </a:rPr>
              <a:t>y </a:t>
            </a:r>
            <a:r>
              <a:rPr>
                <a:solidFill>
                  <a:srgbClr val="666666"/>
                </a:solidFill>
                <a:latin typeface="Courier"/>
              </a:rPr>
              <a:t>&lt;-</a:t>
            </a:r>
            <a:r>
              <a:rPr>
                <a:latin typeface="Courier"/>
              </a:rPr>
              <a:t> ingPerComp</a:t>
            </a:r>
            <a:r>
              <a:rPr>
                <a:solidFill>
                  <a:srgbClr val="666666"/>
                </a:solidFill>
                <a:latin typeface="Courier"/>
              </a:rPr>
              <a:t>.</a:t>
            </a:r>
            <a:r>
              <a:rPr>
                <a:latin typeface="Courier"/>
              </a:rPr>
              <a:t>_2</a:t>
            </a:r>
            <a:br/>
            <a:r>
              <a:rPr b="1">
                <a:solidFill>
                  <a:srgbClr val="007020"/>
                </a:solidFill>
                <a:latin typeface="Courier"/>
              </a:rPr>
              <a:t>if</a:t>
            </a:r>
            <a:r>
              <a:rPr>
                <a:latin typeface="Courier"/>
              </a:rPr>
              <a:t> x </a:t>
            </a:r>
            <a:r>
              <a:rPr>
                <a:solidFill>
                  <a:srgbClr val="666666"/>
                </a:solidFill>
                <a:latin typeface="Courier"/>
              </a:rPr>
              <a:t>!=</a:t>
            </a:r>
            <a:r>
              <a:rPr>
                <a:latin typeface="Courier"/>
              </a:rPr>
              <a:t> y</a:t>
            </a:r>
            <a:br/>
            <a:r>
              <a:rPr>
                <a:solidFill>
                  <a:srgbClr val="666666"/>
                </a:solidFill>
                <a:latin typeface="Courier"/>
              </a:rPr>
              <a:t>}</a:t>
            </a:r>
            <a:r>
              <a:rPr>
                <a:latin typeface="Courier"/>
              </a:rPr>
              <a:t> </a:t>
            </a:r>
            <a:r>
              <a:rPr b="1">
                <a:solidFill>
                  <a:srgbClr val="007020"/>
                </a:solidFill>
                <a:latin typeface="Courier"/>
              </a:rPr>
              <a:t>yield</a:t>
            </a:r>
            <a:r>
              <a:rPr>
                <a:latin typeface="Courier"/>
              </a:rPr>
              <a:t> </a:t>
            </a:r>
            <a:r>
              <a:rPr>
                <a:solidFill>
                  <a:srgbClr val="06287E"/>
                </a:solidFill>
                <a:latin typeface="Courier"/>
              </a:rPr>
              <a:t>Edge</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i="1">
                <a:solidFill>
                  <a:srgbClr val="60A0B0"/>
                </a:solidFill>
                <a:latin typeface="Courier"/>
              </a:rPr>
              <a:t>// Exiting paste mode, now interpreting.</a:t>
            </a:r>
            <a:br/>
            <a:r>
              <a:rPr>
                <a:latin typeface="Courier"/>
              </a:rPr>
              <a:t>pairIngredients</a:t>
            </a:r>
            <a:r>
              <a:rPr>
                <a:solidFill>
                  <a:srgbClr val="666666"/>
                </a:solidFill>
                <a:latin typeface="Courier"/>
              </a:rPr>
              <a:t>:</a:t>
            </a:r>
            <a:r>
              <a:rPr>
                <a:latin typeface="Courier"/>
              </a:rPr>
              <a:t> </a:t>
            </a:r>
            <a:r>
              <a:rPr>
                <a:solidFill>
                  <a:srgbClr val="666666"/>
                </a:solidFill>
                <a:latin typeface="Courier"/>
              </a:rPr>
              <a:t>(</a:t>
            </a:r>
            <a:r>
              <a:rPr>
                <a:latin typeface="Courier"/>
              </a:rPr>
              <a:t>ingPerComp</a:t>
            </a:r>
            <a:r>
              <a:rPr>
                <a:solidFill>
                  <a:srgbClr val="666666"/>
                </a:solidFill>
                <a:latin typeface="Courier"/>
              </a:rPr>
              <a:t>:</a:t>
            </a:r>
            <a:r>
              <a:rPr>
                <a:latin typeface="Courier"/>
              </a:rPr>
              <a:t> </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br/>
            <a:r>
              <a:rPr>
                <a:latin typeface="Courier"/>
              </a:rPr>
              <a:t>Array</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VertexId</a:t>
            </a:r>
            <a:r>
              <a:rPr>
                <a:solidFill>
                  <a:srgbClr val="666666"/>
                </a:solidFill>
                <a:latin typeface="Courier"/>
              </a:rPr>
              <a:t>]))</a:t>
            </a:r>
            <a:r>
              <a:rPr>
                <a:solidFill>
                  <a:srgbClr val="008000"/>
                </a:solidFill>
                <a:latin typeface="Courier"/>
              </a:rPr>
              <a:t>Seq</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收集相邻信息：代码片段（4/7）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一旦有了这些信息</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flavorPairsRDD</a:t>
            </a:r>
            <a:r>
              <a:rPr>
                <a:solidFill>
                  <a:srgbClr val="666666"/>
                </a:solidFill>
                <a:latin typeface="Courier"/>
              </a:rPr>
              <a:t>:</a:t>
            </a:r>
            <a:r>
              <a:rPr>
                <a:latin typeface="Courier"/>
              </a:rPr>
              <a:t> RDD</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similarIngr flatMap</a:t>
            </a:r>
            <a:br/>
            <a:r>
              <a:rPr>
                <a:latin typeface="Courier"/>
              </a:rPr>
              <a:t>pairIngredients</a:t>
            </a:r>
            <a:br/>
            <a:r>
              <a:rPr>
                <a:latin typeface="Courier"/>
              </a:rPr>
              <a:t>flavorPairsRDD</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Edge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latin typeface="Courier"/>
              </a:rPr>
              <a:t>MapPartitionsRDD</a:t>
            </a:r>
            <a:r>
              <a:rPr>
                <a:solidFill>
                  <a:srgbClr val="666666"/>
                </a:solidFill>
                <a:latin typeface="Courier"/>
              </a:rPr>
              <a:t>[</a:t>
            </a:r>
            <a:r>
              <a:rPr>
                <a:solidFill>
                  <a:srgbClr val="40A070"/>
                </a:solidFill>
                <a:latin typeface="Courier"/>
              </a:rPr>
              <a:t>364</a:t>
            </a:r>
            <a:r>
              <a:rPr>
                <a:solidFill>
                  <a:srgbClr val="666666"/>
                </a:solidFill>
                <a:latin typeface="Courier"/>
              </a:rPr>
              <a:t>]</a:t>
            </a:r>
            <a:r>
              <a:rPr>
                <a:latin typeface="Courier"/>
              </a:rPr>
              <a:t> at flatMap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36</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收集相邻信息：代码片段（5/7）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最后，我们可以创建新的调料网络：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flavorNetwork </a:t>
            </a:r>
            <a:r>
              <a:rPr>
                <a:solidFill>
                  <a:srgbClr val="666666"/>
                </a:solidFill>
                <a:latin typeface="Courier"/>
              </a:rPr>
              <a:t>=</a:t>
            </a:r>
            <a:r>
              <a:rPr>
                <a:latin typeface="Courier"/>
              </a:rPr>
              <a:t> </a:t>
            </a:r>
            <a:r>
              <a:rPr>
                <a:solidFill>
                  <a:srgbClr val="06287E"/>
                </a:solidFill>
                <a:latin typeface="Courier"/>
              </a:rPr>
              <a:t>Graph</a:t>
            </a:r>
            <a:r>
              <a:rPr>
                <a:solidFill>
                  <a:srgbClr val="666666"/>
                </a:solidFill>
                <a:latin typeface="Courier"/>
              </a:rPr>
              <a:t>(</a:t>
            </a:r>
            <a:r>
              <a:rPr>
                <a:latin typeface="Courier"/>
              </a:rPr>
              <a:t>ingredients</a:t>
            </a:r>
            <a:r>
              <a:rPr>
                <a:solidFill>
                  <a:srgbClr val="666666"/>
                </a:solidFill>
                <a:latin typeface="Courier"/>
              </a:rPr>
              <a:t>,</a:t>
            </a:r>
            <a:r>
              <a:rPr>
                <a:latin typeface="Courier"/>
              </a:rPr>
              <a:t> flavorPairsRDD</a:t>
            </a:r>
            <a:r>
              <a:rPr>
                <a:solidFill>
                  <a:srgbClr val="666666"/>
                </a:solidFill>
                <a:latin typeface="Courier"/>
              </a:rPr>
              <a:t>).</a:t>
            </a:r>
            <a:r>
              <a:rPr>
                <a:latin typeface="Courier"/>
              </a:rPr>
              <a:t>cache</a:t>
            </a:r>
            <a:br/>
            <a:r>
              <a:rPr>
                <a:latin typeface="Courier"/>
              </a:rPr>
              <a:t>flavorNetwork</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FNNode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&lt;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38</a:t>
            </a:r>
            <a:r>
              <a:rPr>
                <a:latin typeface="Courier"/>
              </a:rPr>
              <a:t>ffea9f</a:t>
            </a:r>
            <a:r>
              <a:rPr>
                <a:solidFill>
                  <a:srgbClr val="666666"/>
                </a:solidFill>
                <a:latin typeface="Courier"/>
              </a:rPr>
              <a:t>&gt;</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收集相邻信息：代码片段（6/7）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先打印 flavorNetwork 中的前 5 个三元组</a:t>
            </a:r>
          </a:p>
          <a:p>
            <a:pPr lvl="0" indent="0">
              <a:buNone/>
            </a:pPr>
            <a:r>
              <a:rPr>
                <a:latin typeface="Courier"/>
              </a:rPr>
              <a:t>scala</a:t>
            </a:r>
            <a:r>
              <a:rPr>
                <a:solidFill>
                  <a:srgbClr val="666666"/>
                </a:solidFill>
                <a:latin typeface="Courier"/>
              </a:rPr>
              <a:t>&gt;</a:t>
            </a:r>
            <a:r>
              <a:rPr>
                <a:latin typeface="Courier"/>
              </a:rPr>
              <a:t> flavorNetwork</a:t>
            </a:r>
            <a:r>
              <a:rPr>
                <a:solidFill>
                  <a:srgbClr val="666666"/>
                </a:solidFill>
                <a:latin typeface="Courier"/>
              </a:rPr>
              <a:t>.</a:t>
            </a:r>
            <a:r>
              <a:rPr>
                <a:latin typeface="Courier"/>
              </a:rPr>
              <a:t>triplets</a:t>
            </a:r>
            <a:r>
              <a:rPr>
                <a:solidFill>
                  <a:srgbClr val="666666"/>
                </a:solidFill>
                <a:latin typeface="Courier"/>
              </a:rPr>
              <a:t>.</a:t>
            </a:r>
            <a:r>
              <a:rPr>
                <a:solidFill>
                  <a:srgbClr val="06287E"/>
                </a:solidFill>
                <a:latin typeface="Courier"/>
              </a:rPr>
              <a:t>take</a:t>
            </a:r>
            <a:r>
              <a:rPr>
                <a:solidFill>
                  <a:srgbClr val="666666"/>
                </a:solidFill>
                <a:latin typeface="Courier"/>
              </a:rPr>
              <a:t>(</a:t>
            </a:r>
            <a:r>
              <a:rPr>
                <a:solidFill>
                  <a:srgbClr val="40A070"/>
                </a:solidFill>
                <a:latin typeface="Courier"/>
              </a:rPr>
              <a:t>5</a:t>
            </a:r>
            <a:r>
              <a:rPr>
                <a:solidFill>
                  <a:srgbClr val="666666"/>
                </a:solidFill>
                <a:latin typeface="Courier"/>
              </a:rPr>
              <a:t>).</a:t>
            </a:r>
            <a:r>
              <a:rPr>
                <a:solidFill>
                  <a:srgbClr val="06287E"/>
                </a:solidFill>
                <a:latin typeface="Courier"/>
              </a:rPr>
              <a:t>foreach</a:t>
            </a:r>
            <a:r>
              <a:rPr>
                <a:solidFill>
                  <a:srgbClr val="666666"/>
                </a:solidFill>
                <a:latin typeface="Courier"/>
              </a:rPr>
              <a:t>(</a:t>
            </a:r>
            <a:r>
              <a:rPr>
                <a:latin typeface="Courier"/>
              </a:rPr>
              <a:t>println</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mackerel</a:t>
            </a:r>
            <a:r>
              <a:rPr>
                <a:solidFill>
                  <a:srgbClr val="666666"/>
                </a:solidFill>
                <a:latin typeface="Courier"/>
              </a:rPr>
              <a:t>,</a:t>
            </a:r>
            <a:r>
              <a:rPr>
                <a:latin typeface="Courier"/>
              </a:rPr>
              <a:t>fish</a:t>
            </a:r>
            <a:r>
              <a:rPr>
                <a:solidFill>
                  <a:srgbClr val="666666"/>
                </a:solidFill>
                <a:latin typeface="Courier"/>
              </a:rPr>
              <a:t>/</a:t>
            </a:r>
            <a:r>
              <a:rPr>
                <a:latin typeface="Courier"/>
              </a:rPr>
              <a:t>seafood</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peanut_butter</a:t>
            </a:r>
            <a:r>
              <a:rPr>
                <a:solidFill>
                  <a:srgbClr val="666666"/>
                </a:solidFill>
                <a:latin typeface="Courier"/>
              </a:rPr>
              <a:t>,</a:t>
            </a:r>
            <a:r>
              <a:rPr>
                <a:latin typeface="Courier"/>
              </a:rPr>
              <a:t>plant</a:t>
            </a:r>
            <a:br/>
            <a:r>
              <a:rPr>
                <a:latin typeface="Courier"/>
              </a:rPr>
              <a:t>derivative</a:t>
            </a:r>
            <a:r>
              <a:rPr>
                <a:solidFill>
                  <a:srgbClr val="666666"/>
                </a:solidFill>
                <a:latin typeface="Courier"/>
              </a:rPr>
              <a:t>)),</a:t>
            </a:r>
            <a:r>
              <a:rPr>
                <a:solidFill>
                  <a:srgbClr val="40A070"/>
                </a:solidFill>
                <a:latin typeface="Courier"/>
              </a:rPr>
              <a:t>1</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mackerel</a:t>
            </a:r>
            <a:r>
              <a:rPr>
                <a:solidFill>
                  <a:srgbClr val="666666"/>
                </a:solidFill>
                <a:latin typeface="Courier"/>
              </a:rPr>
              <a:t>,</a:t>
            </a:r>
            <a:r>
              <a:rPr>
                <a:latin typeface="Courier"/>
              </a:rPr>
              <a:t>fish</a:t>
            </a:r>
            <a:r>
              <a:rPr>
                <a:solidFill>
                  <a:srgbClr val="666666"/>
                </a:solidFill>
                <a:latin typeface="Courier"/>
              </a:rPr>
              <a:t>/</a:t>
            </a:r>
            <a:r>
              <a:rPr>
                <a:latin typeface="Courier"/>
              </a:rPr>
              <a:t>seafood</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peanut_butter</a:t>
            </a:r>
            <a:r>
              <a:rPr>
                <a:solidFill>
                  <a:srgbClr val="666666"/>
                </a:solidFill>
                <a:latin typeface="Courier"/>
              </a:rPr>
              <a:t>,</a:t>
            </a:r>
            <a:r>
              <a:rPr>
                <a:latin typeface="Courier"/>
              </a:rPr>
              <a:t>plant</a:t>
            </a:r>
            <a:br/>
            <a:r>
              <a:rPr>
                <a:latin typeface="Courier"/>
              </a:rPr>
              <a:t>derivative</a:t>
            </a:r>
            <a:r>
              <a:rPr>
                <a:solidFill>
                  <a:srgbClr val="666666"/>
                </a:solidFill>
                <a:latin typeface="Courier"/>
              </a:rPr>
              <a:t>)),</a:t>
            </a:r>
            <a:r>
              <a:rPr>
                <a:solidFill>
                  <a:srgbClr val="40A070"/>
                </a:solidFill>
                <a:latin typeface="Courier"/>
              </a:rPr>
              <a:t>1</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mackerel</a:t>
            </a:r>
            <a:r>
              <a:rPr>
                <a:solidFill>
                  <a:srgbClr val="666666"/>
                </a:solidFill>
                <a:latin typeface="Courier"/>
              </a:rPr>
              <a:t>,</a:t>
            </a:r>
            <a:r>
              <a:rPr>
                <a:latin typeface="Courier"/>
              </a:rPr>
              <a:t>fish</a:t>
            </a:r>
            <a:r>
              <a:rPr>
                <a:solidFill>
                  <a:srgbClr val="666666"/>
                </a:solidFill>
                <a:latin typeface="Courier"/>
              </a:rPr>
              <a:t>/</a:t>
            </a:r>
            <a:r>
              <a:rPr>
                <a:latin typeface="Courier"/>
              </a:rPr>
              <a:t>seafood</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peanut_butter</a:t>
            </a:r>
            <a:r>
              <a:rPr>
                <a:solidFill>
                  <a:srgbClr val="666666"/>
                </a:solidFill>
                <a:latin typeface="Courier"/>
              </a:rPr>
              <a:t>,</a:t>
            </a:r>
            <a:r>
              <a:rPr>
                <a:latin typeface="Courier"/>
              </a:rPr>
              <a:t>plant</a:t>
            </a:r>
            <a:br/>
            <a:r>
              <a:rPr>
                <a:latin typeface="Courier"/>
              </a:rPr>
              <a:t>derivative</a:t>
            </a:r>
            <a:r>
              <a:rPr>
                <a:solidFill>
                  <a:srgbClr val="666666"/>
                </a:solidFill>
                <a:latin typeface="Courier"/>
              </a:rPr>
              <a:t>)),</a:t>
            </a:r>
            <a:r>
              <a:rPr>
                <a:solidFill>
                  <a:srgbClr val="40A070"/>
                </a:solidFill>
                <a:latin typeface="Courier"/>
              </a:rPr>
              <a:t>1</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mackerel</a:t>
            </a:r>
            <a:r>
              <a:rPr>
                <a:solidFill>
                  <a:srgbClr val="666666"/>
                </a:solidFill>
                <a:latin typeface="Courier"/>
              </a:rPr>
              <a:t>,</a:t>
            </a:r>
            <a:r>
              <a:rPr>
                <a:latin typeface="Courier"/>
              </a:rPr>
              <a:t>fish</a:t>
            </a:r>
            <a:r>
              <a:rPr>
                <a:solidFill>
                  <a:srgbClr val="666666"/>
                </a:solidFill>
                <a:latin typeface="Courier"/>
              </a:rPr>
              <a:t>/</a:t>
            </a:r>
            <a:r>
              <a:rPr>
                <a:latin typeface="Courier"/>
              </a:rPr>
              <a:t>seafood</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peanut_butter</a:t>
            </a:r>
            <a:r>
              <a:rPr>
                <a:solidFill>
                  <a:srgbClr val="666666"/>
                </a:solidFill>
                <a:latin typeface="Courier"/>
              </a:rPr>
              <a:t>,</a:t>
            </a:r>
            <a:r>
              <a:rPr>
                <a:latin typeface="Courier"/>
              </a:rPr>
              <a:t>plant</a:t>
            </a:r>
            <a:br/>
            <a:r>
              <a:rPr>
                <a:latin typeface="Courier"/>
              </a:rPr>
              <a:t>derivative</a:t>
            </a:r>
            <a:r>
              <a:rPr>
                <a:solidFill>
                  <a:srgbClr val="666666"/>
                </a:solidFill>
                <a:latin typeface="Courier"/>
              </a:rPr>
              <a:t>)),</a:t>
            </a:r>
            <a:r>
              <a:rPr>
                <a:solidFill>
                  <a:srgbClr val="40A070"/>
                </a:solidFill>
                <a:latin typeface="Courier"/>
              </a:rPr>
              <a:t>1</a:t>
            </a:r>
            <a:r>
              <a:rPr>
                <a:solidFill>
                  <a:srgbClr val="666666"/>
                </a:solidFill>
                <a:latin typeface="Courier"/>
              </a:rPr>
              <a:t>)</a:t>
            </a:r>
            <a:br/>
            <a:r>
              <a:rPr>
                <a:solidFill>
                  <a:srgbClr val="666666"/>
                </a:solidFill>
                <a:latin typeface="Courier"/>
              </a:rPr>
              <a:t>((</a:t>
            </a:r>
            <a:r>
              <a:rPr>
                <a:solidFill>
                  <a:srgbClr val="40A070"/>
                </a:solidFill>
                <a:latin typeface="Courier"/>
              </a:rPr>
              <a:t>3</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mackerel</a:t>
            </a:r>
            <a:r>
              <a:rPr>
                <a:solidFill>
                  <a:srgbClr val="666666"/>
                </a:solidFill>
                <a:latin typeface="Courier"/>
              </a:rPr>
              <a:t>,</a:t>
            </a:r>
            <a:r>
              <a:rPr>
                <a:latin typeface="Courier"/>
              </a:rPr>
              <a:t>fish</a:t>
            </a:r>
            <a:r>
              <a:rPr>
                <a:solidFill>
                  <a:srgbClr val="666666"/>
                </a:solidFill>
                <a:latin typeface="Courier"/>
              </a:rPr>
              <a:t>/</a:t>
            </a:r>
            <a:r>
              <a:rPr>
                <a:latin typeface="Courier"/>
              </a:rPr>
              <a:t>seafood</a:t>
            </a:r>
            <a:r>
              <a:rPr>
                <a:solidFill>
                  <a:srgbClr val="666666"/>
                </a:solidFill>
                <a:latin typeface="Courier"/>
              </a:rPr>
              <a:t>)),(</a:t>
            </a:r>
            <a:r>
              <a:rPr>
                <a:solidFill>
                  <a:srgbClr val="40A070"/>
                </a:solidFill>
                <a:latin typeface="Courier"/>
              </a:rPr>
              <a:t>9</a:t>
            </a:r>
            <a:r>
              <a:rPr>
                <a:solidFill>
                  <a:srgbClr val="666666"/>
                </a:solidFill>
                <a:latin typeface="Courier"/>
              </a:rPr>
              <a:t>,</a:t>
            </a:r>
            <a:r>
              <a:rPr>
                <a:solidFill>
                  <a:srgbClr val="06287E"/>
                </a:solidFill>
                <a:latin typeface="Courier"/>
              </a:rPr>
              <a:t>Ingredient</a:t>
            </a:r>
            <a:r>
              <a:rPr>
                <a:solidFill>
                  <a:srgbClr val="666666"/>
                </a:solidFill>
                <a:latin typeface="Courier"/>
              </a:rPr>
              <a:t>(</a:t>
            </a:r>
            <a:r>
              <a:rPr>
                <a:latin typeface="Courier"/>
              </a:rPr>
              <a:t>peanut_butter</a:t>
            </a:r>
            <a:r>
              <a:rPr>
                <a:solidFill>
                  <a:srgbClr val="666666"/>
                </a:solidFill>
                <a:latin typeface="Courier"/>
              </a:rPr>
              <a:t>,</a:t>
            </a:r>
            <a:r>
              <a:rPr>
                <a:latin typeface="Courier"/>
              </a:rPr>
              <a:t>plant</a:t>
            </a:r>
            <a:br/>
            <a:r>
              <a:rPr>
                <a:latin typeface="Courier"/>
              </a:rPr>
              <a:t>derivative</a:t>
            </a:r>
            <a:r>
              <a:rPr>
                <a:solidFill>
                  <a:srgbClr val="666666"/>
                </a:solidFill>
                <a:latin typeface="Courier"/>
              </a:rPr>
              <a:t>)),</a:t>
            </a:r>
            <a:r>
              <a:rPr>
                <a:solidFill>
                  <a:srgbClr val="40A070"/>
                </a:solidFill>
                <a:latin typeface="Courier"/>
              </a:rPr>
              <a:t>1</a:t>
            </a:r>
            <a:r>
              <a:rPr>
                <a:solidFill>
                  <a:srgbClr val="666666"/>
                </a:solidFill>
                <a:latin typeface="Courier"/>
              </a:rPr>
              <a: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6.6.5 收集相邻信息：代码片段（7/7）</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显式指定分区器，让同键数据按规则落到对应分区</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flavorWeightedNetwork </a:t>
            </a:r>
            <a:r>
              <a:rPr>
                <a:solidFill>
                  <a:srgbClr val="666666"/>
                </a:solidFill>
                <a:latin typeface="Courier"/>
              </a:rPr>
              <a:t>=</a:t>
            </a:r>
            <a:br/>
            <a:r>
              <a:rPr>
                <a:latin typeface="Courier"/>
              </a:rPr>
              <a:t>flavorNetwork</a:t>
            </a:r>
            <a:r>
              <a:rPr>
                <a:solidFill>
                  <a:srgbClr val="666666"/>
                </a:solidFill>
                <a:latin typeface="Courier"/>
              </a:rPr>
              <a:t>.</a:t>
            </a:r>
            <a:r>
              <a:rPr>
                <a:solidFill>
                  <a:srgbClr val="06287E"/>
                </a:solidFill>
                <a:latin typeface="Courier"/>
              </a:rPr>
              <a:t>partitionBy</a:t>
            </a:r>
            <a:r>
              <a:rPr>
                <a:solidFill>
                  <a:srgbClr val="666666"/>
                </a:solidFill>
                <a:latin typeface="Courier"/>
              </a:rPr>
              <a:t>(</a:t>
            </a:r>
            <a:r>
              <a:rPr>
                <a:latin typeface="Courier"/>
              </a:rPr>
              <a:t>PartitionStrategy</a:t>
            </a:r>
            <a:r>
              <a:rPr>
                <a:solidFill>
                  <a:srgbClr val="666666"/>
                </a:solidFill>
                <a:latin typeface="Courier"/>
              </a:rPr>
              <a:t>.</a:t>
            </a:r>
            <a:r>
              <a:rPr>
                <a:latin typeface="Courier"/>
              </a:rPr>
              <a:t>EdgePartition2D</a:t>
            </a:r>
            <a:r>
              <a:rPr>
                <a:solidFill>
                  <a:srgbClr val="666666"/>
                </a:solidFill>
                <a:latin typeface="Courier"/>
              </a:rPr>
              <a:t>).</a:t>
            </a:r>
            <a:r>
              <a:rPr>
                <a:solidFill>
                  <a:srgbClr val="06287E"/>
                </a:solidFill>
                <a:latin typeface="Courier"/>
              </a:rPr>
              <a:t>groupEdges</a:t>
            </a:r>
            <a:r>
              <a:rPr>
                <a:solidFill>
                  <a:srgbClr val="666666"/>
                </a:solidFill>
                <a:latin typeface="Courier"/>
              </a:rPr>
              <a:t>((</a:t>
            </a:r>
            <a:r>
              <a:rPr>
                <a:latin typeface="Courier"/>
              </a:rPr>
              <a:t>x</a:t>
            </a:r>
            <a:r>
              <a:rPr>
                <a:solidFill>
                  <a:srgbClr val="666666"/>
                </a:solidFill>
                <a:latin typeface="Courier"/>
              </a:rPr>
              <a:t>,</a:t>
            </a:r>
            <a:br/>
            <a:r>
              <a:rPr>
                <a:latin typeface="Courier"/>
              </a:rPr>
              <a:t>y</a:t>
            </a:r>
            <a:r>
              <a:rPr>
                <a:solidFill>
                  <a:srgbClr val="666666"/>
                </a:solidFill>
                <a:latin typeface="Courier"/>
              </a:rPr>
              <a:t>)</a:t>
            </a:r>
            <a:r>
              <a:rPr>
                <a:latin typeface="Courier"/>
              </a:rPr>
              <a:t> </a:t>
            </a:r>
            <a:r>
              <a:rPr>
                <a:solidFill>
                  <a:srgbClr val="666666"/>
                </a:solidFill>
                <a:latin typeface="Courier"/>
              </a:rPr>
              <a:t>=&gt;</a:t>
            </a:r>
            <a:r>
              <a:rPr>
                <a:latin typeface="Courier"/>
              </a:rPr>
              <a:t> x </a:t>
            </a:r>
            <a:r>
              <a:rPr>
                <a:solidFill>
                  <a:srgbClr val="666666"/>
                </a:solidFill>
                <a:latin typeface="Courier"/>
              </a:rPr>
              <a:t>+</a:t>
            </a:r>
            <a:r>
              <a:rPr>
                <a:latin typeface="Courier"/>
              </a:rPr>
              <a:t> y</a:t>
            </a:r>
            <a:r>
              <a:rPr>
                <a:solidFill>
                  <a:srgbClr val="666666"/>
                </a:solidFill>
                <a:latin typeface="Courier"/>
              </a:rPr>
              <a:t>)</a:t>
            </a:r>
            <a:br/>
            <a:r>
              <a:rPr>
                <a:latin typeface="Courier"/>
              </a:rPr>
              <a:t>flavorWeightedNetwork</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Graph</a:t>
            </a:r>
            <a:r>
              <a:rPr>
                <a:solidFill>
                  <a:srgbClr val="666666"/>
                </a:solidFill>
                <a:latin typeface="Courier"/>
              </a:rPr>
              <a:t>[</a:t>
            </a:r>
            <a:r>
              <a:rPr>
                <a:latin typeface="Courier"/>
              </a:rPr>
              <a:t>FNNode</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b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graphx</a:t>
            </a:r>
            <a:r>
              <a:rPr>
                <a:solidFill>
                  <a:srgbClr val="666666"/>
                </a:solidFill>
                <a:latin typeface="Courier"/>
              </a:rPr>
              <a:t>.</a:t>
            </a:r>
            <a:r>
              <a:rPr>
                <a:latin typeface="Courier"/>
              </a:rPr>
              <a:t>impl</a:t>
            </a:r>
            <a:r>
              <a:rPr>
                <a:solidFill>
                  <a:srgbClr val="666666"/>
                </a:solidFill>
                <a:latin typeface="Courier"/>
              </a:rPr>
              <a:t>.</a:t>
            </a:r>
            <a:r>
              <a:rPr>
                <a:latin typeface="Courier"/>
              </a:rPr>
              <a:t>GraphImpl@</a:t>
            </a:r>
            <a:r>
              <a:rPr>
                <a:solidFill>
                  <a:srgbClr val="40A070"/>
                </a:solidFill>
                <a:latin typeface="Courier"/>
              </a:rPr>
              <a:t>7289694</a:t>
            </a:r>
            <a:r>
              <a:rPr>
                <a:latin typeface="Courier"/>
              </a:rPr>
              <a:t>e</a:t>
            </a:r>
            <a:br/>
            <a:r>
              <a:rPr>
                <a:latin typeface="Courier"/>
              </a:rPr>
              <a:t>scala</a:t>
            </a:r>
            <a:r>
              <a:rPr>
                <a:solidFill>
                  <a:srgbClr val="666666"/>
                </a:solidFill>
                <a:latin typeface="Courier"/>
              </a:rPr>
              <a:t>&gt;</a:t>
            </a:r>
            <a:r>
              <a:rPr>
                <a:latin typeface="Courier"/>
              </a:rPr>
              <a:t> </a:t>
            </a:r>
            <a:r>
              <a:rPr>
                <a:solidFill>
                  <a:srgbClr val="666666"/>
                </a:solidFill>
                <a:latin typeface="Courier"/>
              </a:rPr>
              <a:t>:</a:t>
            </a:r>
            <a:r>
              <a:rPr>
                <a:latin typeface="Courier"/>
              </a:rPr>
              <a:t>paste</a:t>
            </a:r>
            <a:br/>
            <a:r>
              <a:rPr i="1">
                <a:solidFill>
                  <a:srgbClr val="60A0B0"/>
                </a:solidFill>
                <a:latin typeface="Courier"/>
              </a:rPr>
              <a:t>// Entering paste mode (ctrl-D to finish)</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2026-04-05T02:25:11Z</dcterms:created>
  <dcterms:modified xsi:type="dcterms:W3CDTF">2026-04-05T02:25:11Z</dcterms:modified>
</cp:coreProperties>
</file>

<file path=docProps/custom.xml><?xml version="1.0" encoding="utf-8"?>
<Properties xmlns="http://schemas.openxmlformats.org/officeDocument/2006/custom-properties" xmlns:vt="http://schemas.openxmlformats.org/officeDocument/2006/docPropsVTypes"/>
</file>