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notesMaster" Target="notesMasters/notesMaster1.xml" /><Relationship Id="rId44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43" Type="http://schemas.openxmlformats.org/officeDocument/2006/relationships/theme" Target="theme/theme1.xml" /><Relationship Id="rId42" Type="http://schemas.openxmlformats.org/officeDocument/2006/relationships/viewProps" Target="viewProps.xml" /><Relationship Id="rId41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?>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?>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32.xml.rels><?xml version="1.0" encoding="UTF-8"?>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33.xml.rels><?xml version="1.0" encoding="UTF-8"?>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34.xml.rels><?xml version="1.0" encoding="UTF-8"?>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35.xml.rels><?xml version="1.0" encoding="UTF-8"?>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36.xml.rels><?xml version="1.0" encoding="UTF-8"?>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37.xml.rels><?xml version="1.0" encoding="UTF-8"?><Relationships xmlns="http://schemas.openxmlformats.org/package/2006/relationships"><Relationship Id="rId2" Type="http://schemas.openxmlformats.org/officeDocument/2006/relationships/slide" Target="../slides/slide37.xml" /><Relationship Id="rId1" Type="http://schemas.openxmlformats.org/officeDocument/2006/relationships/notesMaster" Target="../notesMasters/notesMaster1.xml" /></Relationships>
</file>

<file path=ppt/notesSlides/_rels/notesSlide38.xml.rels><?xml version="1.0" encoding="UTF-8"?>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在案例分析中，将使用飞行数据更详细地描述创建属性图的每一步，使用航班数据作为输入数据，机场是属性图中的点，路线是边。我们使用2014年1月的航班信息，对于每个航班，我们都有以下信息。 接下来会依次看 案例分析、定义点，以及 定义边，后面的实现和案例都会沿着这条线继续展开。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这一页先看前半段主线，重点包括 案例分析、定义点、定义边，以及 创建图。先把前面的入口和处理顺序放稳，后面再继续往下展开。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这一页补上后半段主线，重点包括 PageRank 和 Pregel。把这几步和前面的内容接起来，整节课的推进顺序就完整了。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在案例分析中，将使用飞行数据更详细地描述创建属性图的每一步，使用航班数据作为输入数据，机场是属性图中的点，路线是边。我们使用2014年1月的航班信息，对于每个航班，我们都有以下信息。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我们希望了解有出发或到达的机场的数量。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在案例分析中，将使用飞行数据更详细地描述创建属性图的每一步，使用航班数据作为输入数据，机场是属性图中的点，路线是边。我们使用2014年1月的航班信息，对于每个航班，我们都有以下信息。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先把表头对应的对象和维度说清楚，再指出哪些差异最大，以及这些差异能支持什么判断。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首先，我们将导入GraphX包。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下面我们使用Scala案例类来定义与CSV数据文件相对应的数据结构Flight。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下面的函数将数据文件中的一行解析为Flight类。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下面，我们将CSV文件中的数据加载到RDD中，使用first()动作返回RDD中的第一个元素。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这一句是在确定输入边界。讲的时候要说明数据来自哪里、现在进入了什么抽象对象，以及后面的转换是围绕哪个数据集继续推进的。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必须具有始发点(org_id:Long)和目标点(dest_id:Long)，并且可以具有属性距离(dist:Int)。边RDD具有的形式为(src_id, dest_id, dist）。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要创建属性图，需要具有点RDD、边RDD和一个默认顶点、// 定义图 和 代码 6‑119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代码 6‑120、有几条路线？ 和 代码 6‑121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连接操作的关键在于主键、外键和连接条件。讲的时候要说清楚两边各提供什么信息，以及接起来以后想补足哪部分业务语义。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是基于谷歌PageRank算法的。PageRank通过确定哪些顶点与其他顶点的边最多，来衡量图中每个顶点的重要性。在我们的示例中，我们可以使用PageRank测量哪些机场与其他机场的联系最多，来确定哪些机场最重要。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这一页先看 //获得前4个重要的机场，再看 代码 6‑128。把这两步连起来讲清楚，页面内容和后面的实现流程就能对上。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27</a:t>
            </a:fld>
            <a:endParaRPr lang="en-US"/>
          </a:p>
        </p:txBody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28</a:t>
            </a:fld>
            <a:endParaRPr lang="en-US"/>
          </a:p>
        </p:txBody>
      </p:sp>
    </p:spTree>
  </p:cSld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连接操作的关键在于主键、外键和连接条件。讲的时候要说清楚两边各提供什么信息，以及接起来以后想补足哪部分业务语义。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29</a:t>
            </a:fld>
            <a:endParaRPr lang="en-US"/>
          </a:p>
        </p:txBody>
      </p:sp>
    </p:spTree>
  </p:cSld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30</a:t>
            </a:fld>
            <a:endParaRPr lang="en-US"/>
          </a:p>
        </p:txBody>
      </p:sp>
    </p:spTree>
  </p:cSld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31</a:t>
            </a:fld>
            <a:endParaRPr lang="en-US"/>
          </a:p>
        </p:txBody>
      </p:sp>
    </p:spTree>
  </p:cSld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许多重要的图算法是迭代算法，因为点的性质取决于他们的邻居。GraphX实现了类似Pregel的批量同步消息传递API。使用GraphX中的Pregel实现时，点只能将消息发送到相邻的顶点。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下面的代码使用Pregel计算最便宜的机票，其中使用的公式为：50 +距离/ 20。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32</a:t>
            </a:fld>
            <a:endParaRPr lang="en-US"/>
          </a:p>
        </p:txBody>
      </p:sp>
    </p:spTree>
  </p:cSld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// 定义一个图，其中的边包含机票计算公式、// 初始化图，除了起始点，所以点都是距离无穷大 和 // 在图上调用pregel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33</a:t>
            </a:fld>
            <a:endParaRPr lang="en-US"/>
          </a:p>
        </p:txBody>
      </p:sp>
    </p:spTree>
  </p:cSld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34</a:t>
            </a:fld>
            <a:endParaRPr lang="en-US"/>
          </a:p>
        </p:txBody>
      </p:sp>
    </p:spTree>
  </p:cSld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35</a:t>
            </a:fld>
            <a:endParaRPr lang="en-US"/>
          </a:p>
        </p:txBody>
      </p:sp>
    </p:spTree>
  </p:cSld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36</a:t>
            </a:fld>
            <a:endParaRPr lang="en-US"/>
          </a:p>
        </p:txBody>
      </p:sp>
    </p:spTree>
  </p:cSld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37</a:t>
            </a:fld>
            <a:endParaRPr lang="en-US"/>
          </a:p>
        </p:txBody>
      </p:sp>
    </p:spTree>
  </p:cSld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许多重要的图算法是迭代算法，因为点的性质取决于他们的邻居。Pregel是谷歌研发的一种迭代图处理模型，使用图中点之间传递一系列消息迭代序列。GraphX实现了类似Pregel的批量同步消息传递API。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38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6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7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8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9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0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1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3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4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5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6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7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8.xml" /><Relationship Id="rId3" Type="http://schemas.openxmlformats.org/officeDocument/2006/relationships/image" Target="../media/image4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 案例分析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机场是属性图中的点，路线是边</a:t>
            </a:r>
          </a:p>
          <a:p>
            <a:pPr lvl="0"/>
            <a:r>
              <a:rPr/>
              <a:t>表格 6‑1 航班数据</a:t>
            </a:r>
          </a:p>
          <a:p>
            <a:pPr lvl="0"/>
            <a:r>
              <a:rPr/>
              <a:t>在这种情况下，我们将机场表示为顶点，将路线表示为边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 案例分析：学习路线（1/2）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案例分析</a:t>
            </a:r>
          </a:p>
          <a:p>
            <a:pPr lvl="0"/>
            <a:r>
              <a:rPr/>
              <a:t>定义点</a:t>
            </a:r>
          </a:p>
          <a:p>
            <a:pPr lvl="0"/>
            <a:r>
              <a:rPr/>
              <a:t>定义边</a:t>
            </a:r>
          </a:p>
          <a:p>
            <a:pPr lvl="0"/>
            <a:r>
              <a:rPr/>
              <a:t>创建图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 案例分析：学习路线（2/2）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PageRank</a:t>
            </a:r>
          </a:p>
          <a:p>
            <a:pPr lvl="0"/>
            <a:r>
              <a:rPr/>
              <a:t>Pregel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 案例分析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机场是属性图中的点，路线是边</a:t>
            </a:r>
          </a:p>
          <a:p>
            <a:pPr lvl="0"/>
            <a:r>
              <a:rPr/>
              <a:t>表格 6‑1 航班数据</a:t>
            </a:r>
          </a:p>
          <a:p>
            <a:pPr lvl="0"/>
            <a:r>
              <a:rPr/>
              <a:t>在这种情况下，我们将机场表示为顶点，将路线表示为边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案例分析：机场是属性图中的点，路线是边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先辨认表头含义，再看不同项之间的差异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181600" y="977900"/>
          <a:ext cx="6172200" cy="486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字段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描述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例子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dOfM(String)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一个月中的某天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dOfW (String)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星期几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carrier (String)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运营商代码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tailNum (String)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飞机的唯一标识符-尾号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N787AA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flnum(Int)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航班号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org_id(String)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始发机场编号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12478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origin(String)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始发机场代码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JFK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dest_id (String)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目的地机场编号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12892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dest (String)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目的地机场代码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LAX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crsdeptime(Double)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预定出发时间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deptime (Double)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实际出发时间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855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depdelaymins (Double)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出发延迟分钟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crsarrtime (Double)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预定到达时间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1230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arrtime (Double)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实际到达时间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1237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arrdelaymins (Double)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到达延迟分钟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crselapsedtime (Double)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经过时间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390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dist (Int)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距离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2475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6.8.1 定义点（1/2）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我们将导入GraphX包</a:t>
            </a:r>
          </a:p>
          <a:p>
            <a:pPr lvl="0"/>
            <a:r>
              <a:rPr/>
              <a:t>代码 6‑113</a:t>
            </a:r>
          </a:p>
          <a:p>
            <a:pPr lvl="0"/>
            <a:r>
              <a:rPr/>
              <a:t>我们使用Scala案例类来定义与CSV数据文件相对应的数据结构Flight</a:t>
            </a:r>
          </a:p>
          <a:p>
            <a:pPr lvl="0"/>
            <a:r>
              <a:rPr/>
              <a:t>代码 6‑114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6.8.1 定义点（2/2）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的函数将数据文件中的一行解析为Flight类</a:t>
            </a:r>
          </a:p>
          <a:p>
            <a:pPr lvl="0"/>
            <a:r>
              <a:rPr/>
              <a:t>代码 6‑115</a:t>
            </a:r>
          </a:p>
          <a:p>
            <a:pPr lvl="0"/>
            <a:r>
              <a:rPr/>
              <a:t>我们将CSV文件中的数据加载到RDD中</a:t>
            </a:r>
          </a:p>
          <a:p>
            <a:pPr lvl="0"/>
            <a:r>
              <a:rPr/>
              <a:t>//用方法parseFlight解析每行RDD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6.8.1 定义点：代码片段（1/6）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首先，我们将导入GraphX包。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.{</a:t>
            </a:r>
            <a:r>
              <a:rPr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Graph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VertexId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.{</a:t>
            </a:r>
            <a:r>
              <a:rPr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Graph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VertexId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scala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util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Try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scala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util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Try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6.8.1 定义点：代码片段（2/6）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paste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Entering paste mode (ctrl-D to finish)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case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Flight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dofM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dofW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carrier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tailnum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flnum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org_id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Long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origin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dest_id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Long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dest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crsdeptime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deptime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depdelaymins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crsarrtime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arrtime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arrdelay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crselapsedtime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dist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Exiting paste mode, now interpreting.</a:t>
            </a:r>
            <a:br/>
            <a:r>
              <a:rPr>
                <a:latin typeface="Courier"/>
              </a:rPr>
              <a:t>defined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Flight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6.8.1 定义点：代码片段（3/6）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下面的函数将数据文件中的一行解析为Flight类。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paste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Entering paste mode (ctrl-D to finish)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parseFlight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str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):</a:t>
            </a:r>
            <a:r>
              <a:rPr>
                <a:latin typeface="Courier"/>
              </a:rPr>
              <a:t> Flight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line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split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','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Flight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06287E"/>
                </a:solidFill>
                <a:latin typeface="Courier"/>
              </a:rPr>
              <a:t>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toInt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toLong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06287E"/>
                </a:solidFill>
                <a:latin typeface="Courier"/>
              </a:rPr>
              <a:t>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toLong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06287E"/>
                </a:solidFill>
                <a:latin typeface="Courier"/>
              </a:rPr>
              <a:t>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toDouble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toDouble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06287E"/>
                </a:solidFill>
                <a:latin typeface="Courier"/>
              </a:rPr>
              <a:t>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11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toDouble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12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toDouble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06287E"/>
                </a:solidFill>
                <a:latin typeface="Courier"/>
              </a:rPr>
              <a:t>Try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13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toDouble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getOrElse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06287E"/>
                </a:solidFill>
                <a:latin typeface="Courier"/>
              </a:rPr>
              <a:t>Try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14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toDouble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getOrElse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6.8.1 定义点：代码片段（4/6）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把原始数据从存储读入 Spark</a:t>
            </a:r>
          </a:p>
          <a:p>
            <a:pPr lvl="0"/>
            <a:r>
              <a:rPr/>
              <a:t>用 map 把输入转换成后续要处理的结构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textRDD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textFile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"/data/rita2014jan.csv"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textRDD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rita2014jan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csv</a:t>
            </a:r>
            <a:br/>
            <a:r>
              <a:rPr>
                <a:latin typeface="Courier"/>
              </a:rPr>
              <a:t>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textFile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26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flightsRDD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textRDD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parseFlight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cache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flightsRDD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Flight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at map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29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flightsRDD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first</a:t>
            </a:r>
            <a:br/>
            <a:r>
              <a:rPr>
                <a:latin typeface="Courier"/>
              </a:rPr>
              <a:t>res9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Flight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06287E"/>
                </a:solidFill>
                <a:latin typeface="Courier"/>
              </a:rPr>
              <a:t>Flight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AA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N338AA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12478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JFK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12892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LAX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900.0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914.0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14.0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1225.0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1238.0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13.0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385.0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2475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6.8.1 定义点：代码片段（5/6）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/>
            <a:r>
              <a:rPr/>
              <a:t>先对照代码理解 // 定义缺省点nowhere 的执行步骤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airports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flightsRDD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flight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flight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org_id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flight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origin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latin typeface="Courier"/>
              </a:rPr>
              <a:t>distinct</a:t>
            </a:r>
            <a:br/>
            <a:r>
              <a:rPr>
                <a:latin typeface="Courier"/>
              </a:rPr>
              <a:t>airports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Long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distinct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27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airports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take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res0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Long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14057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PDX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nowhere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"nowhere"</a:t>
            </a:r>
            <a:br/>
            <a:r>
              <a:rPr>
                <a:latin typeface="Courier"/>
              </a:rPr>
              <a:t>nowhere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nowhere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6.8.1 定义点：代码片段（6/6）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// 打印出机场信息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airportMap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airports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map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case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org_id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name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org_id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name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}.</a:t>
            </a:r>
            <a:r>
              <a:rPr>
                <a:latin typeface="Courier"/>
              </a:rPr>
              <a:t>collect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toList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toMap</a:t>
            </a:r>
            <a:br/>
            <a:r>
              <a:rPr>
                <a:latin typeface="Courier"/>
              </a:rPr>
              <a:t>airportMap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scala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collection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immutable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Long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13024</a:t>
            </a:r>
            <a:br/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LMT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10785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BTV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14574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ROA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14057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PDX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13933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ORH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40A070"/>
                </a:solidFill>
                <a:latin typeface="Courier"/>
              </a:rPr>
              <a:t>10918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-...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6.8.2 定义边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边是机场之间的路线</a:t>
            </a:r>
          </a:p>
          <a:p>
            <a:pPr lvl="0"/>
            <a:r>
              <a:rPr/>
              <a:t>// 创建路径RDD(srcid, destid, distance)</a:t>
            </a:r>
          </a:p>
          <a:p>
            <a:pPr lvl="0"/>
            <a:r>
              <a:rPr/>
              <a:t>// 创建边RDD(srcid, destid, distance)</a:t>
            </a:r>
          </a:p>
          <a:p>
            <a:pPr lvl="0"/>
            <a:r>
              <a:rPr/>
              <a:t>代码 6‑118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6.8.2 定义边：代码片段（1/2）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routes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flightsRDD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flight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flight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org_id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flight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dest_id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flight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dist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latin typeface="Courier"/>
              </a:rPr>
              <a:t>distinct</a:t>
            </a:r>
            <a:br/>
            <a:r>
              <a:rPr>
                <a:latin typeface="Courier"/>
              </a:rPr>
              <a:t>routes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[((</a:t>
            </a:r>
            <a:r>
              <a:rPr>
                <a:latin typeface="Courier"/>
              </a:rPr>
              <a:t>Long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Long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distinct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27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routes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take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res16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[((</a:t>
            </a:r>
            <a:r>
              <a:rPr>
                <a:latin typeface="Courier"/>
              </a:rPr>
              <a:t>Long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Long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(((</a:t>
            </a:r>
            <a:r>
              <a:rPr>
                <a:solidFill>
                  <a:srgbClr val="40A070"/>
                </a:solidFill>
                <a:latin typeface="Courier"/>
              </a:rPr>
              <a:t>14869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14683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40A070"/>
                </a:solidFill>
                <a:latin typeface="Courier"/>
              </a:rPr>
              <a:t>1087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14683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14771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40A070"/>
                </a:solidFill>
                <a:latin typeface="Courier"/>
              </a:rPr>
              <a:t>1482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6.8.2 定义边：代码片段（2/2）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// 创建边RDD(srcid, destid,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edges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routes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map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case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org_id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dest_id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distance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org_id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toLong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dest_id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toLong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distance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edges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11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map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27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edges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take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res17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14869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14683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1087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6.8.3 创建图（1/2）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要创建属性图，需要具有点RDD、边RDD和一个默认顶点</a:t>
            </a:r>
          </a:p>
          <a:p>
            <a:pPr lvl="0"/>
            <a:r>
              <a:rPr/>
              <a:t>// 定义图</a:t>
            </a:r>
          </a:p>
          <a:p>
            <a:pPr lvl="0"/>
            <a:r>
              <a:rPr/>
              <a:t>代码 6‑119</a:t>
            </a:r>
          </a:p>
          <a:p>
            <a:pPr lvl="0"/>
            <a:r>
              <a:rPr/>
              <a:t>有几个机场？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6.8.3 创建图（2/2）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代码 6‑120</a:t>
            </a:r>
          </a:p>
          <a:p>
            <a:pPr lvl="0"/>
            <a:r>
              <a:rPr/>
              <a:t>有几条路线？</a:t>
            </a:r>
          </a:p>
          <a:p>
            <a:pPr lvl="0"/>
            <a:r>
              <a:rPr/>
              <a:t>代码 6‑121</a:t>
            </a:r>
          </a:p>
          <a:p>
            <a:pPr lvl="0"/>
            <a:r>
              <a:rPr/>
              <a:t>哪些路线的距离大于1000？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6.8.3 创建图：代码片段（1/7）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// 定义图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graph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Graph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airports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edges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nowhere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graph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impl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GraphImpl@</a:t>
            </a:r>
            <a:r>
              <a:rPr>
                <a:solidFill>
                  <a:srgbClr val="40A070"/>
                </a:solidFill>
                <a:latin typeface="Courier"/>
              </a:rPr>
              <a:t>422179</a:t>
            </a:r>
            <a:r>
              <a:rPr>
                <a:latin typeface="Courier"/>
              </a:rPr>
              <a:t>c7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graph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vertices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take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res3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VertexId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10208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AGS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10268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ALO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graph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edges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take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res4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10135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10397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692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10135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13930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654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6.8.3 创建图：代码片段（2/7）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有几个机场？ 的执行步骤</a:t>
            </a:r>
          </a:p>
          <a:p>
            <a:pPr lvl="0"/>
            <a:r>
              <a:rPr/>
              <a:t>先对照代码理解 有几条路线？ 的执行步骤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numairports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graph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numVertices</a:t>
            </a:r>
            <a:br/>
            <a:r>
              <a:rPr>
                <a:latin typeface="Courier"/>
              </a:rPr>
              <a:t>numairports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Long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301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numroutes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graph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numEdges</a:t>
            </a:r>
            <a:br/>
            <a:r>
              <a:rPr>
                <a:latin typeface="Courier"/>
              </a:rPr>
              <a:t>numroutes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Long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4090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6.8.3 创建图：代码片段（3/7）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哪些路线的距离大于1000？ 的执行步骤</a:t>
            </a:r>
          </a:p>
          <a:p>
            <a:pPr lvl="0"/>
            <a:r>
              <a:rPr/>
              <a:t>先对照代码理解 EdgeTriplet类扩展Edge类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graph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edges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filter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case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org_id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dest_id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distance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distance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1000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}.</a:t>
            </a:r>
            <a:r>
              <a:rPr>
                <a:solidFill>
                  <a:srgbClr val="06287E"/>
                </a:solidFill>
                <a:latin typeface="Courier"/>
              </a:rPr>
              <a:t>take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res15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10140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10397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1269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10140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10821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1670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06287E"/>
                </a:solidFill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10140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12264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1628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graph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triplets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take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foreach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10135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ABE</a:t>
            </a:r>
            <a:r>
              <a:rPr>
                <a:solidFill>
                  <a:srgbClr val="666666"/>
                </a:solidFill>
                <a:latin typeface="Courier"/>
              </a:rPr>
              <a:t>),(</a:t>
            </a:r>
            <a:r>
              <a:rPr>
                <a:solidFill>
                  <a:srgbClr val="40A070"/>
                </a:solidFill>
                <a:latin typeface="Courier"/>
              </a:rPr>
              <a:t>10397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ATL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40A070"/>
                </a:solidFill>
                <a:latin typeface="Courier"/>
              </a:rPr>
              <a:t>692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10135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ABE</a:t>
            </a:r>
            <a:r>
              <a:rPr>
                <a:solidFill>
                  <a:srgbClr val="666666"/>
                </a:solidFill>
                <a:latin typeface="Courier"/>
              </a:rPr>
              <a:t>),(</a:t>
            </a:r>
            <a:r>
              <a:rPr>
                <a:solidFill>
                  <a:srgbClr val="40A070"/>
                </a:solidFill>
                <a:latin typeface="Courier"/>
              </a:rPr>
              <a:t>13930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ORD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40A070"/>
                </a:solidFill>
                <a:latin typeface="Courier"/>
              </a:rPr>
              <a:t>654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10140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ABQ</a:t>
            </a:r>
            <a:r>
              <a:rPr>
                <a:solidFill>
                  <a:srgbClr val="666666"/>
                </a:solidFill>
                <a:latin typeface="Courier"/>
              </a:rPr>
              <a:t>),(</a:t>
            </a:r>
            <a:r>
              <a:rPr>
                <a:solidFill>
                  <a:srgbClr val="40A070"/>
                </a:solidFill>
                <a:latin typeface="Courier"/>
              </a:rPr>
              <a:t>10397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ATL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40A070"/>
                </a:solidFill>
                <a:latin typeface="Courier"/>
              </a:rPr>
              <a:t>1269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6.8.3 创建图：代码片段（4/7）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paste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Entering paste mode (ctrl-D to finish)</a:t>
            </a:r>
            <a:br/>
            <a:r>
              <a:rPr>
                <a:latin typeface="Courier"/>
              </a:rPr>
              <a:t>graph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triplets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sortBy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_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attr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ascending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 b="1">
                <a:solidFill>
                  <a:srgbClr val="007020"/>
                </a:solidFill>
                <a:latin typeface="Courier"/>
              </a:rPr>
              <a:t>false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triplet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br/>
            <a:r>
              <a:rPr>
                <a:solidFill>
                  <a:srgbClr val="4070A0"/>
                </a:solidFill>
                <a:latin typeface="Courier"/>
              </a:rPr>
              <a:t>"Distance 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triplet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attr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toString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 from 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triplet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srcAttr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 to</a:t>
            </a:r>
            <a:br/>
            <a:r>
              <a:rPr>
                <a:solidFill>
                  <a:srgbClr val="4070A0"/>
                </a:solidFill>
                <a:latin typeface="Courier"/>
              </a:rPr>
              <a:t>" + triplet.dstAttr + "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4070A0"/>
                </a:solidFill>
                <a:latin typeface="Courier"/>
              </a:rPr>
              <a:t>").take(10).foreach(println)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Exiting paste mode, now interpreting.</a:t>
            </a:r>
            <a:br/>
            <a:r>
              <a:rPr>
                <a:latin typeface="Courier"/>
              </a:rPr>
              <a:t>Distance </a:t>
            </a:r>
            <a:r>
              <a:rPr>
                <a:solidFill>
                  <a:srgbClr val="40A070"/>
                </a:solidFill>
                <a:latin typeface="Courier"/>
              </a:rPr>
              <a:t>4983</a:t>
            </a:r>
            <a:r>
              <a:rPr>
                <a:latin typeface="Courier"/>
              </a:rPr>
              <a:t> from JFK to HNL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br/>
            <a:r>
              <a:rPr>
                <a:latin typeface="Courier"/>
              </a:rPr>
              <a:t>Distance </a:t>
            </a:r>
            <a:r>
              <a:rPr>
                <a:solidFill>
                  <a:srgbClr val="40A070"/>
                </a:solidFill>
                <a:latin typeface="Courier"/>
              </a:rPr>
              <a:t>4983</a:t>
            </a:r>
            <a:r>
              <a:rPr>
                <a:latin typeface="Courier"/>
              </a:rPr>
              <a:t> from HNL to JFK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br/>
            <a:r>
              <a:rPr>
                <a:latin typeface="Courier"/>
              </a:rPr>
              <a:t>Distance </a:t>
            </a:r>
            <a:r>
              <a:rPr>
                <a:solidFill>
                  <a:srgbClr val="40A070"/>
                </a:solidFill>
                <a:latin typeface="Courier"/>
              </a:rPr>
              <a:t>4963</a:t>
            </a:r>
            <a:r>
              <a:rPr>
                <a:latin typeface="Courier"/>
              </a:rPr>
              <a:t> from EWR to HNL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br/>
            <a:r>
              <a:rPr>
                <a:latin typeface="Courier"/>
              </a:rPr>
              <a:t>Distance </a:t>
            </a:r>
            <a:r>
              <a:rPr>
                <a:solidFill>
                  <a:srgbClr val="40A070"/>
                </a:solidFill>
                <a:latin typeface="Courier"/>
              </a:rPr>
              <a:t>4963</a:t>
            </a:r>
            <a:r>
              <a:rPr>
                <a:latin typeface="Courier"/>
              </a:rPr>
              <a:t> from HNL to EWR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br/>
            <a:r>
              <a:rPr>
                <a:latin typeface="Courier"/>
              </a:rPr>
              <a:t>Distance </a:t>
            </a:r>
            <a:r>
              <a:rPr>
                <a:solidFill>
                  <a:srgbClr val="40A070"/>
                </a:solidFill>
                <a:latin typeface="Courier"/>
              </a:rPr>
              <a:t>4817</a:t>
            </a:r>
            <a:r>
              <a:rPr>
                <a:latin typeface="Courier"/>
              </a:rPr>
              <a:t> from HNL to IAD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6.8.3 创建图：代码片段（5/7）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// 定义一个聚合函数计算点的出入度最大值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paste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Entering paste mode (ctrl-D to finish)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max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VertexId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b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VertexId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)):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VertexId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_2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_2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a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 b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Exiting paste mode, now interpreting.</a:t>
            </a:r>
            <a:br/>
            <a:r>
              <a:rPr>
                <a:latin typeface="Courier"/>
              </a:rPr>
              <a:t>max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VertexId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b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VertexId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))(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VertexId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maxInDegree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VertexId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graph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inDegrees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reduce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max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maxInDegree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VertexId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10397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152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6.8.3 创建图：代码片段（6/7）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//得到10397的机场名称 的执行步骤</a:t>
            </a:r>
          </a:p>
          <a:p>
            <a:pPr lvl="0"/>
            <a:r>
              <a:rPr/>
              <a:t>用 map 把输入转换成后续要处理的结构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airportMap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10397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res0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ATL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maxIncoming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graph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inDegrees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collect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sortWith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_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_2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_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_2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airportMap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_2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take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maxIncoming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ATL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152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ORD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145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DFW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143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6.8.3 创建图：代码片段（7/7）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把不同来源的数据按关联键接起来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maxout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graph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outDegrees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join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airports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sortBy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_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_2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ascending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 b="1">
                <a:solidFill>
                  <a:srgbClr val="007020"/>
                </a:solidFill>
                <a:latin typeface="Courier"/>
              </a:rPr>
              <a:t>false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take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maxout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VertexId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))]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10397</a:t>
            </a:r>
            <a:r>
              <a:rPr>
                <a:solidFill>
                  <a:srgbClr val="666666"/>
                </a:solidFill>
                <a:latin typeface="Courier"/>
              </a:rPr>
              <a:t>,(</a:t>
            </a:r>
            <a:r>
              <a:rPr>
                <a:solidFill>
                  <a:srgbClr val="40A070"/>
                </a:solidFill>
                <a:latin typeface="Courier"/>
              </a:rPr>
              <a:t>153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ATL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13930</a:t>
            </a:r>
            <a:r>
              <a:rPr>
                <a:solidFill>
                  <a:srgbClr val="666666"/>
                </a:solidFill>
                <a:latin typeface="Courier"/>
              </a:rPr>
              <a:t>,(</a:t>
            </a:r>
            <a:r>
              <a:rPr>
                <a:solidFill>
                  <a:srgbClr val="40A070"/>
                </a:solidFill>
                <a:latin typeface="Courier"/>
              </a:rPr>
              <a:t>146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ORD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11298</a:t>
            </a:r>
            <a:r>
              <a:rPr>
                <a:solidFill>
                  <a:srgbClr val="666666"/>
                </a:solidFill>
                <a:latin typeface="Courier"/>
              </a:rPr>
              <a:t>,(</a:t>
            </a:r>
            <a:r>
              <a:rPr>
                <a:solidFill>
                  <a:srgbClr val="40A070"/>
                </a:solidFill>
                <a:latin typeface="Courier"/>
              </a:rPr>
              <a:t>143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DFW</a:t>
            </a:r>
            <a:r>
              <a:rPr>
                <a:solidFill>
                  <a:srgbClr val="666666"/>
                </a:solidFill>
                <a:latin typeface="Courier"/>
              </a:rPr>
              <a:t>)))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6.8.4 PageRank（1/2）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另一个GraphX运算符是PageRank</a:t>
            </a:r>
          </a:p>
          <a:p>
            <a:pPr lvl="0"/>
            <a:r>
              <a:rPr/>
              <a:t>根据PageRank，最重要的机场是哪些？</a:t>
            </a:r>
          </a:p>
          <a:p>
            <a:pPr lvl="0"/>
            <a:r>
              <a:rPr/>
              <a:t>// 联结机场RDD</a:t>
            </a:r>
          </a:p>
          <a:p>
            <a:pPr lvl="0"/>
            <a:r>
              <a:rPr/>
              <a:t>// 进行排序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6.8.4 PageRank（2/2）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//获得前4个重要的机场</a:t>
            </a:r>
          </a:p>
          <a:p>
            <a:pPr lvl="0"/>
            <a:r>
              <a:rPr/>
              <a:t>代码 6‑128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6.8.4 PageRank：代码片段（1/4）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根据PageRank，最重要的机场是哪些？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ranks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graph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pageRank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0.1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vertices</a:t>
            </a:r>
            <a:br/>
            <a:r>
              <a:rPr>
                <a:latin typeface="Courier"/>
              </a:rPr>
              <a:t>ranks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VertexRDD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VertexRDDImpl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164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RDD at VertexRDD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solidFill>
                  <a:srgbClr val="40A070"/>
                </a:solidFill>
                <a:latin typeface="Courier"/>
              </a:rPr>
              <a:t>57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6.8.4 PageRank：代码片段（2/4）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把不同来源的数据按关联键接起来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temp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ranks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join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airports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temp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VertexId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))]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173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join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29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temp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take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VertexId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))]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15370</a:t>
            </a:r>
            <a:r>
              <a:rPr>
                <a:solidFill>
                  <a:srgbClr val="666666"/>
                </a:solidFill>
                <a:latin typeface="Courier"/>
              </a:rPr>
              <a:t>,(</a:t>
            </a:r>
            <a:r>
              <a:rPr>
                <a:solidFill>
                  <a:srgbClr val="40A070"/>
                </a:solidFill>
                <a:latin typeface="Courier"/>
              </a:rPr>
              <a:t>1.0946033493995184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TUL</a:t>
            </a:r>
            <a:r>
              <a:rPr>
                <a:solidFill>
                  <a:srgbClr val="666666"/>
                </a:solidFill>
                <a:latin typeface="Courier"/>
              </a:rPr>
              <a:t>)))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6.8.4 PageRank：代码片段（3/4）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temp2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temp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sortBy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_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_2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false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temp2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VertexId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))]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178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sortBy at</a:t>
            </a:r>
            <a:br/>
            <a:r>
              <a:rPr>
                <a:latin typeface="Courier"/>
              </a:rPr>
              <a:t>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27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temp2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take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res2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VertexId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))]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10397</a:t>
            </a:r>
            <a:r>
              <a:rPr>
                <a:solidFill>
                  <a:srgbClr val="666666"/>
                </a:solidFill>
                <a:latin typeface="Courier"/>
              </a:rPr>
              <a:t>,(</a:t>
            </a:r>
            <a:r>
              <a:rPr>
                <a:solidFill>
                  <a:srgbClr val="40A070"/>
                </a:solidFill>
                <a:latin typeface="Courier"/>
              </a:rPr>
              <a:t>11.080729516515449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ATL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13930</a:t>
            </a:r>
            <a:r>
              <a:rPr>
                <a:solidFill>
                  <a:srgbClr val="666666"/>
                </a:solidFill>
                <a:latin typeface="Courier"/>
              </a:rPr>
              <a:t>,(</a:t>
            </a:r>
            <a:r>
              <a:rPr>
                <a:solidFill>
                  <a:srgbClr val="40A070"/>
                </a:solidFill>
                <a:latin typeface="Courier"/>
              </a:rPr>
              <a:t>11.04763496562952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ORD</a:t>
            </a:r>
            <a:r>
              <a:rPr>
                <a:solidFill>
                  <a:srgbClr val="666666"/>
                </a:solidFill>
                <a:latin typeface="Courier"/>
              </a:rPr>
              <a:t>)))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impAirports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temp2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_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_2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_2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impAirports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179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map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27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6.8.4 PageRank：代码片段（4/4）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//获得前4个重要的机场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impAirports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take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res3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ATL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ORD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DFW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DEN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6.8.5 Pregel（1/2）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Pregel是谷歌研发的一种迭代图处理模型，使用图中点之间传递一系列消息迭代序列</a:t>
            </a:r>
          </a:p>
          <a:p>
            <a:pPr lvl="0"/>
            <a:r>
              <a:rPr/>
              <a:t>图例 6‑10 Pregel计算过程</a:t>
            </a:r>
          </a:p>
          <a:p>
            <a:pPr lvl="0"/>
            <a:r>
              <a:rPr/>
              <a:t>的代码使用Pregel计算最便宜的机票，其中使用的公式为：50 +距离/ 20</a:t>
            </a:r>
          </a:p>
          <a:p>
            <a:pPr lvl="0"/>
            <a:r>
              <a:rPr/>
              <a:t>// 起始点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6.8.5 Pregel（2/2）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// 定义一个图，其中的边包含机票计算公式</a:t>
            </a:r>
          </a:p>
          <a:p>
            <a:pPr lvl="0"/>
            <a:r>
              <a:rPr/>
              <a:t>// 初始化图，除了起始点，所以点都是距离无穷大</a:t>
            </a:r>
          </a:p>
          <a:p>
            <a:pPr lvl="0"/>
            <a:r>
              <a:rPr/>
              <a:t>// 在图上调用pregel</a:t>
            </a:r>
          </a:p>
          <a:p>
            <a:pPr lvl="0"/>
            <a:r>
              <a:rPr/>
              <a:t>代码 6‑129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6.8.5 Pregel：代码片段（1/4）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// 起始点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sourceId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VertexId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13024</a:t>
            </a:r>
            <a:br/>
            <a:r>
              <a:rPr>
                <a:latin typeface="Courier"/>
              </a:rPr>
              <a:t>sourceId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VertexId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13024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6.8.5 Pregel：代码片段（2/4）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// 定义一个图，其中的边包含机票计算公式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gg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graph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mapEdges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e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50.</a:t>
            </a:r>
            <a:r>
              <a:rPr>
                <a:latin typeface="Courier"/>
              </a:rPr>
              <a:t>toDouble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attr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toDouble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gg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impl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GraphImpl@eba03c9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6.8.5 Pregel：代码片段（3/4）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// 初始化图，除了起始点，所以点都是距离无穷大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initialGraph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gg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mapVertices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_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id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br/>
            <a:r>
              <a:rPr>
                <a:latin typeface="Courier"/>
              </a:rPr>
              <a:t>sourceId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PositiveInfinity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initialGraph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impl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GraphImpl@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ab0ee54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6.8.5 Pregel：代码片段（4/4）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paste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Entering paste mode (ctrl-D to finish)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sssp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initialGraph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pregel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PositiveInfinity</a:t>
            </a:r>
            <a:r>
              <a:rPr>
                <a:solidFill>
                  <a:srgbClr val="666666"/>
                </a:solidFill>
                <a:latin typeface="Courier"/>
              </a:rPr>
              <a:t>)(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Vertex Program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dist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newDist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math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min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dist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newDist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latin typeface="Courier"/>
              </a:rPr>
              <a:t>triplet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Send Message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triplet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srcAttr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triplet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attr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triplet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dstAttr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Iterator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triplet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dstId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triplet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srcAttr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triplet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attr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Iterator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empty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6.8.5 Pregel：图示</a:t>
            </a:r>
          </a:p>
        </p:txBody>
      </p:sp>
      <p:pic>
        <p:nvPicPr>
          <p:cNvPr descr="../../md/media/06_graph_processing/media/image10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616200" y="1816100"/>
            <a:ext cx="69596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2026-04-05T02:25:16Z</dcterms:created>
  <dcterms:modified xsi:type="dcterms:W3CDTF">2026-04-05T02:25:16Z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