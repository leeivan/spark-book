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notesMaster" Target="notesMasters/notesMaster1.xml" /><Relationship Id="rId27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6" Type="http://schemas.openxmlformats.org/officeDocument/2006/relationships/theme" Target="theme/theme1.xml" /><Relationship Id="rId25" Type="http://schemas.openxmlformats.org/officeDocument/2006/relationships/viewProps" Target="viewProps.xml" /><Relationship Id="rId2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spark-submit 是 Spark 应用从“本地工程”进入“运行环境”的标准入口。它的价值不只是帮你执行一条命令，更重要的是把入口类、主程序文件、依赖、资源配置和部署模式统一收敛到同一个提交界面里。无论目标环境是本地、Standalone、YARN 还是 Kubernetes，应用的交付方式都尽量保持一致。 接下来会依次看 部署应用、Run application locally on 8 cores，以及 Run on a Spark standalone cluster in client deploy mode，后面的实现和案例都会沿着这条线继续展开。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这一页先看前半段主线，重点包括 部署应用、Run application locally on 8 cores、Run on a Spark standalone cluster in client deploy mode，以及 Run on a Spark standalone cluster in cluster deploy mode with。先把前面的入口和处理顺序放稳，后面再继续往下展开。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这一页继续顺着学习路线往后推，重点包括 Run on a YARN cluster、Run a Python application on a Spark standalone cluster、Run on a Kubernetes cluster in cluster deploy mode，以及 结构化流提交示例（Kafka + Kubernetes）。先把这些环节之间的关系看清楚，再进入每一步的具体实现。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这一页补上后半段主线，重点包括 集群架构 和 集群管理。把这几步和前面的内容接起来，整节课的推进顺序就完整了。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应用从“本地工程”进入“运行环境”的标准入口。它的价值不只是帮你执行一条命令，更重要的是把入口类、主程序文件、依赖、资源配置和部署模式统一收敛到同一个提交界面里。无论目标环境是本地、Standalone、YARN 还是 Kubernetes，应用的交付方式都尽量保持一致。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sbt 和 Maven 都有装配插件，可以把应用代码及其所需依赖打包成装配 jar 或 uber-jar。通常会把 Spark 和 Hadoop 标记为 provided，因为这些组件往往由运行环境提供，不需要重复放进最终产物。打包完成后，就可以通过 bin/spark-submit 传入 jar 并启动应用。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例如 spark://23.195.26.187:7077）。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默认值为 client。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（4）–conf：key=value 形式的任意 Spark 配置项。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（5）application-jar：主程序 jar 的路径。它应当能够被目标运行环境访问，例如 HDFS 路径、对象存储路径，或所有节点都可见的本地路径。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这一步是在把应用真正交给集群执行。讲解时要把主类、资源配置和输入输出参数对应起来，说明任务到底以什么方式跑起来。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这一页重点讨论的是 Run application locally on 8 cores。讲的时候不要只念标题，要把它放回本节主线里，说明它解决什么问题以及为什么需要这一步。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这一页重点讨论的是 Run on a Spark standalone cluster in client deploy mode。讲的时候不要只念标题，要把它放回本节主线里，说明它解决什么问题以及为什么需要这一步。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这一页重点讨论的是 Run on a Spark standalone cluster in cluster deploy mode with。讲的时候不要只念标题，要把它放回本节主线里，说明它解决什么问题以及为什么需要这一步。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这一页重点讨论的是 Run on a YARN cluster。讲的时候不要只念标题，要把它放回本节主线里，说明它解决什么问题以及为什么需要这一步。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这一页重点讨论的是 Run a Python application on a Spark standalone cluster。讲的时候不要只念标题，要把它放回本节主线里，说明它解决什么问题以及为什么需要这一步。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用来说明结构化流任务在 Kubernetes 上提交时通常会包含哪些关键参数。示例里的镜像、Spark 坐标和 Scala 版本以当前书稿使用的 Spark 4.1.1 / Scala 2.13 组合为例。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应同步调整镜像标签、–packages 坐标和应用产物名称。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spark-sql-kafka-0-10_2.13:4.1.1：Kafka源所需依赖。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（2）spark.sql.streaming.checkpointLocation：结构化流恢复与容错关键目录，建议放在对象存储或HDFS上。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可将主程序jar替换为.py文件，并按需增加–py-files。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下面给出传递给Spark的几种常见 master URL 格式。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这一步是在把应用真正交给集群执行。讲解时要把主类、资源配置和输入输出参数对应起来，说明任务到底以什么方式跑起来。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下面给出传递给Spark的几种常见 master URL 格式。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先把表头对应的对象和维度说清楚，再指出哪些差异最大，以及这些差异能支持什么判断。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Driver 负责持有 SparkSession 或 SparkContext、生成执行计划并调度任务。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Executor 则在工作节点上实际执行计算、缓存数据并回传结果。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（1）驱动程序（Driver Program）：负责创建SparkSession或SparkContext，生成执行计划并调度任务。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集群管理器（Cluster Manager）负责为 Spark 应用分配和回收 CPU、内存等资源。对 Spark 来说，它并不要求底层必须是某一种资源平台，只要能够拉起 Driver/Executor 并保证它们之间正常通信即可。当前最常见的三类选择就是 Standalone、YARN 和 Kubernetes。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对于学习和轻量环境，Standalone最容易上手。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对于云原生与容器化部署，Kubernetes通常是Spark 4.x更主流的选择。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Spark 自带的轻量级集群管理器，适合教学、实验和小规模独立部署。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容器化集群管理平台，适合云原生部署。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其中，Kubernetes 在 Spark 4.x 里已经成为生产环境的重要选项之一，尤其适合需要镜像化交付、弹性扩缩容和统一容器运维的平台。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7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10.4 部署应用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spark-submit 是 Spark</a:t>
            </a:r>
          </a:p>
          <a:p>
            <a:pPr lvl="0"/>
            <a:r>
              <a:rPr/>
              <a:t>就可以通过 bin/spark-submit 传入 jar 并启动应用</a:t>
            </a:r>
          </a:p>
          <a:p>
            <a:pPr lvl="0"/>
            <a:r>
              <a:rPr/>
              <a:t>代码 10.28 一些常用的选项是</a:t>
            </a:r>
          </a:p>
          <a:p>
            <a:pPr lvl="0"/>
            <a:r>
              <a:rPr/>
              <a:t>（1）–class：应用程序的入口点（例如org.apache.spark.examples.SparkPi ）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10.4 部署应用：学习路线（1/3）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部署应用</a:t>
            </a:r>
          </a:p>
          <a:p>
            <a:pPr lvl="0"/>
            <a:r>
              <a:rPr/>
              <a:t>Run application locally on 8 cores</a:t>
            </a:r>
          </a:p>
          <a:p>
            <a:pPr lvl="0"/>
            <a:r>
              <a:rPr/>
              <a:t>Run on a Spark standalone cluster in client deploy mode</a:t>
            </a:r>
          </a:p>
          <a:p>
            <a:pPr lvl="0"/>
            <a:r>
              <a:rPr/>
              <a:t>Run on a Spark standalone cluster in cluster deploy mode with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10.4 部署应用：学习路线（2/3）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Run on a YARN cluster</a:t>
            </a:r>
          </a:p>
          <a:p>
            <a:pPr lvl="0"/>
            <a:r>
              <a:rPr/>
              <a:t>Run a Python application on a Spark standalone cluster</a:t>
            </a:r>
          </a:p>
          <a:p>
            <a:pPr lvl="0"/>
            <a:r>
              <a:rPr/>
              <a:t>Run on a Kubernetes cluster in cluster deploy mode</a:t>
            </a:r>
          </a:p>
          <a:p>
            <a:pPr lvl="0"/>
            <a:r>
              <a:rPr/>
              <a:t>结构化流提交示例（Kafka + Kubernetes）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10.4 部署应用：学习路线（3/3）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集群架构</a:t>
            </a:r>
          </a:p>
          <a:p>
            <a:pPr lvl="0"/>
            <a:r>
              <a:rPr/>
              <a:t>集群管理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10.4 部署应用（1/2）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spark-submit 是 Spark</a:t>
            </a:r>
          </a:p>
          <a:p>
            <a:pPr lvl="0"/>
            <a:r>
              <a:rPr/>
              <a:t>就可以通过 bin/spark-submit 传入 jar 并启动应用</a:t>
            </a:r>
          </a:p>
          <a:p>
            <a:pPr lvl="0"/>
            <a:r>
              <a:rPr/>
              <a:t>代码 10.28 一些常用的选项是</a:t>
            </a:r>
          </a:p>
          <a:p>
            <a:pPr lvl="0"/>
            <a:r>
              <a:rPr/>
              <a:t>（1）–class：应用程序的入口点（例如org.apache.spark.examples.SparkPi ）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10.4 部署应用（2/2）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（2）–master：集群管理器地址（</a:t>
            </a:r>
          </a:p>
          <a:p>
            <a:pPr lvl="0"/>
            <a:r>
              <a:rPr/>
              <a:t>（3）–deploy-mode：决定驱动程序运行在提交端（client）还是集群侧（cluster）</a:t>
            </a:r>
          </a:p>
          <a:p>
            <a:pPr lvl="0"/>
            <a:r>
              <a:rPr/>
              <a:t>对于包含空格的值，应使用引号包裹</a:t>
            </a:r>
          </a:p>
          <a:p>
            <a:pPr lvl="0"/>
            <a:r>
              <a:rPr/>
              <a:t>它应当能够被目标运行环境访问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10.4 部署应用：代码片段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spark-submit 提交应用并带上运行参数</a:t>
            </a:r>
          </a:p>
          <a:p>
            <a:pPr lvl="0" indent="0">
              <a:buNone/>
            </a:pPr>
            <a:r>
              <a:rPr>
                <a:latin typeface="Courier"/>
              </a:rPr>
              <a:t>./bin/spark-submit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--class </a:t>
            </a:r>
            <a:r>
              <a:rPr>
                <a:solidFill>
                  <a:srgbClr val="902000"/>
                </a:solidFill>
                <a:latin typeface="Courier"/>
              </a:rPr>
              <a:t>\&lt;</a:t>
            </a:r>
            <a:r>
              <a:rPr>
                <a:latin typeface="Courier"/>
              </a:rPr>
              <a:t>main-class</a:t>
            </a:r>
            <a:r>
              <a:rPr>
                <a:solidFill>
                  <a:srgbClr val="902000"/>
                </a:solidFill>
                <a:latin typeface="Courier"/>
              </a:rPr>
              <a:t>\&gt;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--master </a:t>
            </a:r>
            <a:r>
              <a:rPr>
                <a:solidFill>
                  <a:srgbClr val="902000"/>
                </a:solidFill>
                <a:latin typeface="Courier"/>
              </a:rPr>
              <a:t>\&lt;</a:t>
            </a:r>
            <a:r>
              <a:rPr>
                <a:latin typeface="Courier"/>
              </a:rPr>
              <a:t>master-url</a:t>
            </a:r>
            <a:r>
              <a:rPr>
                <a:solidFill>
                  <a:srgbClr val="902000"/>
                </a:solidFill>
                <a:latin typeface="Courier"/>
              </a:rPr>
              <a:t>\&gt;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--deploy-mode </a:t>
            </a:r>
            <a:r>
              <a:rPr>
                <a:solidFill>
                  <a:srgbClr val="902000"/>
                </a:solidFill>
                <a:latin typeface="Courier"/>
              </a:rPr>
              <a:t>\&lt;</a:t>
            </a:r>
            <a:r>
              <a:rPr>
                <a:latin typeface="Courier"/>
              </a:rPr>
              <a:t>deploy-mode</a:t>
            </a:r>
            <a:r>
              <a:rPr>
                <a:solidFill>
                  <a:srgbClr val="902000"/>
                </a:solidFill>
                <a:latin typeface="Courier"/>
              </a:rPr>
              <a:t>\&gt;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--conf </a:t>
            </a:r>
            <a:r>
              <a:rPr>
                <a:solidFill>
                  <a:srgbClr val="902000"/>
                </a:solidFill>
                <a:latin typeface="Courier"/>
              </a:rPr>
              <a:t>\&lt;</a:t>
            </a:r>
            <a:r>
              <a:rPr>
                <a:latin typeface="Courier"/>
              </a:rPr>
              <a:t>key</a:t>
            </a:r>
            <a:r>
              <a:rPr>
                <a:solidFill>
                  <a:srgbClr val="902000"/>
                </a:solidFill>
                <a:latin typeface="Courier"/>
              </a:rPr>
              <a:t>\&gt;</a:t>
            </a:r>
            <a:r>
              <a:rPr>
                <a:latin typeface="Courier"/>
              </a:rPr>
              <a:t>=</a:t>
            </a:r>
            <a:r>
              <a:rPr>
                <a:solidFill>
                  <a:srgbClr val="902000"/>
                </a:solidFill>
                <a:latin typeface="Courier"/>
              </a:rPr>
              <a:t>\&lt;</a:t>
            </a:r>
            <a:r>
              <a:rPr>
                <a:latin typeface="Courier"/>
              </a:rPr>
              <a:t>value</a:t>
            </a:r>
            <a:r>
              <a:rPr>
                <a:solidFill>
                  <a:srgbClr val="902000"/>
                </a:solidFill>
                <a:latin typeface="Courier"/>
              </a:rPr>
              <a:t>\&gt;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... </a:t>
            </a:r>
            <a:r>
              <a:rPr i="1">
                <a:solidFill>
                  <a:srgbClr val="60A0B0"/>
                </a:solidFill>
                <a:latin typeface="Courier"/>
              </a:rPr>
              <a:t># other options</a:t>
            </a:r>
            <a:br/>
            <a:r>
              <a:rPr>
                <a:latin typeface="Courier"/>
              </a:rPr>
              <a:t>\&lt;application-jar\&gt;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solidFill>
                  <a:srgbClr val="BC7A00"/>
                </a:solidFill>
                <a:latin typeface="Courier"/>
              </a:rPr>
              <a:t>[</a:t>
            </a:r>
            <a:r>
              <a:rPr>
                <a:solidFill>
                  <a:srgbClr val="BB6688"/>
                </a:solidFill>
                <a:latin typeface="Courier"/>
              </a:rPr>
              <a:t>application</a:t>
            </a:r>
            <a:r>
              <a:rPr>
                <a:solidFill>
                  <a:srgbClr val="BC7A00"/>
                </a:solidFill>
                <a:latin typeface="Courier"/>
              </a:rPr>
              <a:t>-</a:t>
            </a:r>
            <a:r>
              <a:rPr>
                <a:solidFill>
                  <a:srgbClr val="BB6688"/>
                </a:solidFill>
                <a:latin typeface="Courier"/>
              </a:rPr>
              <a:t>arguments</a:t>
            </a:r>
            <a:r>
              <a:rPr>
                <a:solidFill>
                  <a:srgbClr val="BC7A00"/>
                </a:solidFill>
                <a:latin typeface="Courier"/>
              </a:rPr>
              <a:t>]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 application locally on 8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Run application locally on 8 cores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 on a Spark standalone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Run on a Spark standalone cluster in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 on a Spark standalone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Run on a Spark standalone cluster in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 on a YARN cluster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Run on a YARN cluster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 a Python application on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Run a Python application on a Spark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 on a Kubernetes cluster in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//https</a:t>
            </a:r>
          </a:p>
          <a:p>
            <a:pPr lvl="0" indent="0">
              <a:buNone/>
            </a:pPr>
            <a:r>
              <a:rPr>
                <a:latin typeface="Courier"/>
              </a:rPr>
              <a:t>命令 10.19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10.4.1 结构化流提交示例（1/2）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给出一个版本相关的最小示例模板</a:t>
            </a:r>
          </a:p>
          <a:p>
            <a:pPr lvl="0"/>
            <a:r>
              <a:rPr/>
              <a:t>如果你的运行环境版本不同</a:t>
            </a:r>
          </a:p>
          <a:p>
            <a:pPr lvl="0"/>
            <a:r>
              <a:rPr/>
              <a:t>常用参数说明</a:t>
            </a:r>
          </a:p>
          <a:p>
            <a:pPr lvl="0"/>
            <a:r>
              <a:rPr/>
              <a:t>（1）–packages org.apache.spark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10.4.1 结构化流提交示例（2/2）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结构化流恢复与容错关键目录，建议放在对象存储或HDFS上</a:t>
            </a:r>
          </a:p>
          <a:p>
            <a:pPr lvl="0"/>
            <a:r>
              <a:rPr/>
              <a:t>（3）spark.kubernetes.container.image：需包含应用运行所需JDK/Python及系统依赖</a:t>
            </a:r>
          </a:p>
          <a:p>
            <a:pPr lvl="0"/>
            <a:r>
              <a:rPr/>
              <a:t>（4）如果任务为PySpark</a:t>
            </a:r>
          </a:p>
          <a:p>
            <a:pPr lvl="0"/>
            <a:r>
              <a:rPr/>
              <a:t>给出传递给Spark的几种常见 master URL 格式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10.4.1 结构化流提交示例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spark-submit 提交应用并带上运行参数</a:t>
            </a:r>
          </a:p>
          <a:p>
            <a:pPr lvl="0" indent="0">
              <a:buNone/>
            </a:pPr>
            <a:r>
              <a:rPr>
                <a:latin typeface="Courier"/>
              </a:rPr>
              <a:t>./bin/spark-submit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--name</a:t>
            </a:r>
            <a:r>
              <a:rPr>
                <a:latin typeface="Courier"/>
              </a:rPr>
              <a:t> structured-kafka-job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--class</a:t>
            </a:r>
            <a:r>
              <a:rPr>
                <a:latin typeface="Courier"/>
              </a:rPr>
              <a:t> com.example.StructuredKafkaJob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--master</a:t>
            </a:r>
            <a:r>
              <a:rPr>
                <a:latin typeface="Courier"/>
              </a:rPr>
              <a:t> k8s://https://\&lt;k8s-apiserver\&gt;:6443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--deploy-mode</a:t>
            </a:r>
            <a:r>
              <a:rPr>
                <a:latin typeface="Courier"/>
              </a:rPr>
              <a:t> cluster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--conf</a:t>
            </a:r>
            <a:r>
              <a:rPr>
                <a:latin typeface="Courier"/>
              </a:rPr>
              <a:t> spark.kubernetes.namespace=</a:t>
            </a:r>
            <a:r>
              <a:rPr>
                <a:solidFill>
                  <a:srgbClr val="902000"/>
                </a:solidFill>
                <a:latin typeface="Courier"/>
              </a:rPr>
              <a:t>\&lt;</a:t>
            </a:r>
            <a:r>
              <a:rPr>
                <a:latin typeface="Courier"/>
              </a:rPr>
              <a:t>namespace</a:t>
            </a:r>
            <a:r>
              <a:rPr>
                <a:solidFill>
                  <a:srgbClr val="902000"/>
                </a:solidFill>
                <a:latin typeface="Courier"/>
              </a:rPr>
              <a:t>\&gt;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--conf</a:t>
            </a:r>
            <a:r>
              <a:rPr>
                <a:latin typeface="Courier"/>
              </a:rPr>
              <a:t> spark.kubernetes.authenticate.driver.serviceAccountName=</a:t>
            </a:r>
            <a:r>
              <a:rPr>
                <a:solidFill>
                  <a:srgbClr val="902000"/>
                </a:solidFill>
                <a:latin typeface="Courier"/>
              </a:rPr>
              <a:t>\&lt;</a:t>
            </a:r>
            <a:r>
              <a:rPr>
                <a:latin typeface="Courier"/>
              </a:rPr>
              <a:t>sa-name</a:t>
            </a:r>
            <a:r>
              <a:rPr>
                <a:solidFill>
                  <a:srgbClr val="902000"/>
                </a:solidFill>
                <a:latin typeface="Courier"/>
              </a:rPr>
              <a:t>\&gt;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--conf</a:t>
            </a:r>
            <a:r>
              <a:rPr>
                <a:latin typeface="Courier"/>
              </a:rPr>
              <a:t> spark.kubernetes.container.image=\&lt;registry\&gt;/spark:4.1.1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--conf</a:t>
            </a:r>
            <a:r>
              <a:rPr>
                <a:latin typeface="Courier"/>
              </a:rPr>
              <a:t> spark.executor.instances=3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--conf</a:t>
            </a:r>
            <a:r>
              <a:rPr>
                <a:latin typeface="Courier"/>
              </a:rPr>
              <a:t> spark.executor.cores=2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--conf</a:t>
            </a:r>
            <a:r>
              <a:rPr>
                <a:latin typeface="Courier"/>
              </a:rPr>
              <a:t> spark.executor.memory=4g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# ...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结构化流提交示例：给出传递给Spark的几种常见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先辨认表头含义，再看不同项之间的差异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181600" y="977900"/>
          <a:ext cx="6172200" cy="486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900"/>
                <a:gridCol w="5067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master 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含义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local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用一个工作线程在本地运行Spark，即根本没有并行性。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local[K]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使用K个工作线程在本地运行Spark，理想情况下将其设置为机器上的核心数。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local[K,F]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使用K个工作线程和F个maxFailures本地运行Spark，有关此变量的说明，参阅spark.task.maxFailures。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local[*]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在本地运行Spark，其工作线程与机器上的逻辑内核一样多。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local[*,F]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在本地运行Spark，其工作线程与机器上的逻辑内核一样多和F个maxFailures。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spark://HOST:PORT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连接到给定的Spark Standalone管理节点，端口通常是该管理节点暴露的服务端口，默认常见值为7077。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spark://HOST1:PORT1,HOST2:PORT2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使用ZooKeeper连接到具备高可用配置的Spark Standalone集群；列表中应包含全部候选管理节点地址。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k8s://https://HOST:PORT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连接到给定的 Kubernetes API Server，常见端口为 6443。通常配合 –deploy-mode cluster 与 spark.kubernetes.* 配置提交。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yarn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根据–deploy-mode的值，以client或cluster模式连接到YARN集群，将基于HADOOP_CONF_DIR或YARN_CONF_DIR变量找到集群位置。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10.4.2 集群架构（1/2）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从运行时视角看，一个 Spark 应用就是一组相互协作的集群进程</a:t>
            </a:r>
          </a:p>
          <a:p>
            <a:pPr lvl="0"/>
            <a:r>
              <a:rPr/>
              <a:t>Cluster Manager 负责分配资源</a:t>
            </a:r>
          </a:p>
          <a:p>
            <a:pPr lvl="0"/>
            <a:r>
              <a:rPr/>
              <a:t>理解这三者的关系，是后面看部署模式、资源配置和故障定位的基础</a:t>
            </a:r>
          </a:p>
          <a:p>
            <a:pPr lvl="0"/>
            <a:r>
              <a:rPr/>
              <a:t>图例 10‑2 集群框架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10.4.2 集群架构（2/2）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如果用更贴近当前实践的说法来描述，Spark运行时通常由三类角色组成</a:t>
            </a:r>
          </a:p>
          <a:p>
            <a:pPr lvl="0"/>
            <a:r>
              <a:rPr/>
              <a:t>负责创建SparkSession或SparkContext</a:t>
            </a:r>
          </a:p>
          <a:p>
            <a:pPr lvl="0"/>
            <a:r>
              <a:rPr/>
              <a:t>（2）执行器（Executor）：负责实际执行任务、缓存数据并回传状态</a:t>
            </a:r>
          </a:p>
          <a:p>
            <a:pPr lvl="0"/>
            <a:r>
              <a:rPr/>
              <a:t>（3）集群管理器（Cluster Manager）：负责为应用分配资源，例如Standalone、YARN或Kubernetes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10.4.3 集群管理（1/2）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当前最常见的三类选择就是 Standalone</a:t>
            </a:r>
          </a:p>
          <a:p>
            <a:pPr lvl="0"/>
            <a:r>
              <a:rPr/>
              <a:t>选择哪种集群管理器，取决于应用目标、现有基础设施和团队运维方式</a:t>
            </a:r>
          </a:p>
          <a:p>
            <a:pPr lvl="0"/>
            <a:r>
              <a:rPr/>
              <a:t>对于已经运行在Hadoop体系中的平台，YARN更自然</a:t>
            </a:r>
          </a:p>
          <a:p>
            <a:pPr lvl="0"/>
            <a:r>
              <a:rPr/>
              <a:t>目前本章重点覆盖三种常见方案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10.4.3 集群管理（2/2）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（1）Standalone：适合教学、实验和小规模独立部署</a:t>
            </a:r>
          </a:p>
          <a:p>
            <a:pPr lvl="0"/>
            <a:r>
              <a:rPr/>
              <a:t>（2）Kubernetes：适合云原生部署</a:t>
            </a:r>
          </a:p>
          <a:p>
            <a:pPr lvl="0"/>
            <a:r>
              <a:rPr/>
              <a:t>（3）Hadoop YARN：Hadoop生态中的资源管理器</a:t>
            </a:r>
          </a:p>
          <a:p>
            <a:pPr lvl="0"/>
            <a:r>
              <a:rPr/>
              <a:t>尤其适合需要镜像化交付、弹性扩缩容和统一容器运维的平台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2026-04-05T02:26:01Z</dcterms:created>
  <dcterms:modified xsi:type="dcterms:W3CDTF">2026-04-05T02:26:01Z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