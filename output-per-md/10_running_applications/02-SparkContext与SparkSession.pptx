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9" Type="http://schemas.openxmlformats.org/officeDocument/2006/relationships/theme" Target="theme/theme1.xml" /><Relationship Id="rId18" Type="http://schemas.openxmlformats.org/officeDocument/2006/relationships/viewProps" Target="viewProps.xml" /><Relationship Id="rId1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 Spark 4.x 中，应用程序应优先以 SparkSession 作为统一入口。它把结构化数据、SQL、Structured Streaming 以及底层执行上下文组织在同一个对象里，能让应用代码保持更一致的初始化方式。 接下来重点看 SparkContext与SparkSession，先把这一节要处理的对象和关键步骤放稳。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应用程序应优先以 SparkSession 作为统一入口。它把结构化数据、SQL、Structured Streaming 以及底层执行上下文组织在同一个对象里，能让应用代码保持更一致的初始化方式。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、HiveContext 等写法，现在更适合作为演进背景来理解，而不再适合作为新项目模板。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SQLContext 和 HiveContext 统一为单一入口对象。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SparkSession 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SparkSession。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默认暴露的是 sc。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 Spark 2.0 之后，交互环境会直接创建名为 spark 的 SparkSession，同时仍然保留底层的 sc 以便访问 SparkContext。也可以理解成，今天读者在 shell 里通常先接触到的是统一入口 spark，而不是多个并列上下文对象。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为了理解提交、调度与资源协作关系，下面先简单看一下 SparkContext 在运行时中的位置。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先创建 SparkSession 作为统一入口。只要把这一步的输入、输出和作用说清楚，后面的内容就容易接上。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在 Spark 2.0 之后，再看 先创建 SparkSession 作为统一入口。把这两步连起来讲清楚，页面内容和后面的实现流程就能对上。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先创建 SparkSession 作为统一入口。只要把这一步的输入、输出和作用说清楚，后面的内容就容易接上。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这一步把计算结果落到外部系统，供下游查询、报表或下一轮任务继续使用。讲的时候要说明输出位置和结果的消费方式。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SparkContext与SparkSession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 Spark 4.x 中</a:t>
            </a:r>
          </a:p>
          <a:p>
            <a:pPr lvl="0"/>
            <a:r>
              <a:rPr/>
              <a:t>历史上常见的 SQLContext</a:t>
            </a:r>
          </a:p>
          <a:p>
            <a:pPr lvl="0"/>
            <a:r>
              <a:rPr/>
              <a:t>SparkSession 在 Spark 2.0 之后已经把</a:t>
            </a:r>
          </a:p>
          <a:p>
            <a:pPr lvl="0"/>
            <a:r>
              <a:rPr/>
              <a:t>可以使用 SparkSession.builder 创建或获取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SparkContext与SparkSe（1/2）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 Spark 4.x 中</a:t>
            </a:r>
          </a:p>
          <a:p>
            <a:pPr lvl="0"/>
            <a:r>
              <a:rPr/>
              <a:t>历史上常见的 SQLContext</a:t>
            </a:r>
          </a:p>
          <a:p>
            <a:pPr lvl="0"/>
            <a:r>
              <a:rPr/>
              <a:t>SparkSession 在 Spark 2.0 之后已经把</a:t>
            </a:r>
          </a:p>
          <a:p>
            <a:pPr lvl="0"/>
            <a:r>
              <a:rPr/>
              <a:t>可以使用 SparkSession.builder 创建或获取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SparkContext与SparkSe（2/2）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10.1 完成后可以调用 stop() 方法关闭当前的</a:t>
            </a:r>
          </a:p>
          <a:p>
            <a:pPr lvl="0"/>
            <a:r>
              <a:rPr/>
              <a:t>代码 10.2 早期 Spark 版本的 spark-shell</a:t>
            </a:r>
          </a:p>
          <a:p>
            <a:pPr lvl="0"/>
            <a:r>
              <a:rPr/>
              <a:t>今天读者在 shell 里通常先接触到的是统一入口 spark</a:t>
            </a:r>
          </a:p>
          <a:p>
            <a:pPr lvl="0"/>
            <a:r>
              <a:rPr/>
              <a:t>代码 10.3 SparkSession 内部封装了 SparkContext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SparkContext与SparkS（1/11）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SparkSession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builder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"Spark SQL basic example"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"spark.some.config.option"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"some-value"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getOrCreate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SparkContext与SparkS（2/11）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10.1 完成后可以调用 stop()</a:t>
            </a:r>
          </a:p>
          <a:p>
            <a:pPr lvl="0" indent="0">
              <a:buNone/>
            </a:pPr>
            <a:r>
              <a:rPr>
                <a:latin typeface="Courier"/>
              </a:rPr>
              <a:t>spark.stop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SparkContext与SparkS（3/11）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 Spark 2.0 之后</a:t>
            </a:r>
          </a:p>
          <a:p>
            <a:pPr lvl="0" indent="0">
              <a:buNone/>
            </a:pPr>
            <a:r>
              <a:rPr>
                <a:latin typeface="Courier"/>
              </a:rPr>
              <a:t>root@3997e0349ac9:~# spark-shell
Spark context Web UI available at http://172.17.0.2:4040
Spark context available as 'sc' (master = local[*], app id = local-1525959700559).
Spark session available as 'spark'.
Welcome to
____ __
/ __/__ ___ _____/ /__
_\ \/ _ \/ _ `/ _  / _/
/___/ .__/\_,_/\_,_/\__\ version 4.1.1
   /_/
Using Scala version 2.13.16 (OpenJDK 64-Bit Server VM, Java 17)
// ...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SparkContext与SparkS（4/11）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 Spark 2.0 之后</a:t>
            </a:r>
          </a:p>
          <a:p>
            <a:pPr lvl="0"/>
            <a:r>
              <a:rPr/>
              <a:t>先创建 SparkSession 作为统一入口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SparkSession@</a:t>
            </a:r>
            <a:r>
              <a:rPr>
                <a:solidFill>
                  <a:srgbClr val="40A070"/>
                </a:solidFill>
                <a:latin typeface="Courier"/>
              </a:rPr>
              <a:t>47</a:t>
            </a:r>
            <a:r>
              <a:rPr>
                <a:latin typeface="Courier"/>
              </a:rPr>
              <a:t>fbf95e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SparkContext@</a:t>
            </a:r>
            <a:r>
              <a:rPr>
                <a:solidFill>
                  <a:srgbClr val="40A070"/>
                </a:solidFill>
                <a:latin typeface="Courier"/>
              </a:rPr>
              <a:t>5e9</a:t>
            </a:r>
            <a:r>
              <a:rPr>
                <a:latin typeface="Courier"/>
              </a:rPr>
              <a:t>af5d4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builder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SparkSession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SparkContext与SparkS（5/11）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返回当前Spark的版本。在内部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version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40A070"/>
                </a:solidFill>
                <a:latin typeface="Courier"/>
              </a:rPr>
              <a:t>1.1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SparkContext与SparkS（6/11）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 indent="0">
              <a:buNone/>
            </a:pPr>
            <a:r>
              <a:rPr>
                <a:latin typeface="Courier"/>
              </a:rPr>
              <a:t>val spark = SparkSession.builder.getOrCreate()
import spark.implicits.\_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SparkContext与SparkS（7/11）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创建一个空的 Dataset[T]。当你已经确定记录类型</a:t>
            </a:r>
          </a:p>
          <a:p>
            <a:pPr lvl="0"/>
            <a:r>
              <a:rPr/>
              <a:t>先对照代码理解 创建一个Dataset[Long]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strings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emptyDataset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strings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strings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printSchema</a:t>
            </a:r>
            <a:br/>
            <a:r>
              <a:rPr>
                <a:latin typeface="Courier"/>
              </a:rPr>
              <a:t>root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end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step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numPartitions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SparkContext与SparkS（8/11）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最后把结果写回外部存储或结果表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"SHOW TABLES"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tableName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isTemporary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solidFill>
                  <a:srgbClr val="902000"/>
                </a:solidFill>
                <a:latin typeface="Courier"/>
              </a:rPr>
              <a:t>boolean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"DROP TABLE IF EXISTS testData"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Let's create a table to SHOW it</a:t>
            </a:r>
            <a:br/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write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"path"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"/tmp/test"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saveAsTable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"testData"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"SHOW TABLES"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+---------+-----------+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tableName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isTemporary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SparkContext与SparkS（9/11）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"myUpper"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toUpperCase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expressions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UserDefinedFunction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UserDefinedFunction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function1\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'a'</a:t>
            </a:r>
            <a:r>
              <a:rPr>
                <a:latin typeface="Courier"/>
              </a:rPr>
              <a:t> to </a:t>
            </a:r>
            <a:r>
              <a:rPr>
                <a:solidFill>
                  <a:srgbClr val="4070A0"/>
                </a:solidFill>
                <a:latin typeface="Courier"/>
              </a:rPr>
              <a:t>'c'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toString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toDS</a:t>
            </a:r>
            <a:br/>
            <a:r>
              <a:rPr>
                <a:latin typeface="Courier"/>
              </a:rPr>
              <a:t>strs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strs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"strs"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*, myUpper(value) UPPER FROM strs"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UPPER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SparkContext与Spark（10/11）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从表创建DataFrame。将表加载为DataFrame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catalog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tableExists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"strs"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Boolean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"strs"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10.2 SparkContext与Spark（11/11）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访问结构化查询实体的元数据目录</a:t>
            </a:r>
          </a:p>
          <a:p>
            <a:pPr lvl="0"/>
            <a:r>
              <a:rPr/>
              <a:t>把原始数据从存储读入 Spark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catalog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listTables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+------------------+--------+-----------+---------+-----------+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database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description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tableType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isTemporary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+------------------+--------+-----------+---------+-----------+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my_permanent_table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default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MANAGED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dfReader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DataFrameReader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2026-04-05T02:25:57Z</dcterms:created>
  <dcterms:modified xsi:type="dcterms:W3CDTF">2026-04-05T02:25:57Z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