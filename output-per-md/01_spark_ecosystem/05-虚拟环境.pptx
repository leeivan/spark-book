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8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7" Type="http://schemas.openxmlformats.org/officeDocument/2006/relationships/theme" Target="theme/theme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由于Spark程序开发的生态环境相对比较复杂和多样，对于初学者带来很多困难。本教程移入虚拟化技术，实现开发环境的统一部署。选择Docker作为虚拟化实验平台，实现开发环境的快速部署。 接下来会依次看 虚拟环境、发展历史，以及 技术特征，后面的实现和案例都会沿着这条线继续展开。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这一页先看前半段主线，重点包括 虚拟环境、发展历史、技术特征，以及 技术架构。先把前面的入口和处理顺序放稳，后面再继续往下展开。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这一页补上后半段主线，重点包括 管理命令。把这几步和前面的内容接起来，整节课的推进顺序就完整了。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Docker 最初是 dotCloud 公司创始人 Solomon Hykes 在法国期间发起的一个公司内部项目，它是基于 dotCloud 公司多年云服务技术的一次革新，并于2013 年 3 月以 Apache 2.0 授权协议开源，主要项目代码在GitHub上进行维护。Docker项目后来还加入了 Linux 基金会，并成立推动开放容器联盟。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Docker自开源后受到广泛的关注和讨论，至今其GitHub项目已经超过3万6千个星标和一万多个Fork。甚至由于Docker项目的火爆，在2013年底，dotCloud公司决定改名为 Docker。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Docker 使用 Google 公司推出的Go语言进行开发实现，基于 Linux 内核的 cgroup、namespace以及AUFS类的Union FS等技术，对进程进行封装隔离，属于 操作系统层面的虚拟化技术。由于隔离的进程独立于宿主和其它的隔离的进程，因此也称其为容器。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进行了进一步的封装，从文件系统、网络互联到进程隔离等等，极大的简化了容器的创建和维护。使得 Docker 技术比虚拟机技术更为轻便、快捷。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的图片比较了 Docker 和传统虚拟化方式的不同之处。传统虚拟机技术是虚拟出一套硬件后，在其上运行一个完整操作系统，在该系统上再运行所需应用进程。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容器内的应用进程直接运行于宿主的内核，容器内没有自己的内核，而且也没有进行硬件虚拟，因此容器要比传统虚拟机更为轻量（图例 1‑6）。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下面的图片比较了 Docker 和传统虚拟化方式的不同之处。传统虚拟机技术是虚拟出一套硬件后，在其上运行一个完整操作系统，在该系统上再运行所需应用进程。而容器内的应用进程直接运行于宿主的内核，容器内没有自己的内核，而且也没有进行硬件虚拟，因此容器要比传统虚拟机更为轻量（图例 1‑6）。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作为一种新兴的虚拟化方式，Docker 跟传统的虚拟化方式相比具有众多的优势。由于容器不需要进行硬件虚拟以及运行完整操作系统等额外开销，Docker 对系统资源的利用率更高。无论是应用执行速度、内存损耗或者文件存储速度，都要比传统虚拟机技术更高效。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使用Docker可以通过定制应用镜像来实现持续集成、持续交付、部署。开发人员可以通过Dockerfile来进行镜像构建，并结合持续集成系统进行集成测试，而运维人员则可以直接在生产环境中快速部署该镜像，甚至结合持续部署系统进行自动部署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Docker 使用的分层存储以及镜像的技术，使得应用重复部分的复用更为容易，也使得应用的维护更新更加简单，基于基础镜像进一步扩展镜像也变得非常简单。另外，Docker 团队同各个开源项目团队一起维护了一大批高质量的官方镜像，既可以直接在生产环境使用，又可以作为基础进一步定制，大大的降低了应用服务的镜像制作成本。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Docker 使用的分层存储以及镜像的技术，使得应用重复部分的复用更为容易，也使得应用的维护更新更加简单，基于基础镜像进一步扩展镜像也变得非常简单。另外，Docker 团队同各个开源项目团队一起维护了一大批高质量的官方镜像，既可以直接在生产环境使用，又可以作为基础进一步定制，大大的降低了应用服务的镜像制作成本。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先把表头对应的对象和维度说清楚，再指出哪些差异最大，以及这些差异能支持什么判断。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Docker使用客户端和服务器架构，客户端与守护进程进行对话，该守护进程完成了构建、运行和分发容器的繁重工作。客户端和守护程序在UNIX套接字或网络接口上使用REST API进行通信。守护程序侦听Docker API请求并管理Docker对象，例如图像，容器，网络和卷。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ker使用客户端和服务器架构，客户端与守护进程进行对话，该守护进程完成了构建、运行和分发容器的繁重工作。客户端和守护程序可以在同一系统上运行，或者可以将客户端连接到远程守护程序。客户端和守护程序在UNIX套接字或网络接口上使用REST API进行通信。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需要了解Docker操作的基本命令，以及虚拟环境的创建、部署等。下面的内容介绍了Docker命令在大部分情境下的使用方法以及应用，可以在进入Spark的实验环节之前进行练习参考，总的来说分为以下几类（图例 1‑8）。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镜像仓库、本地镜像管理 和 其他命令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这张图展示的是 管理命令：图示。讲解时先指出图里最值得看的结构、趋势或对比项，再说明它和正文结论是怎么对应上的。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 虚拟环境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Docker在使用抽象虚拟是经由libvirt的LXC与systemd-ns</a:t>
            </a:r>
          </a:p>
          <a:p>
            <a:pPr lvl="0"/>
            <a:r>
              <a:rPr/>
              <a:t>“Docker是有能力打包应用程序及其虚拟容器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 虚拟环境：学习路线（1/2）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虚拟环境</a:t>
            </a:r>
          </a:p>
          <a:p>
            <a:pPr lvl="0"/>
            <a:r>
              <a:rPr/>
              <a:t>发展历史</a:t>
            </a:r>
          </a:p>
          <a:p>
            <a:pPr lvl="0"/>
            <a:r>
              <a:rPr/>
              <a:t>技术特征</a:t>
            </a:r>
          </a:p>
          <a:p>
            <a:pPr lvl="0"/>
            <a:r>
              <a:rPr/>
              <a:t>技术架构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 虚拟环境：学习路线（2/2）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管理命令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1.5.1 发展历史（1/2）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它是基于 dotCloud 公司多年云服务技术的一次革新</a:t>
            </a:r>
          </a:p>
          <a:p>
            <a:pPr lvl="0"/>
            <a:r>
              <a:rPr/>
              <a:t>Docker最初是在Ubuntu 12.04上开发实现的</a:t>
            </a:r>
          </a:p>
          <a:p>
            <a:pPr lvl="0"/>
            <a:r>
              <a:rPr/>
              <a:t>Red Hat则从RHEL 6.5开始对Docker 进行支持</a:t>
            </a:r>
          </a:p>
          <a:p>
            <a:pPr lvl="0"/>
            <a:r>
              <a:rPr/>
              <a:t>Google 也在其 PaaS 产品中广泛应用 Docker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1.5.1 发展历史（2/2）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最初实现是基于LXC，从 0.7 以后开始去除 LXC</a:t>
            </a:r>
          </a:p>
          <a:p>
            <a:pPr lvl="0"/>
            <a:r>
              <a:rPr/>
              <a:t>Docker 在容器的基础上</a:t>
            </a:r>
          </a:p>
          <a:p>
            <a:pPr lvl="0"/>
            <a:r>
              <a:rPr/>
              <a:t>传统虚拟机技术是虚拟出一套硬件后，在其上运行一个完整操作系统</a:t>
            </a:r>
          </a:p>
          <a:p>
            <a:pPr lvl="0"/>
            <a:r>
              <a:rPr/>
              <a:t>容器内没有自己的内核，也没有进行硬件虚拟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1.5.1 发展历史：图示</a:t>
            </a:r>
          </a:p>
        </p:txBody>
      </p:sp>
      <p:pic>
        <p:nvPicPr>
          <p:cNvPr descr="../../md/media/01_spark_ecosystem/media/image5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429000" y="1816100"/>
            <a:ext cx="53340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1.5.2 技术特征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传统的虚拟机技术启动应用服务往往需要数分钟</a:t>
            </a:r>
          </a:p>
          <a:p>
            <a:pPr lvl="0"/>
            <a:r>
              <a:rPr/>
              <a:t>对开发和运维人员来说，最希望的就是一次创建或配置，可以在任意地方正常运行</a:t>
            </a:r>
          </a:p>
          <a:p>
            <a:pPr lvl="0"/>
            <a:r>
              <a:rPr/>
              <a:t>既可以直接在生产环境使用，又可以作为基础进一步定制</a:t>
            </a:r>
          </a:p>
          <a:p>
            <a:pPr lvl="0"/>
            <a:r>
              <a:rPr/>
              <a:t>表格 1‑2 两种虚拟化技术的对比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技术特征：既可以直接在生产环境使用，又可以作为基础进一步定制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先辨认表头含义，再看不同项之间的差异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容器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虚拟机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启动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秒级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分钟级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硬盘使用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一般为 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一般为 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性能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接近原生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弱于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系统支持量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单机支持上千个容器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一般几十个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1.5.3 技术架构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客户端和守护程序可以在同一系统上运行，或者可以将客户端连接到远程守护程序</a:t>
            </a:r>
          </a:p>
          <a:p>
            <a:pPr lvl="0"/>
            <a:r>
              <a:rPr/>
              <a:t>图例 1‑7 Docker技术框架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1.5.3 技术架构：图示</a:t>
            </a:r>
          </a:p>
        </p:txBody>
      </p:sp>
      <p:pic>
        <p:nvPicPr>
          <p:cNvPr descr="../../md/media/01_spark_ecosystem/media/image6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16000" y="1816100"/>
            <a:ext cx="101473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1.5.4 管理命令（1/2）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本教程的实验环节需要使用Docker部署Spark开发环境</a:t>
            </a:r>
          </a:p>
          <a:p>
            <a:pPr lvl="0"/>
            <a:r>
              <a:rPr/>
              <a:t>生命周期管理</a:t>
            </a:r>
          </a:p>
          <a:p>
            <a:pPr lvl="0"/>
            <a:r>
              <a:rPr/>
              <a:t>操作运维</a:t>
            </a:r>
          </a:p>
          <a:p>
            <a:pPr lvl="0"/>
            <a:r>
              <a:rPr/>
              <a:t>根文件系统命令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1.5.4 管理命令（2/2）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镜像仓库</a:t>
            </a:r>
          </a:p>
          <a:p>
            <a:pPr lvl="0"/>
            <a:r>
              <a:rPr/>
              <a:t>本地镜像管理</a:t>
            </a:r>
          </a:p>
          <a:p>
            <a:pPr lvl="0"/>
            <a:r>
              <a:rPr/>
              <a:t>其他命令</a:t>
            </a:r>
          </a:p>
          <a:p>
            <a:pPr lvl="0"/>
            <a:r>
              <a:rPr/>
              <a:t>图例 1‑8 在各个阶段运行的Docker命令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1.5.4 管理命令：代码片段（1/9）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（1）列出机器上的镜像</a:t>
            </a:r>
          </a:p>
          <a:p>
            <a:pPr lvl="0"/>
            <a:r>
              <a:rPr/>
              <a:t>先对照代码理解 （2）在Docker Hub中搜索镜像</a:t>
            </a:r>
          </a:p>
          <a:p>
            <a:pPr lvl="0"/>
            <a:r>
              <a:rPr/>
              <a:t>先对照代码理解 （3）从公共注册中心中下拉镜像。 的执行步骤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images</a:t>
            </a:r>
            <a:br/>
            <a:r>
              <a:rPr>
                <a:latin typeface="Courier"/>
              </a:rPr>
              <a:t>REPOSITORY TAG IMAGE ID CREATED VIRTUAL SIZE</a:t>
            </a:r>
            <a:br/>
            <a:r>
              <a:rPr>
                <a:latin typeface="Courier"/>
              </a:rPr>
              <a:t>ubuntu 14.10 2185fd50e2ca 13 days ago 236.9 MB</a:t>
            </a:r>
            <a:br/>
            <a:r>
              <a:rPr>
                <a:latin typeface="Courier"/>
              </a:rPr>
              <a:t>…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search spark-lab-env</a:t>
            </a:r>
            <a:br/>
            <a:r>
              <a:rPr>
                <a:latin typeface="Courier"/>
              </a:rPr>
              <a:t>NAME DESCRIPTION STARS OFFICIAL AUTOMATED</a:t>
            </a:r>
            <a:br/>
            <a:r>
              <a:rPr>
                <a:latin typeface="Courier"/>
              </a:rPr>
              <a:t>leeivan/spark-lab-env Spark Lab Enviroment 0 0</a:t>
            </a:r>
          </a:p>
          <a:p>
            <a:pPr lvl="0" indent="0" marL="0">
              <a:buNone/>
            </a:pPr>
            <a:r>
              <a:rPr/>
              <a:t>片段 3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pull centos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1.5.4 管理命令：代码片段（2/9）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上面的命令需要注意</a:t>
            </a:r>
          </a:p>
          <a:p>
            <a:pPr lvl="0"/>
            <a:r>
              <a:rPr/>
              <a:t>先对照代码理解 当然也可以从个人的公共仓库（包括自己是私人仓库）拉取</a:t>
            </a:r>
          </a:p>
          <a:p>
            <a:pPr lvl="0"/>
            <a:r>
              <a:rPr/>
              <a:t>先对照代码理解 （4）推送镜像或仓库到注册中心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pull centos:centos6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pull leeivan/spark-lab-env:4.1.1</a:t>
            </a:r>
          </a:p>
          <a:p>
            <a:pPr lvl="0" indent="0" marL="0">
              <a:buNone/>
            </a:pPr>
            <a:r>
              <a:rPr/>
              <a:t>片段 3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push leeivan/spark-lab-env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1.5.4 管理命令：代码片段（3/9）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（5）从镜像启动一个容器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run ubuntu echo "hello world"</a:t>
            </a:r>
            <a:br/>
            <a:r>
              <a:rPr>
                <a:latin typeface="Courier"/>
              </a:rPr>
              <a:t>Unable to find image </a:t>
            </a:r>
            <a:r>
              <a:rPr>
                <a:solidFill>
                  <a:srgbClr val="4070A0"/>
                </a:solidFill>
                <a:latin typeface="Courier"/>
              </a:rPr>
              <a:t>'ubuntu:latest'</a:t>
            </a:r>
            <a:r>
              <a:rPr>
                <a:latin typeface="Courier"/>
              </a:rPr>
              <a:t> locally</a:t>
            </a:r>
            <a:br/>
            <a:r>
              <a:rPr>
                <a:latin typeface="Courier"/>
              </a:rPr>
              <a:t>latest: Pulling from library/ubuntu</a:t>
            </a:r>
            <a:br/>
            <a:r>
              <a:rPr>
                <a:latin typeface="Courier"/>
              </a:rPr>
              <a:t>5c939e3a4d10: Pull complete</a:t>
            </a:r>
            <a:br/>
            <a:r>
              <a:rPr>
                <a:latin typeface="Courier"/>
              </a:rPr>
              <a:t>c63719cdbe7a: Pull complete</a:t>
            </a:r>
            <a:br/>
            <a:r>
              <a:rPr>
                <a:latin typeface="Courier"/>
              </a:rPr>
              <a:t>19a861ea6baf: Pull complete</a:t>
            </a:r>
            <a:br/>
            <a:r>
              <a:rPr>
                <a:latin typeface="Courier"/>
              </a:rPr>
              <a:t>651c9d2d6c4f: Pull complete</a:t>
            </a:r>
            <a:br/>
            <a:r>
              <a:rPr>
                <a:latin typeface="Courier"/>
              </a:rPr>
              <a:t>Digest:</a:t>
            </a:r>
            <a:br/>
            <a:r>
              <a:rPr>
                <a:latin typeface="Courier"/>
              </a:rPr>
              <a:t>sha256:8d31dad0c58f552e890d68bbfb735588b6b820a46e459672d96e585871acc110</a:t>
            </a:r>
            <a:br/>
            <a:r>
              <a:rPr>
                <a:latin typeface="Courier"/>
              </a:rPr>
              <a:t>Status: Downloaded newer image for ubuntu:latest</a:t>
            </a:r>
            <a:br/>
            <a:r>
              <a:rPr>
                <a:latin typeface="Courier"/>
              </a:rPr>
              <a:t>hello world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1.5.4 管理命令：代码片段（4/9）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这是最简单的方式</a:t>
            </a:r>
          </a:p>
          <a:p>
            <a:pPr lvl="0"/>
            <a:r>
              <a:rPr/>
              <a:t>默认有一个–rm=true参数</a:t>
            </a:r>
          </a:p>
          <a:p>
            <a:pPr lvl="0"/>
            <a:r>
              <a:rPr/>
              <a:t>先对照代码理解 这个命令会启动一个伪终端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ps -l</a:t>
            </a:r>
            <a:br/>
            <a:r>
              <a:rPr>
                <a:latin typeface="Courier"/>
              </a:rPr>
              <a:t>CONTAINER ID IMAGE COMMAND CREATED STATUS PORTS NAMES</a:t>
            </a:r>
            <a:br/>
            <a:r>
              <a:rPr>
                <a:latin typeface="Courier"/>
              </a:rPr>
              <a:t>f520084a16a4 ubuntu </a:t>
            </a:r>
            <a:r>
              <a:rPr>
                <a:solidFill>
                  <a:srgbClr val="4070A0"/>
                </a:solidFill>
                <a:latin typeface="Courier"/>
              </a:rPr>
              <a:t>"echo 'hello world'"</a:t>
            </a:r>
            <a:r>
              <a:rPr>
                <a:latin typeface="Courier"/>
              </a:rPr>
              <a:t> 14 minutes ago Exited 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latin typeface="Courier"/>
              </a:rPr>
              <a:t>0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14</a:t>
            </a:r>
            <a:br/>
            <a:r>
              <a:rPr>
                <a:latin typeface="Courier"/>
              </a:rPr>
              <a:t>minutes ago flamboyant_mendel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run -i -t --name spark leeivan/spark-lab-env /bin/bash</a:t>
            </a:r>
            <a:br/>
            <a:r>
              <a:rPr>
                <a:latin typeface="Courier"/>
              </a:rPr>
              <a:t>root@spark:/#</a:t>
            </a:r>
          </a:p>
          <a:p>
            <a:pPr lvl="0" indent="0" marL="0">
              <a:buNone/>
            </a:pPr>
            <a:r>
              <a:rPr/>
              <a:t>片段 3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run -d ubuntu /bin/sh -c "while true; do echo hello world;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sleep</a:t>
            </a:r>
            <a:r>
              <a:rPr>
                <a:latin typeface="Courier"/>
              </a:rPr>
              <a:t> 2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done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>
                <a:solidFill>
                  <a:srgbClr val="4070A0"/>
                </a:solidFill>
                <a:latin typeface="Courier"/>
              </a:rPr>
              <a:t>0d6e40aa8791faae795029f219fba1e95cfa5420eaef6c88ad70623745fb3ac4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1.5.4 管理命令：代码片段（5/9）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docker exec可用来进入容器内</a:t>
            </a:r>
          </a:p>
          <a:p>
            <a:pPr lvl="0"/>
            <a:r>
              <a:rPr/>
              <a:t>先对照代码理解 将容器暴露的所有端口都随机映射到宿主机上</a:t>
            </a:r>
          </a:p>
          <a:p>
            <a:pPr lvl="0"/>
            <a:r>
              <a:rPr/>
              <a:t>先对照代码理解 将容器指定端口随机映射到宿主机一个端口上，例如： 的执行步骤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exec -it spark bash</a:t>
            </a:r>
            <a:br/>
            <a:r>
              <a:rPr>
                <a:latin typeface="Courier"/>
              </a:rPr>
              <a:t>root@spark:/# ls</a:t>
            </a:r>
            <a:br/>
            <a:r>
              <a:rPr>
                <a:latin typeface="Courier"/>
              </a:rPr>
              <a:t>bin boot data dev etc home lib lib64 media mnt opt proc root run sbin</a:t>
            </a:r>
            <a:br/>
            <a:r>
              <a:rPr>
                <a:latin typeface="Courier"/>
              </a:rPr>
              <a:t>spark srv sys tmp usr var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run -P -it ubuntu /bin/bash</a:t>
            </a:r>
          </a:p>
          <a:p>
            <a:pPr lvl="0" indent="0" marL="0">
              <a:buNone/>
            </a:pPr>
            <a:r>
              <a:rPr/>
              <a:t>片段 3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run -P 80 -it ubuntu /bin/bash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1.5.4 管理命令：代码片段（6/9）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将容器指定端口映射到宿主机的一个指定端口上，例如： 的执行步骤</a:t>
            </a:r>
          </a:p>
          <a:p>
            <a:pPr lvl="0"/>
            <a:r>
              <a:rPr/>
              <a:t>先对照代码理解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run -p 8000:80 -it ubuntu /bin/bash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run -p 192.168.0.100::80 -it ubuntu /bin/bash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docker ps</a:t>
            </a:r>
            <a:br/>
            <a:r>
              <a:rPr>
                <a:latin typeface="Courier"/>
              </a:rPr>
              <a:t>CONTAINER ID IMAGE COMMAND CREATED STATUS PORTS NAMES</a:t>
            </a:r>
            <a:br/>
            <a:r>
              <a:rPr>
                <a:latin typeface="Courier"/>
              </a:rPr>
              <a:t>e9584d29f978 ubuntu </a:t>
            </a:r>
            <a:r>
              <a:rPr>
                <a:solidFill>
                  <a:srgbClr val="4070A0"/>
                </a:solidFill>
                <a:latin typeface="Courier"/>
              </a:rPr>
              <a:t>"/bin/bash"</a:t>
            </a:r>
            <a:r>
              <a:rPr>
                <a:latin typeface="Courier"/>
              </a:rPr>
              <a:t> 35 seconds ago Up 34 seconds</a:t>
            </a:r>
            <a:br/>
            <a:r>
              <a:rPr>
                <a:latin typeface="Courier"/>
              </a:rPr>
              <a:t>10.168.2.141:32768-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80/tcp eager_albattani</a:t>
            </a:r>
          </a:p>
          <a:p>
            <a:pPr lvl="0" indent="0" marL="0">
              <a:buNone/>
            </a:pPr>
            <a:r>
              <a:rPr/>
              <a:t>片段 3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run -p 10.168.2.141:8000:80 -it ubuntu /bin/bash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1.5.4 管理命令：代码片段（7/9）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查看容器绑定和映射的端口及Ip地址 的执行步骤</a:t>
            </a:r>
          </a:p>
          <a:p>
            <a:pPr lvl="0"/>
            <a:r>
              <a:rPr/>
              <a:t>先对照代码理解 &lt;host_path</a:t>
            </a:r>
          </a:p>
          <a:p>
            <a:pPr lvl="0"/>
            <a:r>
              <a:rPr/>
              <a:t>先对照代码理解 通过-v参数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port spark</a:t>
            </a:r>
            <a:br/>
            <a:r>
              <a:rPr>
                <a:latin typeface="Courier"/>
              </a:rPr>
              <a:t>4040/tcp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0.0.0.0:4040</a:t>
            </a:r>
            <a:br/>
            <a:r>
              <a:rPr>
                <a:latin typeface="Courier"/>
              </a:rPr>
              <a:t>8080/tcp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0.0.0.0:8080</a:t>
            </a:r>
            <a:br/>
            <a:r>
              <a:rPr>
                <a:latin typeface="Courier"/>
              </a:rPr>
              <a:t>8081/tcp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0.0.0.0:8081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...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run -it -v /home/dock/Downloads:/usr/Downloads ubuntu64</a:t>
            </a:r>
            <a:br/>
            <a:r>
              <a:rPr>
                <a:latin typeface="Courier"/>
              </a:rPr>
              <a:t>/bin/bash</a:t>
            </a:r>
          </a:p>
          <a:p>
            <a:pPr lvl="0" indent="0" marL="0">
              <a:buNone/>
            </a:pPr>
            <a:r>
              <a:rPr/>
              <a:t>片段 3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run -it -v /home/dock/Downloads:/usr/Downloads:ro ubuntu64</a:t>
            </a:r>
            <a:br/>
            <a:r>
              <a:rPr>
                <a:latin typeface="Courier"/>
              </a:rPr>
              <a:t>/bin/bash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1.5.4 管理命令：代码片段（8/9）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docker还提供了一种高级的用法</a:t>
            </a:r>
          </a:p>
          <a:p>
            <a:pPr lvl="0"/>
            <a:r>
              <a:rPr/>
              <a:t>来使用这个数据卷</a:t>
            </a:r>
          </a:p>
          <a:p>
            <a:pPr lvl="0"/>
            <a:r>
              <a:rPr/>
              <a:t>先对照代码理解 如果运行docker run时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run -v /home/dock/Downloads:/usr/Downloads --name dataVol</a:t>
            </a:r>
            <a:br/>
            <a:r>
              <a:rPr>
                <a:latin typeface="Courier"/>
              </a:rPr>
              <a:t>ubuntu64 /bin/bash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run -it --volumes-from dataVol ubuntu64 /bin/bash</a:t>
            </a:r>
            <a:br/>
            <a:r>
              <a:rPr>
                <a:latin typeface="Courier"/>
              </a:rPr>
              <a:t>--volumes-from用来指定要从哪个数据卷来挂载数据。</a:t>
            </a:r>
          </a:p>
          <a:p>
            <a:pPr lvl="0" indent="0" marL="0">
              <a:buNone/>
            </a:pPr>
            <a:r>
              <a:rPr/>
              <a:t>片段 3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run -idt ubuntu</a:t>
            </a:r>
            <a:br/>
            <a:r>
              <a:rPr>
                <a:latin typeface="Courier"/>
              </a:rPr>
              <a:t>243c32535da7d142fb0e6df616a3c3ada0b8ab417937c853a9e1c251f499f550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docker ps</a:t>
            </a:r>
            <a:br/>
            <a:r>
              <a:rPr>
                <a:latin typeface="Courier"/>
              </a:rPr>
              <a:t>CONTAINER ID IMAGE COMMAND CREATED STATUS PORTS NAMES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...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1.5.4 管理命令：代码片段（9/9）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docker attach 也是内建的命令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 attach nostalgic_hypatia</a:t>
            </a:r>
            <a:br/>
            <a:r>
              <a:rPr>
                <a:latin typeface="Courier"/>
              </a:rPr>
              <a:t>root@243c32535da7:/#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1.5.4 管理命令：图示</a:t>
            </a:r>
          </a:p>
        </p:txBody>
      </p:sp>
      <p:pic>
        <p:nvPicPr>
          <p:cNvPr descr="../../md/media/01_spark_ecosystem/media/image7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708400" y="1816100"/>
            <a:ext cx="47625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ocker_cli_stage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2026-04-05T02:23:59Z</dcterms:created>
  <dcterms:modified xsi:type="dcterms:W3CDTF">2026-04-05T02:23:59Z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