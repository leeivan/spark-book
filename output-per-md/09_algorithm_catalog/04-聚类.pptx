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聚类任务在 Spark 4.x 中同样优先采用 spark.ml API。本节以 K 均值、LDA、二分 K 均值和高斯混合模型为代表，重点说明适用场景、输入输出列和最小示例。 接下来会依次看 聚类、K 均值，以及 潜在狄利克雷分配（LDA），后面的实现和案例都会沿着这条线继续展开。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这一页先看前半段主线，重点包括 聚类、K 均值、潜在狄利克雷分配（LDA），以及 二分 K 均值。先把前面的入口和处理顺序放稳，后面再继续往下展开。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这一页补上后半段主线，重点包括 高斯混合模型。把这几步和前面的内容接起来，整节课的推进顺序就完整了。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它将数据点划分到预定数量的簇中。Spark 的 KMeans 估算器使用适合分布式训练的初始化策略，并生成 KMeansModel 作为结果模型。在工程实践中，它通常适合作为无监督学习的第一条基线。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LDA 在 Spark 中被实现为一个估算器，可根据数据规模与训练方式选择 EMLDAOptimizer 或 OnlineLDAOptimizer，并输出 LDAModel。对大多数读者来说，真正需要理解的是它解决的问题：不是把样本硬分进某个簇，而是为每篇文档学习“主题分布”，再为每个主题学习“词分布”。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训练LDA模型、代码 9‑126 和 描述主题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它通常比常规 K 均值更适合层次化理解聚类结构，但得到的结果与普通 K 均值并不完全相同。BisectingKMeans 作为估算器实现，并生成 BisectingKMeansModel 作为基础模型。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训练二分 K 均值模型、代码 9‑131 和 评估聚类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高斯混合模型把数据看成由多个高斯子分布混合而成，每个子分布都有自己的均值、协方差和权重。spark.ml 使用 EM 算法在给定样本上估计这一模型。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 聚类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聚类任务在 Spark 4.x 中同样优先采用 spark.ml API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 聚类：学习路线（1/2）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聚类</a:t>
            </a:r>
          </a:p>
          <a:p>
            <a:pPr lvl="0"/>
            <a:r>
              <a:rPr/>
              <a:t>K 均值</a:t>
            </a:r>
          </a:p>
          <a:p>
            <a:pPr lvl="0"/>
            <a:r>
              <a:rPr/>
              <a:t>潜在狄利克雷分配（LDA）</a:t>
            </a:r>
          </a:p>
          <a:p>
            <a:pPr lvl="0"/>
            <a:r>
              <a:rPr/>
              <a:t>二分 K 均值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 聚类：学习路线（2/2）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高斯混合模型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9.4.1 K 均值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K均值（k-means）是最常用的聚类算法之一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9.4.2 潜在狄利克雷分配（LDA）（1/2）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真正需要理解的是它解决的问题</a:t>
            </a:r>
          </a:p>
          <a:p>
            <a:pPr lvl="0"/>
            <a:r>
              <a:rPr/>
              <a:t>代码 9‑124</a:t>
            </a:r>
          </a:p>
          <a:p>
            <a:pPr lvl="0"/>
            <a:r>
              <a:rPr/>
              <a:t>加载数据</a:t>
            </a:r>
          </a:p>
          <a:p>
            <a:pPr lvl="0"/>
            <a:r>
              <a:rPr/>
              <a:t>代码 9‑125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9.4.2 潜在狄利克雷分配（LDA）（2/2）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训练LDA模型</a:t>
            </a:r>
          </a:p>
          <a:p>
            <a:pPr lvl="0"/>
            <a:r>
              <a:rPr/>
              <a:t>代码 9‑126</a:t>
            </a:r>
          </a:p>
          <a:p>
            <a:pPr lvl="0"/>
            <a:r>
              <a:rPr/>
              <a:t>描述主题</a:t>
            </a:r>
          </a:p>
          <a:p>
            <a:pPr lvl="0"/>
            <a:r>
              <a:rPr/>
              <a:t>代码 9‑127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9.4.2 潜在狄利克雷分配（LDA）：代码片段（1/5）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LDA 在 Spark 中被实现为一个估算器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clustering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LDA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clustering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LDA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9.4.2 潜在狄利克雷分配（LDA）：代码片段（2/5）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dataset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format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"libsvm"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load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"/spark/data/example/mllib/sample_lda_libsvm_data.txt"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label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features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vector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9.4.2 潜在狄利克雷分配（LDA）：代码片段（3/5）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训练LDA模型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lda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LDA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setK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setMaxIter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lda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clustering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LDA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lda_0c24c3ec3bab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lda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model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clustering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LDAModel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lda_0c24c3ec3bab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logLikelihood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ll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842.4862800491514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logPerplexity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lp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3.2385774464305963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s"</a:t>
            </a:r>
            <a:r>
              <a:rPr>
                <a:solidFill>
                  <a:srgbClr val="4070A0"/>
                </a:solidFill>
                <a:latin typeface="Courier"/>
              </a:rPr>
              <a:t>The lower bound on the log likelihood of the entire</a:t>
            </a:r>
            <a:br/>
            <a:r>
              <a:rPr>
                <a:latin typeface="Courier"/>
              </a:rPr>
              <a:t>corpus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$ll</a:t>
            </a:r>
            <a:r>
              <a:rPr>
                <a:solidFill>
                  <a:srgbClr val="4070A0"/>
                </a:solidFill>
                <a:latin typeface="Courier"/>
              </a:rPr>
              <a:t>")</a:t>
            </a:r>
            <a:br/>
            <a:r>
              <a:rPr>
                <a:latin typeface="Courier"/>
              </a:rPr>
              <a:t>The lower bound on the log likelihood of the entire corpus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9.4.2 潜在狄利克雷分配（LDA）：代码片段（4/5）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topics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describeTopics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topics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topic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termIndices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array\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\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more field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"The topics described by their top-weighted terms:"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The topics described by their top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weighted terms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topics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+-----+-----------+---------------------------------------------------------------+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topic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termIndices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termWeights 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+-----+-----------+---------------------------------------------------------------+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|[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|[</a:t>
            </a:r>
            <a:r>
              <a:rPr>
                <a:solidFill>
                  <a:srgbClr val="40A070"/>
                </a:solidFill>
                <a:latin typeface="Courier"/>
              </a:rPr>
              <a:t>0.10606441785146535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0.10570106737280574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A070"/>
                </a:solidFill>
                <a:latin typeface="Courier"/>
              </a:rPr>
              <a:t>0.1043039017910825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9.4.2 潜在狄利克雷分配（LDA）：代码片段（5/5）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transformed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transform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transformed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label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features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vector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more field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transformed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+---------------------------------------------------------------+---------------------------------------------------------------------------------------------------------------------------------------------------------------------------------------------------------------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label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features 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topicDistribution 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+---------------------------------------------------------------+---------------------------------------------------------------------------------------------------------------------------------------------------------------------------------------------------------------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|(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,[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|[</a:t>
            </a:r>
            <a:r>
              <a:rPr>
                <a:solidFill>
                  <a:srgbClr val="40A070"/>
                </a:solidFill>
                <a:latin typeface="Courier"/>
              </a:rPr>
              <a:t>0.6990501464826979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0.004825989296507445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0.004825964734431469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0.004825959078413314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0.0048259276001261136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0.26234221206965436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0.004825955202628511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0.004826025945501356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0.004825893404537412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0.0048259261855020845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|(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,[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9.4.3 二分 K 均值（1/2）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二分 K 均值是一种使用分裂（或“自上而下”）方法的分层聚类：所有观测都先落在一个簇中，然后递归地继续拆分</a:t>
            </a:r>
          </a:p>
          <a:p>
            <a:pPr lvl="0"/>
            <a:r>
              <a:rPr/>
              <a:t>代码 9‑129</a:t>
            </a:r>
          </a:p>
          <a:p>
            <a:pPr lvl="0"/>
            <a:r>
              <a:rPr/>
              <a:t>加载数据</a:t>
            </a:r>
          </a:p>
          <a:p>
            <a:pPr lvl="0"/>
            <a:r>
              <a:rPr/>
              <a:t>代码 9‑130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9.4.3 二分 K 均值（2/2）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训练二分 K 均值模型</a:t>
            </a:r>
          </a:p>
          <a:p>
            <a:pPr lvl="0"/>
            <a:r>
              <a:rPr/>
              <a:t>代码 9‑131</a:t>
            </a:r>
          </a:p>
          <a:p>
            <a:pPr lvl="0"/>
            <a:r>
              <a:rPr/>
              <a:t>评估聚类</a:t>
            </a:r>
          </a:p>
          <a:p>
            <a:pPr lvl="0"/>
            <a:r>
              <a:rPr/>
              <a:t>代码 9‑132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9.4.3 二分 K 均值：代码片段（1/5）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二分 K 均值是一种使用分裂（或“自上而下”）方法的分层聚类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clustering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BisectingKMeans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clustering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BisectingKMeans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9.4.3 二分 K 均值：代码片段（2/5）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dataset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format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"libsvm"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load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"/spark/data/example/mllib/sample_kmeans_data.txt"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label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features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vector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9.4.3 二分 K 均值：代码片段（3/5）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训练二分 K 均值模型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bkm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BisectingKMeans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setK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setSeed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bkm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clustering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BisectingKMeans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bisecting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kmeans_bf550173fc8c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bkm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model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clustering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BisectingKMeansModel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bisecting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kmeans_bf550173fc8c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9.4.3 二分 K 均值：代码片段（4/5）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评估聚类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cost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computeCost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dataset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cost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0.11999999999994547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s"</a:t>
            </a:r>
            <a:r>
              <a:rPr>
                <a:solidFill>
                  <a:srgbClr val="4070A0"/>
                </a:solidFill>
                <a:latin typeface="Courier"/>
              </a:rPr>
              <a:t>Within Set Sum of Squared Errors = </a:t>
            </a:r>
            <a:r>
              <a:rPr>
                <a:solidFill>
                  <a:srgbClr val="BB6688"/>
                </a:solidFill>
                <a:latin typeface="Courier"/>
              </a:rPr>
              <a:t>$cost"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Within Set Sum of Squared Errors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0.11999999999994547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9.4.3 二分 K 均值：代码片段（5/5）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显示结果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"Cluster Centers: 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Cluster Centers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centers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clusterCenters</a:t>
            </a:r>
            <a:br/>
            <a:r>
              <a:rPr>
                <a:latin typeface="Courier"/>
              </a:rPr>
              <a:t>centers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linalg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Vector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([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9.1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9.1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9.1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centers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foreach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9.1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9.1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9.1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9.4.4 高斯混合模型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相比 K 均值，它更适合描述“簇是椭球形且重叠”的场景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2026-04-05T02:25:54Z</dcterms:created>
  <dcterms:modified xsi:type="dcterms:W3CDTF">2026-04-05T02:25:54Z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