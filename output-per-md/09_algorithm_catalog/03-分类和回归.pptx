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notesMaster" Target="notesMasters/notesMaster1.xml" /><Relationship Id="rId1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8" Type="http://schemas.openxmlformats.org/officeDocument/2006/relationships/theme" Target="theme/theme1.xml" /><Relationship Id="rId17" Type="http://schemas.openxmlformats.org/officeDocument/2006/relationships/viewProps" Target="viewProps.xml" /><Relationship Id="rId16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本节按问题类型整理分类与回归算法。对于Spark 4.x新项目，优先关注spark.ml中基于DataFrame的实现。spark.mllib相关内容主要用于兼容旧工程或帮助理解算法演进。 接下来会依次看 分类和回归、线性方法，以及 分类，后面的实现和案例都会沿着这条线继续展开。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这一页先把 9.3 分类和回归 的主线串起来，重点包括 分类和回归、线性方法、分类，以及 回归。先知道每一步要解决什么问题，后面的细节就更容易跟住。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本节按问题类型整理分类与回归算法、下表先给出常见问题类型与算法索引 和 表格 9‑8 问题类型和支持方法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表中的比较关系。只要把这一步的输入、输出和作用说清楚，后面的内容就容易接上。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在数学上，它被定义为 L 下标 1 和 L 下标 2 正则化项的凸组合、公式 9‑1 和 为了更直观地理解上式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权重越大，表示该特征对预测的影响通常越大、拉姆达 控制整体正则化强度：拉姆达 越大，惩罚越强 和 阿尔法 控制两种正则化的比例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这一页重点讨论的是 线性方法：在数学上，它被定义为 L 下标 1 和 L。讲的时候不要只念标题，要把它放回本节主线里，说明它解决什么问题以及为什么需要这一步。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许多标准的机器学习方法都可以被表述为一个优化问题：找到一组参数（权重）向量 w ，使目标函数 f(w) 尽可能小。这里说“凸优化”，主要是因为凸函数不会出现“局部最小但不是全局最小”的陷阱，优化更可靠。形式化地，可以写成 最小值 下标 w 属于 R 的 d 次方 f(w) ，其中目标函数常写为。公式 9‑2。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目标函数 f 有两个部分：控制模型复杂度的正则化器和测量训练数据模型误差的损失。损失函数 </a:t>
            </a:r>
            <a:r>
              <a:rPr/>
              <a:t>L(\mathbf{w}。\mathbf{x},y)通常是关于\mathbf{w}</a:t>
            </a:r>
            <a:r>
              <a:rPr/>
              <a:t> 的一个凸函数。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上面的数学公式把二元标签 y 写成 加 1 （正类）和 1 （负类），这样更便于推导。而在 spark.mllib 的旧接口里，负类通常写成 0 ，以便和多类标签体系保持一致。下表保留 spark.mllib 的历史写法，便于与旧代码对照。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先把表头对应的对象和维度说清楚，再指出哪些差异最大，以及这些差异能支持什么判断。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阅读时建议优先关注“输入列/输出列/评估方式”这三件事，而不是死记单个算法类名、从工程选型角度看 和 如果特征既有连续值也有离散值，而且关系可能明显非线性，再看决策树或随机森林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下面的分类算法小节，可以把这条判断路径当成阅读顺序：先看基线模型，再看树模型与集成模型，最后再结合数据规模、特征形态和解释需求决定取舍。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这一页重点放在 目标变量形态、是否需要可解释性。只要把这一步的输入、输出和作用说清楚，后面的内容就容易接上。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 分类和回归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本节按问题类型整理分类与回归算法</a:t>
            </a:r>
          </a:p>
          <a:p>
            <a:pPr lvl="0"/>
            <a:r>
              <a:rPr/>
              <a:t>下表先给出常见问题类型与算法索引</a:t>
            </a:r>
          </a:p>
          <a:p>
            <a:pPr lvl="0"/>
            <a:r>
              <a:rPr/>
              <a:t>表格 9‑8 问题类型和支持方法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 分类和回归：学习路线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分类和回归</a:t>
            </a:r>
          </a:p>
          <a:p>
            <a:pPr lvl="0"/>
            <a:r>
              <a:rPr/>
              <a:t>线性方法</a:t>
            </a:r>
          </a:p>
          <a:p>
            <a:pPr lvl="0"/>
            <a:r>
              <a:rPr/>
              <a:t>分类</a:t>
            </a:r>
          </a:p>
          <a:p>
            <a:pPr lvl="0"/>
            <a:r>
              <a:rPr/>
              <a:t>回归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 分类和回归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本节按问题类型整理分类与回归算法</a:t>
            </a:r>
          </a:p>
          <a:p>
            <a:pPr lvl="0"/>
            <a:r>
              <a:rPr/>
              <a:t>下表先给出常见问题类型与算法索引</a:t>
            </a:r>
          </a:p>
          <a:p>
            <a:pPr lvl="0"/>
            <a:r>
              <a:rPr/>
              <a:t>表格 9‑8 问题类型和支持方法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分类和回归：spark.mllib相关内容主要用于兼容旧工程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"/>
                <a:gridCol w="5981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问题类型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支持方法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二元分类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SVMs, Logistic Regression, Decision Trees, Random Forests, Gradient-Boosted Trees, Naive Bayes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多元分类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Logistic Regression, Decision Trees, Random Forests, Naive Bayes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回归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 Least Squares, Lasso, Ridge Regression, Decision Trees, Random Forests, Gradient-Boosted Trees, Isotonic Regression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9.3.1 线性方法（1/2）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在数学上，它被定义为 L 下标 1 和 L 下标 2 正则化项的凸组合</a:t>
            </a:r>
          </a:p>
          <a:p>
            <a:pPr lvl="0"/>
            <a:r>
              <a:rPr/>
              <a:t>公式 9‑1</a:t>
            </a:r>
          </a:p>
          <a:p>
            <a:pPr lvl="0"/>
            <a:r>
              <a:rPr/>
              <a:t>为了更直观地理解上式</a:t>
            </a:r>
          </a:p>
          <a:p>
            <a:pPr lvl="0"/>
            <a:r>
              <a:rPr/>
              <a:t>w 是模型要学习的权重向量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9.3.1 线性方法（2/2）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权重越大，表示该特征对预测的影响通常越大</a:t>
            </a:r>
          </a:p>
          <a:p>
            <a:pPr lvl="0"/>
            <a:r>
              <a:rPr/>
              <a:t>拉姆达 控制整体正则化强度：拉姆达 越大，惩罚越强</a:t>
            </a:r>
          </a:p>
          <a:p>
            <a:pPr lvl="0"/>
            <a:r>
              <a:rPr/>
              <a:t>阿尔法 控制两种正则化的比例：当 阿尔法 等于 1 时退化为 Lasso（纯 L 下标 1 ）</a:t>
            </a:r>
          </a:p>
          <a:p>
            <a:pPr lvl="0"/>
            <a:r>
              <a:rPr/>
              <a:t>当 阿尔法 等于 0 时退化为岭回归（纯 L 下标 2 ）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线性方法：在数学上，它被定义为 L 下标 1 和 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α</m:t>
                      </m:r>
                      <m:r>
                        <m:t>λ</m:t>
                      </m:r>
                      <m:sSub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)</m:t>
                      </m:r>
                      <m:f>
                        <m:fPr>
                          <m:type m:val="bar"/>
                        </m:fPr>
                        <m:num>
                          <m:r>
                            <m:t>λ</m:t>
                          </m:r>
                        </m:num>
                        <m:den>
                          <m:r>
                            <m:t>2</m:t>
                          </m:r>
                        </m:den>
                      </m:f>
                      <m:sSubSup>
                        <m:e>
                          <m:d>
                            <m:dPr>
                              <m:begChr m:val="‖"/>
                              <m:sepChr m:val=""/>
                              <m:endChr m:val="‖"/>
                              <m:grow/>
                            </m:dPr>
                            <m:e>
                              <m:r>
                                <m:rPr>
                                  <m:sty m:val="bi"/>
                                </m:rPr>
                                <m:t>w</m:t>
                              </m:r>
                            </m:e>
                          </m:d>
                        </m:e>
                        <m:sub>
                          <m:r>
                            <m:t>2</m:t>
                          </m:r>
                        </m:sub>
                        <m:sup>
                          <m:r>
                            <m:t>2</m:t>
                          </m:r>
                        </m:sup>
                      </m:sSubSup>
                      <m:r>
                        <m:rPr>
                          <m:sty m:val="p"/>
                        </m:rPr>
                        <m:t>,</m:t>
                      </m:r>
                      <m:r>
                        <m:t> </m:t>
                      </m:r>
                      <m:r>
                        <m:t>α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0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]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 </m:t>
                      </m:r>
                      <m:r>
                        <m:t>λ</m:t>
                      </m:r>
                      <m:r>
                        <m:rPr>
                          <m:sty m:val="p"/>
                        </m:rPr>
                        <m:t>≥</m:t>
                      </m:r>
                      <m:r>
                        <m:t>0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线性方法：许多标准的机器学习方法都可以被表述为一个优化问题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8627936-7FCB-D70F-0816-80204DB4FD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f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w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λ</m:t>
                      </m:r>
                      <m:r>
                        <m:t>R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w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+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bHide m:val="off"/>
                          <m:supHide m:val="off"/>
                        </m:naryPr>
                        <m:sub>
                          <m:r>
                            <m:t>i</m:t>
                          </m:r>
                          <m:r>
                            <m:rPr>
                              <m:sty m:val="p"/>
                            </m:rPr>
                            <m:t>=</m:t>
                          </m:r>
                          <m:r>
                            <m:t>1</m:t>
                          </m:r>
                        </m:sub>
                        <m:sup>
                          <m:r>
                            <m:t>n</m:t>
                          </m:r>
                        </m:sup>
                        <m:e>
                          <m:r>
                            <m:t>L</m:t>
                          </m:r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w</m:t>
                      </m:r>
                      <m:r>
                        <m:rPr>
                          <m:sty m:val="p"/>
                        </m:rPr>
                        <m:t>;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m:t>x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,</m:t>
                      </m:r>
                      <m:sSub>
                        <m:e>
                          <m:r>
                            <m:t>y</m:t>
                          </m:r>
                        </m:e>
                        <m:sub>
                          <m: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线性方法：下表总结了历史 spark.mllib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"/>
                <a:gridCol w="2070100"/>
                <a:gridCol w="39751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损失函数  L(;,y)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渐变或次渐变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铰链损失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,y 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  （当 y^{T} &lt; 1 ）；否则为 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逻辑损失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log(1 + exp( - y^{T})),y 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y(1 - ) 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平方损失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(^{T} - y)^{2},y 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(^{T} - y) 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线性方法：正则化的目的是鼓励简单模型、降低过拟合风险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先辨认表头含义，再看不同项之间的差异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181600" y="977900"/>
          <a:ext cx="6172200" cy="486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400"/>
                <a:gridCol w="3175000"/>
                <a:gridCol w="2209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正则化 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渐变或次渐变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zero(unregularized)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_{2}^{2}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_{1}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弹性网络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i="1"/>
                        <a:t>{1} + (1 - )</a:t>
                      </a:r>
                      <a:r>
                        <a:rPr/>
                        <a:t>{2}^{2}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,sign() + (1 - 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9.3.2 分类（1/2）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阅读时建议优先关注“输入列/输出列/评估方式”这三件事，而不是死记单个算法类名</a:t>
            </a:r>
          </a:p>
          <a:p>
            <a:pPr lvl="0"/>
            <a:r>
              <a:rPr/>
              <a:t>从工程选型角度看，一个实用的起步判断通常是：如果需要一个易解释、训练快、便于做概率输出和阈值调整的基线模型，先看逻辑回归</a:t>
            </a:r>
          </a:p>
          <a:p>
            <a:pPr lvl="0"/>
            <a:r>
              <a:rPr/>
              <a:t>如果特征既有连续值也有离散值，而且关系可能明显非线性，再看决策树或随机森林</a:t>
            </a:r>
          </a:p>
          <a:p>
            <a:pPr lvl="0"/>
            <a:r>
              <a:rPr/>
              <a:t>如果希望在可接受的训练成本下继续追求更高精度，可以进一步考虑 GBT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9.3.2 分类（2/2）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可以把这条判断路径当成阅读顺序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9.3.3 回归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目标变量形态、是否需要可解释性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2026-04-05T02:25:53Z</dcterms:created>
  <dcterms:modified xsi:type="dcterms:W3CDTF">2026-04-05T02:25:53Z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