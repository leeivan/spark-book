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app.xml" ContentType="application/vnd.openxmlformats-officedocument.extended-propertie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Overrid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74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 horzBarState="maximized">
    <p:restoredLeft autoAdjust="0" sz="14995"/>
    <p:restoredTop autoAdjust="0" sz="73134"/>
  </p:normalViewPr>
  <p:slideViewPr>
    <p:cSldViewPr snapToGrid="0" snapToObjects="1">
      <p:cViewPr varScale="1">
        <p:scale>
          <a:sx d="100" n="111"/>
          <a:sy d="100" n="111"/>
        </p:scale>
        <p:origin x="594" y="114"/>
      </p:cViewPr>
      <p:guideLst>
        <p:guide orient="horz" pos="2160"/>
        <p:guide pos="3840"/>
      </p:guideLst>
    </p:cSldViewPr>
  </p:slideViewPr>
  <p:notesTextViewPr>
    <p:cViewPr>
      <p:scale>
        <a:sx d="100" n="125"/>
        <a:sy d="100" n="125"/>
      </p:scale>
      <p:origin x="0" y="0"/>
    </p:cViewPr>
  </p:notesTextViewPr>
  <p:sorterViewPr>
    <p:cViewPr>
      <p:scale>
        <a:sx d="100" n="66"/>
        <a:sy d="100" n="66"/>
      </p:scale>
      <p:origin x="0" y="0"/>
    </p:cViewPr>
  </p:sorterViewPr>
  <p:notesViewPr>
    <p:cSldViewPr snapToGrid="0" snapToObjects="1">
      <p:cViewPr varScale="1">
        <p:scale>
          <a:sx d="100" n="74"/>
          <a:sy d="100" n="74"/>
        </p:scale>
        <p:origin x="3528" y="192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notesMaster" Target="notesMasters/notesMaster1.xml" /><Relationship Id="rId8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7" Type="http://schemas.openxmlformats.org/officeDocument/2006/relationships/theme" Target="theme/theme1.xml" /><Relationship Id="rId6" Type="http://schemas.openxmlformats.org/officeDocument/2006/relationships/viewProps" Target="viewProps.xml" /><Relationship Id="rId5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3BC92-6832-A747-B637-CA8F71133A42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9B7EA9-A690-144F-BA16-8B1F010DD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539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第1-4章先建立 Spark 全景和数据处理主线。第5-6章理解流处理和图计算的典型场景。第7-9章重点练习机器学习与特征工程。 接下来会顺着 学习建议（先易后难） 和 一个学习节奏例子 往下展开，把这一节的主线一步一步接起来。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这一页会把 如果你每周学习 3 次，每次 60 分钟： 第1次：读概念 + 抄一遍最小代码、第2次：改参数并观察结果变化 和 第3次：把示例改成你自己的数据字段 串成一条完整流程。讲的时候重点说明每一步接在前一步后面，分别解决了什么问题。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CABF76-9C2F-D371-903D-E97C0E1B9C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2F9890-10D8-CB5F-B6C5-6AA3D4B95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913E87-A25C-F596-9980-BB331ACDF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83217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A5FF4F-7DD0-1B50-1776-21D6767FEC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660517-C7E1-2345-BAEE-7DE4EEC41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ADE76A-020F-D5F0-0BC4-B610078D3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9570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3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040073-8706-9CF2-AB5C-43344524D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8962" y="1709738"/>
            <a:ext cx="1007848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B6A5AA-2CE0-7F97-999B-C5F0DDBAC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8962" y="4589463"/>
            <a:ext cx="10078488" cy="1500187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106CB1-EA12-800C-FE5D-A580F81038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20A361-2D0D-58AE-A643-51A378977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87CFBA-3BD7-C2DF-B3EF-CB4E61251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88649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36834E-C79A-EEEC-7C4D-B21EC99CC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CE83A1-72B1-E824-1FEC-9FA81425D1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D04530-5C4D-D318-A728-0F5A61C8A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011C699-0C81-4E34-1FBE-DAF9131B51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C7A728-6EA6-5B23-E109-2190ADC5E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51E736-A63F-E249-DAAD-375440957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3756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7B26F5-D101-7F53-EEA6-B180C2D3E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523223-7C55-5B3B-9E25-5DBF0C984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0B2B2FF-B432-8FC4-4967-D96BF98AF7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1C93D20-432B-7986-DC93-16510407A3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82581EC-B1B9-061F-D484-D2558A5863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6A5BF5B-F3CF-47CF-BE24-A37965296F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45CDA27-DD70-2B01-5F59-257B263DA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875554E-B481-827A-280A-5CFE24C3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8539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175C2C-5148-B92D-0F2C-01739D3A3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86D78FA-5E3B-1D60-F1DF-9C9D717C33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E05D53A-E3B7-A12B-A85C-94087F17F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0B9AB23-A358-A513-F247-6668D1A71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1027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A1C6BA2-220C-C148-07F6-4F9EFDCF0B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C964A1C-DA2A-2AFD-30E4-0884A5B01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517830-35C2-8994-A464-96771B000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8729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6D2CB4-AB0D-17DE-E2B4-209C273FC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F0E53D-7A81-84EB-758C-7F237FBAD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99B1241-8411-8D36-A148-57CE3BE46F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1E7D7C1-BED9-CCE3-1928-1646D4F172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176011-BC01-0349-F55D-BB6FB8393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3A4B918-0508-C574-25D4-E60D9AF29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7031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2217CC-6ABA-2E5C-F68E-2016D6773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EF7925F-0C0E-5E47-AB8B-D7C46C5F2C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37ACCD2-AA78-6C23-14F6-251A042FD0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DF9F0E-8B9C-0C2B-54FC-1914BEC8AD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F57E80-0D1C-034D-97FC-0F7515CC5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08D629-2887-6D93-5948-37C821477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7010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88E821-5A2C-D478-CC69-D9FCF918B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138B5FD-C9D5-1F5D-4127-D4692377A8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ADB43B-FD92-40FB-7B50-30ECF4001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BC46E9-B1B0-7A6A-491D-CC69ED647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019B09-F8C1-4ACD-8941-CB6457B59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4897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12E23E3-A5B8-E1F3-CCAE-C8FC039869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35ABE13-47FF-9320-0BD9-0213F7FC7B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BB3054-4D7F-3B3B-E1A3-1357944A12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02E990-2169-8BC6-65CE-47FB9207B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2F675A-7299-AC6A-E0D6-3D6A6E154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27382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030727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6626394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6709499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18" Target="../media/hdphoto1.wdp" Type="http://schemas.microsoft.com/office/2007/relationships/hdphoto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media/image2.png" Type="http://schemas.openxmlformats.org/officeDocument/2006/relationships/image" /><Relationship Id="rId2" Target="../slideLayouts/slideLayout2.xml" Type="http://schemas.openxmlformats.org/officeDocument/2006/relationships/slideLayout" /><Relationship Id="rId16" Target="../media/image1.jpeg" Type="http://schemas.openxmlformats.org/officeDocument/2006/relationships/image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5" Target="../theme/theme1.xml" Type="http://schemas.openxmlformats.org/officeDocument/2006/relationships/theme" /><Relationship Id="rId10" Target="../slideLayouts/slideLayout10.xml" Type="http://schemas.openxmlformats.org/officeDocument/2006/relationships/slideLayout" /><Relationship Id="rId19" Target="../media/image3.png" Type="http://schemas.openxmlformats.org/officeDocument/2006/relationships/image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16">
            <a:alphaModFix amt="20000"/>
            <a:lum/>
          </a:blip>
          <a:srcRect/>
          <a:stretch>
            <a:fillRect b="-17000" t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714DF98-5C64-7150-9E37-0A26AD552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5519"/>
            <a:ext cx="10515600" cy="584775"/>
          </a:xfrm>
          <a:prstGeom prst="rect">
            <a:avLst/>
          </a:prstGeom>
          <a:noFill/>
        </p:spPr>
        <p:txBody>
          <a:bodyPr anchor="ctr" bIns="45720" lIns="91440" rIns="91440" rtlCol="0" tIns="45720" vert="horz" wrap="square">
            <a:sp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altLang="en-US" dirty="0" lang="zh-CN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1ED77A-6F56-8189-29CB-B4EB20CA5FD3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altLang="en-US" dirty="0" lang="zh-CN"/>
              <a:t>单击此处编辑母版文本样式</a:t>
            </a:r>
          </a:p>
          <a:p>
            <a:pPr lvl="1"/>
            <a:r>
              <a:rPr altLang="en-US" dirty="0" lang="zh-CN"/>
              <a:t>二级</a:t>
            </a:r>
          </a:p>
          <a:p>
            <a:pPr lvl="2"/>
            <a:r>
              <a:rPr altLang="en-US" dirty="0" lang="zh-CN"/>
              <a:t>三级</a:t>
            </a:r>
          </a:p>
          <a:p>
            <a:pPr lvl="3"/>
            <a:r>
              <a:rPr altLang="en-US" dirty="0" lang="zh-CN"/>
              <a:t>四级</a:t>
            </a:r>
          </a:p>
          <a:p>
            <a:pPr lvl="4"/>
            <a:r>
              <a:rPr altLang="en-US" dirty="0" lang="zh-CN"/>
              <a:t>五级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6CC9F776-5292-4839-0068-42EAAE8C7659}"/>
              </a:ext>
            </a:extLst>
          </p:cNvPr>
          <p:cNvPicPr>
            <a:picLocks noChangeAspect="1"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10252A6B-D22C-1FFF-7CD7-2797A3B06E02}"/>
              </a:ext>
            </a:extLst>
          </p:cNvPr>
          <p:cNvSpPr txBox="1"/>
          <p:nvPr userDrawn="1"/>
        </p:nvSpPr>
        <p:spPr>
          <a:xfrm>
            <a:off x="266700" y="6358381"/>
            <a:ext cx="7391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altLang="zh-CN" b="1" dirty="0" lang="en-US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Spark</a:t>
            </a:r>
            <a:r>
              <a:rPr altLang="en-US" b="1" dirty="0" lang="zh-CN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大数据处理与分析</a:t>
            </a:r>
            <a:endParaRPr altLang="zh-CN" b="1" dirty="0" lang="en-US" sz="1800">
              <a:solidFill>
                <a:schemeClr val="accent1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97A2A7D-0836-8064-84AF-C5C04388AF55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20" name="灯片编号占位符 19">
            <a:extLst>
              <a:ext uri="{FF2B5EF4-FFF2-40B4-BE49-F238E27FC236}">
                <a16:creationId xmlns:a16="http://schemas.microsoft.com/office/drawing/2014/main" id="{4E42EA9E-7BFF-27BB-8638-431F7EB183E5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B631E4-8720-4193-BD91-A57797451EA0}" type="slidenum">
              <a:rPr altLang="en-US" lang="zh-CN" smtClean="0"/>
              <a:t>‹#›</a:t>
            </a:fld>
            <a:endParaRPr altLang="en-US" lang="zh-CN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D03D8B6-2E6F-DE3D-066C-D416D1C45132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3160EEE-490B-5030-FED2-0EC36FD18C3B}"/>
              </a:ext>
            </a:extLst>
          </p:cNvPr>
          <p:cNvPicPr>
            <a:picLocks noChangeAspect="1"/>
          </p:cNvPicPr>
          <p:nvPr/>
        </p:nvPicPr>
        <p:blipFill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641C8EA-C930-33E7-0AF8-E3DC8FB99AE6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6B5E3EF-301A-2167-0ED5-3367AB2AEFAA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6FC059A-07D8-B100-64B1-92B15B46D551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3C829FA-2334-6AE9-EB03-26596912CE91}"/>
              </a:ext>
            </a:extLst>
          </p:cNvPr>
          <p:cNvSpPr/>
          <p:nvPr userDrawn="1"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</p:spTree>
    <p:extLst>
      <p:ext uri="{BB962C8B-B14F-4D97-AF65-F5344CB8AC3E}">
        <p14:creationId xmlns:p14="http://schemas.microsoft.com/office/powerpoint/2010/main" val="196882706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73" r:id="rId14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altLang="en-US" b="1" kern="1200" lang="zh-CN" sz="3200">
          <a:solidFill>
            <a:schemeClr val="tx1">
              <a:lumMod val="85000"/>
              <a:lumOff val="15000"/>
            </a:schemeClr>
          </a:solidFill>
          <a:effectLst>
            <a:reflection algn="bl" blurRad="6350" dir="5400000" dist="25400" endPos="27000" rotWithShape="0" stA="30000" sy="-100000"/>
          </a:effectLst>
          <a:latin typeface="+mn-lt"/>
          <a:ea typeface="+mn-ea"/>
          <a:cs typeface="+mn-ea"/>
        </a:defRPr>
      </a:lvl1pPr>
    </p:titleStyle>
    <p:bodyStyle>
      <a:lvl1pPr algn="l" defTabSz="914400" eaLnBrk="1" hangingPunct="1" indent="-228600" latinLnBrk="0" marL="228600" rtl="0">
        <a:lnSpc>
          <a:spcPct val="114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 userDrawn="1">
          <p15:clr>
            <a:srgbClr val="F26B43"/>
          </p15:clr>
        </p15:guide>
        <p15:guide id="6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0.1 学习建议（先易后难）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第1-4章先建立 Spark 全景和数据处理主线</a:t>
            </a:r>
          </a:p>
          <a:p>
            <a:pPr lvl="0"/>
            <a:r>
              <a:rPr/>
              <a:t>第5-6章理解流处理和图计算的典型场景</a:t>
            </a:r>
          </a:p>
          <a:p>
            <a:pPr lvl="0"/>
            <a:r>
              <a:rPr/>
              <a:t>第7-9章重点练习机器学习与特征工程</a:t>
            </a:r>
          </a:p>
          <a:p>
            <a:pPr lvl="0"/>
            <a:r>
              <a:rPr/>
              <a:t>第10-11章补齐工程化部署与性能优化能力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一个学习节奏例子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如果你每周学习 3 次，每次 60 分钟： 第1次：读概念 + 抄一遍最小代码</a:t>
            </a:r>
          </a:p>
          <a:p>
            <a:pPr lvl="0"/>
            <a:r>
              <a:rPr/>
              <a:t>第2次：改参数并观察结果变化</a:t>
            </a:r>
          </a:p>
          <a:p>
            <a:pPr lvl="0"/>
            <a:r>
              <a:rPr/>
              <a:t>第3次：把示例改成你自己的数据字段</a:t>
            </a:r>
          </a:p>
          <a:p>
            <a:pPr lvl="0"/>
            <a:r>
              <a:rPr/>
              <a:t>这样比“只看不练”更容易形成稳定的实战能力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4EB0031E-9AF1-4EF9-947E-CF21025E1F57}" vid="{E1AA6518-1FF8-4BC2-BEB6-E59B2C6B167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Arial</vt:lpstr>
      <vt:lpstr>Calibri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2026-04-05T02:23:48Z</dcterms:created>
  <dcterms:modified xsi:type="dcterms:W3CDTF">2026-04-05T02:23:48Z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