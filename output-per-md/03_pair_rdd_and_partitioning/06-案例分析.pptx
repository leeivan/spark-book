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notesMaster" Target="notesMasters/notesMaster1.xml" /><Relationship Id="rId4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46" Type="http://schemas.openxmlformats.org/officeDocument/2006/relationships/theme" Target="theme/theme1.xml" /><Relationship Id="rId45" Type="http://schemas.openxmlformats.org/officeDocument/2006/relationships/viewProps" Target="viewProps.xml" /><Relationship Id="rId4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?>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?>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?>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?>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 3‑1 显示/data/sfpd.csv文件中的字段和说明，并且示范了保存在字段中的数据。该数据集是从2013年1月至2015年7月期间某市警察局的报案记录信息。本节将探讨分析这些数据回答诸如哪个区域的报案记录最多，以及哪个报案类别数量最多。 接下来会依次看 案例分析、检查事件数据，以及 reduceByKey和groupByKey，后面的实现和案例都会沿着这条线继续展开。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这一页先看前半段主线，重点包括 案例分析、检查事件数据、reduceByKey和groupByKey，以及 三种连接转换。先把前面的入口和处理顺序放稳，后面再继续往下展开。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这一页补上后半段主线，重点包括 执行几个动作 和 跨节点分区。把这几步和前面的内容接起来，整节课的推进顺序就完整了。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并且示范了保存在字段中的数据。该数据集是从2013年1月至2015年7月期间某市警察局的报案记录信息。本节将探讨分析这些数据回答诸如哪个区域的报案记录最多，以及哪个报案类别数量最多。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通过案例分析，熟悉怎样使用Spark键值对RDD的操作，Spark为键值对的RDD提供特殊操作。键值对RDD在许多程序中是一个有用的构建块，因为它们允许并行地对每个键执行操作，或者通过网络重新组合数据。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表格 3‑1 显示/data/sfpd.csv文件中的字段和说明，并且示范了保存在字段中的数据。该数据集是从2013年1月至2015年7月期间某市警察局的报案记录信息。本节将探讨分析这些数据回答诸如哪个区域的报案记录最多，以及哪个报案类别数量最多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下面先快速回顾上一章用过的基本流程：在Spark交互环境中加载数据、创建RDD，并在其上执行转换和动作。首先定义几个变量，用来映射输入数据中的字段位置。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()方法加载CSV文件，应用map()进行转换，同时使用split()分割每行数据中的字段。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代码 3.51、报案记录总数是多少？ 和 代码 3.52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创建键值对RDD的方式在不同的语言中是不同的。在Python和Scala中，需要返回一个包含元组的RDD。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3.57 在这个例子中，通过应用map()操作将sfpd转变一个名为incByCat的键值对RDD，得到的RDD包含如上面代码所示的元组。现在，可以使用sfpd数据集得到一些问题的答案。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数据集sfpd中的每一行记录一个事件相关信息，想计算每个区域的报案记录数量，即数据集中这个地区出现多少次，第一步是从sfpd上创建一个键值对RDD。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map()转换导致sfpd变换成为由(PdDistrict。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元组组成的键值对RDD，其中每个元素表示在一个地区发生的一个报案记录。当创建一个键值对RDD时，Spark会自动添加一些特定用于键值对RDD的其他方法，如reduceByKey()、groupByKey()和combineByKey()等，这些转换最常见特征是分布式洗牌操作，需要按键进行分组或聚合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通常想要通查找具有相同键的元素之间的统计信息，reduceByKey()就是这样一个转换的例子，它运行多个并行聚合操作，每个并行操作对应于数据集中一个键，其中每个操作聚合具有相同键的值。reduceByKey()返回一个由每个键和对应计算值聚合组成的新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3.59 在上面的代码中，reduceByKey()转换在由元组(PdDistrict, 1)组成的键值对RDD上应用了一个简单的求和操作(x,y) =&gt;x+y，它返回一个新的RDD，其包含每个区域和这个区域报案记录总和。可以在键值对RDD进行排序，前提条件是在键值对RDD上定义了一个排序操作sortByKey()，表示按照键排序。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这里才真正把多条记录压成业务指标。讲解时要说明聚合函数在累加什么、合并什么，以及最终留下来的结果代表什么含义。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最常见的操作之一是连接两键值对RDD，可以进行左右外连接（LEFT AND RIGHT OUTER）、交叉连接（CROSS）和内连接（INNER）。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leftOuterJoin是左连接，输出结果中的每个键来自于源键值对RDD，即连接操作的左边部分。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输出结果中的每个键来自于连接操作的右边部分。在这个例子中，PdDists是键值对RDD，其中键为PdDistrict，值为Address。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其中键为PdDistrict，值为由Category和Resolution组成的元组。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代码 3.67 由于键PdDistrict存在于两个RDD中，join转换的输出格式如下所示，其输出结果也是一个键值对RDD，由(PdDistrict, (Address, (Category, Resolution)))组成。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其中的键是全部来自PdDists。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其中的键是全部来自CatRes。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24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28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连接操作的关键在于主键、外键和连接条件。讲的时候要说清楚两边各提供什么信息，以及接起来以后想补足哪部分业务语义。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使用键值对的一些最有用的操作是将其与其他类似的数据一起使用，最常见的操作之一是连接两键值对RDD，可以进行左右外连接（LEFT AND RIGHT OUTER）、交叉连接（CROSS）和内连接（INNER）。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32</a:t>
            </a:fld>
            <a:endParaRPr lang="en-US"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将统计每个键的元素总数，仅当预期的结果Map集合较小时才应使用此方法，因为整个操作都已加载到驱动程序的内存中。要处理非常大的结果，请考虑使用rdd.mapValues (_ =&gt; 1L).reduceByKey(_ + _)，它返回RDD T，Long而不是Map集合。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将结果作为Map集合以提供简单的查找，将此RDD中的键值对作为Map集合返回给驱动程序，如果同一键有多个值，则每个键中仅保留一个值。仅当预期结果数据较小时才应使用此方法，因为所有数据均加载到驱动程序的内存中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返回RDD中键值的列表。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例如，如果只想按区域返回报案记录总数，可以在由对元组(PdDistrict, 1)组成的键值对RDD上执行countByKey()。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节的重点，是理解怎样通过分区策略减少不必要的跨节点数据移动。分区其实不是越“精细控制”越好，它真正有价值的场景通常是：同一份数据会被重复使用，或者后续多步计算都围绕同一组键展开。如果数据只被线性扫描一次，过早地手工设计分区往往收益有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partitionBy()是一个转换操作，并使用指定的分区器创建RDD。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36</a:t>
            </a:fld>
            <a:endParaRPr lang="en-US"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如果相同的键比较多，其哈希值相同则数据会大量集中在某个分区中，会出现数据分布不均匀的现象，可能会遇到部分集群空闲的情况。使用哈希分区的键值对必须可以是哈希的。使用分区时，会创建一个洗牌作业，应该保留partitionBy()的结果，以防止每次使用分区RDD时进行重新安排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键值对RDD上的大量操作上一般会接受附加分区参数，例如分区数、类型或分区。RDD上的一些操作自动导致具有已知分区器的RDD。例如，默认情况下当使用sortByKey时，使用RangePartitioner，并且groupByKey使用的默认分区器是HashPartitioner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可以增加或减少此RDD中的并行度。使用洗牌机制来重新分配数据。如果要减少此RDD中的分区数，请考虑使用coalesce()，这样可以避免执行洗牌操作。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这一句是在主动控制后续数据怎么分布。讲解时要把分区器和后面的并行度、Shuffle 开销联系起来，而不是只把它当成一个 API 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38</a:t>
            </a:fld>
            <a:endParaRPr lang="en-US"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这一句是在主动控制后续数据怎么分布。讲解时要把分区器和后面的并行度、Shuffle 开销联系起来，而不是只把它当成一个 API 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分区调整是在控制任务拆分粒度。讲解时要把为什么要扩分区或缩分区说清楚，这通常和数据倾斜、输出文件数或资源利用率有关。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7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4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5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7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9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0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3‑1 显示/data/sfpd.csv文件中的字段和说明</a:t>
            </a:r>
          </a:p>
          <a:p>
            <a:pPr lvl="0"/>
            <a:r>
              <a:rPr/>
              <a:t>表格 3‑1 案例数据项说明</a:t>
            </a:r>
          </a:p>
          <a:p>
            <a:pPr lvl="0"/>
            <a:r>
              <a:rPr/>
              <a:t>键值对RDD具有reduceByKey()方法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 案例分析：学习路线（1/2）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案例分析</a:t>
            </a:r>
          </a:p>
          <a:p>
            <a:pPr lvl="0"/>
            <a:r>
              <a:rPr/>
              <a:t>检查事件数据</a:t>
            </a:r>
          </a:p>
          <a:p>
            <a:pPr lvl="0"/>
            <a:r>
              <a:rPr/>
              <a:t>reduceByKey和groupByKey</a:t>
            </a:r>
          </a:p>
          <a:p>
            <a:pPr lvl="0"/>
            <a:r>
              <a:rPr/>
              <a:t>三种连接转换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 案例分析：学习路线（2/2）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执行几个动作</a:t>
            </a:r>
          </a:p>
          <a:p>
            <a:pPr lvl="0"/>
            <a:r>
              <a:rPr/>
              <a:t>跨节点分区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 案例分析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表格 3‑1 显示/data/sfpd.csv文件中的字段和说明</a:t>
            </a:r>
          </a:p>
          <a:p>
            <a:pPr lvl="0"/>
            <a:r>
              <a:rPr/>
              <a:t>表格 3‑1 案例数据项说明</a:t>
            </a:r>
          </a:p>
          <a:p>
            <a:pPr lvl="0"/>
            <a:r>
              <a:rPr/>
              <a:t>键值对RDD具有reduceByKey()方法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案例分析：表格 3‑1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列名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值例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IncidentNum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事件编号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150561637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事件类别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NON-CRIMINAL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事件描述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FOUND_PROPERTY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DayOfWeek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事件发生的星期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Sunday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事件发生的日期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6/28/15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事件发生的时间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23:50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PdDistrict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警察局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TARAVAL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解决方式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地址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1300_Block_of_LA_PLAYA_ST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位置X坐标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-122.5091348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位置Y坐标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37.76119777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PdID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部门ID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15056163704013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定义几个变量，用来映射输入数据中的字段位置</a:t>
            </a:r>
          </a:p>
          <a:p>
            <a:pPr lvl="0"/>
            <a:r>
              <a:rPr/>
              <a:t>代码 3.49 使用SparkContext的textFile</a:t>
            </a:r>
          </a:p>
          <a:p>
            <a:pPr lvl="0"/>
            <a:r>
              <a:rPr/>
              <a:t>代码 3.50 使用上一章学到的方法，检查一下sfpd中的数据</a:t>
            </a:r>
          </a:p>
          <a:p>
            <a:pPr lvl="0"/>
            <a:r>
              <a:rPr/>
              <a:t>sfpd的数据是什么样子的？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3.51</a:t>
            </a:r>
          </a:p>
          <a:p>
            <a:pPr lvl="0"/>
            <a:r>
              <a:rPr/>
              <a:t>报案记录总数是多少？</a:t>
            </a:r>
          </a:p>
          <a:p>
            <a:pPr lvl="0"/>
            <a:r>
              <a:rPr/>
              <a:t>代码 3.52</a:t>
            </a:r>
          </a:p>
          <a:p>
            <a:pPr lvl="0"/>
            <a:r>
              <a:rPr/>
              <a:t>报案记录的类别是什么？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下面先快速回顾上一章用过的基本流程</a:t>
            </a:r>
          </a:p>
          <a:p>
            <a:pPr lvl="0" indent="0">
              <a:buNone/>
            </a:pPr>
            <a:r>
              <a:rPr>
                <a:latin typeface="Courier"/>
              </a:rPr>
              <a:t>val IncidntNum = 0
val Category = 1
val Descript = 2
val DayOfWeek = 3
val Date = 4
val Time = 5
val PdDistrict = 6
val Resolution = 7
val Address = 8
val X = 9
val Y = 10
val PdId = 11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把原始数据从存储读入 Spark</a:t>
            </a:r>
          </a:p>
          <a:p>
            <a:pPr lvl="0"/>
            <a:r>
              <a:rPr/>
              <a:t>先对照代码理解 sfpd的数据是什么样子的？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sfpd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"/data/sfpd.csv"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line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","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150599321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OTHER_OFFENSES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POSSESSION_OF_BURGLARY_TOOLS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Thursday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CENTRAL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ARREST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BOOKED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JACKSON_ST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POWELL_ST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122.4099006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37.79561712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15059900000000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报案记录总数是多少？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383775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distinct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cat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PROSTITUTION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DRUG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NARCOTIC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EMBEZZLEMENT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FRAUD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WEAPON_LAWS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BURGLARY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EXTORTION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WARRANTS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DRIVING_UNDER_THE_INFLUENCE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TREA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LARCENY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THEFT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BAD CHECKS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RECOVERED_VEHICLE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LIQUOR_LAWS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SUICIDE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OTHER_OFFENSES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VEHICLE_THEFT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DRUNKENNESS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MISSING_PERSON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DISORDERLY_CONDUCT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FAMILY_OFFENSES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ARSON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ROBBERY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SUSPICIOUS_OCC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GAMBLING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KIDNAPPING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RUNAWAY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VANDALISM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BRIBERY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NON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CRIMINAL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SECONDARY_CODES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SEX_OFFENSES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NON_FORCIBLE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PORNOGRAPHY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OBSCENE MAT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SEX_OFFENSES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FORCIBLE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FORGERY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COUNTERFEITING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TRESPASS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ASSAULT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LOITERING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STOLEN_PROPERTY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先对照代码理解 contains()方法返回true或false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bayviewRDD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"BAYVIEW"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bayviewRDD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filter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animals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"bird"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"fish"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animals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Set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bird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fish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animals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"apple"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animals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"fish"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3.6.1 检查事件数据：代码片段（6/6）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numTenderloin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"TENDERLOIN"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numTenderloin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30174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从现有常规RDD创建键值对RDD有许多方法，最常见的方法是使用map()转换</a:t>
            </a:r>
          </a:p>
          <a:p>
            <a:pPr lvl="0"/>
            <a:r>
              <a:rPr/>
              <a:t>得到的RDD包含如上面代码所示的元组</a:t>
            </a:r>
          </a:p>
          <a:p>
            <a:pPr lvl="0"/>
            <a:r>
              <a:rPr/>
              <a:t>哪三个地区（或类别或地址）的报案记录数量最多？</a:t>
            </a:r>
          </a:p>
          <a:p>
            <a:pPr lvl="0"/>
            <a:r>
              <a:rPr/>
              <a:t>第一步是从sfpd上创建一个键值对RDD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3.58 如上，可以通过在sfpd上应用map()转换来实现</a:t>
            </a:r>
          </a:p>
          <a:p>
            <a:pPr lvl="0"/>
            <a:r>
              <a:rPr/>
              <a:t>Spark会自动添加一些特定用于键值对RDD的其他方法</a:t>
            </a:r>
          </a:p>
          <a:p>
            <a:pPr lvl="0"/>
            <a:r>
              <a:rPr/>
              <a:t>reduceByKey()就是这样一个转换的例子</a:t>
            </a:r>
          </a:p>
          <a:p>
            <a:pPr lvl="0"/>
            <a:r>
              <a:rPr/>
              <a:t>可以在键值对RDD进行排序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incByCat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indicent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indicent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incByCat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incByCat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OTHER_OFFENSES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top3Dists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 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inc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top3Dists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27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top3Dists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top3Dists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29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top3Dists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sortByKey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top3Dists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73308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50164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MISSION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46877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top3Dists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incident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top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Ordering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top3Dists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73308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MISSION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50164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46877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以处理AnyVal（例如Int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Sorting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Sorting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pairs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70A0"/>
                </a:solidFill>
                <a:latin typeface="Courier"/>
              </a:rPr>
              <a:t>"a"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pairs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Sorting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quickSort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pairs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Ordering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by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pairs</a:t>
            </a:r>
            <a:br/>
            <a:r>
              <a:rPr>
                <a:latin typeface="Courier"/>
              </a:rPr>
              <a:t>res16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Sorting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quickSort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pairs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Ordering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)].</a:t>
            </a:r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pairs</a:t>
            </a:r>
            <a:br/>
            <a:r>
              <a:rPr>
                <a:latin typeface="Courier"/>
              </a:rPr>
              <a:t>res18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(Int, String)表示返回值的类型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Sorting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util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Sorting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"bob"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"ann"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"carl"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people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bob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ann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carl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19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object</a:t>
            </a:r>
            <a:r>
              <a:rPr>
                <a:latin typeface="Courier"/>
              </a:rPr>
              <a:t> AgeOrdering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Ordering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compare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age compare 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age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pddists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groupByKey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sortByKey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pddists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73308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50164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MISSION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46877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pddists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groupByKey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br/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top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Ordering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pddists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SOUTHERN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73308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MISSION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50164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NORTHERN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46877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3.6.2 reduceByKey和groupBy（7/7）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在分组后做聚合计算得到指标结果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"one"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"two"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"two"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"three"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"three"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"three"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two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two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three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three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three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wordsRDD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wordsCountWithGroup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groupByKey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w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sum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wordsCountWithGroup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two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one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three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wordsCountWithReduce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wordsRDD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使用键值对的一些最有用的操作是将其与其他类似的数据一起使用</a:t>
            </a:r>
          </a:p>
          <a:p>
            <a:pPr lvl="0"/>
            <a:r>
              <a:rPr/>
              <a:t>图例 3‑4 几种join转换</a:t>
            </a:r>
          </a:p>
          <a:p>
            <a:pPr lvl="0"/>
            <a:r>
              <a:rPr/>
              <a:t>join是内连接，表示在两个键值对RDD中同时存在的键才会出现在输出结果中</a:t>
            </a:r>
          </a:p>
          <a:p>
            <a:pPr lvl="0"/>
            <a:r>
              <a:rPr/>
              <a:t>rightOuterJoin类似于leftOuterJoin是右连接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3.66 CatRes是另一键值对RDD</a:t>
            </a:r>
          </a:p>
          <a:p>
            <a:pPr lvl="0"/>
            <a:r>
              <a:rPr/>
              <a:t>其输出结果也是一个键值对RDD</a:t>
            </a:r>
          </a:p>
          <a:p>
            <a:pPr lvl="0"/>
            <a:r>
              <a:rPr/>
              <a:t>代码 3.68 leftOuterJoin返回另一个键值对RDD</a:t>
            </a:r>
          </a:p>
          <a:p>
            <a:pPr lvl="0"/>
            <a:r>
              <a:rPr/>
              <a:t>代码 3.69 rightOuterJoin返回另一个键值对RDD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PdDists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Address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PdDists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84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40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CatRes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Resolution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  <a:br/>
            <a:r>
              <a:rPr>
                <a:latin typeface="Courier"/>
              </a:rPr>
              <a:t>CatRes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86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PdDists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CatRes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INGLESIDE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latin typeface="Courier"/>
              </a:rPr>
              <a:t>DELTA_ST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RAYMOND_AV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latin typeface="Courier"/>
              </a:rPr>
              <a:t>ASSAULT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ARREST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BOOKED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3.68 leftOuterJoin返回另一个键值对RDD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PdDists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leftOuterJoin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CatRes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Option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INGLESIDE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latin typeface="Courier"/>
              </a:rPr>
              <a:t>DELTA_ST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RAYMOND_AV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ASSAULT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ARREST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BOOKED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其中的键是全部来自CatRes。 的执行步骤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PdDists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rightOuterJoin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CatRes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Option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INGLESIDE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DELTA_ST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RAYMOND_AV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latin typeface="Courier"/>
              </a:rPr>
              <a:t>ASSAULT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ARREST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BOOKED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IncCatRes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IncidntNum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Descript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Resolution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  <a:br/>
            <a:r>
              <a:rPr>
                <a:latin typeface="Courier"/>
              </a:rPr>
              <a:t>IncCatRes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34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把不同来源的数据按关联键接起来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PdDists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join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IncCatRes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java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lang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UnsupportedOperationException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empty collection</a:t>
            </a:r>
            <a:br/>
            <a:r>
              <a:rPr>
                <a:latin typeface="Courier"/>
              </a:rPr>
              <a:t>at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RDD$$anonfun$first$</a:t>
            </a:r>
            <a:r>
              <a:rPr>
                <a:solidFill>
                  <a:srgbClr val="40A070"/>
                </a:solidFill>
                <a:latin typeface="Courier"/>
              </a:rPr>
              <a:t>1.</a:t>
            </a:r>
            <a:r>
              <a:rPr>
                <a:solidFill>
                  <a:srgbClr val="06287E"/>
                </a:solidFill>
                <a:latin typeface="Courier"/>
              </a:rPr>
              <a:t>apply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1370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at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RDDOperationScope$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withScope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RDDOperationScope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151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at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RDDOperationScope$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withScope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RDDOperationScope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112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at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withScope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362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at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1367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...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48</a:t>
            </a:r>
            <a:r>
              <a:rPr>
                <a:latin typeface="Courier"/>
              </a:rPr>
              <a:t> elided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3.6.3 三种连接转换：图示</a:t>
            </a:r>
          </a:p>
        </p:txBody>
      </p:sp>
      <p:pic>
        <p:nvPicPr>
          <p:cNvPr descr="../../md/media/03_pair_rdd_and_partitioning/media/image4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38200" y="1866900"/>
            <a:ext cx="10515600" cy="424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3.6.4 执行几个动作（1/2）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所有动作都可用于键值对RDD，但是以下几个动作仅适用于键值对RDD</a:t>
            </a:r>
          </a:p>
          <a:p>
            <a:pPr lvl="0"/>
            <a:r>
              <a:rPr/>
              <a:t>Long而不是Map集合</a:t>
            </a:r>
          </a:p>
          <a:p>
            <a:pPr lvl="0"/>
            <a:r>
              <a:rPr/>
              <a:t>仅当预期结果数据较小时才应使用此方法</a:t>
            </a:r>
          </a:p>
          <a:p>
            <a:pPr lvl="0"/>
            <a:r>
              <a:rPr/>
              <a:t>如果RDD有一个可知的分区器，仅通过搜索键映射到的分区就可以有效地完成此操作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3.6.4 执行几个动作（2/2）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如果只想按区域返回报案记录总数</a:t>
            </a:r>
          </a:p>
          <a:p>
            <a:pPr lvl="0"/>
            <a:r>
              <a:rPr/>
              <a:t>代码 3.73 仅当结果数据集大小足够小以适应内存时，才能使用此操作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3.6.4 执行几个动作：代码片段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num_inc_dist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incident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countByKey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num_inc_dist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Long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SOUTHERN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73308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INGLESIDE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33159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TENDERLOIN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30174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MISSION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50164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TARAVAL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27470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RICHMOND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21221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NORTHERN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46877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PARK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23377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CENTRAL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41914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BAYVIEW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36111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常见的做法大体有两种</a:t>
            </a:r>
          </a:p>
          <a:p>
            <a:pPr lvl="0"/>
            <a:r>
              <a:rPr/>
              <a:t>（1）在RDD上调用partitionBy()，提供一个显式的分区器</a:t>
            </a:r>
          </a:p>
          <a:p>
            <a:pPr lvl="0"/>
            <a:r>
              <a:rPr/>
              <a:t>（2）在转换中指定分区器，这将返回进行了分区的RDD</a:t>
            </a:r>
          </a:p>
          <a:p>
            <a:pPr lvl="0"/>
            <a:r>
              <a:rPr/>
              <a:t>要创建RangePartitioner需要指定所需的分区数，并提供一键值对RDD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代码 3.74 HashPartitioner需要传递一个定义分区数的参数</a:t>
            </a:r>
          </a:p>
          <a:p>
            <a:pPr lvl="0"/>
            <a:r>
              <a:rPr/>
              <a:t>代码 3.75 使用键的哈希值将用于分配分区</a:t>
            </a:r>
          </a:p>
          <a:p>
            <a:pPr lvl="0"/>
            <a:r>
              <a:rPr/>
              <a:t>groupByKey使用的默认分区器是HashPartitioner</a:t>
            </a:r>
          </a:p>
          <a:p>
            <a:pPr lvl="0"/>
            <a:r>
              <a:rPr/>
              <a:t>返回具有numPartitions个分区的新RDD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跨节点分区：代码片段（1/4）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显式指定分区器，让同键数据按规则落到对应分区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pair1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Resolution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Category</a:t>
            </a:r>
            <a:r>
              <a:rPr>
                <a:solidFill>
                  <a:srgbClr val="666666"/>
                </a:solidFill>
                <a:latin typeface="Courier"/>
              </a:rPr>
              <a:t>))))</a:t>
            </a:r>
            <a:br/>
            <a:r>
              <a:rPr>
                <a:latin typeface="Courier"/>
              </a:rPr>
              <a:t>pair1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rpart1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pair1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rpart1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RangePartitioner@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f60c3c6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partrdd1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pair1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partitionBy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rpart1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persist</a:t>
            </a:r>
            <a:br/>
            <a:r>
              <a:rPr>
                <a:latin typeface="Courier"/>
              </a:rPr>
              <a:t>partrdd1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partitionBy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37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跨节点分区：代码片段（2/4）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显式指定分区器，让同键数据按规则落到对应分区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hpart1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HashPartitioner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hpart1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HashPartitioner@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partrdd2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pair1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partitionBy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hpart1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persist</a:t>
            </a:r>
            <a:br/>
            <a:r>
              <a:rPr>
                <a:latin typeface="Courier"/>
              </a:rPr>
              <a:t>partrdd2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))]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partitionBy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38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跨节点分区：代码片段（3/4）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/>
            <a:r>
              <a:rPr/>
              <a:t>调整分区数以平衡并行度和开销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dists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sfpd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=&gt;(</a:t>
            </a:r>
            <a:r>
              <a:rPr>
                <a:solidFill>
                  <a:srgbClr val="06287E"/>
                </a:solidFill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PdDistrict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reduceByKey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dists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ShuffledRDD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reduceByKey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32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br/>
            <a:r>
              <a:rPr>
                <a:latin typeface="Courier"/>
              </a:rPr>
              <a:t>res25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dists01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dists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coalesce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dists01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CoalescedRDD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at coalesce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dists01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br/>
            <a:r>
              <a:rPr>
                <a:latin typeface="Courier"/>
              </a:rPr>
              <a:t>res29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3.6.5 跨节点分区：代码片段（4/4）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在Scala和Java中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partrdd1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partitioner</a:t>
            </a:r>
            <a:br/>
            <a:r>
              <a:rPr>
                <a:latin typeface="Courier"/>
              </a:rPr>
              <a:t>res8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Option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Partitioner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RangePartitioner@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f60c3c6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partrdd2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partitioner</a:t>
            </a:r>
            <a:br/>
            <a:r>
              <a:rPr>
                <a:latin typeface="Courier"/>
              </a:rPr>
              <a:t>res9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Option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Partitioner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Some</a:t>
            </a:r>
            <a:r>
              <a:rPr>
                <a:solidFill>
                  <a:srgbClr val="666666"/>
                </a:solidFill>
                <a:latin typeface="Courier"/>
              </a:rPr>
              <a:t>(&lt;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HashPartitioner@</a:t>
            </a:r>
            <a:r>
              <a:rPr>
                <a:solidFill>
                  <a:srgbClr val="40A070"/>
                </a:solidFill>
                <a:latin typeface="Courier"/>
              </a:rPr>
              <a:t>64</a:t>
            </a:r>
            <a:r>
              <a:rPr>
                <a:solidFill>
                  <a:srgbClr val="666666"/>
                </a:solidFill>
                <a:latin typeface="Courier"/>
              </a:rPr>
              <a:t>&gt;)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2026-04-05T02:24:29Z</dcterms:created>
  <dcterms:modified xsi:type="dcterms:W3CDTF">2026-04-05T02:24:29Z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