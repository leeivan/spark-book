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notesMaster" Target="notesMasters/notesMaster1.xml" /><Relationship Id="rId3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35" Type="http://schemas.openxmlformats.org/officeDocument/2006/relationships/theme" Target="theme/theme1.xml" /><Relationship Id="rId34" Type="http://schemas.openxmlformats.org/officeDocument/2006/relationships/viewProps" Target="viewProps.xml" /><Relationship Id="rId33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?>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?>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30.xml.rels><?xml version="1.0" encoding="UTF-8"?>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到目前为止，我们已经使用了RDD，其中每行代表一个值，例如整数或字符串。在许多用例中，需要按某个键进行分组或聚合、联结两个RDD。现在来看一下另一个RDD类型：键值对RDD。 接下来会依次看 键值对RDD、创建，以及 转换，后面的实现和案例都会沿着这条线继续展开。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这一页先把 3.2 键值对RDD 的主线串起来，重点包括 键值对RDD、创建、转换，以及 动作。先知道每一步要解决什么问题，后面的细节就更容易跟住。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到目前为止，我们已经使用了RDD，其中每行代表一个值，例如整数或字符串。现在来看一下另一个RDD类型：键值对RDD。键值对的数据格式可以在多种编程语言中找到。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键值对RDD在许多Spark程序中使用。当想要在分布式系统中进行值聚合或重新组合时，需要通过其中的键进行索引，例如有一个包含城市级别人口的数据集，并且想要在州级别汇总，那么需要按州对这些行进行分组，并对每个州所有城市的人口求和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另一个例子是提取客户标识作为键，以查看所有客户的订单。要想满足键值对RDD的要求，每一行必须包含一个元组，其中第一个元素代表键，第二个元素代表值。键和值的类型可以是简单的类型，例如整数或字符串，也可以是复杂的类型，例如对象或值的集合或另一个元组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代码 3.1 上面的代码创建了键值对RDD，每一行为一个元组，其中键是长度，值是单词。它们被包裹在一对括号内。一旦以这种方式排列了每一行，我们就可以通过按键分组轻松发现长度相同的单词。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这里没有从外部读数据，而是直接在程序里构造样例集合。它的目的通常是先把算子链路讲清楚，再替换成真实数据源。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将看看怎样创建键值对。创建键值对最常的方法包括：使用已经存在的非键值对。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但是几个特殊操作只能在键值对的RDD上使用，例如按键分组或聚合元素，这些操作都需要进行分布式洗牌。在Scala语言中，这些操作可以在包含Tuple2对象的RDD上自动可用。键值对操作在PairRDDFunctions类中，自动封装在元组RDD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不像一个数组或列表，元组可以容纳不同类型的对象，但它们也是不可改变的。这里是一个元组持有整数、字符串和Console，如下的一个例子。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所以，该类型 (99, “Luftballons”) 是 Tuple2Int, String。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这里没有从外部读数据，而是直接在程序里构造样例集合。它的目的通常是先把算子链路讲清楚，再替换成真实数据源。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这里没有从外部读数据，而是直接在程序里构造样例集合。它的目的通常是先把算子链路讲清楚，再替换成真实数据源。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键值对RDD允许使用标准RDD可用的所有转换，由于键值对包含元组，需要在转换方法中传递可以在元组上操作的函数。下面的部分总结了键值对常用转换，然后分别详细介绍几个转换。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数据集中的每个键对应的所有值被聚集，使用给定的汇总功能func，其类型必须为(V, V) =&gt; V。像groupByKey，汇总任务的数量是通过第二个可选的参数numPartitions配置，这个参数设置RDD的分区数。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如果分组的目的是为了对每个键执行聚集，如总和或平均值，使用reduceByKey或aggregateByKey将产生更好的性能。默认情况下，输出的并行任务数取决于RDD谱系中父RDD的分区数，可以通过一个可选的参数numPartitions来设置不同数量的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这里没有从外部读数据，而是直接在程序里构造样例集合。它的目的通常是先把算子链路讲清楚，再替换成真实数据源。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这里才真正把多条记录压成业务指标。讲解时要说明聚合函数在累加什么、合并什么，以及最终留下来的结果代表什么含义。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分组这一步决定了结果的统计粒度。只要把按什么键聚说清楚，听众就能知道最后的指标到底是按用户、订单还是时间窗口汇总出来的。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这里没有从外部读数据，而是直接在程序里构造样例集合。它的目的通常是先把算子链路讲清楚，再替换成真实数据源。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这里没有从外部读数据，而是直接在程序里构造样例集合。它的目的通常是先把算子链路讲清楚，再替换成真实数据源。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连接操作的关键在于主键、外键和连接条件。讲的时候要说清楚两边各提供什么信息，以及接起来以后想补足哪部分业务语义。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与转换一样，所有在基础RDD上提供的传统转换操作也可用在键值对RDD上，当然键值对RDD可以使用一些额外的操作，首先创建一个RDD。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对每个键进行计数，只有当返回的结果Map预计很小时，才应该使用此方法，因为整个内容都会加载到驱动程序的内存中。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24</a:t>
            </a:fld>
            <a:endParaRPr lang="en-US"/>
          </a:p>
        </p:txBody>
      </p:sp>
    </p:spTree>
  </p:cSld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与collect()类似，但对关键值RDD起作用并将其转换为Scala Map以保留其键值结构，如果键值对RDD中同一个键有多个值，则每个键中只有一个值会保留在返回的Map中。因为所有的数据都加载到驱动程序的内存中，所以只有在结果数据很小时才应使用此方法。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如果RDD具有已知的分区程序，则只需搜索该键映射到的分区即可高效地执行此操作。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25</a:t>
            </a:fld>
            <a:endParaRPr lang="en-US"/>
          </a:p>
        </p:txBody>
      </p:sp>
    </p:spTree>
  </p:cSld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这里没有从外部读数据，而是直接在程序里构造样例集合。它的目的通常是先把算子链路讲清楚，再替换成真实数据源。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26</a:t>
            </a:fld>
            <a:endParaRPr lang="en-US"/>
          </a:p>
        </p:txBody>
      </p:sp>
    </p:spTree>
  </p:cSld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27</a:t>
            </a:fld>
            <a:endParaRPr lang="en-US"/>
          </a:p>
        </p:txBody>
      </p:sp>
    </p:spTree>
  </p:cSld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28</a:t>
            </a:fld>
            <a:endParaRPr lang="en-US"/>
          </a:p>
        </p:txBody>
      </p:sp>
    </p:spTree>
  </p:cSld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29</a:t>
            </a:fld>
            <a:endParaRPr lang="en-US"/>
          </a:p>
        </p:txBody>
      </p:sp>
    </p:spTree>
  </p:cSld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30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3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4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5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6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7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8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9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0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3.2 键值对RDD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在许多用例中，需要按某个键进行分组或聚合、联结两个RDD</a:t>
            </a:r>
          </a:p>
          <a:p>
            <a:pPr lvl="0"/>
            <a:r>
              <a:rPr/>
              <a:t>在Scala语言中，Spark键值对RDD的表示是二维元组</a:t>
            </a:r>
          </a:p>
          <a:p>
            <a:pPr lvl="0"/>
            <a:r>
              <a:rPr/>
              <a:t>键值对RDD带有一组API，可以围绕键执行常规操作，例如分组、聚合和联接</a:t>
            </a:r>
          </a:p>
          <a:p>
            <a:pPr lvl="0"/>
            <a:r>
              <a:rPr/>
              <a:t>以下各节将介绍如何创建键值对RDD，以及如何使用关联的转换和操作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3.2 键值对RDD：学习路线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键值对RDD</a:t>
            </a:r>
          </a:p>
          <a:p>
            <a:pPr lvl="0"/>
            <a:r>
              <a:rPr/>
              <a:t>创建</a:t>
            </a:r>
          </a:p>
          <a:p>
            <a:pPr lvl="0"/>
            <a:r>
              <a:rPr/>
              <a:t>转换</a:t>
            </a:r>
          </a:p>
          <a:p>
            <a:pPr lvl="0"/>
            <a:r>
              <a:rPr/>
              <a:t>动作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3.2 键值对RDD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在许多用例中，需要按某个键进行分组或聚合、联结两个RDD</a:t>
            </a:r>
          </a:p>
          <a:p>
            <a:pPr lvl="0"/>
            <a:r>
              <a:rPr/>
              <a:t>在Scala语言中，Spark键值对RDD的表示是二维元组</a:t>
            </a:r>
          </a:p>
          <a:p>
            <a:pPr lvl="0"/>
            <a:r>
              <a:rPr/>
              <a:t>键值对RDD带有一组API，可以围绕键执行常规操作，例如分组、聚合和联接</a:t>
            </a:r>
          </a:p>
          <a:p>
            <a:pPr lvl="0"/>
            <a:r>
              <a:rPr/>
              <a:t>以下各节将介绍如何创建键值对RDD，以及如何使用关联的转换和操作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3.2 键值对RDD：代码片段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先构造一个用于演示的并行数据集</a:t>
            </a:r>
          </a:p>
          <a:p>
            <a:pPr lvl="0"/>
            <a:r>
              <a:rPr/>
              <a:t>用 map 把输入转换成后续要处理的结构</a:t>
            </a:r>
          </a:p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rdd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parallelize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"Spark"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70A0"/>
                </a:solidFill>
                <a:latin typeface="Courier"/>
              </a:rPr>
              <a:t>"is"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70A0"/>
                </a:solidFill>
                <a:latin typeface="Courier"/>
              </a:rPr>
              <a:t>"an"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"amazing"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solidFill>
                  <a:srgbClr val="4070A0"/>
                </a:solidFill>
                <a:latin typeface="Courier"/>
              </a:rPr>
              <a:t>"piece"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"of"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70A0"/>
                </a:solidFill>
                <a:latin typeface="Courier"/>
              </a:rPr>
              <a:t>"technology"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ParallelCollectionRDD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</a:t>
            </a:r>
            <a:br/>
            <a:r>
              <a:rPr>
                <a:latin typeface="Courier"/>
              </a:rPr>
              <a:t>parallelize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24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pairRDD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w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w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length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w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pairRDD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map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25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pairRDD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collect</a:t>
            </a:r>
            <a:r>
              <a:rPr>
                <a:solidFill>
                  <a:srgbClr val="666666"/>
                </a:solidFill>
                <a:latin typeface="Courier"/>
              </a:rPr>
              <a:t>().</a:t>
            </a:r>
            <a:r>
              <a:rPr>
                <a:solidFill>
                  <a:srgbClr val="06287E"/>
                </a:solidFill>
                <a:latin typeface="Courier"/>
              </a:rPr>
              <a:t>foreach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println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is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an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3.2.1 创建（1/2）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创建键值对最常的方法</a:t>
            </a:r>
          </a:p>
          <a:p>
            <a:pPr lvl="0"/>
            <a:r>
              <a:rPr/>
              <a:t>或加载特定数据时也可以获得键值对，有很多数据格式将被创建为键值对</a:t>
            </a:r>
          </a:p>
          <a:p>
            <a:pPr lvl="0"/>
            <a:r>
              <a:rPr/>
              <a:t>另一种方法是通过内存中的集合创建键值对</a:t>
            </a:r>
          </a:p>
          <a:p>
            <a:pPr lvl="0"/>
            <a:r>
              <a:rPr/>
              <a:t>虽然大多数Spark操作适用于包含任何类型对象的RDD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3.2.1 创建（2/2）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语法解释</a:t>
            </a:r>
          </a:p>
          <a:p>
            <a:pPr lvl="0"/>
            <a:r>
              <a:rPr/>
              <a:t>Scala元组结合件多个固定数量的项目在一起，使它们可以被作为一个整体传递</a:t>
            </a:r>
          </a:p>
          <a:p>
            <a:pPr lvl="0"/>
            <a:r>
              <a:rPr/>
              <a:t>代码 3.2 这是语法方糖，是下面代码的简写方式</a:t>
            </a:r>
          </a:p>
          <a:p>
            <a:pPr lvl="0"/>
            <a:r>
              <a:rPr/>
              <a:t>代码 3.3 一个元组的实际类型取决于它包含的元素和这些元素的类型和数目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3.2.1 创建：代码片段（1/7）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Scala元组结合件多个固定数量的项目在一起</a:t>
            </a:r>
          </a:p>
          <a:p>
            <a:pPr lvl="0"/>
            <a:r>
              <a:rPr/>
              <a:t>先对照代码理解 代码 3.2 这是语法方糖，是下面代码的简写方式： 的执行步骤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>
                <a:latin typeface="Courier"/>
              </a:rPr>
              <a:t>val t = (1, "hello", Console)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>
                <a:latin typeface="Courier"/>
              </a:rPr>
              <a:t>val t = new Tuple3(1, "hello", Console)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3.2.1 创建：代码片段（2/7）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Tuple2</a:t>
            </a:r>
          </a:p>
          <a:p>
            <a:pPr lvl="0"/>
            <a:r>
              <a:rPr/>
              <a:t>先对照代码理解 代码 3.4 要访问的元组t的元素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>
                <a:latin typeface="Courier"/>
              </a:rPr>
              <a:t>val t = (4,3,2,1)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>
                <a:latin typeface="Courier"/>
              </a:rPr>
              <a:t>val sum = t.\_1 + t.\_2 + t.\_3 + t.\_4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3.2.1 创建：代码片段（3/7）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先构造一个用于演示的并行数据集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data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parallelize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70A0"/>
                </a:solidFill>
                <a:latin typeface="Courier"/>
              </a:rPr>
              <a:t>"key1"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"Key2"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"Key3"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)))</a:t>
            </a:r>
            <a:br/>
            <a:r>
              <a:rPr>
                <a:latin typeface="Courier"/>
              </a:rPr>
              <a:t>data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ParallelCollectionRDD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16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parallelize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24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data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saveAsSequenceFile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"/data/seq-output"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3.2.1 创建：代码片段（4/7）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hadoop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io</a:t>
            </a:r>
            <a:r>
              <a:rPr>
                <a:solidFill>
                  <a:srgbClr val="666666"/>
                </a:solidFill>
                <a:latin typeface="Courier"/>
              </a:rPr>
              <a:t>.{</a:t>
            </a:r>
            <a:r>
              <a:rPr>
                <a:latin typeface="Courier"/>
              </a:rPr>
              <a:t>Text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IntWritable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hadoop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io</a:t>
            </a:r>
            <a:r>
              <a:rPr>
                <a:solidFill>
                  <a:srgbClr val="666666"/>
                </a:solidFill>
                <a:latin typeface="Courier"/>
              </a:rPr>
              <a:t>.{</a:t>
            </a:r>
            <a:r>
              <a:rPr>
                <a:latin typeface="Courier"/>
              </a:rPr>
              <a:t>Text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IntWritable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result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sequenceFile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"/data/seq-output"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classOf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Text</a:t>
            </a:r>
            <a:r>
              <a:rPr>
                <a:solidFill>
                  <a:srgbClr val="666666"/>
                </a:solidFill>
                <a:latin typeface="Courier"/>
              </a:rPr>
              <a:t>],</a:t>
            </a:r>
            <a:r>
              <a:rPr>
                <a:latin typeface="Courier"/>
              </a:rPr>
              <a:t> classOf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IntWritable</a:t>
            </a:r>
            <a:r>
              <a:rPr>
                <a:solidFill>
                  <a:srgbClr val="666666"/>
                </a:solidFill>
                <a:latin typeface="Courier"/>
              </a:rPr>
              <a:t>]).</a:t>
            </a:r>
            <a:r>
              <a:rPr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 b="1">
                <a:solidFill>
                  <a:srgbClr val="007020"/>
                </a:solidFill>
                <a:latin typeface="Courier"/>
              </a:rPr>
              <a:t>case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y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toString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y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())}</a:t>
            </a:r>
            <a:br/>
            <a:r>
              <a:rPr>
                <a:latin typeface="Courier"/>
              </a:rPr>
              <a:t>result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19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map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26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result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collect</a:t>
            </a:r>
            <a:br/>
            <a:r>
              <a:rPr>
                <a:latin typeface="Courier"/>
              </a:rPr>
              <a:t>res11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latin typeface="Courier"/>
              </a:rPr>
              <a:t>key1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Kay2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Key3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3.2.1 创建：代码片段（5/7）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Scala 提供了强大的模式匹配机制</a:t>
            </a:r>
          </a:p>
          <a:p>
            <a:pPr lvl="0"/>
            <a:r>
              <a:rPr/>
              <a:t>先对照代码理解 代码 3.8 定义langs序列（Seq）变量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langs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Seq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"Scala"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"Martin"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"Odersky"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"Clojure"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"Rich"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"Hickey"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"Lisp"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"John"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"McCarthy"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tuple </a:t>
            </a:r>
            <a:r>
              <a:rPr>
                <a:solidFill>
                  <a:srgbClr val="666666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langs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tuple </a:t>
            </a:r>
            <a:r>
              <a:rPr b="1">
                <a:solidFill>
                  <a:srgbClr val="007020"/>
                </a:solidFill>
                <a:latin typeface="Courier"/>
              </a:rPr>
              <a:t>match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case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"Scala"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_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_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println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"Found Scala"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case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lang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first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last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3.2.1 创建：代码片段（6/7）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代码 3.9 在for循环中</a:t>
            </a:r>
          </a:p>
          <a:p>
            <a:pPr lvl="0" indent="0">
              <a:buNone/>
            </a:pPr>
            <a:r>
              <a:rPr>
                <a:latin typeface="Courier"/>
              </a:rPr>
              <a:t>Found Scala
Found other language: Clojure (Rich, Hickey)
Found other language: Lisp (John, McCarthy)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3.2.1 创建：代码片段（7/7）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先构造一个用于演示的并行数据集</a:t>
            </a:r>
          </a:p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dist1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70A0"/>
                </a:solidFill>
                <a:latin typeface="Courier"/>
              </a:rPr>
              <a:t>"INGLESIDE"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"SOUTHERN"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"PARK"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"NORTHERN"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dist1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latin typeface="Courier"/>
              </a:rPr>
              <a:t>INGLESIDE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SOUTHERN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PARK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NORTHERN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dist1RDD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parallelize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dist1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dist1RDD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ParallelCollectionRDD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44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parallelize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30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dist1RDD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collect</a:t>
            </a:r>
            <a:br/>
            <a:r>
              <a:rPr>
                <a:latin typeface="Courier"/>
              </a:rPr>
              <a:t>res29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latin typeface="Courier"/>
              </a:rPr>
              <a:t>INGLESIDE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SOUTHERN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PARK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NORTHERN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3.2.2 转换（1/2）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的部分总结了键值对常用转换，然后分别详细介绍几个转换</a:t>
            </a:r>
          </a:p>
          <a:p>
            <a:pPr lvl="0"/>
            <a:r>
              <a:rPr/>
              <a:t>基于一个键值对RDD的转换</a:t>
            </a:r>
          </a:p>
          <a:p>
            <a:pPr lvl="0"/>
            <a:r>
              <a:rPr/>
              <a:t>创建一个键值对RDD</a:t>
            </a:r>
          </a:p>
          <a:p>
            <a:pPr lvl="0"/>
            <a:r>
              <a:rPr/>
              <a:t>代码 3.12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3.2.2 转换（2/2）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调用包含(K, V)的数据集，返回的结果也为(K, V)</a:t>
            </a:r>
          </a:p>
          <a:p>
            <a:pPr lvl="0"/>
            <a:r>
              <a:rPr/>
              <a:t>代码 3.13</a:t>
            </a:r>
          </a:p>
          <a:p>
            <a:pPr lvl="0"/>
            <a:r>
              <a:rPr/>
              <a:t>调用包含(K, V)的数据集，返回(K, Iterable&lt;V&gt;)</a:t>
            </a:r>
          </a:p>
          <a:p>
            <a:pPr lvl="0"/>
            <a:r>
              <a:rPr/>
              <a:t>代码 3.14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3.2.2 转换：代码片段（1/8）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先构造一个用于演示的并行数据集</a:t>
            </a:r>
          </a:p>
          <a:p>
            <a:pPr lvl="0"/>
            <a:r>
              <a:rPr/>
              <a:t>在分组后做聚合计算得到指标结果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rdd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parallelize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solidFill>
                  <a:srgbClr val="666666"/>
                </a:solidFill>
                <a:latin typeface="Courier"/>
              </a:rPr>
              <a:t>)))</a:t>
            </a:r>
            <a:br/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ParallelCollectionRDD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15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parallelize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24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reduceByKey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y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x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y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collect</a:t>
            </a:r>
            <a:br/>
            <a:r>
              <a:rPr>
                <a:latin typeface="Courier"/>
              </a:rPr>
              <a:t>res5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3.2.2 转换：代码片段（2/8）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按业务键把相关记录汇到同一组</a:t>
            </a:r>
          </a:p>
          <a:p>
            <a:pPr lvl="0"/>
            <a:r>
              <a:rPr/>
              <a:t>通过 action 触发前面的惰性计算真正执行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groupByKey</a:t>
            </a:r>
            <a:r>
              <a:rPr>
                <a:solidFill>
                  <a:srgbClr val="666666"/>
                </a:solidFill>
                <a:latin typeface="Courier"/>
              </a:rPr>
              <a:t>().</a:t>
            </a:r>
            <a:r>
              <a:rPr>
                <a:latin typeface="Courier"/>
              </a:rPr>
              <a:t>collect</a:t>
            </a:r>
            <a:br/>
            <a:r>
              <a:rPr>
                <a:latin typeface="Courier"/>
              </a:rPr>
              <a:t>res6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Iterable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06287E"/>
                </a:solidFill>
                <a:latin typeface="Courier"/>
              </a:rPr>
              <a:t>CompactBuffer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06287E"/>
                </a:solidFill>
                <a:latin typeface="Courier"/>
              </a:rPr>
              <a:t>CompactBuffer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solidFill>
                  <a:srgbClr val="666666"/>
                </a:solidFill>
                <a:latin typeface="Courier"/>
              </a:rPr>
              <a:t>)))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mapValues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x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collect</a:t>
            </a:r>
            <a:br/>
            <a:r>
              <a:rPr>
                <a:latin typeface="Courier"/>
              </a:rPr>
              <a:t>res11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3.2.2 转换：代码片段（3/8）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通过 action 触发前面的惰性计算真正执行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flatMapValues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 to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latin typeface="Courier"/>
              </a:rPr>
              <a:t>collect</a:t>
            </a:r>
            <a:br/>
            <a:r>
              <a:rPr>
                <a:latin typeface="Courier"/>
              </a:rPr>
              <a:t>res13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keys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collect</a:t>
            </a:r>
            <a:br/>
            <a:r>
              <a:rPr>
                <a:latin typeface="Courier"/>
              </a:rPr>
              <a:t>res15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3.2.2 转换：代码片段（4/8）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通过 action 触发前面的惰性计算真正执行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values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collect</a:t>
            </a:r>
            <a:br/>
            <a:r>
              <a:rPr>
                <a:latin typeface="Courier"/>
              </a:rPr>
              <a:t>res20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sortByKey</a:t>
            </a:r>
            <a:r>
              <a:rPr>
                <a:solidFill>
                  <a:srgbClr val="666666"/>
                </a:solidFill>
                <a:latin typeface="Courier"/>
              </a:rPr>
              <a:t>().</a:t>
            </a:r>
            <a:r>
              <a:rPr>
                <a:latin typeface="Courier"/>
              </a:rPr>
              <a:t>collect</a:t>
            </a:r>
            <a:br/>
            <a:r>
              <a:rPr>
                <a:latin typeface="Courier"/>
              </a:rPr>
              <a:t>res25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3.2.2 转换：代码片段（5/8）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先构造一个用于演示的并行数据集</a:t>
            </a:r>
          </a:p>
          <a:p>
            <a:pPr lvl="0"/>
            <a:r>
              <a:rPr/>
              <a:t>用 map 把输入转换成后续要处理的结构</a:t>
            </a:r>
          </a:p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pairRDD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parallelize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"cat"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"cat"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"mouse"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),(</a:t>
            </a:r>
            <a:r>
              <a:rPr>
                <a:solidFill>
                  <a:srgbClr val="4070A0"/>
                </a:solidFill>
                <a:latin typeface="Courier"/>
              </a:rPr>
              <a:t>"cat"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12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"dog"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12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"mouse"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pairRDD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ParallelCollectionRDD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parallelize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24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myfunc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index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iter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Iterator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)])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br/>
            <a:r>
              <a:rPr>
                <a:latin typeface="Courier"/>
              </a:rPr>
              <a:t>Iterator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iter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"[partID:"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index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", val: 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x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"]"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myfunc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index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iter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Iterator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)])</a:t>
            </a:r>
            <a:r>
              <a:rPr>
                <a:latin typeface="Courier"/>
              </a:rPr>
              <a:t>Iterator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pairRDD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mapPartitionsWithIndex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myfunc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collect</a:t>
            </a:r>
            <a:br/>
            <a:r>
              <a:rPr>
                <a:latin typeface="Courier"/>
              </a:rPr>
              <a:t>res0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([</a:t>
            </a:r>
            <a:r>
              <a:rPr>
                <a:latin typeface="Courier"/>
              </a:rPr>
              <a:t>partID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cat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)],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partID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3.2.2 转换：代码片段（6/8）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先构造一个用于演示的并行数据集</a:t>
            </a:r>
          </a:p>
          <a:p>
            <a:pPr lvl="0"/>
            <a:r>
              <a:rPr/>
              <a:t>通过 action 触发前面的惰性计算真正执行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rdd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parallelize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solidFill>
                  <a:srgbClr val="666666"/>
                </a:solidFill>
                <a:latin typeface="Courier"/>
              </a:rPr>
              <a:t>)))</a:t>
            </a:r>
            <a:br/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ParallelCollectionRDD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42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parallelize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24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other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parallelize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9</a:t>
            </a:r>
            <a:r>
              <a:rPr>
                <a:solidFill>
                  <a:srgbClr val="666666"/>
                </a:solidFill>
                <a:latin typeface="Courier"/>
              </a:rPr>
              <a:t>)))</a:t>
            </a:r>
            <a:br/>
            <a:r>
              <a:rPr>
                <a:latin typeface="Courier"/>
              </a:rPr>
              <a:t>other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ParallelCollectionRDD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43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parallelize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24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subtractByKey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other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collect</a:t>
            </a:r>
            <a:br/>
            <a:r>
              <a:rPr>
                <a:latin typeface="Courier"/>
              </a:rPr>
              <a:t>res27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3.2.2 转换：代码片段（7/8）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把不同来源的数据按关联键接起来</a:t>
            </a:r>
          </a:p>
          <a:p>
            <a:pPr lvl="0"/>
            <a:r>
              <a:rPr/>
              <a:t>通过 action 触发前面的惰性计算真正执行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join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other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collect</a:t>
            </a:r>
            <a:br/>
            <a:r>
              <a:rPr>
                <a:latin typeface="Courier"/>
              </a:rPr>
              <a:t>res28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9</a:t>
            </a:r>
            <a:r>
              <a:rPr>
                <a:solidFill>
                  <a:srgbClr val="666666"/>
                </a:solidFill>
                <a:latin typeface="Courier"/>
              </a:rPr>
              <a:t>)),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,(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9</a:t>
            </a:r>
            <a:r>
              <a:rPr>
                <a:solidFill>
                  <a:srgbClr val="666666"/>
                </a:solidFill>
                <a:latin typeface="Courier"/>
              </a:rPr>
              <a:t>)))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rightOuterJoin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other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collect</a:t>
            </a:r>
            <a:br/>
            <a:r>
              <a:rPr>
                <a:latin typeface="Courier"/>
              </a:rPr>
              <a:t>res30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Option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,(</a:t>
            </a:r>
            <a:r>
              <a:rPr>
                <a:solidFill>
                  <a:srgbClr val="008000"/>
                </a:solidFill>
                <a:latin typeface="Courier"/>
              </a:rPr>
              <a:t>Some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solidFill>
                  <a:srgbClr val="40A070"/>
                </a:solidFill>
                <a:latin typeface="Courier"/>
              </a:rPr>
              <a:t>9</a:t>
            </a:r>
            <a:r>
              <a:rPr>
                <a:solidFill>
                  <a:srgbClr val="666666"/>
                </a:solidFill>
                <a:latin typeface="Courier"/>
              </a:rPr>
              <a:t>)),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,(</a:t>
            </a:r>
            <a:r>
              <a:rPr>
                <a:solidFill>
                  <a:srgbClr val="008000"/>
                </a:solidFill>
                <a:latin typeface="Courier"/>
              </a:rPr>
              <a:t>Some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solidFill>
                  <a:srgbClr val="40A070"/>
                </a:solidFill>
                <a:latin typeface="Courier"/>
              </a:rPr>
              <a:t>9</a:t>
            </a:r>
            <a:r>
              <a:rPr>
                <a:solidFill>
                  <a:srgbClr val="666666"/>
                </a:solidFill>
                <a:latin typeface="Courier"/>
              </a:rPr>
              <a:t>)))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3.2.2 转换：代码片段（8/8）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通过 action 触发前面的惰性计算真正执行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leftOuterJoin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other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collect</a:t>
            </a:r>
            <a:br/>
            <a:r>
              <a:rPr>
                <a:latin typeface="Courier"/>
              </a:rPr>
              <a:t>res31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Option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]))]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008000"/>
                </a:solidFill>
                <a:latin typeface="Courier"/>
              </a:rPr>
              <a:t>None</a:t>
            </a:r>
            <a:r>
              <a:rPr>
                <a:solidFill>
                  <a:srgbClr val="666666"/>
                </a:solidFill>
                <a:latin typeface="Courier"/>
              </a:rPr>
              <a:t>)),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008000"/>
                </a:solidFill>
                <a:latin typeface="Courier"/>
              </a:rPr>
              <a:t>Some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9</a:t>
            </a:r>
            <a:r>
              <a:rPr>
                <a:solidFill>
                  <a:srgbClr val="666666"/>
                </a:solidFill>
                <a:latin typeface="Courier"/>
              </a:rPr>
              <a:t>))),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,(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008000"/>
                </a:solidFill>
                <a:latin typeface="Courier"/>
              </a:rPr>
              <a:t>Some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9</a:t>
            </a:r>
            <a:r>
              <a:rPr>
                <a:solidFill>
                  <a:srgbClr val="666666"/>
                </a:solidFill>
                <a:latin typeface="Courier"/>
              </a:rPr>
              <a:t>))))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cogroup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other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collect</a:t>
            </a:r>
            <a:br/>
            <a:r>
              <a:rPr>
                <a:latin typeface="Courier"/>
              </a:rPr>
              <a:t>res32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Iterable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],</a:t>
            </a:r>
            <a:r>
              <a:rPr>
                <a:latin typeface="Courier"/>
              </a:rPr>
              <a:t> Iterable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]))]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Array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,(</a:t>
            </a:r>
            <a:r>
              <a:rPr>
                <a:solidFill>
                  <a:srgbClr val="06287E"/>
                </a:solidFill>
                <a:latin typeface="Courier"/>
              </a:rPr>
              <a:t>CompactBuffer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solidFill>
                  <a:srgbClr val="06287E"/>
                </a:solidFill>
                <a:latin typeface="Courier"/>
              </a:rPr>
              <a:t>CompactBuffer</a:t>
            </a:r>
            <a:r>
              <a:rPr>
                <a:solidFill>
                  <a:srgbClr val="666666"/>
                </a:solidFill>
                <a:latin typeface="Courier"/>
              </a:rPr>
              <a:t>())),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,(</a:t>
            </a:r>
            <a:r>
              <a:rPr>
                <a:solidFill>
                  <a:srgbClr val="06287E"/>
                </a:solidFill>
                <a:latin typeface="Courier"/>
              </a:rPr>
              <a:t>CompactBuffer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solidFill>
                  <a:srgbClr val="06287E"/>
                </a:solidFill>
                <a:latin typeface="Courier"/>
              </a:rPr>
              <a:t>CompactBuffer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9</a:t>
            </a:r>
            <a:r>
              <a:rPr>
                <a:solidFill>
                  <a:srgbClr val="666666"/>
                </a:solidFill>
                <a:latin typeface="Courier"/>
              </a:rPr>
              <a:t>))))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3.2.3 动作（1/2）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所有在基础RDD上提供的传统转换操作也可用在键值对RDD上</a:t>
            </a:r>
          </a:p>
          <a:p>
            <a:pPr lvl="0"/>
            <a:r>
              <a:rPr/>
              <a:t>代码 3.37</a:t>
            </a:r>
          </a:p>
          <a:p>
            <a:pPr lvl="0"/>
            <a:r>
              <a:rPr/>
              <a:t>要处理非常大的结果，可以考虑使用</a:t>
            </a:r>
          </a:p>
          <a:p>
            <a:pPr lvl="0"/>
            <a:r>
              <a:rPr/>
              <a:t>代码 3.38 其将返回RDD T，Long而不是Map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3.2.3 动作（2/2）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代码 3.39</a:t>
            </a:r>
          </a:p>
          <a:p>
            <a:pPr lvl="0"/>
            <a:r>
              <a:rPr/>
              <a:t>对关键值RDD起作用并将其转换为Scala Map以保留其键值结构</a:t>
            </a:r>
          </a:p>
          <a:p>
            <a:pPr lvl="0"/>
            <a:r>
              <a:rPr/>
              <a:t>代码 3.40</a:t>
            </a:r>
          </a:p>
          <a:p>
            <a:pPr lvl="0"/>
            <a:r>
              <a:rPr/>
              <a:t>返回与提供键相关联的所有值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3.2.3 动作：代码片段（1/5）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先构造一个用于演示的并行数据集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rdd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parallelize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solidFill>
                  <a:srgbClr val="666666"/>
                </a:solidFill>
                <a:latin typeface="Courier"/>
              </a:rPr>
              <a:t>)))</a:t>
            </a:r>
            <a:br/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ParallelCollectionRDD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15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parallelize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24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3.2.3 动作：代码片段（2/5）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对每个键进行计数</a:t>
            </a:r>
          </a:p>
          <a:p>
            <a:pPr lvl="0" indent="0">
              <a:buNone/>
            </a:pPr>
            <a:r>
              <a:rPr>
                <a:latin typeface="Courier"/>
              </a:rPr>
              <a:t>rdd.mapValues（\_ =\&gt; 1L）.reduceByKey（\_ + \_）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3.2.3 动作：代码片段（3/5）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代码 3.38 其将返回RDD [T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countByKey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res74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scala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collection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Long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3.2.3 动作：代码片段（4/5）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与collect()类似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collectAsMap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res80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scala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collection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3.2.3 动作：代码片段（5/5）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返回与提供键相关联的所有值。如果RDD具有已知的分区程序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lookup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res91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Seq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WrappedArray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2026-04-05T02:24:19Z</dcterms:created>
  <dcterms:modified xsi:type="dcterms:W3CDTF">2026-04-05T02:24:19Z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