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notesMaster" Target="notesMasters/notesMaster1.xml" /><Relationship Id="rId37" Type="http://schemas.openxmlformats.org/officeDocument/2006/relationships/tableStyles" Target="tableStyles.xml" /><Relationship Id="rId1" Type="http://schemas.openxmlformats.org/officeDocument/2006/relationships/slideMaster" Target="slideMasters/slideMaster1.xml" /><Relationship Id="rId36" Type="http://schemas.openxmlformats.org/officeDocument/2006/relationships/theme" Target="theme/theme1.xml" /><Relationship Id="rId35" Type="http://schemas.openxmlformats.org/officeDocument/2006/relationships/viewProps" Target="viewProps.xml" /><Relationship Id="rId3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高阶函数是指使用其他函数作为参数、或者返回一个函数作为结果的函数。因为在Scala中函数使用得最多，该术语可能会引起混淆，对于将函数作为参数或返回函数的方法和函数，我们将其定义为高阶函数。从计算机科学的角度来看，函数可以具有多种形式，例如一阶函数、高阶函数或纯函数。 接下来会依次看 高阶函数、泛型类，以及 隐式转换，后面的实现和案例都会沿着这条线继续展开。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因为在Scala中函数使用得最多，该术语可能会引起混淆，对于将函数作为参数或返回函数的方法和函数，我们将其定义为高阶函数。从计算机科学的角度来看，函数可以具有多种形式，例如一阶函数、高阶函数或纯函数。从数学的角度来看也是如此，使用高阶函数是可以执行以下操作之一。</a:t>
            </a:r>
          </a:p>
          <a:p>
            <a:pPr lvl="0" indent="0" marL="0">
              <a:buNone/>
            </a:pPr>
          </a:p>
          <a:p>
            <a:pPr lvl="0" indent="0" marL="0">
              <a:buNone/>
            </a:pPr>
            <a:r>
              <a:rPr/>
              <a:t>除高阶函数外的所有其他函数均为一阶函数。但是，从数学的角度来看高阶函数也称为运算符或函数。另一方面，如果函数的返回值仅由其输入确定则称为纯函数。</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显式的意思是，函数与外界交换数据只有一个唯一渠道：参数到返回值，函数从函数外部接受的所有输入信息都通过参数传递到该函数内部。</a:t>
            </a:r>
          </a:p>
          <a:p>
            <a:pPr lvl="0" indent="0" marL="0">
              <a:buNone/>
            </a:pPr>
          </a:p>
          <a:p>
            <a:pPr lvl="0" indent="0" marL="0">
              <a:buNone/>
            </a:pPr>
            <a:r>
              <a:rPr/>
              <a:t>如果一个函数通过隐式方式，从外界获取数据，或者向外部输出数据，那么该函数就是非纯函数。隐式的意思是，函数通过参数和返回值以外的渠道，和外界进行数据交换，比如读取全局变量和修改全局变量都叫作以隐式的方式和外界进行数据交换。</a:t>
            </a:r>
          </a:p>
          <a:p>
            <a:pPr lvl="0" indent="0" marL="0">
              <a:buNone/>
            </a:pPr>
          </a:p>
          <a:p>
            <a:pPr lvl="0" indent="0" marL="0">
              <a:buNone/>
            </a:pPr>
            <a:r>
              <a:rPr/>
              <a:t>或者输出到文件，打印到屏幕，都叫做隐式的方式和外界进行数据交换。我们看一下纯函数与非纯函数的例子。</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 的作用是保持数据条数大体不变，但把每条记录改造成更适合后续计算的形式。讲的时候要点出转换前后的结构差异。</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泛型类在集合类中被广泛使用。泛型类使用方括号[] 来接受类型参数。一个惯例是使用字母 A 作为参数标识符，当然我们可以使用任何参数名称。</a:t>
            </a:r>
          </a:p>
          <a:p>
            <a:pPr lvl="0" indent="0" marL="0">
              <a:buNone/>
            </a:pPr>
          </a:p>
          <a:p>
            <a:pPr lvl="0" indent="0" marL="0">
              <a:buNone/>
            </a:pPr>
            <a:r>
              <a:rPr/>
              <a:t>上面的 Stack 类的定义中接受类型参数A，这意味着其内部的列表elements只能够存储类型A的元素，方法push()只接受类型A的实例对象作为参数，将x添加到elements前面然后重新分配给一个新的列表。</a:t>
            </a:r>
          </a:p>
          <a:p>
            <a:pPr lvl="0" indent="0" marL="0">
              <a:buNone/>
            </a:pPr>
          </a:p>
          <a:p>
            <a:pPr lvl="0" indent="0" marL="0">
              <a:buNone/>
            </a:pPr>
            <a:r>
              <a:rPr/>
              <a:t>然而如果类型参数有子类型，子类型可以被传入。</a:t>
            </a:r>
          </a:p>
          <a:p>
            <a:pPr lvl="0" indent="0" marL="0">
              <a:buNone/>
            </a:pPr>
          </a:p>
          <a:p>
            <a:pPr lvl="0" indent="0" marL="0">
              <a:buNone/>
            </a:pPr>
            <a:r>
              <a:rPr/>
              <a:t>类 Apple 和类 Banana 都继承自类 Fruit，所以我们可以把实例对象 apple 和 banana 压入stack中。泛型类型的子类是不可变，这表示如果我们有一个Char类型的栈 StackChar，那它不能被用作一个Int的栈 StackInt，否则就是不安全的。只有当类型 B = A 时， StackA 是 StackB 的子类成立。</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型变是复杂类型的子类型关系与其组件类型的子类型关系的相关性。Scala支持泛型类 的类型参数的型变注释，允许它们是协变的，逆变的，或在没有使用注释的情况下是不变的。在类型系统中使用型变允许我们在复杂类型之间建立直观的连接，而缺乏型变则会限制类抽象的重用性。</a:t>
            </a:r>
          </a:p>
          <a:p>
            <a:pPr lvl="0" indent="0" marL="0">
              <a:buNone/>
            </a:pPr>
          </a:p>
          <a:p>
            <a:pPr lvl="0" indent="0" marL="0">
              <a:buNone/>
            </a:pPr>
            <a:r>
              <a:rPr/>
              <a:t>对于某些类 class List加 A，使 A 成为协变意味着对于两种类型 A 和 B，如果 A 是 B 的子类型，那么 ListA 就是 ListB 的子类型。这允许我们使用泛型来创建非常有用和直观的子类型关系。</a:t>
            </a:r>
          </a:p>
          <a:p>
            <a:pPr lvl="0" indent="0" marL="0">
              <a:buNone/>
            </a:pPr>
          </a:p>
          <a:p>
            <a:pPr lvl="0" indent="0" marL="0">
              <a:buNone/>
            </a:pPr>
            <a:r>
              <a:rPr/>
              <a:t>Scala 标准库有一个通用的不可变的类 sealed abstract class List加 A，其中类型参数 A 是协变的。这意味着 ListCat 是 ListAnimal，ListDog 也是 ListAnimal。直观地说，猫的列表和狗的列表都是动物的列表是合理的，你应该能够用它们中的任何一个替换 ListAnimal。</a:t>
            </a:r>
          </a:p>
        </p:txBody>
      </p:sp>
      <p:sp>
        <p:nvSpPr>
          <p:cNvPr id="4" name="Slide Number Placeholder 3"/>
          <p:cNvSpPr>
            <a:spLocks noGrp="1"/>
          </p:cNvSpPr>
          <p:nvPr>
            <p:ph type="sldNum" sz="quarter" idx="10"/>
          </p:nvPr>
        </p:nvSpPr>
        <p:spPr/>
        <p:txBody>
          <a:bodyPr/>
          <a:lstStyle/>
          <a:p>
            <a:fld id="{DE9B7EA9-A690-144F-BA16-8B1F010DDC74}"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23</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24</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25</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Scala 的隐式转换定义了一套查找机制，当编译器发现代码出现类型转换时，编译器试图去寻找一种隐式的转换方法，这样就使得编译器能够自我修复完成编译。在 Scala 语言当中，隐式转换是一项强大的程序语言功能，它不仅能够简化程序设计，也能够使程序具有很强的灵活性，可以在不修改原有的类的基础上，对类的功能进行扩展。</a:t>
            </a:r>
          </a:p>
          <a:p>
            <a:pPr lvl="0" indent="0" marL="0">
              <a:buNone/>
            </a:pPr>
          </a:p>
          <a:p>
            <a:pPr lvl="0" indent="0" marL="0">
              <a:buNone/>
            </a:pPr>
            <a:r>
              <a:rPr/>
              <a:t>rddToPairRDDFunction为隐式转换函数，即将RDD(K, V)类型转换为PairRDDFunctions对象，这样就可以在原始的RDD对象上调用reduceByKey()之类的方法。</a:t>
            </a:r>
          </a:p>
          <a:p>
            <a:pPr lvl="0" indent="0" marL="0">
              <a:buNone/>
            </a:pPr>
          </a:p>
          <a:p>
            <a:pPr lvl="0" indent="0" marL="0">
              <a:buNone/>
            </a:pPr>
            <a:r>
              <a:rPr/>
              <a:t>这个函数在func(“11”)调用时候正常，但是在执行func(11)或func(1.1)时候就会报error: type mismatch的错误，对于这个问题有多种方式解决，其中可以包括。</a:t>
            </a:r>
          </a:p>
        </p:txBody>
      </p:sp>
      <p:sp>
        <p:nvSpPr>
          <p:cNvPr id="4" name="Slide Number Placeholder 3"/>
          <p:cNvSpPr>
            <a:spLocks noGrp="1"/>
          </p:cNvSpPr>
          <p:nvPr>
            <p:ph type="sldNum" sz="quarter" idx="10"/>
          </p:nvPr>
        </p:nvSpPr>
        <p:spPr/>
        <p:txBody>
          <a:bodyPr/>
          <a:lstStyle/>
          <a:p>
            <a:fld id="{DE9B7EA9-A690-144F-BA16-8B1F010DDC74}" type="slidenum">
              <a:rPr lang="en-US"/>
              <a:t>27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（2）msg参数使用超类型，比如使用AnyVal或Any（Any是所有类型的超类。Any具有两个直接子类：AnyVal和AnyRef），但是需要在函数中针对特定的逻辑做类型转化，这样就进一步处理。</a:t>
            </a:r>
          </a:p>
          <a:p>
            <a:pPr lvl="0" indent="0" marL="0">
              <a:buNone/>
            </a:pPr>
          </a:p>
          <a:p>
            <a:pPr lvl="0" indent="0" marL="0">
              <a:buNone/>
            </a:pPr>
            <a:r>
              <a:rPr/>
              <a:t>这两个方式使用了面向对象编程的思路，虽然都可以解决该问题，但是不够简洁。在Scala中，针对类型转换提供了特有的隐式转化功能。我们通过一个函数实现隐式转化，这个函数可以根据一个变量在需要的时候调用进行类型转换。</a:t>
            </a:r>
          </a:p>
          <a:p>
            <a:pPr lvl="0" indent="0" marL="0">
              <a:buNone/>
            </a:pPr>
          </a:p>
          <a:p>
            <a:pPr lvl="0" indent="0" marL="0">
              <a:buNone/>
            </a:pPr>
            <a:r>
              <a:rPr/>
              <a:t>此时在调用func(11)的时候，Scala编译器会自动对参数11进行intToString函数的调用，这样就通过Scala的隐形转换实现func函数对字符串参数类型的支持。上例中，隐式转换依据的条件是输入参数类型（Int）和目标参数类型（String）的匹配，至于函数名称并不重要。</a:t>
            </a:r>
          </a:p>
        </p:txBody>
      </p:sp>
      <p:sp>
        <p:nvSpPr>
          <p:cNvPr id="4" name="Slide Number Placeholder 3"/>
          <p:cNvSpPr>
            <a:spLocks noGrp="1"/>
          </p:cNvSpPr>
          <p:nvPr>
            <p:ph type="sldNum" sz="quarter" idx="10"/>
          </p:nvPr>
        </p:nvSpPr>
        <p:spPr/>
        <p:txBody>
          <a:bodyPr/>
          <a:lstStyle/>
          <a:p>
            <a:fld id="{DE9B7EA9-A690-144F-BA16-8B1F010DDC74}" type="slidenum">
              <a:rPr lang="en-US"/>
              <a:t>28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29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 Scala高级语法</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高阶函数</a:t>
            </a:r>
          </a:p>
          <a:p>
            <a:pPr lvl="0"/>
            <a:r>
              <a:rPr/>
              <a:t>泛型类</a:t>
            </a:r>
          </a:p>
          <a:p>
            <a:pPr lvl="0"/>
            <a:r>
              <a:rPr/>
              <a:t>隐式转换</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高阶函数是指使用其他函数作为参数、或者返回一个函数作为结果的函数</a:t>
            </a:r>
          </a:p>
          <a:p>
            <a:pPr lvl="0"/>
            <a:r>
              <a:rPr/>
              <a:t>（1）将一个或多个函数作为参数来执行某些操作</a:t>
            </a:r>
          </a:p>
          <a:p>
            <a:pPr lvl="0"/>
            <a:r>
              <a:rPr/>
              <a:t>（2）将一个函数返回作为结果</a:t>
            </a:r>
          </a:p>
          <a:p>
            <a:pPr lvl="0"/>
            <a:r>
              <a:rPr/>
              <a:t>从数学的角度来看高阶函数也称为运算符或函数</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纯函数是这样一种函数，输入输出数据流全是显式的</a:t>
            </a:r>
          </a:p>
          <a:p>
            <a:pPr lvl="0"/>
            <a:r>
              <a:rPr/>
              <a:t>函数输出到函数外部的所有信息都通过返回值传递到该函数外部</a:t>
            </a:r>
          </a:p>
          <a:p>
            <a:pPr lvl="0"/>
            <a:r>
              <a:rPr/>
              <a:t>利用输入输出系统函数库读取配置文件</a:t>
            </a:r>
          </a:p>
          <a:p>
            <a:pPr lvl="0"/>
            <a:r>
              <a:rPr/>
              <a:t>非纯函数</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高阶函数：代码片段（1/11）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纯函数是这样一种函数</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a:t>
            </a:r>
            <a:r>
              <a:rPr>
                <a:solidFill>
                  <a:srgbClr val="666666"/>
                </a:solidFill>
                <a:latin typeface="Courier"/>
              </a:rPr>
              <a:t>(</a:t>
            </a:r>
            <a:r>
              <a:rPr>
                <a:latin typeface="Courier"/>
              </a:rPr>
              <a:t>a</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b</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 </a:t>
            </a:r>
            <a:r>
              <a:rPr>
                <a:solidFill>
                  <a:srgbClr val="666666"/>
                </a:solidFill>
                <a:latin typeface="Courier"/>
              </a:rPr>
              <a:t>+</a:t>
            </a:r>
            <a:r>
              <a:rPr>
                <a:latin typeface="Courier"/>
              </a:rPr>
              <a:t> b</a:t>
            </a:r>
            <a:br/>
            <a:r>
              <a:rPr>
                <a:latin typeface="Courier"/>
              </a:rPr>
              <a:t>add</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b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a </a:t>
            </a:r>
            <a:r>
              <a:rPr>
                <a:solidFill>
                  <a:srgbClr val="666666"/>
                </a:solidFill>
                <a:latin typeface="Courier"/>
              </a:rPr>
              <a:t>=</a:t>
            </a:r>
            <a:r>
              <a:rPr>
                <a:latin typeface="Courier"/>
              </a:rPr>
              <a:t> </a:t>
            </a:r>
            <a:r>
              <a:rPr>
                <a:solidFill>
                  <a:srgbClr val="40A070"/>
                </a:solidFill>
                <a:latin typeface="Courier"/>
              </a:rPr>
              <a:t>1</a:t>
            </a:r>
            <a:br/>
            <a:r>
              <a:rPr>
                <a:latin typeface="Courier"/>
              </a:rPr>
              <a:t>a</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高阶函数：代码片段（2/11）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非纯函数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addA</a:t>
            </a:r>
            <a:r>
              <a:rPr>
                <a:solidFill>
                  <a:srgbClr val="666666"/>
                </a:solidFill>
                <a:latin typeface="Courier"/>
              </a:rPr>
              <a:t>(</a:t>
            </a:r>
            <a:r>
              <a:rPr>
                <a:latin typeface="Courier"/>
              </a:rPr>
              <a:t>b</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 </a:t>
            </a:r>
            <a:r>
              <a:rPr>
                <a:solidFill>
                  <a:srgbClr val="666666"/>
                </a:solidFill>
                <a:latin typeface="Courier"/>
              </a:rPr>
              <a:t>+</a:t>
            </a:r>
            <a:r>
              <a:rPr>
                <a:latin typeface="Courier"/>
              </a:rPr>
              <a:t> b</a:t>
            </a:r>
            <a:br/>
            <a:r>
              <a:rPr>
                <a:latin typeface="Courier"/>
              </a:rPr>
              <a:t>addA</a:t>
            </a:r>
            <a:r>
              <a:rPr>
                <a:solidFill>
                  <a:srgbClr val="666666"/>
                </a:solidFill>
                <a:latin typeface="Courier"/>
              </a:rPr>
              <a:t>:</a:t>
            </a:r>
            <a:r>
              <a:rPr>
                <a:latin typeface="Courier"/>
              </a:rPr>
              <a:t> </a:t>
            </a:r>
            <a:r>
              <a:rPr>
                <a:solidFill>
                  <a:srgbClr val="666666"/>
                </a:solidFill>
                <a:latin typeface="Courier"/>
              </a:rPr>
              <a:t>(</a:t>
            </a:r>
            <a:r>
              <a:rPr>
                <a:latin typeface="Courier"/>
              </a:rPr>
              <a:t>b</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br/>
            <a:r>
              <a:rPr>
                <a:latin typeface="Courier"/>
              </a:rPr>
              <a:t>scala</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a:t>
            </a:r>
            <a:r>
              <a:rPr>
                <a:solidFill>
                  <a:srgbClr val="666666"/>
                </a:solidFill>
                <a:latin typeface="Courier"/>
              </a:rPr>
              <a:t>(</a:t>
            </a:r>
            <a:r>
              <a:rPr>
                <a:latin typeface="Courier"/>
              </a:rPr>
              <a:t>a</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b</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a:</a:t>
            </a:r>
            <a:r>
              <a:rPr>
                <a:solidFill>
                  <a:srgbClr val="BB6688"/>
                </a:solidFill>
                <a:latin typeface="Courier"/>
              </a:rPr>
              <a:t>$a</a:t>
            </a:r>
            <a:r>
              <a:rPr>
                <a:solidFill>
                  <a:srgbClr val="4070A0"/>
                </a:solidFill>
                <a:latin typeface="Courier"/>
              </a:rPr>
              <a:t> b:</a:t>
            </a:r>
            <a:r>
              <a:rPr>
                <a:solidFill>
                  <a:srgbClr val="BB6688"/>
                </a:solidFill>
                <a:latin typeface="Courier"/>
              </a:rPr>
              <a:t>$b"</a:t>
            </a:r>
            <a:r>
              <a:rPr>
                <a:solidFill>
                  <a:srgbClr val="666666"/>
                </a:solidFill>
                <a:latin typeface="Courier"/>
              </a:rPr>
              <a:t>)</a:t>
            </a:r>
            <a:br/>
            <a:r>
              <a:rPr>
                <a:solidFill>
                  <a:srgbClr val="666666"/>
                </a:solidFill>
                <a:latin typeface="Courier"/>
              </a:rPr>
              <a:t>|</a:t>
            </a:r>
            <a:r>
              <a:rPr>
                <a:latin typeface="Courier"/>
              </a:rPr>
              <a:t> a </a:t>
            </a:r>
            <a:r>
              <a:rPr>
                <a:solidFill>
                  <a:srgbClr val="666666"/>
                </a:solidFill>
                <a:latin typeface="Courier"/>
              </a:rPr>
              <a:t>+</a:t>
            </a:r>
            <a:r>
              <a:rPr>
                <a:latin typeface="Courier"/>
              </a:rPr>
              <a:t> b</a:t>
            </a:r>
            <a:br/>
            <a:r>
              <a:rPr>
                <a:solidFill>
                  <a:srgbClr val="666666"/>
                </a:solidFill>
                <a:latin typeface="Courier"/>
              </a:rPr>
              <a:t>|</a:t>
            </a:r>
            <a:r>
              <a:rPr>
                <a:latin typeface="Courier"/>
              </a:rPr>
              <a:t> </a:t>
            </a:r>
            <a:r>
              <a:rPr>
                <a:solidFill>
                  <a:srgbClr val="666666"/>
                </a:solidFill>
                <a:latin typeface="Courier"/>
              </a:rPr>
              <a:t>}</a:t>
            </a:r>
            <a:br/>
            <a:r>
              <a:rPr>
                <a:latin typeface="Courier"/>
              </a:rPr>
              <a:t>add</a:t>
            </a:r>
            <a:r>
              <a:rPr>
                <a:solidFill>
                  <a:srgbClr val="666666"/>
                </a:solidFill>
                <a:latin typeface="Courier"/>
              </a:rPr>
              <a:t>:</a:t>
            </a:r>
            <a:r>
              <a:rPr>
                <a:latin typeface="Courier"/>
              </a:rPr>
              <a:t> </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b</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b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randInt</a:t>
            </a:r>
            <a:r>
              <a:rPr>
                <a:solidFill>
                  <a:srgbClr val="666666"/>
                </a:solidFill>
                <a:latin typeface="Courier"/>
              </a:rPr>
              <a:t>()</a:t>
            </a:r>
            <a:r>
              <a:rPr>
                <a:latin typeface="Courier"/>
              </a:rPr>
              <a:t> </a:t>
            </a:r>
            <a:r>
              <a:rPr>
                <a:solidFill>
                  <a:srgbClr val="666666"/>
                </a:solidFill>
                <a:latin typeface="Courier"/>
              </a:rPr>
              <a:t>=</a:t>
            </a:r>
            <a:r>
              <a:rPr>
                <a:latin typeface="Courier"/>
              </a:rPr>
              <a:t> Random</a:t>
            </a:r>
            <a:r>
              <a:rPr>
                <a:solidFill>
                  <a:srgbClr val="666666"/>
                </a:solidFill>
                <a:latin typeface="Courier"/>
              </a:rPr>
              <a:t>.</a:t>
            </a:r>
            <a:r>
              <a:rPr>
                <a:solidFill>
                  <a:srgbClr val="06287E"/>
                </a:solidFill>
                <a:latin typeface="Courier"/>
              </a:rPr>
              <a:t>nextInt</a:t>
            </a:r>
            <a:r>
              <a:rPr>
                <a:solidFill>
                  <a:srgbClr val="666666"/>
                </a:solidFill>
                <a:latin typeface="Courier"/>
              </a:rPr>
              <a:t>()</a:t>
            </a:r>
            <a:br/>
            <a:r>
              <a:rPr>
                <a:latin typeface="Courier"/>
              </a:rPr>
              <a:t>\</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30</a:t>
            </a:r>
            <a:r>
              <a:rPr>
                <a:solidFill>
                  <a:srgbClr val="666666"/>
                </a:solidFill>
                <a:latin typeface="Courier"/>
              </a:rPr>
              <a:t>:</a:t>
            </a:r>
            <a:r>
              <a:rPr>
                <a:latin typeface="Courier"/>
              </a:rPr>
              <a:t> error</a:t>
            </a:r>
            <a:r>
              <a:rPr>
                <a:solidFill>
                  <a:srgbClr val="666666"/>
                </a:solidFill>
                <a:latin typeface="Courier"/>
              </a:rPr>
              <a:t>:</a:t>
            </a:r>
            <a:r>
              <a:rPr>
                <a:latin typeface="Courier"/>
              </a:rPr>
              <a:t> not found</a:t>
            </a:r>
            <a:r>
              <a:rPr>
                <a:solidFill>
                  <a:srgbClr val="666666"/>
                </a:solidFill>
                <a:latin typeface="Courier"/>
              </a:rPr>
              <a:t>:</a:t>
            </a:r>
            <a:r>
              <a:rPr>
                <a:latin typeface="Courier"/>
              </a:rPr>
              <a:t> value Random</a:t>
            </a:r>
            <a:br/>
            <a:r>
              <a:rPr b="1">
                <a:solidFill>
                  <a:srgbClr val="007020"/>
                </a:solidFill>
                <a:latin typeface="Courier"/>
              </a:rPr>
              <a:t>def</a:t>
            </a:r>
            <a:r>
              <a:rPr>
                <a:latin typeface="Courier"/>
              </a:rPr>
              <a:t> </a:t>
            </a:r>
            <a:r>
              <a:rPr>
                <a:solidFill>
                  <a:srgbClr val="06287E"/>
                </a:solidFill>
                <a:latin typeface="Courier"/>
              </a:rPr>
              <a:t>randInt</a:t>
            </a:r>
            <a:r>
              <a:rPr>
                <a:solidFill>
                  <a:srgbClr val="666666"/>
                </a:solidFill>
                <a:latin typeface="Courier"/>
              </a:rPr>
              <a:t>()</a:t>
            </a:r>
            <a:r>
              <a:rPr>
                <a:latin typeface="Courier"/>
              </a:rPr>
              <a:t> </a:t>
            </a:r>
            <a:r>
              <a:rPr>
                <a:solidFill>
                  <a:srgbClr val="666666"/>
                </a:solidFill>
                <a:latin typeface="Courier"/>
              </a:rPr>
              <a:t>=</a:t>
            </a:r>
            <a:r>
              <a:rPr>
                <a:latin typeface="Courier"/>
              </a:rPr>
              <a:t> Random</a:t>
            </a:r>
            <a:r>
              <a:rPr>
                <a:solidFill>
                  <a:srgbClr val="666666"/>
                </a:solidFill>
                <a:latin typeface="Courier"/>
              </a:rPr>
              <a:t>.</a:t>
            </a:r>
            <a:r>
              <a:rPr>
                <a:solidFill>
                  <a:srgbClr val="06287E"/>
                </a:solidFill>
                <a:latin typeface="Courier"/>
              </a:rPr>
              <a:t>nextInt</a:t>
            </a:r>
            <a:r>
              <a:rPr>
                <a:solidFill>
                  <a:srgbClr val="666666"/>
                </a:solidFill>
                <a:latin typeface="Courier"/>
              </a:rPr>
              <a:t>()</a:t>
            </a:r>
            <a:br/>
            <a:r>
              <a:rPr i="1">
                <a:solidFill>
                  <a:srgbClr val="60A0B0"/>
                </a:solidFill>
                <a:latin typeface="Courier"/>
              </a:rPr>
              <a:t>// ...</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高阶函数：代码片段（3/11）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下面的表达式就定义了一个接受Int类型输入参数的匿名函数</a:t>
            </a:r>
          </a:p>
          <a:p>
            <a:pPr lvl="0"/>
            <a:r>
              <a:rPr/>
              <a:t>先对照代码理解 上述定义的匿名函数，其实是下面这个常规函数的简写：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inc </a:t>
            </a:r>
            <a:r>
              <a:rPr>
                <a:solidFill>
                  <a:srgbClr val="666666"/>
                </a:solidFill>
                <a:latin typeface="Courier"/>
              </a:rPr>
              <a:t>=</a:t>
            </a:r>
            <a:r>
              <a:rPr>
                <a:latin typeface="Courier"/>
              </a:rPr>
              <a:t> </a:t>
            </a:r>
            <a:r>
              <a:rPr>
                <a:solidFill>
                  <a:srgbClr val="666666"/>
                </a:solidFill>
                <a:latin typeface="Courier"/>
              </a:rPr>
              <a:t>(</a:t>
            </a:r>
            <a:r>
              <a:rPr>
                <a:latin typeface="Courier"/>
              </a:rPr>
              <a:t>x</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=&gt;</a:t>
            </a:r>
            <a:r>
              <a:rPr>
                <a:latin typeface="Courier"/>
              </a:rPr>
              <a:t> x</a:t>
            </a:r>
            <a:r>
              <a:rPr>
                <a:solidFill>
                  <a:srgbClr val="666666"/>
                </a:solidFill>
                <a:latin typeface="Courier"/>
              </a:rPr>
              <a:t>+</a:t>
            </a:r>
            <a:r>
              <a:rPr>
                <a:solidFill>
                  <a:srgbClr val="40A070"/>
                </a:solidFill>
                <a:latin typeface="Courier"/>
              </a:rPr>
              <a:t>1</a:t>
            </a:r>
            <a:br/>
            <a:r>
              <a:rPr>
                <a:latin typeface="Courier"/>
              </a:rPr>
              <a:t>inc</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=&gt;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666666"/>
                </a:solidFill>
                <a:latin typeface="Courier"/>
              </a:rPr>
              <a:t>&lt;</a:t>
            </a:r>
            <a:r>
              <a:rPr>
                <a:latin typeface="Courier"/>
              </a:rPr>
              <a:t>function1\</a:t>
            </a:r>
            <a:r>
              <a:rPr>
                <a:solidFill>
                  <a:srgbClr val="666666"/>
                </a:solidFill>
                <a:latin typeface="Courier"/>
              </a:rPr>
              <a:t>&gt;</a:t>
            </a:r>
          </a:p>
          <a:p>
            <a:pPr lvl="0" indent="0" marL="0">
              <a:buNone/>
            </a:pPr>
            <a:r>
              <a:rPr/>
              <a:t>片段 2</a:t>
            </a:r>
          </a:p>
          <a:p>
            <a:pPr lvl="0" indent="0">
              <a:buNone/>
            </a:pPr>
            <a:r>
              <a:rPr b="1">
                <a:solidFill>
                  <a:srgbClr val="007020"/>
                </a:solidFill>
                <a:latin typeface="Courier"/>
              </a:rPr>
              <a:t>def</a:t>
            </a:r>
            <a:r>
              <a:rPr>
                <a:latin typeface="Courier"/>
              </a:rPr>
              <a:t> </a:t>
            </a:r>
            <a:r>
              <a:rPr>
                <a:solidFill>
                  <a:srgbClr val="06287E"/>
                </a:solidFill>
                <a:latin typeface="Courier"/>
              </a:rPr>
              <a:t>add</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x </a:t>
            </a:r>
            <a:r>
              <a:rPr>
                <a:solidFill>
                  <a:srgbClr val="666666"/>
                </a:solidFill>
                <a:latin typeface="Courier"/>
              </a:rPr>
              <a:t>+</a:t>
            </a:r>
            <a:r>
              <a:rPr>
                <a:latin typeface="Courier"/>
              </a:rPr>
              <a:t> </a:t>
            </a:r>
            <a:r>
              <a:rPr>
                <a:solidFill>
                  <a:srgbClr val="40A070"/>
                </a:solidFill>
                <a:latin typeface="Courier"/>
              </a:rPr>
              <a:t>1</a:t>
            </a:r>
            <a:br/>
            <a:r>
              <a:rPr>
                <a:solidFill>
                  <a:srgbClr val="666666"/>
                </a:solidFill>
                <a:latin typeface="Courier"/>
              </a:rPr>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高阶函数：代码片段（4/11）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以上范例中的 inc被定义一个值，使用方式如下： 的执行步骤</a:t>
            </a:r>
          </a:p>
          <a:p>
            <a:pPr lvl="0"/>
            <a:r>
              <a:rPr/>
              <a:t>先对照代码理解 同样我们可以在匿名函数中定义多个参数：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x </a:t>
            </a:r>
            <a:r>
              <a:rPr>
                <a:solidFill>
                  <a:srgbClr val="666666"/>
                </a:solidFill>
                <a:latin typeface="Courier"/>
              </a:rPr>
              <a:t>=</a:t>
            </a:r>
            <a:r>
              <a:rPr>
                <a:latin typeface="Courier"/>
              </a:rPr>
              <a:t> </a:t>
            </a:r>
            <a:r>
              <a:rPr>
                <a:solidFill>
                  <a:srgbClr val="06287E"/>
                </a:solidFill>
                <a:latin typeface="Courier"/>
              </a:rPr>
              <a:t>inc</a:t>
            </a:r>
            <a:r>
              <a:rPr>
                <a:solidFill>
                  <a:srgbClr val="666666"/>
                </a:solidFill>
                <a:latin typeface="Courier"/>
              </a:rPr>
              <a:t>(</a:t>
            </a:r>
            <a:r>
              <a:rPr>
                <a:solidFill>
                  <a:srgbClr val="40A070"/>
                </a:solidFill>
                <a:latin typeface="Courier"/>
              </a:rPr>
              <a:t>7</a:t>
            </a:r>
            <a:r>
              <a:rPr>
                <a:solidFill>
                  <a:srgbClr val="666666"/>
                </a:solidFill>
                <a:latin typeface="Courier"/>
              </a:rPr>
              <a:t>)-</a:t>
            </a:r>
            <a:r>
              <a:rPr>
                <a:solidFill>
                  <a:srgbClr val="40A070"/>
                </a:solidFill>
                <a:latin typeface="Courier"/>
              </a:rPr>
              <a:t>1</a:t>
            </a:r>
            <a:br/>
            <a:r>
              <a:rPr>
                <a:latin typeface="Courier"/>
              </a:rPr>
              <a:t>x</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7</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mul </a:t>
            </a:r>
            <a:r>
              <a:rPr>
                <a:solidFill>
                  <a:srgbClr val="666666"/>
                </a:solidFill>
                <a:latin typeface="Courier"/>
              </a:rPr>
              <a:t>=</a:t>
            </a:r>
            <a:r>
              <a:rPr>
                <a:latin typeface="Courier"/>
              </a:rPr>
              <a:t> </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y</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=&gt;</a:t>
            </a:r>
            <a:r>
              <a:rPr>
                <a:latin typeface="Courier"/>
              </a:rPr>
              <a:t> x</a:t>
            </a:r>
            <a:r>
              <a:rPr>
                <a:solidFill>
                  <a:srgbClr val="666666"/>
                </a:solidFill>
                <a:latin typeface="Courier"/>
              </a:rPr>
              <a:t>*</a:t>
            </a:r>
            <a:r>
              <a:rPr>
                <a:latin typeface="Courier"/>
              </a:rPr>
              <a:t>y</a:t>
            </a:r>
            <a:br/>
            <a:r>
              <a:rPr>
                <a:latin typeface="Courier"/>
              </a:rPr>
              <a:t>mul</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666666"/>
                </a:solidFill>
                <a:latin typeface="Courier"/>
              </a:rPr>
              <a:t>&lt;</a:t>
            </a:r>
            <a:r>
              <a:rPr>
                <a:latin typeface="Courier"/>
              </a:rPr>
              <a:t>function2\</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06287E"/>
                </a:solidFill>
                <a:latin typeface="Courier"/>
              </a:rPr>
              <a:t>mul</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br/>
            <a:r>
              <a:rPr>
                <a:solidFill>
                  <a:srgbClr val="40A070"/>
                </a:solidFill>
                <a:latin typeface="Courier"/>
              </a:rPr>
              <a:t>12</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高阶函数：代码片段（5/11）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我们也可以不给匿名函数设置参数，如下所示： 的执行步骤</a:t>
            </a:r>
          </a:p>
          <a:p>
            <a:pPr lvl="0"/>
            <a:r>
              <a:rPr/>
              <a:t>先对照代码理解 下划线“_”可用作是匿名函数参数的占位符</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var</a:t>
            </a:r>
            <a:r>
              <a:rPr>
                <a:latin typeface="Courier"/>
              </a:rPr>
              <a:t> userDir </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666666"/>
                </a:solidFill>
                <a:latin typeface="Courier"/>
              </a:rPr>
              <a:t>{</a:t>
            </a:r>
            <a:r>
              <a:rPr>
                <a:latin typeface="Courier"/>
              </a:rPr>
              <a:t> System</a:t>
            </a:r>
            <a:r>
              <a:rPr>
                <a:solidFill>
                  <a:srgbClr val="666666"/>
                </a:solidFill>
                <a:latin typeface="Courier"/>
              </a:rPr>
              <a:t>.</a:t>
            </a:r>
            <a:r>
              <a:rPr>
                <a:solidFill>
                  <a:srgbClr val="06287E"/>
                </a:solidFill>
                <a:latin typeface="Courier"/>
              </a:rPr>
              <a:t>getProperty</a:t>
            </a:r>
            <a:r>
              <a:rPr>
                <a:solidFill>
                  <a:srgbClr val="666666"/>
                </a:solidFill>
                <a:latin typeface="Courier"/>
              </a:rPr>
              <a:t>(</a:t>
            </a:r>
            <a:r>
              <a:rPr>
                <a:solidFill>
                  <a:srgbClr val="4070A0"/>
                </a:solidFill>
                <a:latin typeface="Courier"/>
              </a:rPr>
              <a:t>"user.dir"</a:t>
            </a:r>
            <a:r>
              <a:rPr>
                <a:solidFill>
                  <a:srgbClr val="666666"/>
                </a:solidFill>
                <a:latin typeface="Courier"/>
              </a:rPr>
              <a:t>)</a:t>
            </a:r>
            <a:r>
              <a:rPr>
                <a:latin typeface="Courier"/>
              </a:rPr>
              <a:t> </a:t>
            </a:r>
            <a:r>
              <a:rPr>
                <a:solidFill>
                  <a:srgbClr val="666666"/>
                </a:solidFill>
                <a:latin typeface="Courier"/>
              </a:rPr>
              <a:t>}</a:t>
            </a:r>
            <a:br/>
            <a:r>
              <a:rPr>
                <a:latin typeface="Courier"/>
              </a:rPr>
              <a:t>userDir</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=&gt;</a:t>
            </a:r>
            <a:r>
              <a:rPr>
                <a:latin typeface="Courier"/>
              </a:rPr>
              <a:t> String </a:t>
            </a:r>
            <a:r>
              <a:rPr>
                <a:solidFill>
                  <a:srgbClr val="666666"/>
                </a:solidFill>
                <a:latin typeface="Courier"/>
              </a:rPr>
              <a:t>=</a:t>
            </a:r>
            <a:r>
              <a:rPr>
                <a:latin typeface="Courier"/>
              </a:rPr>
              <a:t> \</a:t>
            </a:r>
            <a:r>
              <a:rPr>
                <a:solidFill>
                  <a:srgbClr val="666666"/>
                </a:solidFill>
                <a:latin typeface="Courier"/>
              </a:rPr>
              <a:t>&lt;</a:t>
            </a:r>
            <a:r>
              <a:rPr>
                <a:latin typeface="Courier"/>
              </a:rPr>
              <a:t>function0\</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latin typeface="Courier"/>
              </a:rPr>
              <a:t> </a:t>
            </a:r>
            <a:r>
              <a:rPr>
                <a:solidFill>
                  <a:srgbClr val="06287E"/>
                </a:solidFill>
                <a:latin typeface="Courier"/>
              </a:rPr>
              <a:t>userDir</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root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solidFill>
                  <a:srgbClr val="06287E"/>
                </a:solidFill>
                <a:latin typeface="Courier"/>
              </a:rPr>
              <a:t>foreach</a:t>
            </a:r>
            <a:r>
              <a:rPr>
                <a:solidFill>
                  <a:srgbClr val="666666"/>
                </a:solidFill>
                <a:latin typeface="Courier"/>
              </a:rPr>
              <a:t>(</a:t>
            </a:r>
            <a:r>
              <a:rPr>
                <a:solidFill>
                  <a:srgbClr val="06287E"/>
                </a:solidFill>
                <a:latin typeface="Courier"/>
              </a:rPr>
              <a:t>print</a:t>
            </a:r>
            <a:r>
              <a:rPr>
                <a:solidFill>
                  <a:srgbClr val="666666"/>
                </a:solidFill>
                <a:latin typeface="Courier"/>
              </a:rPr>
              <a:t>(</a:t>
            </a:r>
            <a:r>
              <a:rPr>
                <a:latin typeface="Courier"/>
              </a:rPr>
              <a:t>_</a:t>
            </a:r>
            <a:r>
              <a:rPr>
                <a:solidFill>
                  <a:srgbClr val="666666"/>
                </a:solidFill>
                <a:latin typeface="Courier"/>
              </a:rPr>
              <a:t>))</a:t>
            </a:r>
            <a:br/>
            <a:r>
              <a:rPr>
                <a:solidFill>
                  <a:srgbClr val="40A070"/>
                </a:solidFill>
                <a:latin typeface="Courier"/>
              </a:rPr>
              <a:t>12345</a:t>
            </a:r>
            <a:br/>
            <a:r>
              <a:rPr>
                <a:latin typeface="Courier"/>
              </a:rPr>
              <a:t>scala</a:t>
            </a:r>
            <a:r>
              <a:rPr>
                <a:solidFill>
                  <a:srgbClr val="666666"/>
                </a:solidFill>
                <a:latin typeface="Courier"/>
              </a:rPr>
              <a:t>&gt;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solidFill>
                  <a:srgbClr val="06287E"/>
                </a:solidFill>
                <a:latin typeface="Courier"/>
              </a:rPr>
              <a:t>reduceLeft</a:t>
            </a:r>
            <a:r>
              <a:rPr>
                <a:solidFill>
                  <a:srgbClr val="666666"/>
                </a:solidFill>
                <a:latin typeface="Courier"/>
              </a:rPr>
              <a:t>(</a:t>
            </a:r>
            <a:r>
              <a:rPr>
                <a:latin typeface="Courier"/>
              </a:rPr>
              <a:t>_ </a:t>
            </a:r>
            <a:r>
              <a:rPr>
                <a:solidFill>
                  <a:srgbClr val="666666"/>
                </a:solidFill>
                <a:latin typeface="Courier"/>
              </a:rPr>
              <a:t>+</a:t>
            </a:r>
            <a:r>
              <a:rPr>
                <a:latin typeface="Courier"/>
              </a:rPr>
              <a:t> _</a:t>
            </a:r>
            <a:r>
              <a:rPr>
                <a:solidFill>
                  <a:srgbClr val="666666"/>
                </a:solidFill>
                <a:latin typeface="Courier"/>
              </a:rPr>
              <a:t>)</a:t>
            </a:r>
            <a:br/>
            <a:r>
              <a:rPr>
                <a:latin typeface="Courier"/>
              </a:rPr>
              <a:t>res52</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高阶函数：代码片段（6/11）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salaries </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40A070"/>
                </a:solidFill>
                <a:latin typeface="Courier"/>
              </a:rPr>
              <a:t>20000</a:t>
            </a:r>
            <a:r>
              <a:rPr>
                <a:solidFill>
                  <a:srgbClr val="666666"/>
                </a:solidFill>
                <a:latin typeface="Courier"/>
              </a:rPr>
              <a:t>,</a:t>
            </a:r>
            <a:r>
              <a:rPr>
                <a:latin typeface="Courier"/>
              </a:rPr>
              <a:t> </a:t>
            </a:r>
            <a:r>
              <a:rPr>
                <a:solidFill>
                  <a:srgbClr val="40A070"/>
                </a:solidFill>
                <a:latin typeface="Courier"/>
              </a:rPr>
              <a:t>70000</a:t>
            </a:r>
            <a:r>
              <a:rPr>
                <a:solidFill>
                  <a:srgbClr val="666666"/>
                </a:solidFill>
                <a:latin typeface="Courier"/>
              </a:rPr>
              <a:t>,</a:t>
            </a:r>
            <a:r>
              <a:rPr>
                <a:latin typeface="Courier"/>
              </a:rPr>
              <a:t> </a:t>
            </a:r>
            <a:r>
              <a:rPr>
                <a:solidFill>
                  <a:srgbClr val="40A070"/>
                </a:solidFill>
                <a:latin typeface="Courier"/>
              </a:rPr>
              <a:t>40000</a:t>
            </a:r>
            <a:r>
              <a:rPr>
                <a:solidFill>
                  <a:srgbClr val="666666"/>
                </a:solidFill>
                <a:latin typeface="Courier"/>
              </a:rPr>
              <a:t>)</a:t>
            </a:r>
            <a:br/>
            <a:r>
              <a:rPr>
                <a:latin typeface="Courier"/>
              </a:rPr>
              <a:t>salaries</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20000</a:t>
            </a:r>
            <a:r>
              <a:rPr>
                <a:solidFill>
                  <a:srgbClr val="666666"/>
                </a:solidFill>
                <a:latin typeface="Courier"/>
              </a:rPr>
              <a:t>,</a:t>
            </a:r>
            <a:r>
              <a:rPr>
                <a:latin typeface="Courier"/>
              </a:rPr>
              <a:t> </a:t>
            </a:r>
            <a:r>
              <a:rPr>
                <a:solidFill>
                  <a:srgbClr val="40A070"/>
                </a:solidFill>
                <a:latin typeface="Courier"/>
              </a:rPr>
              <a:t>70000</a:t>
            </a:r>
            <a:r>
              <a:rPr>
                <a:solidFill>
                  <a:srgbClr val="666666"/>
                </a:solidFill>
                <a:latin typeface="Courier"/>
              </a:rPr>
              <a:t>,</a:t>
            </a:r>
            <a:r>
              <a:rPr>
                <a:latin typeface="Courier"/>
              </a:rPr>
              <a:t> </a:t>
            </a:r>
            <a:r>
              <a:rPr>
                <a:solidFill>
                  <a:srgbClr val="40A070"/>
                </a:solidFill>
                <a:latin typeface="Courier"/>
              </a:rPr>
              <a:t>40000</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doubleSalary </a:t>
            </a:r>
            <a:r>
              <a:rPr>
                <a:solidFill>
                  <a:srgbClr val="666666"/>
                </a:solidFill>
                <a:latin typeface="Courier"/>
              </a:rPr>
              <a:t>=</a:t>
            </a:r>
            <a:r>
              <a:rPr>
                <a:latin typeface="Courier"/>
              </a:rPr>
              <a:t> </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=&gt;</a:t>
            </a:r>
            <a:r>
              <a:rPr>
                <a:latin typeface="Courier"/>
              </a:rPr>
              <a:t> x </a:t>
            </a:r>
            <a:r>
              <a:rPr>
                <a:solidFill>
                  <a:srgbClr val="666666"/>
                </a:solidFill>
                <a:latin typeface="Courier"/>
              </a:rPr>
              <a:t>*</a:t>
            </a:r>
            <a:r>
              <a:rPr>
                <a:latin typeface="Courier"/>
              </a:rPr>
              <a:t> </a:t>
            </a:r>
            <a:r>
              <a:rPr>
                <a:solidFill>
                  <a:srgbClr val="40A070"/>
                </a:solidFill>
                <a:latin typeface="Courier"/>
              </a:rPr>
              <a:t>2</a:t>
            </a:r>
            <a:br/>
            <a:r>
              <a:rPr>
                <a:latin typeface="Courier"/>
              </a:rPr>
              <a:t>doubleSalary</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=&gt;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666666"/>
                </a:solidFill>
                <a:latin typeface="Courier"/>
              </a:rPr>
              <a:t>&lt;</a:t>
            </a:r>
            <a:r>
              <a:rPr>
                <a:latin typeface="Courier"/>
              </a:rPr>
              <a:t>function1\</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newSalaries </a:t>
            </a:r>
            <a:r>
              <a:rPr>
                <a:solidFill>
                  <a:srgbClr val="666666"/>
                </a:solidFill>
                <a:latin typeface="Courier"/>
              </a:rPr>
              <a:t>=</a:t>
            </a:r>
            <a:r>
              <a:rPr>
                <a:latin typeface="Courier"/>
              </a:rPr>
              <a:t> salaries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doubleSalary</a:t>
            </a:r>
            <a:r>
              <a:rPr>
                <a:solidFill>
                  <a:srgbClr val="666666"/>
                </a:solidFill>
                <a:latin typeface="Courier"/>
              </a:rPr>
              <a:t>)</a:t>
            </a:r>
            <a:br/>
            <a:r>
              <a:rPr>
                <a:latin typeface="Courier"/>
              </a:rPr>
              <a:t>newSalaries</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40000</a:t>
            </a:r>
            <a:r>
              <a:rPr>
                <a:solidFill>
                  <a:srgbClr val="666666"/>
                </a:solidFill>
                <a:latin typeface="Courier"/>
              </a:rPr>
              <a:t>,</a:t>
            </a:r>
            <a:r>
              <a:rPr>
                <a:latin typeface="Courier"/>
              </a:rPr>
              <a:t> </a:t>
            </a:r>
            <a:r>
              <a:rPr>
                <a:solidFill>
                  <a:srgbClr val="40A070"/>
                </a:solidFill>
                <a:latin typeface="Courier"/>
              </a:rPr>
              <a:t>140000</a:t>
            </a:r>
            <a:r>
              <a:rPr>
                <a:solidFill>
                  <a:srgbClr val="666666"/>
                </a:solidFill>
                <a:latin typeface="Courier"/>
              </a:rPr>
              <a:t>,</a:t>
            </a:r>
            <a:r>
              <a:rPr>
                <a:latin typeface="Courier"/>
              </a:rPr>
              <a:t> </a:t>
            </a:r>
            <a:r>
              <a:rPr>
                <a:solidFill>
                  <a:srgbClr val="40A070"/>
                </a:solidFill>
                <a:latin typeface="Courier"/>
              </a:rPr>
              <a:t>80000</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newSalaries </a:t>
            </a:r>
            <a:r>
              <a:rPr>
                <a:solidFill>
                  <a:srgbClr val="666666"/>
                </a:solidFill>
                <a:latin typeface="Courier"/>
              </a:rPr>
              <a:t>=</a:t>
            </a:r>
            <a:r>
              <a:rPr>
                <a:latin typeface="Courier"/>
              </a:rPr>
              <a:t> salaries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_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newSalaries</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40000</a:t>
            </a:r>
            <a:r>
              <a:rPr>
                <a:solidFill>
                  <a:srgbClr val="666666"/>
                </a:solidFill>
                <a:latin typeface="Courier"/>
              </a:rPr>
              <a:t>,</a:t>
            </a:r>
            <a:r>
              <a:rPr>
                <a:latin typeface="Courier"/>
              </a:rPr>
              <a:t> </a:t>
            </a:r>
            <a:r>
              <a:rPr>
                <a:solidFill>
                  <a:srgbClr val="40A070"/>
                </a:solidFill>
                <a:latin typeface="Courier"/>
              </a:rPr>
              <a:t>140000</a:t>
            </a:r>
            <a:r>
              <a:rPr>
                <a:solidFill>
                  <a:srgbClr val="666666"/>
                </a:solidFill>
                <a:latin typeface="Courier"/>
              </a:rPr>
              <a:t>,</a:t>
            </a:r>
            <a:r>
              <a:rPr>
                <a:latin typeface="Courier"/>
              </a:rPr>
              <a:t> </a:t>
            </a:r>
            <a:r>
              <a:rPr>
                <a:solidFill>
                  <a:srgbClr val="40A070"/>
                </a:solidFill>
                <a:latin typeface="Courier"/>
              </a:rPr>
              <a:t>80000</a:t>
            </a:r>
            <a:r>
              <a:rPr>
                <a:solidFill>
                  <a:srgbClr val="666666"/>
                </a:solidFill>
                <a:latin typeface="Courier"/>
              </a:rPr>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高阶函数：代码片段（7/11）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用 map 把输入转换成后续要处理的结构</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WeeklyWeatherForecast</a:t>
            </a:r>
            <a:r>
              <a:rPr>
                <a:solidFill>
                  <a:srgbClr val="666666"/>
                </a:solidFill>
                <a:latin typeface="Courier"/>
              </a:rPr>
              <a:t>(</a:t>
            </a:r>
            <a:r>
              <a:rPr>
                <a:latin typeface="Courier"/>
              </a:rPr>
              <a:t>temperatures</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latin typeface="Courier"/>
              </a:rPr>
              <a:t>Double</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private</a:t>
            </a:r>
            <a:r>
              <a:rPr>
                <a:latin typeface="Courier"/>
              </a:rPr>
              <a:t> </a:t>
            </a:r>
            <a:r>
              <a:rPr b="1">
                <a:solidFill>
                  <a:srgbClr val="007020"/>
                </a:solidFill>
                <a:latin typeface="Courier"/>
              </a:rPr>
              <a:t>def</a:t>
            </a:r>
            <a:r>
              <a:rPr>
                <a:latin typeface="Courier"/>
              </a:rPr>
              <a:t> </a:t>
            </a:r>
            <a:r>
              <a:rPr>
                <a:solidFill>
                  <a:srgbClr val="06287E"/>
                </a:solidFill>
                <a:latin typeface="Courier"/>
              </a:rPr>
              <a:t>convertCtoF</a:t>
            </a:r>
            <a:r>
              <a:rPr>
                <a:solidFill>
                  <a:srgbClr val="666666"/>
                </a:solidFill>
                <a:latin typeface="Courier"/>
              </a:rPr>
              <a:t>(</a:t>
            </a:r>
            <a:r>
              <a:rPr>
                <a:latin typeface="Courier"/>
              </a:rPr>
              <a:t>temp</a:t>
            </a:r>
            <a:r>
              <a:rPr>
                <a:solidFill>
                  <a:srgbClr val="666666"/>
                </a:solidFill>
                <a:latin typeface="Courier"/>
              </a:rPr>
              <a:t>:</a:t>
            </a:r>
            <a:r>
              <a:rPr>
                <a:latin typeface="Courier"/>
              </a:rPr>
              <a:t> Double</a:t>
            </a:r>
            <a:r>
              <a:rPr>
                <a:solidFill>
                  <a:srgbClr val="666666"/>
                </a:solidFill>
                <a:latin typeface="Courier"/>
              </a:rPr>
              <a:t>)</a:t>
            </a:r>
            <a:r>
              <a:rPr>
                <a:latin typeface="Courier"/>
              </a:rPr>
              <a:t> </a:t>
            </a:r>
            <a:r>
              <a:rPr>
                <a:solidFill>
                  <a:srgbClr val="666666"/>
                </a:solidFill>
                <a:latin typeface="Courier"/>
              </a:rPr>
              <a:t>=</a:t>
            </a:r>
            <a:r>
              <a:rPr>
                <a:latin typeface="Courier"/>
              </a:rPr>
              <a:t> temp </a:t>
            </a:r>
            <a:r>
              <a:rPr>
                <a:solidFill>
                  <a:srgbClr val="666666"/>
                </a:solidFill>
                <a:latin typeface="Courier"/>
              </a:rPr>
              <a:t>*</a:t>
            </a:r>
            <a:r>
              <a:rPr>
                <a:latin typeface="Courier"/>
              </a:rPr>
              <a:t> </a:t>
            </a:r>
            <a:r>
              <a:rPr>
                <a:solidFill>
                  <a:srgbClr val="40A070"/>
                </a:solidFill>
                <a:latin typeface="Courier"/>
              </a:rPr>
              <a:t>1.8</a:t>
            </a:r>
            <a:r>
              <a:rPr>
                <a:latin typeface="Courier"/>
              </a:rPr>
              <a:t> </a:t>
            </a:r>
            <a:r>
              <a:rPr>
                <a:solidFill>
                  <a:srgbClr val="666666"/>
                </a:solidFill>
                <a:latin typeface="Courier"/>
              </a:rPr>
              <a:t>+</a:t>
            </a:r>
            <a:r>
              <a:rPr>
                <a:latin typeface="Courier"/>
              </a:rPr>
              <a:t> </a:t>
            </a:r>
            <a:r>
              <a:rPr>
                <a:solidFill>
                  <a:srgbClr val="40A070"/>
                </a:solidFill>
                <a:latin typeface="Courier"/>
              </a:rPr>
              <a:t>32</a:t>
            </a:r>
            <a:br/>
            <a:r>
              <a:rPr>
                <a:solidFill>
                  <a:srgbClr val="666666"/>
                </a:solidFill>
                <a:latin typeface="Courier"/>
              </a:rPr>
              <a:t>|</a:t>
            </a:r>
            <a:r>
              <a:rPr>
                <a:latin typeface="Courier"/>
              </a:rPr>
              <a:t> </a:t>
            </a:r>
            <a:r>
              <a:rPr b="1">
                <a:solidFill>
                  <a:srgbClr val="007020"/>
                </a:solidFill>
                <a:latin typeface="Courier"/>
              </a:rPr>
              <a:t>def</a:t>
            </a:r>
            <a:r>
              <a:rPr>
                <a:latin typeface="Courier"/>
              </a:rPr>
              <a:t> forecastInFahrenheit</a:t>
            </a:r>
            <a:r>
              <a:rPr>
                <a:solidFill>
                  <a:srgbClr val="666666"/>
                </a:solidFill>
                <a:latin typeface="Courier"/>
              </a:rPr>
              <a:t>:</a:t>
            </a:r>
            <a:r>
              <a:rPr>
                <a:latin typeface="Courier"/>
              </a:rPr>
              <a:t> </a:t>
            </a:r>
            <a:r>
              <a:rPr>
                <a:solidFill>
                  <a:srgbClr val="008000"/>
                </a:solidFill>
                <a:latin typeface="Courier"/>
              </a:rPr>
              <a:t>Seq</a:t>
            </a:r>
            <a:r>
              <a:rPr>
                <a:solidFill>
                  <a:srgbClr val="666666"/>
                </a:solidFill>
                <a:latin typeface="Courier"/>
              </a:rPr>
              <a:t>[</a:t>
            </a:r>
            <a:r>
              <a:rPr>
                <a:latin typeface="Courier"/>
              </a:rPr>
              <a:t>Double</a:t>
            </a:r>
            <a:r>
              <a:rPr>
                <a:solidFill>
                  <a:srgbClr val="666666"/>
                </a:solidFill>
                <a:latin typeface="Courier"/>
              </a:rPr>
              <a:t>]</a:t>
            </a:r>
            <a:r>
              <a:rPr>
                <a:latin typeface="Courier"/>
              </a:rPr>
              <a:t> </a:t>
            </a:r>
            <a:r>
              <a:rPr>
                <a:solidFill>
                  <a:srgbClr val="666666"/>
                </a:solidFill>
                <a:latin typeface="Courier"/>
              </a:rPr>
              <a:t>=</a:t>
            </a:r>
            <a:br/>
            <a:r>
              <a:rPr>
                <a:latin typeface="Courier"/>
              </a:rPr>
              <a:t>temperatures</a:t>
            </a:r>
            <a:r>
              <a:rPr>
                <a:solidFill>
                  <a:srgbClr val="666666"/>
                </a:solidFill>
                <a:latin typeface="Courier"/>
              </a:rPr>
              <a:t>.</a:t>
            </a:r>
            <a:r>
              <a:rPr>
                <a:solidFill>
                  <a:srgbClr val="06287E"/>
                </a:solidFill>
                <a:latin typeface="Courier"/>
              </a:rPr>
              <a:t>map</a:t>
            </a:r>
            <a:r>
              <a:rPr>
                <a:solidFill>
                  <a:srgbClr val="666666"/>
                </a:solidFill>
                <a:latin typeface="Courier"/>
              </a:rPr>
              <a:t>(</a:t>
            </a:r>
            <a:r>
              <a:rPr>
                <a:latin typeface="Courier"/>
              </a:rPr>
              <a:t>convertCtoF</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defined </a:t>
            </a:r>
            <a:r>
              <a:rPr b="1">
                <a:solidFill>
                  <a:srgbClr val="007020"/>
                </a:solidFill>
                <a:latin typeface="Courier"/>
              </a:rPr>
              <a:t>class</a:t>
            </a:r>
            <a:r>
              <a:rPr>
                <a:latin typeface="Courier"/>
              </a:rPr>
              <a:t> WeeklyWeatherForecast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高阶函数：代码片段（8/11）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在这个例子中</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urlBuilder</a:t>
            </a:r>
            <a:r>
              <a:rPr>
                <a:solidFill>
                  <a:srgbClr val="666666"/>
                </a:solidFill>
                <a:latin typeface="Courier"/>
              </a:rPr>
              <a:t>(</a:t>
            </a:r>
            <a:r>
              <a:rPr>
                <a:latin typeface="Courier"/>
              </a:rPr>
              <a:t>ssl</a:t>
            </a:r>
            <a:r>
              <a:rPr>
                <a:solidFill>
                  <a:srgbClr val="666666"/>
                </a:solidFill>
                <a:latin typeface="Courier"/>
              </a:rPr>
              <a:t>:</a:t>
            </a:r>
            <a:r>
              <a:rPr>
                <a:latin typeface="Courier"/>
              </a:rPr>
              <a:t> Boolean</a:t>
            </a:r>
            <a:r>
              <a:rPr>
                <a:solidFill>
                  <a:srgbClr val="666666"/>
                </a:solidFill>
                <a:latin typeface="Courier"/>
              </a:rPr>
              <a:t>,</a:t>
            </a:r>
            <a:r>
              <a:rPr>
                <a:latin typeface="Courier"/>
              </a:rPr>
              <a:t> domainName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a:t>
            </a:r>
            <a:r>
              <a:rPr>
                <a:latin typeface="Courier"/>
              </a:rPr>
              <a:t>String</a:t>
            </a:r>
            <a:r>
              <a:rPr>
                <a:solidFill>
                  <a:srgbClr val="666666"/>
                </a:solidFill>
                <a:latin typeface="Courier"/>
              </a:rPr>
              <a:t>,</a:t>
            </a:r>
            <a:br/>
            <a:r>
              <a:rPr>
                <a:latin typeface="Courier"/>
              </a:rPr>
              <a:t>String</a:t>
            </a:r>
            <a:r>
              <a:rPr>
                <a:solidFill>
                  <a:srgbClr val="666666"/>
                </a:solidFill>
                <a:latin typeface="Courier"/>
              </a:rPr>
              <a:t>)</a:t>
            </a:r>
            <a:r>
              <a:rPr>
                <a:latin typeface="Courier"/>
              </a:rPr>
              <a:t> </a:t>
            </a:r>
            <a:r>
              <a:rPr>
                <a:solidFill>
                  <a:srgbClr val="666666"/>
                </a:solidFill>
                <a:latin typeface="Courier"/>
              </a:rPr>
              <a:t>=&gt;</a:t>
            </a:r>
            <a:r>
              <a:rPr>
                <a:latin typeface="Courier"/>
              </a:rPr>
              <a:t> String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val</a:t>
            </a:r>
            <a:r>
              <a:rPr>
                <a:latin typeface="Courier"/>
              </a:rPr>
              <a:t> schema </a:t>
            </a:r>
            <a:r>
              <a:rPr>
                <a:solidFill>
                  <a:srgbClr val="666666"/>
                </a:solidFill>
                <a:latin typeface="Courier"/>
              </a:rPr>
              <a:t>=</a:t>
            </a: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ssl</a:t>
            </a:r>
            <a:r>
              <a:rPr>
                <a:solidFill>
                  <a:srgbClr val="666666"/>
                </a:solidFill>
                <a:latin typeface="Courier"/>
              </a:rPr>
              <a:t>)</a:t>
            </a:r>
            <a:r>
              <a:rPr>
                <a:latin typeface="Courier"/>
              </a:rPr>
              <a:t> </a:t>
            </a:r>
            <a:r>
              <a:rPr>
                <a:solidFill>
                  <a:srgbClr val="4070A0"/>
                </a:solidFill>
                <a:latin typeface="Courier"/>
              </a:rPr>
              <a:t>"https://"</a:t>
            </a:r>
            <a:r>
              <a:rPr>
                <a:latin typeface="Courier"/>
              </a:rPr>
              <a:t> </a:t>
            </a:r>
            <a:r>
              <a:rPr b="1">
                <a:solidFill>
                  <a:srgbClr val="007020"/>
                </a:solidFill>
                <a:latin typeface="Courier"/>
              </a:rPr>
              <a:t>else</a:t>
            </a:r>
            <a:r>
              <a:rPr>
                <a:latin typeface="Courier"/>
              </a:rPr>
              <a:t> </a:t>
            </a:r>
            <a:r>
              <a:rPr>
                <a:solidFill>
                  <a:srgbClr val="4070A0"/>
                </a:solidFill>
                <a:latin typeface="Courier"/>
              </a:rPr>
              <a:t>"http://"</a:t>
            </a:r>
            <a:br/>
            <a:r>
              <a:rPr>
                <a:solidFill>
                  <a:srgbClr val="666666"/>
                </a:solidFill>
                <a:latin typeface="Courier"/>
              </a:rPr>
              <a:t>|</a:t>
            </a:r>
            <a:r>
              <a:rPr>
                <a:latin typeface="Courier"/>
              </a:rPr>
              <a:t> </a:t>
            </a:r>
            <a:r>
              <a:rPr>
                <a:solidFill>
                  <a:srgbClr val="666666"/>
                </a:solidFill>
                <a:latin typeface="Courier"/>
              </a:rPr>
              <a:t>(</a:t>
            </a:r>
            <a:r>
              <a:rPr>
                <a:latin typeface="Courier"/>
              </a:rPr>
              <a:t>endpoint</a:t>
            </a:r>
            <a:r>
              <a:rPr>
                <a:solidFill>
                  <a:srgbClr val="666666"/>
                </a:solidFill>
                <a:latin typeface="Courier"/>
              </a:rPr>
              <a:t>:</a:t>
            </a:r>
            <a:r>
              <a:rPr>
                <a:latin typeface="Courier"/>
              </a:rPr>
              <a:t> String</a:t>
            </a:r>
            <a:r>
              <a:rPr>
                <a:solidFill>
                  <a:srgbClr val="666666"/>
                </a:solidFill>
                <a:latin typeface="Courier"/>
              </a:rPr>
              <a:t>,</a:t>
            </a:r>
            <a:r>
              <a:rPr>
                <a:latin typeface="Courier"/>
              </a:rPr>
              <a:t> query</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=&gt;</a:t>
            </a:r>
            <a:br/>
            <a:r>
              <a:rPr>
                <a:solidFill>
                  <a:srgbClr val="BB6688"/>
                </a:solidFill>
                <a:latin typeface="Courier"/>
              </a:rPr>
              <a:t>s"$schema$domainName</a:t>
            </a:r>
            <a:r>
              <a:rPr>
                <a:solidFill>
                  <a:srgbClr val="4070A0"/>
                </a:solidFill>
                <a:latin typeface="Courier"/>
              </a:rPr>
              <a:t>/</a:t>
            </a:r>
            <a:r>
              <a:rPr>
                <a:solidFill>
                  <a:srgbClr val="BB6688"/>
                </a:solidFill>
                <a:latin typeface="Courier"/>
              </a:rPr>
              <a:t>$endpoint</a:t>
            </a:r>
            <a:r>
              <a:rPr>
                <a:solidFill>
                  <a:srgbClr val="4070A0"/>
                </a:solidFill>
                <a:latin typeface="Courier"/>
              </a:rPr>
              <a:t>?</a:t>
            </a:r>
            <a:r>
              <a:rPr>
                <a:solidFill>
                  <a:srgbClr val="BB6688"/>
                </a:solidFill>
                <a:latin typeface="Courier"/>
              </a:rPr>
              <a:t>$query"</a:t>
            </a:r>
            <a:br/>
            <a:r>
              <a:rPr>
                <a:solidFill>
                  <a:srgbClr val="666666"/>
                </a:solidFill>
                <a:latin typeface="Courier"/>
              </a:rPr>
              <a:t>|</a:t>
            </a:r>
            <a:r>
              <a:rPr>
                <a:latin typeface="Courier"/>
              </a:rPr>
              <a:t> </a:t>
            </a:r>
            <a:r>
              <a:rPr>
                <a:solidFill>
                  <a:srgbClr val="666666"/>
                </a:solidFill>
                <a:latin typeface="Courier"/>
              </a:rPr>
              <a:t>}</a:t>
            </a:r>
            <a:br/>
            <a:r>
              <a:rPr>
                <a:latin typeface="Courier"/>
              </a:rPr>
              <a:t>urlBuilder</a:t>
            </a:r>
            <a:r>
              <a:rPr>
                <a:solidFill>
                  <a:srgbClr val="666666"/>
                </a:solidFill>
                <a:latin typeface="Courier"/>
              </a:rPr>
              <a:t>:</a:t>
            </a:r>
            <a:r>
              <a:rPr>
                <a:latin typeface="Courier"/>
              </a:rPr>
              <a:t> </a:t>
            </a:r>
            <a:r>
              <a:rPr>
                <a:solidFill>
                  <a:srgbClr val="666666"/>
                </a:solidFill>
                <a:latin typeface="Courier"/>
              </a:rPr>
              <a:t>(</a:t>
            </a:r>
            <a:r>
              <a:rPr>
                <a:latin typeface="Courier"/>
              </a:rPr>
              <a:t>ssl</a:t>
            </a:r>
            <a:r>
              <a:rPr>
                <a:solidFill>
                  <a:srgbClr val="666666"/>
                </a:solidFill>
                <a:latin typeface="Courier"/>
              </a:rPr>
              <a:t>:</a:t>
            </a:r>
            <a:r>
              <a:rPr>
                <a:latin typeface="Courier"/>
              </a:rPr>
              <a:t> Boolean</a:t>
            </a:r>
            <a:r>
              <a:rPr>
                <a:solidFill>
                  <a:srgbClr val="666666"/>
                </a:solidFill>
                <a:latin typeface="Courier"/>
              </a:rPr>
              <a:t>,</a:t>
            </a:r>
            <a:r>
              <a:rPr>
                <a:latin typeface="Courier"/>
              </a:rPr>
              <a:t> domainName</a:t>
            </a:r>
            <a:r>
              <a:rPr>
                <a:solidFill>
                  <a:srgbClr val="666666"/>
                </a:solidFill>
                <a:latin typeface="Courier"/>
              </a:rPr>
              <a:t>:</a:t>
            </a:r>
            <a:r>
              <a:rPr>
                <a:latin typeface="Courier"/>
              </a:rPr>
              <a:t> String</a:t>
            </a:r>
            <a:r>
              <a:rPr>
                <a:solidFill>
                  <a:srgbClr val="666666"/>
                </a:solidFill>
                <a:latin typeface="Courier"/>
              </a:rPr>
              <a:t>)(</a:t>
            </a:r>
            <a:r>
              <a:rPr>
                <a:latin typeface="Courier"/>
              </a:rPr>
              <a:t>String</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a:solidFill>
                  <a:srgbClr val="666666"/>
                </a:solidFill>
                <a:latin typeface="Courier"/>
              </a:rPr>
              <a:t>=&gt;</a:t>
            </a:r>
            <a:br/>
            <a:r>
              <a:rPr>
                <a:latin typeface="Courier"/>
              </a:rPr>
              <a:t>String</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domainName </a:t>
            </a:r>
            <a:r>
              <a:rPr>
                <a:solidFill>
                  <a:srgbClr val="666666"/>
                </a:solidFill>
                <a:latin typeface="Courier"/>
              </a:rPr>
              <a:t>=</a:t>
            </a:r>
            <a:r>
              <a:rPr>
                <a:latin typeface="Courier"/>
              </a:rPr>
              <a:t> </a:t>
            </a:r>
            <a:r>
              <a:rPr>
                <a:solidFill>
                  <a:srgbClr val="4070A0"/>
                </a:solidFill>
                <a:latin typeface="Courier"/>
              </a:rPr>
              <a:t>"www.example.com"</a:t>
            </a:r>
            <a:br/>
            <a:r>
              <a:rPr>
                <a:latin typeface="Courier"/>
              </a:rPr>
              <a:t>domainName</a:t>
            </a:r>
            <a:r>
              <a:rPr>
                <a:solidFill>
                  <a:srgbClr val="666666"/>
                </a:solidFill>
                <a:latin typeface="Courier"/>
              </a:rPr>
              <a:t>:</a:t>
            </a:r>
            <a:r>
              <a:rPr>
                <a:latin typeface="Courier"/>
              </a:rPr>
              <a:t> String </a:t>
            </a:r>
            <a:r>
              <a:rPr>
                <a:solidFill>
                  <a:srgbClr val="666666"/>
                </a:solidFill>
                <a:latin typeface="Courier"/>
              </a:rPr>
              <a:t>=</a:t>
            </a:r>
            <a:r>
              <a:rPr>
                <a:latin typeface="Courier"/>
              </a:rPr>
              <a:t> www</a:t>
            </a:r>
            <a:r>
              <a:rPr>
                <a:solidFill>
                  <a:srgbClr val="666666"/>
                </a:solidFill>
                <a:latin typeface="Courier"/>
              </a:rPr>
              <a:t>.</a:t>
            </a:r>
            <a:r>
              <a:rPr>
                <a:latin typeface="Courier"/>
              </a:rPr>
              <a:t>example</a:t>
            </a:r>
            <a:r>
              <a:rPr>
                <a:solidFill>
                  <a:srgbClr val="666666"/>
                </a:solidFill>
                <a:latin typeface="Courier"/>
              </a:rPr>
              <a:t>.</a:t>
            </a:r>
            <a:r>
              <a:rPr>
                <a:latin typeface="Courier"/>
              </a:rPr>
              <a:t>com</a:t>
            </a:r>
            <a:b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getURL </a:t>
            </a:r>
            <a:r>
              <a:rPr>
                <a:solidFill>
                  <a:srgbClr val="666666"/>
                </a:solidFill>
                <a:latin typeface="Courier"/>
              </a:rPr>
              <a:t>=</a:t>
            </a:r>
            <a:r>
              <a:rPr>
                <a:latin typeface="Courier"/>
              </a:rPr>
              <a:t> </a:t>
            </a:r>
            <a:r>
              <a:rPr>
                <a:solidFill>
                  <a:srgbClr val="06287E"/>
                </a:solidFill>
                <a:latin typeface="Courier"/>
              </a:rPr>
              <a:t>urlBuilder</a:t>
            </a:r>
            <a:r>
              <a:rPr>
                <a:solidFill>
                  <a:srgbClr val="666666"/>
                </a:solidFill>
                <a:latin typeface="Courier"/>
              </a:rPr>
              <a:t>(</a:t>
            </a:r>
            <a:r>
              <a:rPr>
                <a:latin typeface="Courier"/>
              </a:rPr>
              <a:t>ssl</a:t>
            </a:r>
            <a:r>
              <a:rPr>
                <a:solidFill>
                  <a:srgbClr val="666666"/>
                </a:solidFill>
                <a:latin typeface="Courier"/>
              </a:rPr>
              <a:t>=</a:t>
            </a:r>
            <a:r>
              <a:rPr b="1">
                <a:solidFill>
                  <a:srgbClr val="007020"/>
                </a:solidFill>
                <a:latin typeface="Courier"/>
              </a:rPr>
              <a:t>true</a:t>
            </a:r>
            <a:r>
              <a:rPr>
                <a:solidFill>
                  <a:srgbClr val="666666"/>
                </a:solidFill>
                <a:latin typeface="Courier"/>
              </a:rPr>
              <a:t>,</a:t>
            </a:r>
            <a:r>
              <a:rPr>
                <a:latin typeface="Courier"/>
              </a:rPr>
              <a:t> domainName</a:t>
            </a:r>
            <a:r>
              <a:rPr>
                <a:solidFill>
                  <a:srgbClr val="666666"/>
                </a:solidFill>
                <a:latin typeface="Courier"/>
              </a:rPr>
              <a:t>)</a:t>
            </a:r>
            <a:br/>
            <a:r>
              <a:rPr i="1">
                <a:solidFill>
                  <a:srgbClr val="60A0B0"/>
                </a:solidFill>
                <a:latin typeface="Courier"/>
              </a:rPr>
              <a:t>// ...</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高阶函数：代码片段（9/11）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在scala相关的教程与参考文档里</a:t>
            </a:r>
          </a:p>
          <a:p>
            <a:pPr lvl="0"/>
            <a:r>
              <a:rPr/>
              <a:t>先对照代码理解 以上两个函数实现的都是两个整数相加的功能。对于add函数</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y</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y</a:t>
            </a:r>
            <a:br/>
            <a:r>
              <a:rPr>
                <a:latin typeface="Courier"/>
              </a:rPr>
              <a:t>add</a:t>
            </a:r>
            <a:r>
              <a:rPr>
                <a:solidFill>
                  <a:srgbClr val="666666"/>
                </a:solidFill>
                <a:latin typeface="Courier"/>
              </a:rPr>
              <a:t>:</a:t>
            </a:r>
            <a:r>
              <a:rPr>
                <a:latin typeface="Courier"/>
              </a:rPr>
              <a:t> </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y</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br/>
            <a:r>
              <a:rPr>
                <a:latin typeface="Courier"/>
              </a:rPr>
              <a:t>scala</a:t>
            </a:r>
            <a:r>
              <a:rPr>
                <a:solidFill>
                  <a:srgbClr val="666666"/>
                </a:solidFill>
                <a:latin typeface="Courier"/>
              </a:rPr>
              <a:t>&gt;</a:t>
            </a:r>
            <a:r>
              <a:rPr>
                <a:latin typeface="Courier"/>
              </a:rPr>
              <a:t> </a:t>
            </a:r>
            <a:r>
              <a:rPr>
                <a:solidFill>
                  <a:srgbClr val="06287E"/>
                </a:solidFill>
                <a:latin typeface="Courier"/>
              </a:rPr>
              <a:t>add</a:t>
            </a:r>
            <a:r>
              <a:rPr>
                <a:solidFill>
                  <a:srgbClr val="666666"/>
                </a:solidFill>
                <a:latin typeface="Courier"/>
              </a:rPr>
              <a:t>(</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res54</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3</a:t>
            </a:r>
            <a:b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addCurry</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y</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y</a:t>
            </a:r>
            <a:br/>
            <a:r>
              <a:rPr i="1">
                <a:solidFill>
                  <a:srgbClr val="60A0B0"/>
                </a:solidFill>
                <a:latin typeface="Courier"/>
              </a:rPr>
              <a:t>// ...</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a:t>
            </a:r>
            <a:r>
              <a:rPr>
                <a:solidFill>
                  <a:srgbClr val="666666"/>
                </a:solidFill>
                <a:latin typeface="Courier"/>
              </a:rPr>
              <a:t>(</a:t>
            </a:r>
            <a:r>
              <a:rPr>
                <a:latin typeface="Courier"/>
              </a:rPr>
              <a:t>x</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y</a:t>
            </a:r>
            <a:r>
              <a:rPr>
                <a:solidFill>
                  <a:srgbClr val="666666"/>
                </a:solidFill>
                <a:latin typeface="Courier"/>
              </a:rPr>
              <a:t>:</a:t>
            </a:r>
            <a:r>
              <a:rPr>
                <a:solidFill>
                  <a:srgbClr val="008000"/>
                </a:solidFill>
                <a:latin typeface="Courier"/>
              </a:rPr>
              <a:t>Int</a:t>
            </a:r>
            <a:r>
              <a:rPr>
                <a:solidFill>
                  <a:srgbClr val="666666"/>
                </a:solidFill>
                <a:latin typeface="Courier"/>
              </a:rPr>
              <a:t>)=&gt;</a:t>
            </a:r>
            <a:r>
              <a:rPr>
                <a:latin typeface="Courier"/>
              </a:rPr>
              <a:t>x</a:t>
            </a:r>
            <a:r>
              <a:rPr>
                <a:solidFill>
                  <a:srgbClr val="666666"/>
                </a:solidFill>
                <a:latin typeface="Courier"/>
              </a:rPr>
              <a:t>+</a:t>
            </a:r>
            <a:r>
              <a:rPr>
                <a:latin typeface="Courier"/>
              </a:rPr>
              <a:t>y</a:t>
            </a:r>
            <a:br/>
            <a:r>
              <a:rPr>
                <a:latin typeface="Courier"/>
              </a:rPr>
              <a:t>add</a:t>
            </a:r>
            <a:r>
              <a:rPr>
                <a:solidFill>
                  <a:srgbClr val="666666"/>
                </a:solidFill>
                <a:latin typeface="Courier"/>
              </a:rPr>
              <a:t>:</a:t>
            </a:r>
            <a:r>
              <a:rPr>
                <a:latin typeface="Courier"/>
              </a:rPr>
              <a:t> </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r>
              <a:rPr>
                <a:latin typeface="Courier"/>
              </a:rPr>
              <a:t> </a:t>
            </a:r>
            <a:r>
              <a:rPr>
                <a:solidFill>
                  <a:srgbClr val="666666"/>
                </a:solidFill>
                <a:latin typeface="Courier"/>
              </a:rPr>
              <a:t>=&gt;</a:t>
            </a:r>
            <a:r>
              <a:rPr>
                <a:latin typeface="Courier"/>
              </a:rPr>
              <a:t> </a:t>
            </a:r>
            <a:r>
              <a:rPr>
                <a:solidFill>
                  <a:srgbClr val="008000"/>
                </a:solidFill>
                <a:latin typeface="Courier"/>
              </a:rPr>
              <a:t>Int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result </a:t>
            </a:r>
            <a:r>
              <a:rPr>
                <a:solidFill>
                  <a:srgbClr val="666666"/>
                </a:solidFill>
                <a:latin typeface="Courier"/>
              </a:rPr>
              <a:t>=</a:t>
            </a:r>
            <a:r>
              <a:rPr>
                <a:latin typeface="Courier"/>
              </a:rPr>
              <a:t> </a:t>
            </a:r>
            <a:r>
              <a:rPr>
                <a:solidFill>
                  <a:srgbClr val="06287E"/>
                </a:solidFill>
                <a:latin typeface="Courier"/>
              </a:rPr>
              <a:t>add</a:t>
            </a:r>
            <a:r>
              <a:rPr>
                <a:solidFill>
                  <a:srgbClr val="666666"/>
                </a:solidFill>
                <a:latin typeface="Courier"/>
              </a:rPr>
              <a:t>(</a:t>
            </a:r>
            <a:r>
              <a:rPr>
                <a:solidFill>
                  <a:srgbClr val="40A070"/>
                </a:solidFill>
                <a:latin typeface="Courier"/>
              </a:rPr>
              <a:t>1</a:t>
            </a:r>
            <a:r>
              <a:rPr>
                <a:solidFill>
                  <a:srgbClr val="666666"/>
                </a:solidFill>
                <a:latin typeface="Courier"/>
              </a:rPr>
              <a:t>)</a:t>
            </a:r>
            <a:br/>
            <a:r>
              <a:rPr>
                <a:latin typeface="Courier"/>
              </a:rPr>
              <a:t>result</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=&gt;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666666"/>
                </a:solidFill>
                <a:latin typeface="Courier"/>
              </a:rPr>
              <a:t>&lt;</a:t>
            </a:r>
            <a:r>
              <a:rPr>
                <a:latin typeface="Courier"/>
              </a:rPr>
              <a:t>function1\</a:t>
            </a:r>
            <a:r>
              <a:rPr>
                <a:solidFill>
                  <a:srgbClr val="666666"/>
                </a:solidFill>
                <a:latin typeface="Courier"/>
              </a:rPr>
              <a:t>&gt;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sum </a:t>
            </a:r>
            <a:r>
              <a:rPr>
                <a:solidFill>
                  <a:srgbClr val="666666"/>
                </a:solidFill>
                <a:latin typeface="Courier"/>
              </a:rPr>
              <a:t>=</a:t>
            </a:r>
            <a:r>
              <a:rPr>
                <a:latin typeface="Courier"/>
              </a:rPr>
              <a:t> </a:t>
            </a:r>
            <a:r>
              <a:rPr>
                <a:solidFill>
                  <a:srgbClr val="06287E"/>
                </a:solidFill>
                <a:latin typeface="Courier"/>
              </a:rPr>
              <a:t>result</a:t>
            </a:r>
            <a:r>
              <a:rPr>
                <a:solidFill>
                  <a:srgbClr val="666666"/>
                </a:solidFill>
                <a:latin typeface="Courier"/>
              </a:rPr>
              <a:t>(</a:t>
            </a:r>
            <a:r>
              <a:rPr>
                <a:solidFill>
                  <a:srgbClr val="40A070"/>
                </a:solidFill>
                <a:latin typeface="Courier"/>
              </a:rPr>
              <a:t>2</a:t>
            </a:r>
            <a:r>
              <a:rPr>
                <a:solidFill>
                  <a:srgbClr val="666666"/>
                </a:solidFill>
                <a:latin typeface="Courier"/>
              </a:rPr>
              <a:t>)</a:t>
            </a:r>
            <a:br/>
            <a:r>
              <a:rPr>
                <a:latin typeface="Courier"/>
              </a:rPr>
              <a:t>sum</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3</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高阶函数：代码片段（10/11）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这样所有的函数就都统一方便做lambda演算。在Scala中</a:t>
            </a:r>
          </a:p>
          <a:p>
            <a:pPr lvl="0"/>
            <a:r>
              <a:rPr/>
              <a:t>先对照代码理解 这个函数在集合中很有用</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add</a:t>
            </a:r>
            <a:r>
              <a:rPr>
                <a:solidFill>
                  <a:srgbClr val="666666"/>
                </a:solidFill>
                <a:latin typeface="Courier"/>
              </a:rPr>
              <a:t>(</a:t>
            </a:r>
            <a:r>
              <a:rPr>
                <a:latin typeface="Courier"/>
              </a:rPr>
              <a:t>x</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y</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z</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x </a:t>
            </a:r>
            <a:r>
              <a:rPr>
                <a:solidFill>
                  <a:srgbClr val="666666"/>
                </a:solidFill>
                <a:latin typeface="Courier"/>
              </a:rPr>
              <a:t>+</a:t>
            </a:r>
            <a:r>
              <a:rPr>
                <a:latin typeface="Courier"/>
              </a:rPr>
              <a:t> y </a:t>
            </a:r>
            <a:r>
              <a:rPr>
                <a:solidFill>
                  <a:srgbClr val="666666"/>
                </a:solidFill>
                <a:latin typeface="Courier"/>
              </a:rPr>
              <a:t>+</a:t>
            </a:r>
            <a:r>
              <a:rPr>
                <a:latin typeface="Courier"/>
              </a:rPr>
              <a:t> z</a:t>
            </a:r>
            <a:br/>
            <a:r>
              <a:rPr>
                <a:latin typeface="Courier"/>
              </a:rPr>
              <a:t>add</a:t>
            </a:r>
            <a:r>
              <a:rPr>
                <a:solidFill>
                  <a:srgbClr val="666666"/>
                </a:solidFill>
                <a:latin typeface="Courier"/>
              </a:rPr>
              <a:t>:</a:t>
            </a:r>
            <a:r>
              <a:rPr>
                <a:latin typeface="Courier"/>
              </a:rPr>
              <a:t> </a:t>
            </a:r>
            <a:r>
              <a:rPr>
                <a:solidFill>
                  <a:srgbClr val="666666"/>
                </a:solidFill>
                <a:latin typeface="Courier"/>
              </a:rPr>
              <a:t>(</a:t>
            </a:r>
            <a:r>
              <a:rPr>
                <a:latin typeface="Courier"/>
              </a:rPr>
              <a:t>x</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y</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z</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008000"/>
                </a:solidFill>
                <a:latin typeface="Courier"/>
              </a:rPr>
              <a:t>Int</a:t>
            </a:r>
            <a:br/>
            <a:r>
              <a:rPr>
                <a:latin typeface="Courier"/>
              </a:rPr>
              <a:t>scala</a:t>
            </a:r>
            <a:r>
              <a:rPr>
                <a:solidFill>
                  <a:srgbClr val="666666"/>
                </a:solidFill>
                <a:latin typeface="Courier"/>
              </a:rPr>
              <a:t>&gt;</a:t>
            </a:r>
            <a:r>
              <a:rPr>
                <a:latin typeface="Courier"/>
              </a:rPr>
              <a:t> </a:t>
            </a:r>
            <a:r>
              <a:rPr>
                <a:solidFill>
                  <a:srgbClr val="06287E"/>
                </a:solidFill>
                <a:latin typeface="Courier"/>
              </a:rPr>
              <a:t>add</a:t>
            </a:r>
            <a:r>
              <a:rPr>
                <a:solidFill>
                  <a:srgbClr val="666666"/>
                </a:solidFill>
                <a:latin typeface="Courier"/>
              </a:rPr>
              <a:t>(</a:t>
            </a:r>
            <a:r>
              <a:rPr>
                <a:solidFill>
                  <a:srgbClr val="40A070"/>
                </a:solidFill>
                <a:latin typeface="Courier"/>
              </a:rPr>
              <a:t>10</a:t>
            </a:r>
            <a:r>
              <a:rPr>
                <a:solidFill>
                  <a:srgbClr val="666666"/>
                </a:solidFill>
                <a:latin typeface="Courier"/>
              </a:rPr>
              <a:t>)(</a:t>
            </a:r>
            <a:r>
              <a:rPr>
                <a:solidFill>
                  <a:srgbClr val="40A070"/>
                </a:solidFill>
                <a:latin typeface="Courier"/>
              </a:rPr>
              <a:t>10</a:t>
            </a:r>
            <a:r>
              <a:rPr>
                <a:solidFill>
                  <a:srgbClr val="666666"/>
                </a:solidFill>
                <a:latin typeface="Courier"/>
              </a:rPr>
              <a:t>)(</a:t>
            </a:r>
            <a:r>
              <a:rPr>
                <a:solidFill>
                  <a:srgbClr val="40A070"/>
                </a:solidFill>
                <a:latin typeface="Courier"/>
              </a:rPr>
              <a:t>10</a:t>
            </a:r>
            <a:r>
              <a:rPr>
                <a:solidFill>
                  <a:srgbClr val="666666"/>
                </a:solidFill>
                <a:latin typeface="Courier"/>
              </a:rPr>
              <a:t>)</a:t>
            </a:r>
            <a:br/>
            <a:r>
              <a:rPr>
                <a:latin typeface="Courier"/>
              </a:rPr>
              <a:t>res19</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30</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numbers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7</a:t>
            </a:r>
            <a:r>
              <a:rPr>
                <a:solidFill>
                  <a:srgbClr val="666666"/>
                </a:solidFill>
                <a:latin typeface="Courier"/>
              </a:rPr>
              <a:t>,</a:t>
            </a:r>
            <a:r>
              <a:rPr>
                <a:latin typeface="Courier"/>
              </a:rPr>
              <a:t> </a:t>
            </a:r>
            <a:r>
              <a:rPr>
                <a:solidFill>
                  <a:srgbClr val="40A070"/>
                </a:solidFill>
                <a:latin typeface="Courier"/>
              </a:rPr>
              <a:t>8</a:t>
            </a:r>
            <a:r>
              <a:rPr>
                <a:solidFill>
                  <a:srgbClr val="666666"/>
                </a:solidFill>
                <a:latin typeface="Courier"/>
              </a:rPr>
              <a:t>,</a:t>
            </a:r>
            <a:r>
              <a:rPr>
                <a:latin typeface="Courier"/>
              </a:rPr>
              <a:t> </a:t>
            </a:r>
            <a:r>
              <a:rPr>
                <a:solidFill>
                  <a:srgbClr val="40A070"/>
                </a:solidFill>
                <a:latin typeface="Courier"/>
              </a:rPr>
              <a:t>9</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numbers</a:t>
            </a:r>
            <a:r>
              <a:rPr>
                <a:solidFill>
                  <a:srgbClr val="666666"/>
                </a:solidFill>
                <a:latin typeface="Courier"/>
              </a:rPr>
              <a:t>:</a:t>
            </a:r>
            <a:r>
              <a:rPr>
                <a:latin typeface="Courier"/>
              </a:rPr>
              <a:t> List</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7</a:t>
            </a:r>
            <a:r>
              <a:rPr>
                <a:solidFill>
                  <a:srgbClr val="666666"/>
                </a:solidFill>
                <a:latin typeface="Courier"/>
              </a:rPr>
              <a:t>,</a:t>
            </a:r>
            <a:r>
              <a:rPr>
                <a:latin typeface="Courier"/>
              </a:rPr>
              <a:t> </a:t>
            </a:r>
            <a:r>
              <a:rPr>
                <a:solidFill>
                  <a:srgbClr val="40A070"/>
                </a:solidFill>
                <a:latin typeface="Courier"/>
              </a:rPr>
              <a:t>8</a:t>
            </a:r>
            <a:r>
              <a:rPr>
                <a:solidFill>
                  <a:srgbClr val="666666"/>
                </a:solidFill>
                <a:latin typeface="Courier"/>
              </a:rPr>
              <a:t>,</a:t>
            </a:r>
            <a:r>
              <a:rPr>
                <a:latin typeface="Courier"/>
              </a:rPr>
              <a:t> </a:t>
            </a:r>
            <a:r>
              <a:rPr>
                <a:solidFill>
                  <a:srgbClr val="40A070"/>
                </a:solidFill>
                <a:latin typeface="Courier"/>
              </a:rPr>
              <a:t>9</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scala</a:t>
            </a:r>
            <a:r>
              <a:rPr>
                <a:solidFill>
                  <a:srgbClr val="666666"/>
                </a:solidFill>
                <a:latin typeface="Courier"/>
              </a:rPr>
              <a:t>&gt;</a:t>
            </a:r>
            <a:r>
              <a:rPr>
                <a:latin typeface="Courier"/>
              </a:rPr>
              <a:t> numbers</a:t>
            </a:r>
            <a:r>
              <a:rPr>
                <a:solidFill>
                  <a:srgbClr val="666666"/>
                </a:solidFill>
                <a:latin typeface="Courier"/>
              </a:rPr>
              <a:t>.</a:t>
            </a:r>
            <a:r>
              <a:rPr>
                <a:solidFill>
                  <a:srgbClr val="06287E"/>
                </a:solidFill>
                <a:latin typeface="Courier"/>
              </a:rPr>
              <a:t>foldLeft</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m</a:t>
            </a:r>
            <a:r>
              <a:rPr>
                <a:solidFill>
                  <a:srgbClr val="666666"/>
                </a:solidFill>
                <a:latin typeface="Courier"/>
              </a:rPr>
              <a:t>,</a:t>
            </a:r>
            <a:r>
              <a:rPr>
                <a:latin typeface="Courier"/>
              </a:rPr>
              <a:t> n</a:t>
            </a:r>
            <a:r>
              <a:rPr>
                <a:solidFill>
                  <a:srgbClr val="666666"/>
                </a:solidFill>
                <a:latin typeface="Courier"/>
              </a:rPr>
              <a:t>)</a:t>
            </a:r>
            <a:r>
              <a:rPr>
                <a:latin typeface="Courier"/>
              </a:rPr>
              <a:t> </a:t>
            </a:r>
            <a:r>
              <a:rPr>
                <a:solidFill>
                  <a:srgbClr val="666666"/>
                </a:solidFill>
                <a:latin typeface="Courier"/>
              </a:rPr>
              <a:t>=&gt;</a:t>
            </a:r>
            <a:r>
              <a:rPr>
                <a:latin typeface="Courier"/>
              </a:rPr>
              <a:t> m </a:t>
            </a:r>
            <a:r>
              <a:rPr>
                <a:solidFill>
                  <a:srgbClr val="666666"/>
                </a:solidFill>
                <a:latin typeface="Courier"/>
              </a:rPr>
              <a:t>+</a:t>
            </a:r>
            <a:r>
              <a:rPr>
                <a:latin typeface="Courier"/>
              </a:rPr>
              <a:t> n</a:t>
            </a:r>
            <a:r>
              <a:rPr>
                <a:solidFill>
                  <a:srgbClr val="666666"/>
                </a:solidFill>
                <a:latin typeface="Courier"/>
              </a:rPr>
              <a:t>)</a:t>
            </a:r>
            <a:br/>
            <a:r>
              <a:rPr>
                <a:latin typeface="Courier"/>
              </a:rPr>
              <a:t>res56</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55</a:t>
            </a:r>
            <a:br/>
            <a:r>
              <a:rPr>
                <a:latin typeface="Courier"/>
              </a:rPr>
              <a:t>scala</a:t>
            </a:r>
            <a:r>
              <a:rPr>
                <a:solidFill>
                  <a:srgbClr val="666666"/>
                </a:solidFill>
                <a:latin typeface="Courier"/>
              </a:rPr>
              <a:t>&gt;</a:t>
            </a:r>
            <a:r>
              <a:rPr>
                <a:latin typeface="Courier"/>
              </a:rPr>
              <a:t> numbers</a:t>
            </a:r>
            <a:r>
              <a:rPr>
                <a:solidFill>
                  <a:srgbClr val="666666"/>
                </a:solidFill>
                <a:latin typeface="Courier"/>
              </a:rPr>
              <a:t>.</a:t>
            </a:r>
            <a:r>
              <a:rPr>
                <a:solidFill>
                  <a:srgbClr val="06287E"/>
                </a:solidFill>
                <a:latin typeface="Courier"/>
              </a:rPr>
              <a:t>foldLeft</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_ </a:t>
            </a:r>
            <a:r>
              <a:rPr>
                <a:solidFill>
                  <a:srgbClr val="666666"/>
                </a:solidFill>
                <a:latin typeface="Courier"/>
              </a:rPr>
              <a:t>+</a:t>
            </a:r>
            <a:r>
              <a:rPr>
                <a:latin typeface="Courier"/>
              </a:rPr>
              <a:t> _</a:t>
            </a:r>
            <a:r>
              <a:rPr>
                <a:solidFill>
                  <a:srgbClr val="666666"/>
                </a:solidFill>
                <a:latin typeface="Courier"/>
              </a:rPr>
              <a:t>)</a:t>
            </a:r>
            <a:br/>
            <a:r>
              <a:rPr>
                <a:latin typeface="Courier"/>
              </a:rPr>
              <a:t>res57</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55</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3.5.1 高阶函数：代码片段（11/11）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def/</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res </a:t>
            </a: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numbers</a:t>
            </a:r>
            <a:r>
              <a:rPr>
                <a:solidFill>
                  <a:srgbClr val="666666"/>
                </a:solidFill>
                <a:latin typeface="Courier"/>
              </a:rPr>
              <a:t>)</a:t>
            </a:r>
            <a:r>
              <a:rPr>
                <a:latin typeface="Courier"/>
              </a:rPr>
              <a:t> </a:t>
            </a:r>
            <a:r>
              <a:rPr>
                <a:solidFill>
                  <a:srgbClr val="666666"/>
                </a:solidFill>
                <a:latin typeface="Courier"/>
              </a:rPr>
              <a:t>((</a:t>
            </a:r>
            <a:r>
              <a:rPr>
                <a:latin typeface="Courier"/>
              </a:rPr>
              <a:t>m</a:t>
            </a:r>
            <a:r>
              <a:rPr>
                <a:solidFill>
                  <a:srgbClr val="666666"/>
                </a:solidFill>
                <a:latin typeface="Courier"/>
              </a:rPr>
              <a:t>,</a:t>
            </a:r>
            <a:r>
              <a:rPr>
                <a:latin typeface="Courier"/>
              </a:rPr>
              <a:t> n</a:t>
            </a:r>
            <a:r>
              <a:rPr>
                <a:solidFill>
                  <a:srgbClr val="666666"/>
                </a:solidFill>
                <a:latin typeface="Courier"/>
              </a:rPr>
              <a:t>)</a:t>
            </a:r>
            <a:r>
              <a:rPr>
                <a:latin typeface="Courier"/>
              </a:rPr>
              <a:t> </a:t>
            </a:r>
            <a:r>
              <a:rPr>
                <a:solidFill>
                  <a:srgbClr val="666666"/>
                </a:solidFill>
                <a:latin typeface="Courier"/>
              </a:rPr>
              <a:t>=&gt;</a:t>
            </a:r>
            <a:r>
              <a:rPr>
                <a:latin typeface="Courier"/>
              </a:rPr>
              <a:t> m </a:t>
            </a:r>
            <a:r>
              <a:rPr>
                <a:solidFill>
                  <a:srgbClr val="666666"/>
                </a:solidFill>
                <a:latin typeface="Courier"/>
              </a:rPr>
              <a:t>+</a:t>
            </a:r>
            <a:r>
              <a:rPr>
                <a:latin typeface="Courier"/>
              </a:rPr>
              <a:t> n</a:t>
            </a:r>
            <a:r>
              <a:rPr>
                <a:solidFill>
                  <a:srgbClr val="666666"/>
                </a:solidFill>
                <a:latin typeface="Courier"/>
              </a:rPr>
              <a:t>)</a:t>
            </a:r>
            <a:br/>
            <a:r>
              <a:rPr>
                <a:latin typeface="Courier"/>
              </a:rPr>
              <a:t>res</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55</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泛型类指可以接受类型参数的类</a:t>
            </a:r>
          </a:p>
          <a:p>
            <a:pPr lvl="0"/>
            <a:r>
              <a:rPr/>
              <a:t>要使用一个泛型类，需要将一个具体类型放到方括号中来代替A</a:t>
            </a:r>
          </a:p>
          <a:p>
            <a:pPr lvl="0"/>
            <a:r>
              <a:rPr/>
              <a:t>上面的实例对象 stack 只能接受整型值</a:t>
            </a:r>
          </a:p>
          <a:p>
            <a:pPr lvl="0"/>
            <a:r>
              <a:rPr/>
              <a:t>泛型类型的子类是不可变，这表示如果我们有一个Char类型的栈 StackChar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Scala支持泛型类 的类型参数的型变注释</a:t>
            </a:r>
          </a:p>
          <a:p>
            <a:pPr lvl="0"/>
            <a:r>
              <a:rPr/>
              <a:t>使用注释 +A，可以使一个泛型类的类型参数 A 成为协变</a:t>
            </a:r>
          </a:p>
          <a:p>
            <a:pPr lvl="0"/>
            <a:r>
              <a:rPr/>
              <a:t>考虑以下简单的类结构</a:t>
            </a:r>
          </a:p>
          <a:p>
            <a:pPr lvl="0"/>
            <a:r>
              <a:rPr/>
              <a:t>类型 Cat 和 Dog 都是 Animal 的子类型</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泛型类：代码片段（1/10）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当然我们可以使用任何参数名称。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Stack</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private</a:t>
            </a:r>
            <a:r>
              <a:rPr>
                <a:latin typeface="Courier"/>
              </a:rPr>
              <a:t> </a:t>
            </a:r>
            <a:r>
              <a:rPr b="1">
                <a:solidFill>
                  <a:srgbClr val="007020"/>
                </a:solidFill>
                <a:latin typeface="Courier"/>
              </a:rPr>
              <a:t>var</a:t>
            </a:r>
            <a:r>
              <a:rPr>
                <a:latin typeface="Courier"/>
              </a:rPr>
              <a:t> elements</a:t>
            </a:r>
            <a:r>
              <a:rPr>
                <a:solidFill>
                  <a:srgbClr val="666666"/>
                </a:solidFill>
                <a:latin typeface="Courier"/>
              </a:rPr>
              <a:t>:</a:t>
            </a:r>
            <a:r>
              <a:rPr>
                <a:latin typeface="Courier"/>
              </a:rPr>
              <a:t> List</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666666"/>
                </a:solidFill>
                <a:latin typeface="Courier"/>
              </a:rPr>
              <a:t>=</a:t>
            </a:r>
            <a:r>
              <a:rPr>
                <a:latin typeface="Courier"/>
              </a:rPr>
              <a:t> Nil</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push</a:t>
            </a:r>
            <a:r>
              <a:rPr>
                <a:solidFill>
                  <a:srgbClr val="666666"/>
                </a:solidFill>
                <a:latin typeface="Courier"/>
              </a:rPr>
              <a:t>(</a:t>
            </a:r>
            <a:r>
              <a:rPr>
                <a:latin typeface="Courier"/>
              </a:rPr>
              <a:t>x</a:t>
            </a:r>
            <a:r>
              <a:rPr>
                <a:solidFill>
                  <a:srgbClr val="666666"/>
                </a:solidFill>
                <a:latin typeface="Courier"/>
              </a:rPr>
              <a:t>:</a:t>
            </a:r>
            <a:r>
              <a:rPr>
                <a:latin typeface="Courier"/>
              </a:rPr>
              <a:t> A</a:t>
            </a:r>
            <a:r>
              <a:rPr>
                <a:solidFill>
                  <a:srgbClr val="666666"/>
                </a:solidFill>
                <a:latin typeface="Courier"/>
              </a:rPr>
              <a:t>)</a:t>
            </a:r>
            <a:r>
              <a:rPr>
                <a:latin typeface="Courier"/>
              </a:rPr>
              <a:t> </a:t>
            </a:r>
            <a:r>
              <a:rPr>
                <a:solidFill>
                  <a:srgbClr val="666666"/>
                </a:solidFill>
                <a:latin typeface="Courier"/>
              </a:rPr>
              <a:t>{</a:t>
            </a:r>
            <a:r>
              <a:rPr>
                <a:latin typeface="Courier"/>
              </a:rPr>
              <a:t> elements </a:t>
            </a:r>
            <a:r>
              <a:rPr>
                <a:solidFill>
                  <a:srgbClr val="666666"/>
                </a:solidFill>
                <a:latin typeface="Courier"/>
              </a:rPr>
              <a:t>=</a:t>
            </a:r>
            <a:r>
              <a:rPr>
                <a:latin typeface="Courier"/>
              </a:rPr>
              <a:t> x </a:t>
            </a:r>
            <a:r>
              <a:rPr>
                <a:solidFill>
                  <a:srgbClr val="666666"/>
                </a:solidFill>
                <a:latin typeface="Courier"/>
              </a:rPr>
              <a:t>::</a:t>
            </a:r>
            <a:r>
              <a:rPr>
                <a:latin typeface="Courier"/>
              </a:rPr>
              <a:t> elements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def</a:t>
            </a:r>
            <a:r>
              <a:rPr>
                <a:latin typeface="Courier"/>
              </a:rPr>
              <a:t> peek</a:t>
            </a:r>
            <a:r>
              <a:rPr>
                <a:solidFill>
                  <a:srgbClr val="666666"/>
                </a:solidFill>
                <a:latin typeface="Courier"/>
              </a:rPr>
              <a:t>:</a:t>
            </a:r>
            <a:r>
              <a:rPr>
                <a:latin typeface="Courier"/>
              </a:rPr>
              <a:t> A </a:t>
            </a:r>
            <a:r>
              <a:rPr>
                <a:solidFill>
                  <a:srgbClr val="666666"/>
                </a:solidFill>
                <a:latin typeface="Courier"/>
              </a:rPr>
              <a:t>=</a:t>
            </a:r>
            <a:r>
              <a:rPr>
                <a:latin typeface="Courier"/>
              </a:rPr>
              <a:t> elements</a:t>
            </a:r>
            <a:r>
              <a:rPr>
                <a:solidFill>
                  <a:srgbClr val="666666"/>
                </a:solidFill>
                <a:latin typeface="Courier"/>
              </a:rPr>
              <a:t>.</a:t>
            </a:r>
            <a:r>
              <a:rPr>
                <a:latin typeface="Courier"/>
              </a:rPr>
              <a:t>head</a:t>
            </a:r>
            <a:br/>
            <a:r>
              <a:rPr>
                <a:solidFill>
                  <a:srgbClr val="666666"/>
                </a:solidFill>
                <a:latin typeface="Courier"/>
              </a:rPr>
              <a:t>|</a:t>
            </a:r>
            <a:r>
              <a:rPr>
                <a:latin typeface="Courier"/>
              </a:rPr>
              <a:t> </a:t>
            </a:r>
            <a:r>
              <a:rPr b="1">
                <a:solidFill>
                  <a:srgbClr val="007020"/>
                </a:solidFill>
                <a:latin typeface="Courier"/>
              </a:rPr>
              <a:t>def</a:t>
            </a:r>
            <a:r>
              <a:rPr>
                <a:latin typeface="Courier"/>
              </a:rPr>
              <a:t> </a:t>
            </a:r>
            <a:r>
              <a:rPr>
                <a:solidFill>
                  <a:srgbClr val="06287E"/>
                </a:solidFill>
                <a:latin typeface="Courier"/>
              </a:rPr>
              <a:t>pop</a:t>
            </a:r>
            <a:r>
              <a:rPr>
                <a:solidFill>
                  <a:srgbClr val="666666"/>
                </a:solidFill>
                <a:latin typeface="Courier"/>
              </a:rPr>
              <a:t>():</a:t>
            </a:r>
            <a:r>
              <a:rPr>
                <a:latin typeface="Courier"/>
              </a:rPr>
              <a:t> A </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b="1">
                <a:solidFill>
                  <a:srgbClr val="007020"/>
                </a:solidFill>
                <a:latin typeface="Courier"/>
              </a:rPr>
              <a:t>val</a:t>
            </a:r>
            <a:r>
              <a:rPr>
                <a:latin typeface="Courier"/>
              </a:rPr>
              <a:t> currentTop </a:t>
            </a:r>
            <a:r>
              <a:rPr>
                <a:solidFill>
                  <a:srgbClr val="666666"/>
                </a:solidFill>
                <a:latin typeface="Courier"/>
              </a:rPr>
              <a:t>=</a:t>
            </a:r>
            <a:r>
              <a:rPr>
                <a:latin typeface="Courier"/>
              </a:rPr>
              <a:t> peek</a:t>
            </a:r>
            <a:br/>
            <a:r>
              <a:rPr>
                <a:solidFill>
                  <a:srgbClr val="666666"/>
                </a:solidFill>
                <a:latin typeface="Courier"/>
              </a:rPr>
              <a:t>|</a:t>
            </a:r>
            <a:r>
              <a:rPr>
                <a:latin typeface="Courier"/>
              </a:rPr>
              <a:t> elements </a:t>
            </a:r>
            <a:r>
              <a:rPr>
                <a:solidFill>
                  <a:srgbClr val="666666"/>
                </a:solidFill>
                <a:latin typeface="Courier"/>
              </a:rPr>
              <a:t>=</a:t>
            </a:r>
            <a:r>
              <a:rPr>
                <a:latin typeface="Courier"/>
              </a:rPr>
              <a:t> elements</a:t>
            </a:r>
            <a:r>
              <a:rPr>
                <a:solidFill>
                  <a:srgbClr val="666666"/>
                </a:solidFill>
                <a:latin typeface="Courier"/>
              </a:rPr>
              <a:t>.</a:t>
            </a:r>
            <a:r>
              <a:rPr>
                <a:latin typeface="Courier"/>
              </a:rPr>
              <a:t>tail</a:t>
            </a:r>
            <a:br/>
            <a:r>
              <a:rPr>
                <a:solidFill>
                  <a:srgbClr val="666666"/>
                </a:solidFill>
                <a:latin typeface="Courier"/>
              </a:rPr>
              <a:t>|</a:t>
            </a:r>
            <a:r>
              <a:rPr>
                <a:latin typeface="Courier"/>
              </a:rPr>
              <a:t> currentTop</a:t>
            </a:r>
            <a:b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latin typeface="Courier"/>
              </a:rPr>
              <a:t>defined </a:t>
            </a:r>
            <a:r>
              <a:rPr b="1">
                <a:solidFill>
                  <a:srgbClr val="007020"/>
                </a:solidFill>
                <a:latin typeface="Courier"/>
              </a:rPr>
              <a:t>class</a:t>
            </a:r>
            <a:r>
              <a:rPr>
                <a:latin typeface="Courier"/>
              </a:rPr>
              <a:t> Stack</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泛型类：代码片段（2/10）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上面的 Stack 类的定义中接受类型参数A</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stack </a:t>
            </a:r>
            <a:r>
              <a:rPr>
                <a:solidFill>
                  <a:srgbClr val="666666"/>
                </a:solidFill>
                <a:latin typeface="Courier"/>
              </a:rPr>
              <a:t>=</a:t>
            </a:r>
            <a:r>
              <a:rPr>
                <a:latin typeface="Courier"/>
              </a:rPr>
              <a:t> </a:t>
            </a:r>
            <a:r>
              <a:rPr b="1">
                <a:solidFill>
                  <a:srgbClr val="007020"/>
                </a:solidFill>
                <a:latin typeface="Courier"/>
              </a:rPr>
              <a:t>new</a:t>
            </a:r>
            <a:r>
              <a:rPr>
                <a:latin typeface="Courier"/>
              </a:rPr>
              <a:t> Stack</a:t>
            </a:r>
            <a:r>
              <a:rPr>
                <a:solidFill>
                  <a:srgbClr val="666666"/>
                </a:solidFill>
                <a:latin typeface="Courier"/>
              </a:rPr>
              <a:t>[</a:t>
            </a:r>
            <a:r>
              <a:rPr>
                <a:solidFill>
                  <a:srgbClr val="008000"/>
                </a:solidFill>
                <a:latin typeface="Courier"/>
              </a:rPr>
              <a:t>Int</a:t>
            </a:r>
            <a:r>
              <a:rPr>
                <a:solidFill>
                  <a:srgbClr val="666666"/>
                </a:solidFill>
                <a:latin typeface="Courier"/>
              </a:rPr>
              <a:t>]</a:t>
            </a:r>
            <a:br/>
            <a:r>
              <a:rPr>
                <a:latin typeface="Courier"/>
              </a:rPr>
              <a:t>stack</a:t>
            </a:r>
            <a:r>
              <a:rPr>
                <a:solidFill>
                  <a:srgbClr val="666666"/>
                </a:solidFill>
                <a:latin typeface="Courier"/>
              </a:rPr>
              <a:t>:</a:t>
            </a:r>
            <a:r>
              <a:rPr>
                <a:latin typeface="Courier"/>
              </a:rPr>
              <a:t> Stack</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 </a:t>
            </a:r>
            <a:r>
              <a:rPr>
                <a:solidFill>
                  <a:srgbClr val="666666"/>
                </a:solidFill>
                <a:latin typeface="Courier"/>
              </a:rPr>
              <a:t>=</a:t>
            </a:r>
            <a:r>
              <a:rPr>
                <a:latin typeface="Courier"/>
              </a:rPr>
              <a:t> Stack@b0b2fcc</a:t>
            </a:r>
            <a:br/>
            <a:r>
              <a:rPr>
                <a:latin typeface="Courier"/>
              </a:rPr>
              <a:t>scala</a:t>
            </a:r>
            <a:r>
              <a:rPr>
                <a:solidFill>
                  <a:srgbClr val="666666"/>
                </a:solidFill>
                <a:latin typeface="Courier"/>
              </a:rPr>
              <a:t>&gt;</a:t>
            </a:r>
            <a:r>
              <a:rPr>
                <a:latin typeface="Courier"/>
              </a:rPr>
              <a:t> stack</a:t>
            </a:r>
            <a:r>
              <a:rPr>
                <a:solidFill>
                  <a:srgbClr val="666666"/>
                </a:solidFill>
                <a:latin typeface="Courier"/>
              </a:rPr>
              <a:t>.</a:t>
            </a:r>
            <a:r>
              <a:rPr>
                <a:solidFill>
                  <a:srgbClr val="06287E"/>
                </a:solidFill>
                <a:latin typeface="Courier"/>
              </a:rPr>
              <a:t>push</a:t>
            </a:r>
            <a:r>
              <a:rPr>
                <a:solidFill>
                  <a:srgbClr val="666666"/>
                </a:solidFill>
                <a:latin typeface="Courier"/>
              </a:rPr>
              <a:t>(</a:t>
            </a:r>
            <a:r>
              <a:rPr>
                <a:solidFill>
                  <a:srgbClr val="40A070"/>
                </a:solidFill>
                <a:latin typeface="Courier"/>
              </a:rPr>
              <a:t>1</a:t>
            </a:r>
            <a:r>
              <a:rPr>
                <a:solidFill>
                  <a:srgbClr val="666666"/>
                </a:solidFill>
                <a:latin typeface="Courier"/>
              </a:rPr>
              <a:t>)</a:t>
            </a:r>
            <a:br/>
            <a:r>
              <a:rPr>
                <a:latin typeface="Courier"/>
              </a:rPr>
              <a:t>scala</a:t>
            </a:r>
            <a:r>
              <a:rPr>
                <a:solidFill>
                  <a:srgbClr val="666666"/>
                </a:solidFill>
                <a:latin typeface="Courier"/>
              </a:rPr>
              <a:t>&gt;</a:t>
            </a:r>
            <a:r>
              <a:rPr>
                <a:latin typeface="Courier"/>
              </a:rPr>
              <a:t> stack</a:t>
            </a:r>
            <a:r>
              <a:rPr>
                <a:solidFill>
                  <a:srgbClr val="666666"/>
                </a:solidFill>
                <a:latin typeface="Courier"/>
              </a:rPr>
              <a:t>.</a:t>
            </a:r>
            <a:r>
              <a:rPr>
                <a:solidFill>
                  <a:srgbClr val="06287E"/>
                </a:solidFill>
                <a:latin typeface="Courier"/>
              </a:rPr>
              <a:t>push</a:t>
            </a:r>
            <a:r>
              <a:rPr>
                <a:solidFill>
                  <a:srgbClr val="666666"/>
                </a:solidFill>
                <a:latin typeface="Courier"/>
              </a:rPr>
              <a:t>(</a:t>
            </a:r>
            <a:r>
              <a:rPr>
                <a:solidFill>
                  <a:srgbClr val="40A070"/>
                </a:solidFill>
                <a:latin typeface="Courier"/>
              </a:rPr>
              <a:t>2</a:t>
            </a:r>
            <a:r>
              <a:rPr>
                <a:solidFill>
                  <a:srgbClr val="666666"/>
                </a:solidFill>
                <a:latin typeface="Courier"/>
              </a:rPr>
              <a:t>)</a:t>
            </a:r>
            <a:br/>
            <a:r>
              <a:rPr>
                <a:latin typeface="Courier"/>
              </a:rPr>
              <a:t>scala</a:t>
            </a:r>
            <a:r>
              <a:rPr>
                <a:solidFill>
                  <a:srgbClr val="666666"/>
                </a:solidFill>
                <a:latin typeface="Courier"/>
              </a:rPr>
              <a:t>&gt;</a:t>
            </a:r>
            <a:r>
              <a:rPr>
                <a:latin typeface="Courier"/>
              </a:rPr>
              <a:t> stack</a:t>
            </a:r>
            <a:r>
              <a:rPr>
                <a:solidFill>
                  <a:srgbClr val="666666"/>
                </a:solidFill>
                <a:latin typeface="Courier"/>
              </a:rPr>
              <a:t>.</a:t>
            </a:r>
            <a:r>
              <a:rPr>
                <a:latin typeface="Courier"/>
              </a:rPr>
              <a:t>pop</a:t>
            </a:r>
            <a:br/>
            <a:r>
              <a:rPr>
                <a:latin typeface="Courier"/>
              </a:rPr>
              <a:t>res62</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2</a:t>
            </a:r>
            <a:br/>
            <a:r>
              <a:rPr>
                <a:latin typeface="Courier"/>
              </a:rPr>
              <a:t>scala</a:t>
            </a:r>
            <a:r>
              <a:rPr>
                <a:solidFill>
                  <a:srgbClr val="666666"/>
                </a:solidFill>
                <a:latin typeface="Courier"/>
              </a:rPr>
              <a:t>&gt;</a:t>
            </a:r>
            <a:r>
              <a:rPr>
                <a:latin typeface="Courier"/>
              </a:rPr>
              <a:t> stack</a:t>
            </a:r>
            <a:r>
              <a:rPr>
                <a:solidFill>
                  <a:srgbClr val="666666"/>
                </a:solidFill>
                <a:latin typeface="Courier"/>
              </a:rPr>
              <a:t>.</a:t>
            </a:r>
            <a:r>
              <a:rPr>
                <a:latin typeface="Courier"/>
              </a:rPr>
              <a:t>pop</a:t>
            </a:r>
            <a:br/>
            <a:r>
              <a:rPr>
                <a:latin typeface="Courier"/>
              </a:rPr>
              <a:t>res63</a:t>
            </a:r>
            <a:r>
              <a:rPr>
                <a:solidFill>
                  <a:srgbClr val="666666"/>
                </a:solidFill>
                <a:latin typeface="Courier"/>
              </a:rPr>
              <a:t>:</a:t>
            </a:r>
            <a:r>
              <a:rPr>
                <a:latin typeface="Courier"/>
              </a:rPr>
              <a:t> </a:t>
            </a:r>
            <a:r>
              <a:rPr>
                <a:solidFill>
                  <a:srgbClr val="008000"/>
                </a:solidFill>
                <a:latin typeface="Courier"/>
              </a:rPr>
              <a:t>Int</a:t>
            </a:r>
            <a:r>
              <a:rPr>
                <a:latin typeface="Courier"/>
              </a:rPr>
              <a:t> </a:t>
            </a:r>
            <a:r>
              <a:rPr>
                <a:solidFill>
                  <a:srgbClr val="666666"/>
                </a:solidFill>
                <a:latin typeface="Courier"/>
              </a:rPr>
              <a:t>=</a:t>
            </a:r>
            <a:r>
              <a:rPr>
                <a:latin typeface="Courier"/>
              </a:rPr>
              <a:t> </a:t>
            </a:r>
            <a:r>
              <a:rPr>
                <a:solidFill>
                  <a:srgbClr val="40A070"/>
                </a:solidFill>
                <a:latin typeface="Courier"/>
              </a:rPr>
              <a:t>1</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泛型类：代码片段（3/10）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上面的实例对象 stack 只能接受整型值</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Fruit</a:t>
            </a:r>
            <a:br/>
            <a:r>
              <a:rPr>
                <a:latin typeface="Courier"/>
              </a:rPr>
              <a:t>defined </a:t>
            </a:r>
            <a:r>
              <a:rPr b="1">
                <a:solidFill>
                  <a:srgbClr val="007020"/>
                </a:solidFill>
                <a:latin typeface="Courier"/>
              </a:rPr>
              <a:t>class</a:t>
            </a:r>
            <a:r>
              <a:rPr>
                <a:latin typeface="Courier"/>
              </a:rPr>
              <a:t> Fruit</a:t>
            </a:r>
            <a:b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Apple </a:t>
            </a:r>
            <a:r>
              <a:rPr b="1">
                <a:solidFill>
                  <a:srgbClr val="007020"/>
                </a:solidFill>
                <a:latin typeface="Courier"/>
              </a:rPr>
              <a:t>extends</a:t>
            </a:r>
            <a:r>
              <a:rPr>
                <a:latin typeface="Courier"/>
              </a:rPr>
              <a:t> Fruit</a:t>
            </a:r>
            <a:br/>
            <a:r>
              <a:rPr>
                <a:latin typeface="Courier"/>
              </a:rPr>
              <a:t>defined </a:t>
            </a:r>
            <a:r>
              <a:rPr b="1">
                <a:solidFill>
                  <a:srgbClr val="007020"/>
                </a:solidFill>
                <a:latin typeface="Courier"/>
              </a:rPr>
              <a:t>class</a:t>
            </a:r>
            <a:r>
              <a:rPr>
                <a:latin typeface="Courier"/>
              </a:rPr>
              <a:t> Apple</a:t>
            </a:r>
            <a:br/>
            <a:r>
              <a:rPr>
                <a:latin typeface="Courier"/>
              </a:rPr>
              <a:t>scala</a:t>
            </a:r>
            <a:r>
              <a:rPr>
                <a:solidFill>
                  <a:srgbClr val="666666"/>
                </a:solidFill>
                <a:latin typeface="Courier"/>
              </a:rPr>
              <a:t>&gt;</a:t>
            </a:r>
            <a:r>
              <a:rPr>
                <a:latin typeface="Courier"/>
              </a:rPr>
              <a:t> </a:t>
            </a:r>
            <a:r>
              <a:rPr b="1">
                <a:solidFill>
                  <a:srgbClr val="007020"/>
                </a:solidFill>
                <a:latin typeface="Courier"/>
              </a:rPr>
              <a:t>class</a:t>
            </a:r>
            <a:r>
              <a:rPr>
                <a:latin typeface="Courier"/>
              </a:rPr>
              <a:t> Banana </a:t>
            </a:r>
            <a:r>
              <a:rPr b="1">
                <a:solidFill>
                  <a:srgbClr val="007020"/>
                </a:solidFill>
                <a:latin typeface="Courier"/>
              </a:rPr>
              <a:t>extends</a:t>
            </a:r>
            <a:r>
              <a:rPr>
                <a:latin typeface="Courier"/>
              </a:rPr>
              <a:t> Fruit</a:t>
            </a:r>
            <a:br/>
            <a:r>
              <a:rPr>
                <a:latin typeface="Courier"/>
              </a:rPr>
              <a:t>defined </a:t>
            </a:r>
            <a:r>
              <a:rPr b="1">
                <a:solidFill>
                  <a:srgbClr val="007020"/>
                </a:solidFill>
                <a:latin typeface="Courier"/>
              </a:rPr>
              <a:t>class</a:t>
            </a:r>
            <a:r>
              <a:rPr>
                <a:latin typeface="Courier"/>
              </a:rPr>
              <a:t> Banana</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stack </a:t>
            </a:r>
            <a:r>
              <a:rPr>
                <a:solidFill>
                  <a:srgbClr val="666666"/>
                </a:solidFill>
                <a:latin typeface="Courier"/>
              </a:rPr>
              <a:t>=</a:t>
            </a:r>
            <a:r>
              <a:rPr>
                <a:latin typeface="Courier"/>
              </a:rPr>
              <a:t> </a:t>
            </a:r>
            <a:r>
              <a:rPr b="1">
                <a:solidFill>
                  <a:srgbClr val="007020"/>
                </a:solidFill>
                <a:latin typeface="Courier"/>
              </a:rPr>
              <a:t>new</a:t>
            </a:r>
            <a:r>
              <a:rPr>
                <a:latin typeface="Courier"/>
              </a:rPr>
              <a:t> Stack</a:t>
            </a:r>
            <a:r>
              <a:rPr>
                <a:solidFill>
                  <a:srgbClr val="666666"/>
                </a:solidFill>
                <a:latin typeface="Courier"/>
              </a:rPr>
              <a:t>[</a:t>
            </a:r>
            <a:r>
              <a:rPr>
                <a:latin typeface="Courier"/>
              </a:rPr>
              <a:t>Fruit</a:t>
            </a:r>
            <a:r>
              <a:rPr>
                <a:solidFill>
                  <a:srgbClr val="666666"/>
                </a:solidFill>
                <a:latin typeface="Courier"/>
              </a:rPr>
              <a:t>]</a:t>
            </a:r>
            <a:br/>
            <a:r>
              <a:rPr>
                <a:latin typeface="Courier"/>
              </a:rPr>
              <a:t>stack</a:t>
            </a:r>
            <a:r>
              <a:rPr>
                <a:solidFill>
                  <a:srgbClr val="666666"/>
                </a:solidFill>
                <a:latin typeface="Courier"/>
              </a:rPr>
              <a:t>:</a:t>
            </a:r>
            <a:r>
              <a:rPr>
                <a:latin typeface="Courier"/>
              </a:rPr>
              <a:t> Stack</a:t>
            </a:r>
            <a:r>
              <a:rPr>
                <a:solidFill>
                  <a:srgbClr val="666666"/>
                </a:solidFill>
                <a:latin typeface="Courier"/>
              </a:rPr>
              <a:t>[</a:t>
            </a:r>
            <a:r>
              <a:rPr>
                <a:latin typeface="Courier"/>
              </a:rPr>
              <a:t>Fruit</a:t>
            </a:r>
            <a:r>
              <a:rPr>
                <a:solidFill>
                  <a:srgbClr val="666666"/>
                </a:solidFill>
                <a:latin typeface="Courier"/>
              </a:rPr>
              <a:t>]</a:t>
            </a:r>
            <a:r>
              <a:rPr>
                <a:latin typeface="Courier"/>
              </a:rPr>
              <a:t> </a:t>
            </a:r>
            <a:r>
              <a:rPr>
                <a:solidFill>
                  <a:srgbClr val="666666"/>
                </a:solidFill>
                <a:latin typeface="Courier"/>
              </a:rPr>
              <a:t>=</a:t>
            </a:r>
            <a:r>
              <a:rPr>
                <a:latin typeface="Courier"/>
              </a:rPr>
              <a:t> Stack@</a:t>
            </a:r>
            <a:r>
              <a:rPr>
                <a:solidFill>
                  <a:srgbClr val="40A070"/>
                </a:solidFill>
                <a:latin typeface="Courier"/>
              </a:rPr>
              <a:t>2</a:t>
            </a:r>
            <a:r>
              <a:rPr>
                <a:latin typeface="Courier"/>
              </a:rPr>
              <a:t>d11ac93</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apple </a:t>
            </a:r>
            <a:r>
              <a:rPr>
                <a:solidFill>
                  <a:srgbClr val="666666"/>
                </a:solidFill>
                <a:latin typeface="Courier"/>
              </a:rPr>
              <a:t>=</a:t>
            </a:r>
            <a:r>
              <a:rPr>
                <a:latin typeface="Courier"/>
              </a:rPr>
              <a:t> </a:t>
            </a:r>
            <a:r>
              <a:rPr b="1">
                <a:solidFill>
                  <a:srgbClr val="007020"/>
                </a:solidFill>
                <a:latin typeface="Courier"/>
              </a:rPr>
              <a:t>new</a:t>
            </a:r>
            <a:r>
              <a:rPr>
                <a:latin typeface="Courier"/>
              </a:rPr>
              <a:t> Apple</a:t>
            </a:r>
            <a:br/>
            <a:r>
              <a:rPr>
                <a:latin typeface="Courier"/>
              </a:rPr>
              <a:t>apple</a:t>
            </a:r>
            <a:r>
              <a:rPr>
                <a:solidFill>
                  <a:srgbClr val="666666"/>
                </a:solidFill>
                <a:latin typeface="Courier"/>
              </a:rPr>
              <a:t>:</a:t>
            </a:r>
            <a:r>
              <a:rPr>
                <a:latin typeface="Courier"/>
              </a:rPr>
              <a:t> Apple </a:t>
            </a:r>
            <a:r>
              <a:rPr>
                <a:solidFill>
                  <a:srgbClr val="666666"/>
                </a:solidFill>
                <a:latin typeface="Courier"/>
              </a:rPr>
              <a:t>=</a:t>
            </a:r>
            <a:r>
              <a:rPr>
                <a:latin typeface="Courier"/>
              </a:rPr>
              <a:t> Apple@</a:t>
            </a:r>
            <a:r>
              <a:rPr>
                <a:solidFill>
                  <a:srgbClr val="40A070"/>
                </a:solidFill>
                <a:latin typeface="Courier"/>
              </a:rPr>
              <a:t>5e36</a:t>
            </a:r>
            <a:r>
              <a:rPr>
                <a:latin typeface="Courier"/>
              </a:rPr>
              <a:t>c9e6</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banana </a:t>
            </a:r>
            <a:r>
              <a:rPr>
                <a:solidFill>
                  <a:srgbClr val="666666"/>
                </a:solidFill>
                <a:latin typeface="Courier"/>
              </a:rPr>
              <a:t>=</a:t>
            </a:r>
            <a:r>
              <a:rPr>
                <a:latin typeface="Courier"/>
              </a:rPr>
              <a:t> </a:t>
            </a:r>
            <a:r>
              <a:rPr b="1">
                <a:solidFill>
                  <a:srgbClr val="007020"/>
                </a:solidFill>
                <a:latin typeface="Courier"/>
              </a:rPr>
              <a:t>new</a:t>
            </a:r>
            <a:r>
              <a:rPr>
                <a:latin typeface="Courier"/>
              </a:rPr>
              <a:t> Banana</a:t>
            </a:r>
            <a:br/>
            <a:r>
              <a:rPr i="1">
                <a:solidFill>
                  <a:srgbClr val="60A0B0"/>
                </a:solidFill>
                <a:latin typeface="Courier"/>
              </a:rPr>
              <a:t>//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泛型类：代码片段（4/10）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允许它们是协变的</a:t>
            </a:r>
          </a:p>
          <a:p>
            <a:pPr lvl="0"/>
            <a:r>
              <a:rPr/>
              <a:t>先对照代码理解 考虑以下简单的类结构： 的执行步骤</a:t>
            </a:r>
          </a:p>
          <a:p>
            <a:pPr lvl="0" indent="0" marL="0">
              <a:buNone/>
            </a:pPr>
            <a:r>
              <a:rPr/>
              <a:t>片段 1</a:t>
            </a:r>
          </a:p>
          <a:p>
            <a:pPr lvl="0" indent="0">
              <a:buNone/>
            </a:pPr>
            <a:r>
              <a:rPr b="1">
                <a:solidFill>
                  <a:srgbClr val="007020"/>
                </a:solidFill>
                <a:latin typeface="Courier"/>
              </a:rPr>
              <a:t>class</a:t>
            </a:r>
            <a:r>
              <a:rPr>
                <a:latin typeface="Courier"/>
              </a:rPr>
              <a:t> Foo</a:t>
            </a:r>
            <a:r>
              <a:rPr>
                <a:solidFill>
                  <a:srgbClr val="666666"/>
                </a:solidFill>
                <a:latin typeface="Courier"/>
              </a:rPr>
              <a:t>[+</a:t>
            </a:r>
            <a:r>
              <a:rPr>
                <a:latin typeface="Courier"/>
              </a:rPr>
              <a:t>A</a:t>
            </a:r>
            <a:r>
              <a:rPr>
                <a:solidFill>
                  <a:srgbClr val="666666"/>
                </a:solidFill>
                <a:latin typeface="Courier"/>
              </a:rPr>
              <a:t>]</a:t>
            </a:r>
            <a:r>
              <a:rPr>
                <a:latin typeface="Courier"/>
              </a:rPr>
              <a:t> </a:t>
            </a:r>
            <a:r>
              <a:rPr i="1">
                <a:solidFill>
                  <a:srgbClr val="60A0B0"/>
                </a:solidFill>
                <a:latin typeface="Courier"/>
              </a:rPr>
              <a:t>// A covariant class</a:t>
            </a:r>
            <a:br/>
            <a:r>
              <a:rPr b="1">
                <a:solidFill>
                  <a:srgbClr val="007020"/>
                </a:solidFill>
                <a:latin typeface="Courier"/>
              </a:rPr>
              <a:t>class</a:t>
            </a:r>
            <a:r>
              <a:rPr>
                <a:latin typeface="Courier"/>
              </a:rPr>
              <a:t> Bar</a:t>
            </a:r>
            <a:r>
              <a:rPr>
                <a:solidFill>
                  <a:srgbClr val="666666"/>
                </a:solidFill>
                <a:latin typeface="Courier"/>
              </a:rPr>
              <a:t>[-</a:t>
            </a:r>
            <a:r>
              <a:rPr>
                <a:latin typeface="Courier"/>
              </a:rPr>
              <a:t>A</a:t>
            </a:r>
            <a:r>
              <a:rPr>
                <a:solidFill>
                  <a:srgbClr val="666666"/>
                </a:solidFill>
                <a:latin typeface="Courier"/>
              </a:rPr>
              <a:t>]</a:t>
            </a:r>
            <a:r>
              <a:rPr>
                <a:latin typeface="Courier"/>
              </a:rPr>
              <a:t> </a:t>
            </a:r>
            <a:r>
              <a:rPr i="1">
                <a:solidFill>
                  <a:srgbClr val="60A0B0"/>
                </a:solidFill>
                <a:latin typeface="Courier"/>
              </a:rPr>
              <a:t>// A contravariant class</a:t>
            </a:r>
            <a:br/>
            <a:r>
              <a:rPr b="1">
                <a:solidFill>
                  <a:srgbClr val="007020"/>
                </a:solidFill>
                <a:latin typeface="Courier"/>
              </a:rPr>
              <a:t>class</a:t>
            </a:r>
            <a:r>
              <a:rPr>
                <a:latin typeface="Courier"/>
              </a:rPr>
              <a:t> Baz</a:t>
            </a:r>
            <a:r>
              <a:rPr>
                <a:solidFill>
                  <a:srgbClr val="666666"/>
                </a:solidFill>
                <a:latin typeface="Courier"/>
              </a:rPr>
              <a:t>[</a:t>
            </a:r>
            <a:r>
              <a:rPr>
                <a:latin typeface="Courier"/>
              </a:rPr>
              <a:t>A</a:t>
            </a:r>
            <a:r>
              <a:rPr>
                <a:solidFill>
                  <a:srgbClr val="666666"/>
                </a:solidFill>
                <a:latin typeface="Courier"/>
              </a:rPr>
              <a:t>]</a:t>
            </a:r>
            <a:r>
              <a:rPr>
                <a:latin typeface="Courier"/>
              </a:rPr>
              <a:t>  </a:t>
            </a:r>
            <a:r>
              <a:rPr i="1">
                <a:solidFill>
                  <a:srgbClr val="60A0B0"/>
                </a:solidFill>
                <a:latin typeface="Courier"/>
              </a:rPr>
              <a:t>// An invariant class</a:t>
            </a:r>
          </a:p>
          <a:p>
            <a:pPr lvl="0" indent="0" marL="0">
              <a:buNone/>
            </a:pPr>
            <a:r>
              <a:rPr/>
              <a:t>片段 2</a:t>
            </a:r>
          </a:p>
          <a:p>
            <a:pPr lvl="0" indent="0">
              <a:buNone/>
            </a:pPr>
            <a:r>
              <a:rPr b="1">
                <a:solidFill>
                  <a:srgbClr val="007020"/>
                </a:solidFill>
                <a:latin typeface="Courier"/>
              </a:rPr>
              <a:t>abstract</a:t>
            </a:r>
            <a:r>
              <a:rPr>
                <a:latin typeface="Courier"/>
              </a:rPr>
              <a:t> </a:t>
            </a:r>
            <a:r>
              <a:rPr b="1">
                <a:solidFill>
                  <a:srgbClr val="007020"/>
                </a:solidFill>
                <a:latin typeface="Courier"/>
              </a:rPr>
              <a:t>class</a:t>
            </a:r>
            <a:r>
              <a:rPr>
                <a:latin typeface="Courier"/>
              </a:rPr>
              <a:t> Animal </a:t>
            </a:r>
            <a:r>
              <a:rPr>
                <a:solidFill>
                  <a:srgbClr val="666666"/>
                </a:solidFill>
                <a:latin typeface="Courier"/>
              </a:rPr>
              <a:t>{</a:t>
            </a:r>
            <a:br/>
            <a:r>
              <a:rPr>
                <a:latin typeface="Courier"/>
              </a:rPr>
              <a:t>  </a:t>
            </a:r>
            <a:r>
              <a:rPr b="1">
                <a:solidFill>
                  <a:srgbClr val="007020"/>
                </a:solidFill>
                <a:latin typeface="Courier"/>
              </a:rPr>
              <a:t>def</a:t>
            </a:r>
            <a:r>
              <a:rPr>
                <a:latin typeface="Courier"/>
              </a:rPr>
              <a:t> name</a:t>
            </a:r>
            <a:r>
              <a:rPr>
                <a:solidFill>
                  <a:srgbClr val="666666"/>
                </a:solidFill>
                <a:latin typeface="Courier"/>
              </a:rPr>
              <a:t>:</a:t>
            </a:r>
            <a:r>
              <a:rPr>
                <a:latin typeface="Courier"/>
              </a:rPr>
              <a:t> String</a:t>
            </a:r>
            <a:br/>
            <a:r>
              <a:rPr>
                <a:solidFill>
                  <a:srgbClr val="666666"/>
                </a:solidFill>
                <a:latin typeface="Courier"/>
              </a:rPr>
              <a:t>}</a:t>
            </a:r>
            <a:b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Cat</a:t>
            </a:r>
            <a:r>
              <a:rPr>
                <a:solidFill>
                  <a:srgbClr val="666666"/>
                </a:solidFill>
                <a:latin typeface="Courier"/>
              </a:rPr>
              <a:t>(</a:t>
            </a:r>
            <a:r>
              <a:rPr>
                <a:latin typeface="Courier"/>
              </a:rPr>
              <a: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extends</a:t>
            </a:r>
            <a:r>
              <a:rPr>
                <a:latin typeface="Courier"/>
              </a:rPr>
              <a:t> Animal</a:t>
            </a:r>
            <a:b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Dog</a:t>
            </a:r>
            <a:r>
              <a:rPr>
                <a:solidFill>
                  <a:srgbClr val="666666"/>
                </a:solidFill>
                <a:latin typeface="Courier"/>
              </a:rPr>
              <a:t>(</a:t>
            </a:r>
            <a:r>
              <a:rPr>
                <a:latin typeface="Courier"/>
              </a:rPr>
              <a: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extends</a:t>
            </a:r>
            <a:r>
              <a:rPr>
                <a:latin typeface="Courier"/>
              </a:rPr>
              <a:t> Animal</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泛型类：代码片段（5/10）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在下例中</a:t>
            </a:r>
          </a:p>
          <a:p>
            <a:pPr lvl="0" indent="0">
              <a:buNone/>
            </a:pPr>
            <a:r>
              <a:rPr b="1">
                <a:solidFill>
                  <a:srgbClr val="007020"/>
                </a:solidFill>
                <a:latin typeface="Courier"/>
              </a:rPr>
              <a:t>object</a:t>
            </a:r>
            <a:r>
              <a:rPr>
                <a:latin typeface="Courier"/>
              </a:rPr>
              <a:t> CovarianceTest </a:t>
            </a:r>
            <a:r>
              <a:rPr b="1">
                <a:solidFill>
                  <a:srgbClr val="007020"/>
                </a:solidFill>
                <a:latin typeface="Courier"/>
              </a:rPr>
              <a:t>extends</a:t>
            </a:r>
            <a:r>
              <a:rPr>
                <a:latin typeface="Courier"/>
              </a:rPr>
              <a:t> App </a:t>
            </a:r>
            <a:r>
              <a:rPr>
                <a:solidFill>
                  <a:srgbClr val="666666"/>
                </a:solidFill>
                <a:latin typeface="Courier"/>
              </a:rPr>
              <a:t>{</a:t>
            </a:r>
            <a:br/>
            <a:r>
              <a:rPr>
                <a:latin typeface="Courier"/>
              </a:rPr>
              <a:t>  </a:t>
            </a:r>
            <a:r>
              <a:rPr b="1">
                <a:solidFill>
                  <a:srgbClr val="007020"/>
                </a:solidFill>
                <a:latin typeface="Courier"/>
              </a:rPr>
              <a:t>def</a:t>
            </a:r>
            <a:r>
              <a:rPr>
                <a:latin typeface="Courier"/>
              </a:rPr>
              <a:t> </a:t>
            </a:r>
            <a:r>
              <a:rPr>
                <a:solidFill>
                  <a:srgbClr val="06287E"/>
                </a:solidFill>
                <a:latin typeface="Courier"/>
              </a:rPr>
              <a:t>printAnimalNames</a:t>
            </a:r>
            <a:r>
              <a:rPr>
                <a:solidFill>
                  <a:srgbClr val="666666"/>
                </a:solidFill>
                <a:latin typeface="Courier"/>
              </a:rPr>
              <a:t>(</a:t>
            </a:r>
            <a:r>
              <a:rPr>
                <a:latin typeface="Courier"/>
              </a:rPr>
              <a:t>animals</a:t>
            </a:r>
            <a:r>
              <a:rPr>
                <a:solidFill>
                  <a:srgbClr val="666666"/>
                </a:solidFill>
                <a:latin typeface="Courier"/>
              </a:rPr>
              <a:t>:</a:t>
            </a:r>
            <a:r>
              <a:rPr>
                <a:latin typeface="Courier"/>
              </a:rPr>
              <a:t> List</a:t>
            </a:r>
            <a:r>
              <a:rPr>
                <a:solidFill>
                  <a:srgbClr val="666666"/>
                </a:solidFill>
                <a:latin typeface="Courier"/>
              </a:rPr>
              <a:t>[</a:t>
            </a:r>
            <a:r>
              <a:rPr>
                <a:latin typeface="Courier"/>
              </a:rPr>
              <a:t>Animal</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animals</a:t>
            </a:r>
            <a:r>
              <a:rPr>
                <a:solidFill>
                  <a:srgbClr val="666666"/>
                </a:solidFill>
                <a:latin typeface="Courier"/>
              </a:rPr>
              <a:t>.</a:t>
            </a:r>
            <a:r>
              <a:rPr>
                <a:latin typeface="Courier"/>
              </a:rPr>
              <a:t>foreach </a:t>
            </a:r>
            <a:r>
              <a:rPr>
                <a:solidFill>
                  <a:srgbClr val="666666"/>
                </a:solidFill>
                <a:latin typeface="Courier"/>
              </a:rPr>
              <a:t>{</a:t>
            </a:r>
            <a:r>
              <a:rPr>
                <a:latin typeface="Courier"/>
              </a:rPr>
              <a:t> animal </a:t>
            </a:r>
            <a:r>
              <a:rPr>
                <a:solidFill>
                  <a:srgbClr val="666666"/>
                </a:solidFill>
                <a:latin typeface="Courier"/>
              </a:rPr>
              <a:t>=&gt;</a:t>
            </a:r>
            <a:br/>
            <a:r>
              <a:rPr>
                <a:latin typeface="Courier"/>
              </a:rPr>
              <a:t>      </a:t>
            </a:r>
            <a:r>
              <a:rPr>
                <a:solidFill>
                  <a:srgbClr val="06287E"/>
                </a:solidFill>
                <a:latin typeface="Courier"/>
              </a:rPr>
              <a:t>println</a:t>
            </a:r>
            <a:r>
              <a:rPr>
                <a:solidFill>
                  <a:srgbClr val="666666"/>
                </a:solidFill>
                <a:latin typeface="Courier"/>
              </a:rPr>
              <a:t>(</a:t>
            </a:r>
            <a:r>
              <a:rPr>
                <a:latin typeface="Courier"/>
              </a:rPr>
              <a:t>animal</a:t>
            </a:r>
            <a:r>
              <a:rPr>
                <a:solidFill>
                  <a:srgbClr val="666666"/>
                </a:solidFill>
                <a:latin typeface="Courier"/>
              </a:rPr>
              <a:t>.</a:t>
            </a:r>
            <a:r>
              <a:rPr>
                <a:latin typeface="Courier"/>
              </a:rPr>
              <a:t>name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cats</a:t>
            </a:r>
            <a:r>
              <a:rPr>
                <a:solidFill>
                  <a:srgbClr val="666666"/>
                </a:solidFill>
                <a:latin typeface="Courier"/>
              </a:rPr>
              <a:t>:</a:t>
            </a:r>
            <a:r>
              <a:rPr>
                <a:latin typeface="Courier"/>
              </a:rPr>
              <a:t> List</a:t>
            </a:r>
            <a:r>
              <a:rPr>
                <a:solidFill>
                  <a:srgbClr val="666666"/>
                </a:solidFill>
                <a:latin typeface="Courier"/>
              </a:rPr>
              <a:t>[</a:t>
            </a:r>
            <a:r>
              <a:rPr>
                <a:latin typeface="Courier"/>
              </a:rPr>
              <a:t>Cat</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06287E"/>
                </a:solidFill>
                <a:latin typeface="Courier"/>
              </a:rPr>
              <a:t>Cat</a:t>
            </a:r>
            <a:r>
              <a:rPr>
                <a:solidFill>
                  <a:srgbClr val="666666"/>
                </a:solidFill>
                <a:latin typeface="Courier"/>
              </a:rPr>
              <a:t>(</a:t>
            </a:r>
            <a:r>
              <a:rPr>
                <a:solidFill>
                  <a:srgbClr val="4070A0"/>
                </a:solidFill>
                <a:latin typeface="Courier"/>
              </a:rPr>
              <a:t>"Whiskers"</a:t>
            </a:r>
            <a:r>
              <a:rPr>
                <a:solidFill>
                  <a:srgbClr val="666666"/>
                </a:solidFill>
                <a:latin typeface="Courier"/>
              </a:rPr>
              <a:t>),</a:t>
            </a:r>
            <a:r>
              <a:rPr>
                <a:latin typeface="Courier"/>
              </a:rPr>
              <a:t> </a:t>
            </a:r>
            <a:r>
              <a:rPr>
                <a:solidFill>
                  <a:srgbClr val="06287E"/>
                </a:solidFill>
                <a:latin typeface="Courier"/>
              </a:rPr>
              <a:t>Cat</a:t>
            </a:r>
            <a:r>
              <a:rPr>
                <a:solidFill>
                  <a:srgbClr val="666666"/>
                </a:solidFill>
                <a:latin typeface="Courier"/>
              </a:rPr>
              <a:t>(</a:t>
            </a:r>
            <a:r>
              <a:rPr>
                <a:solidFill>
                  <a:srgbClr val="4070A0"/>
                </a:solidFill>
                <a:latin typeface="Courier"/>
              </a:rPr>
              <a:t>"Tom"</a:t>
            </a:r>
            <a:r>
              <a:rPr>
                <a:solidFill>
                  <a:srgbClr val="666666"/>
                </a:solidFill>
                <a:latin typeface="Courier"/>
              </a:rPr>
              <a:t>))</a:t>
            </a:r>
            <a:br/>
            <a:r>
              <a:rPr>
                <a:latin typeface="Courier"/>
              </a:rPr>
              <a:t>  </a:t>
            </a:r>
            <a:r>
              <a:rPr b="1">
                <a:solidFill>
                  <a:srgbClr val="007020"/>
                </a:solidFill>
                <a:latin typeface="Courier"/>
              </a:rPr>
              <a:t>val</a:t>
            </a:r>
            <a:r>
              <a:rPr>
                <a:latin typeface="Courier"/>
              </a:rPr>
              <a:t> dogs</a:t>
            </a:r>
            <a:r>
              <a:rPr>
                <a:solidFill>
                  <a:srgbClr val="666666"/>
                </a:solidFill>
                <a:latin typeface="Courier"/>
              </a:rPr>
              <a:t>:</a:t>
            </a:r>
            <a:r>
              <a:rPr>
                <a:latin typeface="Courier"/>
              </a:rPr>
              <a:t> List</a:t>
            </a:r>
            <a:r>
              <a:rPr>
                <a:solidFill>
                  <a:srgbClr val="666666"/>
                </a:solidFill>
                <a:latin typeface="Courier"/>
              </a:rPr>
              <a:t>[</a:t>
            </a:r>
            <a:r>
              <a:rPr>
                <a:latin typeface="Courier"/>
              </a:rPr>
              <a:t>Dog</a:t>
            </a:r>
            <a:r>
              <a:rPr>
                <a:solidFill>
                  <a:srgbClr val="666666"/>
                </a:solidFill>
                <a:latin typeface="Courier"/>
              </a:rPr>
              <a:t>]</a:t>
            </a:r>
            <a:r>
              <a:rPr>
                <a:latin typeface="Courier"/>
              </a:rPr>
              <a:t> </a:t>
            </a:r>
            <a:r>
              <a:rPr>
                <a:solidFill>
                  <a:srgbClr val="666666"/>
                </a:solidFill>
                <a:latin typeface="Courier"/>
              </a:rPr>
              <a:t>=</a:t>
            </a:r>
            <a:r>
              <a:rPr>
                <a:latin typeface="Courier"/>
              </a:rPr>
              <a:t> List</a:t>
            </a:r>
            <a:r>
              <a:rPr>
                <a:solidFill>
                  <a:srgbClr val="666666"/>
                </a:solidFill>
                <a:latin typeface="Courier"/>
              </a:rPr>
              <a:t>(</a:t>
            </a:r>
            <a:r>
              <a:rPr>
                <a:solidFill>
                  <a:srgbClr val="06287E"/>
                </a:solidFill>
                <a:latin typeface="Courier"/>
              </a:rPr>
              <a:t>Dog</a:t>
            </a:r>
            <a:r>
              <a:rPr>
                <a:solidFill>
                  <a:srgbClr val="666666"/>
                </a:solidFill>
                <a:latin typeface="Courier"/>
              </a:rPr>
              <a:t>(</a:t>
            </a:r>
            <a:r>
              <a:rPr>
                <a:solidFill>
                  <a:srgbClr val="4070A0"/>
                </a:solidFill>
                <a:latin typeface="Courier"/>
              </a:rPr>
              <a:t>"Fido"</a:t>
            </a:r>
            <a:r>
              <a:rPr>
                <a:solidFill>
                  <a:srgbClr val="666666"/>
                </a:solidFill>
                <a:latin typeface="Courier"/>
              </a:rPr>
              <a:t>),</a:t>
            </a:r>
            <a:r>
              <a:rPr>
                <a:latin typeface="Courier"/>
              </a:rPr>
              <a:t> </a:t>
            </a:r>
            <a:r>
              <a:rPr>
                <a:solidFill>
                  <a:srgbClr val="06287E"/>
                </a:solidFill>
                <a:latin typeface="Courier"/>
              </a:rPr>
              <a:t>Dog</a:t>
            </a:r>
            <a:r>
              <a:rPr>
                <a:solidFill>
                  <a:srgbClr val="666666"/>
                </a:solidFill>
                <a:latin typeface="Courier"/>
              </a:rPr>
              <a:t>(</a:t>
            </a:r>
            <a:r>
              <a:rPr>
                <a:solidFill>
                  <a:srgbClr val="4070A0"/>
                </a:solidFill>
                <a:latin typeface="Courier"/>
              </a:rPr>
              <a:t>"Rex"</a:t>
            </a:r>
            <a:r>
              <a:rPr>
                <a:solidFill>
                  <a:srgbClr val="666666"/>
                </a:solidFill>
                <a:latin typeface="Courier"/>
              </a:rPr>
              <a:t>))</a:t>
            </a:r>
            <a:br/>
            <a:r>
              <a:rPr>
                <a:latin typeface="Courier"/>
              </a:rPr>
              <a:t>  </a:t>
            </a:r>
            <a:r>
              <a:rPr>
                <a:solidFill>
                  <a:srgbClr val="06287E"/>
                </a:solidFill>
                <a:latin typeface="Courier"/>
              </a:rPr>
              <a:t>printAnimalNames</a:t>
            </a:r>
            <a:r>
              <a:rPr>
                <a:solidFill>
                  <a:srgbClr val="666666"/>
                </a:solidFill>
                <a:latin typeface="Courier"/>
              </a:rPr>
              <a:t>(</a:t>
            </a:r>
            <a:r>
              <a:rPr>
                <a:latin typeface="Courier"/>
              </a:rPr>
              <a:t>cats</a:t>
            </a:r>
            <a:r>
              <a:rPr>
                <a:solidFill>
                  <a:srgbClr val="666666"/>
                </a:solidFill>
                <a:latin typeface="Courier"/>
              </a:rPr>
              <a:t>)</a:t>
            </a:r>
            <a:br/>
            <a:r>
              <a:rPr>
                <a:latin typeface="Courier"/>
              </a:rPr>
              <a:t>  </a:t>
            </a:r>
            <a:r>
              <a:rPr i="1">
                <a:solidFill>
                  <a:srgbClr val="60A0B0"/>
                </a:solidFill>
                <a:latin typeface="Courier"/>
              </a:rPr>
              <a:t>// Whiskers</a:t>
            </a:r>
            <a:br/>
            <a:r>
              <a:rPr>
                <a:latin typeface="Courier"/>
              </a:rPr>
              <a:t>  </a:t>
            </a:r>
            <a:r>
              <a:rPr i="1">
                <a:solidFill>
                  <a:srgbClr val="60A0B0"/>
                </a:solidFill>
                <a:latin typeface="Courier"/>
              </a:rPr>
              <a:t>// Tom</a:t>
            </a:r>
            <a:br/>
            <a:r>
              <a:rPr i="1">
                <a:solidFill>
                  <a:srgbClr val="60A0B0"/>
                </a:solidFill>
                <a:latin typeface="Courier"/>
              </a:rPr>
              <a:t>// ...</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泛型类：代码片段（6/10）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考虑在下例中使用上面定义的类 Cat</a:t>
            </a:r>
          </a:p>
          <a:p>
            <a:pPr lvl="0"/>
            <a:r>
              <a:rPr/>
              <a:t>先对照代码理解 这里 Printer[A] 是一个简单的类</a:t>
            </a:r>
          </a:p>
          <a:p>
            <a:pPr lvl="0" indent="0" marL="0">
              <a:buNone/>
            </a:pPr>
            <a:r>
              <a:rPr/>
              <a:t>片段 1</a:t>
            </a:r>
          </a:p>
          <a:p>
            <a:pPr lvl="0" indent="0">
              <a:buNone/>
            </a:pPr>
            <a:r>
              <a:rPr b="1">
                <a:solidFill>
                  <a:srgbClr val="007020"/>
                </a:solidFill>
                <a:latin typeface="Courier"/>
              </a:rPr>
              <a:t>abstract</a:t>
            </a:r>
            <a:r>
              <a:rPr>
                <a:latin typeface="Courier"/>
              </a:rPr>
              <a:t> </a:t>
            </a:r>
            <a:r>
              <a:rPr b="1">
                <a:solidFill>
                  <a:srgbClr val="007020"/>
                </a:solidFill>
                <a:latin typeface="Courier"/>
              </a:rPr>
              <a:t>class</a:t>
            </a:r>
            <a:r>
              <a:rPr>
                <a:latin typeface="Courier"/>
              </a:rPr>
              <a:t> Printer</a:t>
            </a:r>
            <a:r>
              <a:rPr>
                <a:solidFill>
                  <a:srgbClr val="666666"/>
                </a:solidFill>
                <a:latin typeface="Courier"/>
              </a:rPr>
              <a:t>[-</a:t>
            </a:r>
            <a:r>
              <a:rPr>
                <a:latin typeface="Courier"/>
              </a:rPr>
              <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def</a:t>
            </a:r>
            <a:r>
              <a:rPr>
                <a:latin typeface="Courier"/>
              </a:rPr>
              <a:t> </a:t>
            </a:r>
            <a:r>
              <a:rPr>
                <a:solidFill>
                  <a:srgbClr val="06287E"/>
                </a:solidFill>
                <a:latin typeface="Courier"/>
              </a:rPr>
              <a:t>print</a:t>
            </a:r>
            <a:r>
              <a:rPr>
                <a:solidFill>
                  <a:srgbClr val="666666"/>
                </a:solidFill>
                <a:latin typeface="Courier"/>
              </a:rPr>
              <a:t>(</a:t>
            </a:r>
            <a:r>
              <a:rPr>
                <a:latin typeface="Courier"/>
              </a:rPr>
              <a:t>value</a:t>
            </a:r>
            <a:r>
              <a:rPr>
                <a:solidFill>
                  <a:srgbClr val="666666"/>
                </a:solidFill>
                <a:latin typeface="Courier"/>
              </a:rPr>
              <a:t>:</a:t>
            </a:r>
            <a:r>
              <a:rPr>
                <a:latin typeface="Courier"/>
              </a:rPr>
              <a:t> A</a:t>
            </a:r>
            <a:r>
              <a:rPr>
                <a:solidFill>
                  <a:srgbClr val="666666"/>
                </a:solidFill>
                <a:latin typeface="Courier"/>
              </a:rPr>
              <a:t>):</a:t>
            </a:r>
            <a:r>
              <a:rPr>
                <a:latin typeface="Courier"/>
              </a:rPr>
              <a:t> </a:t>
            </a:r>
            <a:r>
              <a:rPr>
                <a:solidFill>
                  <a:srgbClr val="008000"/>
                </a:solidFill>
                <a:latin typeface="Courier"/>
              </a:rPr>
              <a:t>Unit</a:t>
            </a:r>
            <a:br/>
            <a:r>
              <a:rPr>
                <a:solidFill>
                  <a:srgbClr val="666666"/>
                </a:solidFill>
                <a:latin typeface="Courier"/>
              </a:rPr>
              <a:t>}</a:t>
            </a:r>
          </a:p>
          <a:p>
            <a:pPr lvl="0" indent="0" marL="0">
              <a:buNone/>
            </a:pPr>
            <a:r>
              <a:rPr/>
              <a:t>片段 2</a:t>
            </a:r>
          </a:p>
          <a:p>
            <a:pPr lvl="0" indent="0">
              <a:buNone/>
            </a:pPr>
            <a:r>
              <a:rPr b="1">
                <a:solidFill>
                  <a:srgbClr val="007020"/>
                </a:solidFill>
                <a:latin typeface="Courier"/>
              </a:rPr>
              <a:t>class</a:t>
            </a:r>
            <a:r>
              <a:rPr>
                <a:latin typeface="Courier"/>
              </a:rPr>
              <a:t> AnimalPrinter </a:t>
            </a:r>
            <a:r>
              <a:rPr b="1">
                <a:solidFill>
                  <a:srgbClr val="007020"/>
                </a:solidFill>
                <a:latin typeface="Courier"/>
              </a:rPr>
              <a:t>extends</a:t>
            </a:r>
            <a:r>
              <a:rPr>
                <a:latin typeface="Courier"/>
              </a:rPr>
              <a:t> Printer</a:t>
            </a:r>
            <a:r>
              <a:rPr>
                <a:solidFill>
                  <a:srgbClr val="666666"/>
                </a:solidFill>
                <a:latin typeface="Courier"/>
              </a:rPr>
              <a:t>[</a:t>
            </a:r>
            <a:r>
              <a:rPr>
                <a:latin typeface="Courier"/>
              </a:rPr>
              <a:t>Animal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def</a:t>
            </a:r>
            <a:r>
              <a:rPr>
                <a:latin typeface="Courier"/>
              </a:rPr>
              <a:t> </a:t>
            </a:r>
            <a:r>
              <a:rPr>
                <a:solidFill>
                  <a:srgbClr val="06287E"/>
                </a:solidFill>
                <a:latin typeface="Courier"/>
              </a:rPr>
              <a:t>print</a:t>
            </a:r>
            <a:r>
              <a:rPr>
                <a:solidFill>
                  <a:srgbClr val="666666"/>
                </a:solidFill>
                <a:latin typeface="Courier"/>
              </a:rPr>
              <a:t>(</a:t>
            </a:r>
            <a:r>
              <a:rPr>
                <a:latin typeface="Courier"/>
              </a:rPr>
              <a:t>animal</a:t>
            </a:r>
            <a:r>
              <a:rPr>
                <a:solidFill>
                  <a:srgbClr val="666666"/>
                </a:solidFill>
                <a:latin typeface="Courier"/>
              </a:rPr>
              <a:t>:</a:t>
            </a:r>
            <a:r>
              <a:rPr>
                <a:latin typeface="Courier"/>
              </a:rPr>
              <a:t> Animal</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b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"The animal's name is: "</a:t>
            </a:r>
            <a:r>
              <a:rPr>
                <a:latin typeface="Courier"/>
              </a:rPr>
              <a:t> </a:t>
            </a:r>
            <a:r>
              <a:rPr>
                <a:solidFill>
                  <a:srgbClr val="666666"/>
                </a:solidFill>
                <a:latin typeface="Courier"/>
              </a:rPr>
              <a:t>+</a:t>
            </a:r>
            <a:r>
              <a:rPr>
                <a:latin typeface="Courier"/>
              </a:rPr>
              <a:t> animal</a:t>
            </a:r>
            <a:r>
              <a:rPr>
                <a:solidFill>
                  <a:srgbClr val="666666"/>
                </a:solidFill>
                <a:latin typeface="Courier"/>
              </a:rPr>
              <a:t>.</a:t>
            </a:r>
            <a:r>
              <a:rPr>
                <a:latin typeface="Courier"/>
              </a:rPr>
              <a:t>name</a:t>
            </a:r>
            <a:r>
              <a:rPr>
                <a:solidFill>
                  <a:srgbClr val="666666"/>
                </a:solidFill>
                <a:latin typeface="Courier"/>
              </a:rPr>
              <a:t>)</a:t>
            </a:r>
            <a:br/>
            <a:r>
              <a:rPr>
                <a:solidFill>
                  <a:srgbClr val="666666"/>
                </a:solidFill>
                <a:latin typeface="Courier"/>
              </a:rPr>
              <a:t>}</a:t>
            </a:r>
            <a:br/>
            <a:r>
              <a:rPr b="1">
                <a:solidFill>
                  <a:srgbClr val="007020"/>
                </a:solidFill>
                <a:latin typeface="Courier"/>
              </a:rPr>
              <a:t>class</a:t>
            </a:r>
            <a:r>
              <a:rPr>
                <a:latin typeface="Courier"/>
              </a:rPr>
              <a:t> CatPrinter </a:t>
            </a:r>
            <a:r>
              <a:rPr b="1">
                <a:solidFill>
                  <a:srgbClr val="007020"/>
                </a:solidFill>
                <a:latin typeface="Courier"/>
              </a:rPr>
              <a:t>extends</a:t>
            </a:r>
            <a:r>
              <a:rPr>
                <a:latin typeface="Courier"/>
              </a:rPr>
              <a:t> Printer</a:t>
            </a:r>
            <a:r>
              <a:rPr>
                <a:solidFill>
                  <a:srgbClr val="666666"/>
                </a:solidFill>
                <a:latin typeface="Courier"/>
              </a:rPr>
              <a:t>[</a:t>
            </a:r>
            <a:r>
              <a:rPr>
                <a:latin typeface="Courier"/>
              </a:rPr>
              <a:t>Cat</a:t>
            </a:r>
            <a:r>
              <a:rPr>
                <a:solidFill>
                  <a:srgbClr val="666666"/>
                </a:solidFill>
                <a:latin typeface="Courier"/>
              </a:rPr>
              <a:t>]</a:t>
            </a:r>
            <a:r>
              <a:rPr>
                <a:latin typeface="Courier"/>
              </a:rPr>
              <a:t> </a:t>
            </a:r>
            <a:r>
              <a:rPr>
                <a:solidFill>
                  <a:srgbClr val="666666"/>
                </a:solidFill>
                <a:latin typeface="Courier"/>
              </a:rPr>
              <a:t>{</a:t>
            </a:r>
            <a:br/>
            <a:r>
              <a:rPr i="1">
                <a:solidFill>
                  <a:srgbClr val="60A0B0"/>
                </a:solidFill>
                <a:latin typeface="Courier"/>
              </a:rPr>
              <a:t>// ...</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泛型类：代码片段（7/10）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如果我们愿意</a:t>
            </a:r>
          </a:p>
          <a:p>
            <a:pPr lvl="0" indent="0">
              <a:buNone/>
            </a:pPr>
            <a:r>
              <a:rPr b="1">
                <a:solidFill>
                  <a:srgbClr val="007020"/>
                </a:solidFill>
                <a:latin typeface="Courier"/>
              </a:rPr>
              <a:t>object</a:t>
            </a:r>
            <a:r>
              <a:rPr>
                <a:latin typeface="Courier"/>
              </a:rPr>
              <a:t> ContravarianceTest </a:t>
            </a:r>
            <a:r>
              <a:rPr b="1">
                <a:solidFill>
                  <a:srgbClr val="007020"/>
                </a:solidFill>
                <a:latin typeface="Courier"/>
              </a:rPr>
              <a:t>extends</a:t>
            </a:r>
            <a:r>
              <a:rPr>
                <a:latin typeface="Courier"/>
              </a:rPr>
              <a:t> App </a:t>
            </a:r>
            <a:r>
              <a:rPr>
                <a:solidFill>
                  <a:srgbClr val="666666"/>
                </a:solidFill>
                <a:latin typeface="Courier"/>
              </a:rPr>
              <a:t>{</a:t>
            </a:r>
            <a:br/>
            <a:r>
              <a:rPr>
                <a:latin typeface="Courier"/>
              </a:rPr>
              <a:t>  </a:t>
            </a:r>
            <a:r>
              <a:rPr b="1">
                <a:solidFill>
                  <a:srgbClr val="007020"/>
                </a:solidFill>
                <a:latin typeface="Courier"/>
              </a:rPr>
              <a:t>val</a:t>
            </a:r>
            <a:r>
              <a:rPr>
                <a:latin typeface="Courier"/>
              </a:rPr>
              <a:t> myCat</a:t>
            </a:r>
            <a:r>
              <a:rPr>
                <a:solidFill>
                  <a:srgbClr val="666666"/>
                </a:solidFill>
                <a:latin typeface="Courier"/>
              </a:rPr>
              <a:t>:</a:t>
            </a:r>
            <a:r>
              <a:rPr>
                <a:latin typeface="Courier"/>
              </a:rPr>
              <a:t> Cat </a:t>
            </a:r>
            <a:r>
              <a:rPr>
                <a:solidFill>
                  <a:srgbClr val="666666"/>
                </a:solidFill>
                <a:latin typeface="Courier"/>
              </a:rPr>
              <a:t>=</a:t>
            </a:r>
            <a:r>
              <a:rPr>
                <a:latin typeface="Courier"/>
              </a:rPr>
              <a:t> </a:t>
            </a:r>
            <a:r>
              <a:rPr>
                <a:solidFill>
                  <a:srgbClr val="06287E"/>
                </a:solidFill>
                <a:latin typeface="Courier"/>
              </a:rPr>
              <a:t>Cat</a:t>
            </a:r>
            <a:r>
              <a:rPr>
                <a:solidFill>
                  <a:srgbClr val="666666"/>
                </a:solidFill>
                <a:latin typeface="Courier"/>
              </a:rPr>
              <a:t>(</a:t>
            </a:r>
            <a:r>
              <a:rPr>
                <a:solidFill>
                  <a:srgbClr val="4070A0"/>
                </a:solidFill>
                <a:latin typeface="Courier"/>
              </a:rPr>
              <a:t>"Boots"</a:t>
            </a:r>
            <a:r>
              <a:rPr>
                <a:solidFill>
                  <a:srgbClr val="666666"/>
                </a:solidFill>
                <a:latin typeface="Courier"/>
              </a:rPr>
              <a:t>)</a:t>
            </a:r>
            <a:br/>
            <a:r>
              <a:rPr>
                <a:latin typeface="Courier"/>
              </a:rPr>
              <a:t>  </a:t>
            </a:r>
            <a:r>
              <a:rPr b="1">
                <a:solidFill>
                  <a:srgbClr val="007020"/>
                </a:solidFill>
                <a:latin typeface="Courier"/>
              </a:rPr>
              <a:t>def</a:t>
            </a:r>
            <a:r>
              <a:rPr>
                <a:latin typeface="Courier"/>
              </a:rPr>
              <a:t> </a:t>
            </a:r>
            <a:r>
              <a:rPr>
                <a:solidFill>
                  <a:srgbClr val="06287E"/>
                </a:solidFill>
                <a:latin typeface="Courier"/>
              </a:rPr>
              <a:t>printMyCat</a:t>
            </a:r>
            <a:r>
              <a:rPr>
                <a:solidFill>
                  <a:srgbClr val="666666"/>
                </a:solidFill>
                <a:latin typeface="Courier"/>
              </a:rPr>
              <a:t>(</a:t>
            </a:r>
            <a:r>
              <a:rPr>
                <a:latin typeface="Courier"/>
              </a:rPr>
              <a:t>printer</a:t>
            </a:r>
            <a:r>
              <a:rPr>
                <a:solidFill>
                  <a:srgbClr val="666666"/>
                </a:solidFill>
                <a:latin typeface="Courier"/>
              </a:rPr>
              <a:t>:</a:t>
            </a:r>
            <a:r>
              <a:rPr>
                <a:latin typeface="Courier"/>
              </a:rPr>
              <a:t> Printer</a:t>
            </a:r>
            <a:r>
              <a:rPr>
                <a:solidFill>
                  <a:srgbClr val="666666"/>
                </a:solidFill>
                <a:latin typeface="Courier"/>
              </a:rPr>
              <a:t>[</a:t>
            </a:r>
            <a:r>
              <a:rPr>
                <a:latin typeface="Courier"/>
              </a:rPr>
              <a:t>Cat</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printer</a:t>
            </a:r>
            <a:r>
              <a:rPr>
                <a:solidFill>
                  <a:srgbClr val="666666"/>
                </a:solidFill>
                <a:latin typeface="Courier"/>
              </a:rPr>
              <a:t>.</a:t>
            </a:r>
            <a:r>
              <a:rPr>
                <a:solidFill>
                  <a:srgbClr val="06287E"/>
                </a:solidFill>
                <a:latin typeface="Courier"/>
              </a:rPr>
              <a:t>print</a:t>
            </a:r>
            <a:r>
              <a:rPr>
                <a:solidFill>
                  <a:srgbClr val="666666"/>
                </a:solidFill>
                <a:latin typeface="Courier"/>
              </a:rPr>
              <a:t>(</a:t>
            </a:r>
            <a:r>
              <a:rPr>
                <a:latin typeface="Courier"/>
              </a:rPr>
              <a:t>myCat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val</a:t>
            </a:r>
            <a:r>
              <a:rPr>
                <a:latin typeface="Courier"/>
              </a:rPr>
              <a:t> catPrinter</a:t>
            </a:r>
            <a:r>
              <a:rPr>
                <a:solidFill>
                  <a:srgbClr val="666666"/>
                </a:solidFill>
                <a:latin typeface="Courier"/>
              </a:rPr>
              <a:t>:</a:t>
            </a:r>
            <a:r>
              <a:rPr>
                <a:latin typeface="Courier"/>
              </a:rPr>
              <a:t> Printer</a:t>
            </a:r>
            <a:r>
              <a:rPr>
                <a:solidFill>
                  <a:srgbClr val="666666"/>
                </a:solidFill>
                <a:latin typeface="Courier"/>
              </a:rPr>
              <a:t>[</a:t>
            </a:r>
            <a:r>
              <a:rPr>
                <a:latin typeface="Courier"/>
              </a:rPr>
              <a:t>Cat</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CatPrinter</a:t>
            </a:r>
            <a:br/>
            <a:r>
              <a:rPr>
                <a:latin typeface="Courier"/>
              </a:rPr>
              <a:t>  </a:t>
            </a:r>
            <a:r>
              <a:rPr b="1">
                <a:solidFill>
                  <a:srgbClr val="007020"/>
                </a:solidFill>
                <a:latin typeface="Courier"/>
              </a:rPr>
              <a:t>val</a:t>
            </a:r>
            <a:r>
              <a:rPr>
                <a:latin typeface="Courier"/>
              </a:rPr>
              <a:t> animalPrinter</a:t>
            </a:r>
            <a:r>
              <a:rPr>
                <a:solidFill>
                  <a:srgbClr val="666666"/>
                </a:solidFill>
                <a:latin typeface="Courier"/>
              </a:rPr>
              <a:t>:</a:t>
            </a:r>
            <a:r>
              <a:rPr>
                <a:latin typeface="Courier"/>
              </a:rPr>
              <a:t> Printer</a:t>
            </a:r>
            <a:r>
              <a:rPr>
                <a:solidFill>
                  <a:srgbClr val="666666"/>
                </a:solidFill>
                <a:latin typeface="Courier"/>
              </a:rPr>
              <a:t>[</a:t>
            </a:r>
            <a:r>
              <a:rPr>
                <a:latin typeface="Courier"/>
              </a:rPr>
              <a:t>Animal</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AnimalPrinter</a:t>
            </a:r>
            <a:br/>
            <a:r>
              <a:rPr>
                <a:latin typeface="Courier"/>
              </a:rPr>
              <a:t>  </a:t>
            </a:r>
            <a:r>
              <a:rPr>
                <a:solidFill>
                  <a:srgbClr val="06287E"/>
                </a:solidFill>
                <a:latin typeface="Courier"/>
              </a:rPr>
              <a:t>printMyCat</a:t>
            </a:r>
            <a:r>
              <a:rPr>
                <a:solidFill>
                  <a:srgbClr val="666666"/>
                </a:solidFill>
                <a:latin typeface="Courier"/>
              </a:rPr>
              <a:t>(</a:t>
            </a:r>
            <a:r>
              <a:rPr>
                <a:latin typeface="Courier"/>
              </a:rPr>
              <a:t>catPrinter</a:t>
            </a:r>
            <a:r>
              <a:rPr>
                <a:solidFill>
                  <a:srgbClr val="666666"/>
                </a:solidFill>
                <a:latin typeface="Courier"/>
              </a:rPr>
              <a:t>)</a:t>
            </a:r>
            <a:br/>
            <a:r>
              <a:rPr>
                <a:latin typeface="Courier"/>
              </a:rPr>
              <a:t>  </a:t>
            </a:r>
            <a:r>
              <a:rPr>
                <a:solidFill>
                  <a:srgbClr val="06287E"/>
                </a:solidFill>
                <a:latin typeface="Courier"/>
              </a:rPr>
              <a:t>printMyCat</a:t>
            </a:r>
            <a:r>
              <a:rPr>
                <a:solidFill>
                  <a:srgbClr val="666666"/>
                </a:solidFill>
                <a:latin typeface="Courier"/>
              </a:rPr>
              <a:t>(</a:t>
            </a:r>
            <a:r>
              <a:rPr>
                <a:latin typeface="Courier"/>
              </a:rPr>
              <a:t>animalPrinter</a:t>
            </a:r>
            <a:r>
              <a:rPr>
                <a:solidFill>
                  <a:srgbClr val="666666"/>
                </a:solidFill>
                <a:latin typeface="Courier"/>
              </a:rPr>
              <a:t>)</a:t>
            </a:r>
            <a:br/>
            <a:r>
              <a:rPr>
                <a:solidFill>
                  <a:srgbClr val="666666"/>
                </a:solidFill>
                <a:latin typeface="Courier"/>
              </a:rPr>
              <a: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泛型类：代码片段（8/10）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这个程序的输出如下： 的执行步骤</a:t>
            </a:r>
          </a:p>
          <a:p>
            <a:pPr lvl="0" indent="0">
              <a:buNone/>
            </a:pPr>
            <a:r>
              <a:rPr>
                <a:latin typeface="Courier"/>
              </a:rPr>
              <a:t>The cat's name is: Boots
The animal's name is: Boots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泛型类：代码片段（9/10）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默认情况下</a:t>
            </a:r>
          </a:p>
          <a:p>
            <a:pPr lvl="0"/>
            <a:r>
              <a:rPr/>
              <a:t>但允许一个可变的泛型类成为协变并不安全。 在这个例子中</a:t>
            </a:r>
          </a:p>
          <a:p>
            <a:pPr lvl="0" indent="0" marL="0">
              <a:buNone/>
            </a:pPr>
            <a:r>
              <a:rPr/>
              <a:t>片段 1</a:t>
            </a:r>
          </a:p>
          <a:p>
            <a:pPr lvl="0" indent="0">
              <a:buNone/>
            </a:pPr>
            <a:r>
              <a:rPr b="1">
                <a:solidFill>
                  <a:srgbClr val="007020"/>
                </a:solidFill>
                <a:latin typeface="Courier"/>
              </a:rPr>
              <a:t>class</a:t>
            </a:r>
            <a:r>
              <a:rPr>
                <a:latin typeface="Courier"/>
              </a:rPr>
              <a:t> Container</a:t>
            </a:r>
            <a:r>
              <a:rPr>
                <a:solidFill>
                  <a:srgbClr val="666666"/>
                </a:solidFill>
                <a:latin typeface="Courier"/>
              </a:rPr>
              <a:t>[</a:t>
            </a:r>
            <a:r>
              <a:rPr>
                <a:latin typeface="Courier"/>
              </a:rPr>
              <a:t>A</a:t>
            </a:r>
            <a:r>
              <a:rPr>
                <a:solidFill>
                  <a:srgbClr val="666666"/>
                </a:solidFill>
                <a:latin typeface="Courier"/>
              </a:rPr>
              <a:t>](</a:t>
            </a:r>
            <a:r>
              <a:rPr>
                <a:latin typeface="Courier"/>
              </a:rPr>
              <a:t>value</a:t>
            </a:r>
            <a:r>
              <a:rPr>
                <a:solidFill>
                  <a:srgbClr val="666666"/>
                </a:solidFill>
                <a:latin typeface="Courier"/>
              </a:rPr>
              <a:t>:</a:t>
            </a:r>
            <a:r>
              <a:rPr>
                <a:latin typeface="Courier"/>
              </a:rPr>
              <a:t> 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b="1">
                <a:solidFill>
                  <a:srgbClr val="007020"/>
                </a:solidFill>
                <a:latin typeface="Courier"/>
              </a:rPr>
              <a:t>var</a:t>
            </a:r>
            <a:r>
              <a:rPr>
                <a:latin typeface="Courier"/>
              </a:rPr>
              <a:t> _value</a:t>
            </a:r>
            <a:r>
              <a:rPr>
                <a:solidFill>
                  <a:srgbClr val="666666"/>
                </a:solidFill>
                <a:latin typeface="Courier"/>
              </a:rPr>
              <a:t>:</a:t>
            </a:r>
            <a:r>
              <a:rPr>
                <a:latin typeface="Courier"/>
              </a:rPr>
              <a:t> A </a:t>
            </a:r>
            <a:r>
              <a:rPr>
                <a:solidFill>
                  <a:srgbClr val="666666"/>
                </a:solidFill>
                <a:latin typeface="Courier"/>
              </a:rPr>
              <a:t>=</a:t>
            </a:r>
            <a:r>
              <a:rPr>
                <a:latin typeface="Courier"/>
              </a:rPr>
              <a:t> value</a:t>
            </a:r>
            <a:br/>
            <a:r>
              <a:rPr>
                <a:latin typeface="Courier"/>
              </a:rPr>
              <a:t>  </a:t>
            </a:r>
            <a:r>
              <a:rPr b="1">
                <a:solidFill>
                  <a:srgbClr val="007020"/>
                </a:solidFill>
                <a:latin typeface="Courier"/>
              </a:rPr>
              <a:t>def</a:t>
            </a:r>
            <a:r>
              <a:rPr>
                <a:latin typeface="Courier"/>
              </a:rPr>
              <a:t> getValue</a:t>
            </a:r>
            <a:r>
              <a:rPr>
                <a:solidFill>
                  <a:srgbClr val="666666"/>
                </a:solidFill>
                <a:latin typeface="Courier"/>
              </a:rPr>
              <a:t>:</a:t>
            </a:r>
            <a:r>
              <a:rPr>
                <a:latin typeface="Courier"/>
              </a:rPr>
              <a:t> A </a:t>
            </a:r>
            <a:r>
              <a:rPr>
                <a:solidFill>
                  <a:srgbClr val="666666"/>
                </a:solidFill>
                <a:latin typeface="Courier"/>
              </a:rPr>
              <a:t>=</a:t>
            </a:r>
            <a:r>
              <a:rPr>
                <a:latin typeface="Courier"/>
              </a:rPr>
              <a:t> _value</a:t>
            </a:r>
            <a:br/>
            <a:r>
              <a:rPr>
                <a:latin typeface="Courier"/>
              </a:rPr>
              <a:t>  </a:t>
            </a:r>
            <a:r>
              <a:rPr b="1">
                <a:solidFill>
                  <a:srgbClr val="007020"/>
                </a:solidFill>
                <a:latin typeface="Courier"/>
              </a:rPr>
              <a:t>def</a:t>
            </a:r>
            <a:r>
              <a:rPr>
                <a:latin typeface="Courier"/>
              </a:rPr>
              <a:t> </a:t>
            </a:r>
            <a:r>
              <a:rPr>
                <a:solidFill>
                  <a:srgbClr val="06287E"/>
                </a:solidFill>
                <a:latin typeface="Courier"/>
              </a:rPr>
              <a:t>setValue</a:t>
            </a:r>
            <a:r>
              <a:rPr>
                <a:solidFill>
                  <a:srgbClr val="666666"/>
                </a:solidFill>
                <a:latin typeface="Courier"/>
              </a:rPr>
              <a:t>(</a:t>
            </a:r>
            <a:r>
              <a:rPr>
                <a:latin typeface="Courier"/>
              </a:rPr>
              <a:t>value</a:t>
            </a:r>
            <a:r>
              <a:rPr>
                <a:solidFill>
                  <a:srgbClr val="666666"/>
                </a:solidFill>
                <a:latin typeface="Courier"/>
              </a:rPr>
              <a:t>:</a:t>
            </a:r>
            <a:r>
              <a:rPr>
                <a:latin typeface="Courier"/>
              </a:rPr>
              <a:t> A</a:t>
            </a:r>
            <a:r>
              <a:rPr>
                <a:solidFill>
                  <a:srgbClr val="666666"/>
                </a:solidFill>
                <a:latin typeface="Courier"/>
              </a:rPr>
              <a:t>):</a:t>
            </a:r>
            <a:r>
              <a:rPr>
                <a:latin typeface="Courier"/>
              </a:rPr>
              <a:t> </a:t>
            </a:r>
            <a:r>
              <a:rPr>
                <a:solidFill>
                  <a:srgbClr val="008000"/>
                </a:solidFill>
                <a:latin typeface="Courier"/>
              </a:rPr>
              <a:t>Unit</a:t>
            </a:r>
            <a:r>
              <a:rPr>
                <a:latin typeface="Courier"/>
              </a:rPr>
              <a:t> </a:t>
            </a:r>
            <a:r>
              <a:rPr>
                <a:solidFill>
                  <a:srgbClr val="666666"/>
                </a:solidFill>
                <a:latin typeface="Courier"/>
              </a:rPr>
              <a:t>=</a:t>
            </a:r>
            <a:r>
              <a:rPr>
                <a:latin typeface="Courier"/>
              </a:rPr>
              <a:t> </a:t>
            </a:r>
            <a:r>
              <a:rPr>
                <a:solidFill>
                  <a:srgbClr val="666666"/>
                </a:solidFill>
                <a:latin typeface="Courier"/>
              </a:rPr>
              <a:t>{</a:t>
            </a:r>
            <a:br/>
            <a:r>
              <a:rPr>
                <a:latin typeface="Courier"/>
              </a:rPr>
              <a:t>    _value </a:t>
            </a:r>
            <a:r>
              <a:rPr>
                <a:solidFill>
                  <a:srgbClr val="666666"/>
                </a:solidFill>
                <a:latin typeface="Courier"/>
              </a:rPr>
              <a:t>=</a:t>
            </a:r>
            <a:r>
              <a:rPr>
                <a:latin typeface="Courier"/>
              </a:rPr>
              <a:t> value</a:t>
            </a:r>
            <a:br/>
            <a:r>
              <a:rPr i="1">
                <a:solidFill>
                  <a:srgbClr val="60A0B0"/>
                </a:solidFill>
                <a:latin typeface="Courier"/>
              </a:rPr>
              <a:t>// ...</a:t>
            </a:r>
          </a:p>
          <a:p>
            <a:pPr lvl="0" indent="0" marL="0">
              <a:buNone/>
            </a:pPr>
            <a:r>
              <a:rPr/>
              <a:t>片段 2</a:t>
            </a:r>
          </a:p>
          <a:p>
            <a:pPr lvl="0" indent="0">
              <a:buNone/>
            </a:pPr>
            <a:r>
              <a:rPr b="1">
                <a:solidFill>
                  <a:srgbClr val="007020"/>
                </a:solidFill>
                <a:latin typeface="Courier"/>
              </a:rPr>
              <a:t>val</a:t>
            </a:r>
            <a:r>
              <a:rPr>
                <a:latin typeface="Courier"/>
              </a:rPr>
              <a:t> catContainer</a:t>
            </a:r>
            <a:r>
              <a:rPr>
                <a:solidFill>
                  <a:srgbClr val="666666"/>
                </a:solidFill>
                <a:latin typeface="Courier"/>
              </a:rPr>
              <a:t>:</a:t>
            </a:r>
            <a:r>
              <a:rPr>
                <a:latin typeface="Courier"/>
              </a:rPr>
              <a:t> Container</a:t>
            </a:r>
            <a:r>
              <a:rPr>
                <a:solidFill>
                  <a:srgbClr val="666666"/>
                </a:solidFill>
                <a:latin typeface="Courier"/>
              </a:rPr>
              <a:t>[</a:t>
            </a:r>
            <a:r>
              <a:rPr>
                <a:latin typeface="Courier"/>
              </a:rPr>
              <a:t>Cat</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Container</a:t>
            </a:r>
            <a:r>
              <a:rPr>
                <a:solidFill>
                  <a:srgbClr val="666666"/>
                </a:solidFill>
                <a:latin typeface="Courier"/>
              </a:rPr>
              <a:t>(</a:t>
            </a:r>
            <a:r>
              <a:rPr>
                <a:solidFill>
                  <a:srgbClr val="06287E"/>
                </a:solidFill>
                <a:latin typeface="Courier"/>
              </a:rPr>
              <a:t>Cat</a:t>
            </a:r>
            <a:r>
              <a:rPr>
                <a:solidFill>
                  <a:srgbClr val="666666"/>
                </a:solidFill>
                <a:latin typeface="Courier"/>
              </a:rPr>
              <a:t>(</a:t>
            </a:r>
            <a:r>
              <a:rPr>
                <a:solidFill>
                  <a:srgbClr val="4070A0"/>
                </a:solidFill>
                <a:latin typeface="Courier"/>
              </a:rPr>
              <a:t>"Felix"</a:t>
            </a:r>
            <a:r>
              <a:rPr>
                <a:solidFill>
                  <a:srgbClr val="666666"/>
                </a:solidFill>
                <a:latin typeface="Courier"/>
              </a:rPr>
              <a:t>))</a:t>
            </a:r>
            <a:br/>
            <a:r>
              <a:rPr b="1">
                <a:solidFill>
                  <a:srgbClr val="007020"/>
                </a:solidFill>
                <a:latin typeface="Courier"/>
              </a:rPr>
              <a:t>val</a:t>
            </a:r>
            <a:r>
              <a:rPr>
                <a:latin typeface="Courier"/>
              </a:rPr>
              <a:t> animalContainer</a:t>
            </a:r>
            <a:r>
              <a:rPr>
                <a:solidFill>
                  <a:srgbClr val="666666"/>
                </a:solidFill>
                <a:latin typeface="Courier"/>
              </a:rPr>
              <a:t>:</a:t>
            </a:r>
            <a:r>
              <a:rPr>
                <a:latin typeface="Courier"/>
              </a:rPr>
              <a:t> Container</a:t>
            </a:r>
            <a:r>
              <a:rPr>
                <a:solidFill>
                  <a:srgbClr val="666666"/>
                </a:solidFill>
                <a:latin typeface="Courier"/>
              </a:rPr>
              <a:t>[</a:t>
            </a:r>
            <a:r>
              <a:rPr>
                <a:latin typeface="Courier"/>
              </a:rPr>
              <a:t>Animal</a:t>
            </a:r>
            <a:r>
              <a:rPr>
                <a:solidFill>
                  <a:srgbClr val="666666"/>
                </a:solidFill>
                <a:latin typeface="Courier"/>
              </a:rPr>
              <a:t>]</a:t>
            </a:r>
            <a:r>
              <a:rPr>
                <a:latin typeface="Courier"/>
              </a:rPr>
              <a:t> </a:t>
            </a:r>
            <a:r>
              <a:rPr>
                <a:solidFill>
                  <a:srgbClr val="666666"/>
                </a:solidFill>
                <a:latin typeface="Courier"/>
              </a:rPr>
              <a:t>=</a:t>
            </a:r>
            <a:r>
              <a:rPr>
                <a:latin typeface="Courier"/>
              </a:rPr>
              <a:t> catContainer</a:t>
            </a:r>
            <a:br/>
            <a:r>
              <a:rPr>
                <a:latin typeface="Courier"/>
              </a:rPr>
              <a:t>animalContainer</a:t>
            </a:r>
            <a:r>
              <a:rPr>
                <a:solidFill>
                  <a:srgbClr val="666666"/>
                </a:solidFill>
                <a:latin typeface="Courier"/>
              </a:rPr>
              <a:t>.</a:t>
            </a:r>
            <a:r>
              <a:rPr>
                <a:solidFill>
                  <a:srgbClr val="06287E"/>
                </a:solidFill>
                <a:latin typeface="Courier"/>
              </a:rPr>
              <a:t>setValue</a:t>
            </a:r>
            <a:r>
              <a:rPr>
                <a:solidFill>
                  <a:srgbClr val="666666"/>
                </a:solidFill>
                <a:latin typeface="Courier"/>
              </a:rPr>
              <a:t>(</a:t>
            </a:r>
            <a:r>
              <a:rPr>
                <a:solidFill>
                  <a:srgbClr val="06287E"/>
                </a:solidFill>
                <a:latin typeface="Courier"/>
              </a:rPr>
              <a:t>Dog</a:t>
            </a:r>
            <a:r>
              <a:rPr>
                <a:solidFill>
                  <a:srgbClr val="666666"/>
                </a:solidFill>
                <a:latin typeface="Courier"/>
              </a:rPr>
              <a:t>(</a:t>
            </a:r>
            <a:r>
              <a:rPr>
                <a:solidFill>
                  <a:srgbClr val="4070A0"/>
                </a:solidFill>
                <a:latin typeface="Courier"/>
              </a:rPr>
              <a:t>"Spot"</a:t>
            </a:r>
            <a:r>
              <a:rPr>
                <a:solidFill>
                  <a:srgbClr val="666666"/>
                </a:solidFill>
                <a:latin typeface="Courier"/>
              </a:rPr>
              <a:t>))</a:t>
            </a:r>
            <a:br/>
            <a:r>
              <a:rPr b="1">
                <a:solidFill>
                  <a:srgbClr val="007020"/>
                </a:solidFill>
                <a:latin typeface="Courier"/>
              </a:rPr>
              <a:t>val</a:t>
            </a:r>
            <a:r>
              <a:rPr>
                <a:latin typeface="Courier"/>
              </a:rPr>
              <a:t> cat</a:t>
            </a:r>
            <a:r>
              <a:rPr>
                <a:solidFill>
                  <a:srgbClr val="666666"/>
                </a:solidFill>
                <a:latin typeface="Courier"/>
              </a:rPr>
              <a:t>:</a:t>
            </a:r>
            <a:r>
              <a:rPr>
                <a:latin typeface="Courier"/>
              </a:rPr>
              <a:t> Cat </a:t>
            </a:r>
            <a:r>
              <a:rPr>
                <a:solidFill>
                  <a:srgbClr val="666666"/>
                </a:solidFill>
                <a:latin typeface="Courier"/>
              </a:rPr>
              <a:t>=</a:t>
            </a:r>
            <a:r>
              <a:rPr>
                <a:latin typeface="Courier"/>
              </a:rPr>
              <a:t> catContainer</a:t>
            </a:r>
            <a:r>
              <a:rPr>
                <a:solidFill>
                  <a:srgbClr val="666666"/>
                </a:solidFill>
                <a:latin typeface="Courier"/>
              </a:rPr>
              <a:t>.</a:t>
            </a:r>
            <a:r>
              <a:rPr>
                <a:latin typeface="Courier"/>
              </a:rPr>
              <a:t>getValue </a:t>
            </a:r>
            <a:r>
              <a:rPr i="1">
                <a:solidFill>
                  <a:srgbClr val="60A0B0"/>
                </a:solidFill>
                <a:latin typeface="Courier"/>
              </a:rPr>
              <a:t>// 糟糕，我们最终会将一只狗作为值分配给一只猫</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3.5.2 泛型类：代码片段（10/10）</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假设前面使用过的类似 Cat</a:t>
            </a:r>
          </a:p>
          <a:p>
            <a:pPr lvl="0" indent="0">
              <a:buNone/>
            </a:pPr>
            <a:r>
              <a:rPr b="1">
                <a:solidFill>
                  <a:srgbClr val="007020"/>
                </a:solidFill>
                <a:latin typeface="Courier"/>
              </a:rPr>
              <a:t>abstract</a:t>
            </a:r>
            <a:r>
              <a:rPr>
                <a:latin typeface="Courier"/>
              </a:rPr>
              <a:t> </a:t>
            </a:r>
            <a:r>
              <a:rPr b="1">
                <a:solidFill>
                  <a:srgbClr val="007020"/>
                </a:solidFill>
                <a:latin typeface="Courier"/>
              </a:rPr>
              <a:t>class</a:t>
            </a:r>
            <a:r>
              <a:rPr>
                <a:latin typeface="Courier"/>
              </a:rPr>
              <a:t> SmallAnimal </a:t>
            </a:r>
            <a:r>
              <a:rPr b="1">
                <a:solidFill>
                  <a:srgbClr val="007020"/>
                </a:solidFill>
                <a:latin typeface="Courier"/>
              </a:rPr>
              <a:t>extends</a:t>
            </a:r>
            <a:r>
              <a:rPr>
                <a:latin typeface="Courier"/>
              </a:rPr>
              <a:t> Animal</a:t>
            </a:r>
            <a:br/>
            <a:r>
              <a:rPr b="1">
                <a:solidFill>
                  <a:srgbClr val="007020"/>
                </a:solidFill>
                <a:latin typeface="Courier"/>
              </a:rPr>
              <a:t>case</a:t>
            </a:r>
            <a:r>
              <a:rPr>
                <a:latin typeface="Courier"/>
              </a:rPr>
              <a:t> </a:t>
            </a:r>
            <a:r>
              <a:rPr b="1">
                <a:solidFill>
                  <a:srgbClr val="007020"/>
                </a:solidFill>
                <a:latin typeface="Courier"/>
              </a:rPr>
              <a:t>class</a:t>
            </a:r>
            <a:r>
              <a:rPr>
                <a:latin typeface="Courier"/>
              </a:rPr>
              <a:t> </a:t>
            </a:r>
            <a:r>
              <a:rPr>
                <a:solidFill>
                  <a:srgbClr val="06287E"/>
                </a:solidFill>
                <a:latin typeface="Courier"/>
              </a:rPr>
              <a:t>Mouse</a:t>
            </a:r>
            <a:r>
              <a:rPr>
                <a:solidFill>
                  <a:srgbClr val="666666"/>
                </a:solidFill>
                <a:latin typeface="Courier"/>
              </a:rPr>
              <a:t>(</a:t>
            </a:r>
            <a:r>
              <a:rPr>
                <a:latin typeface="Courier"/>
              </a:rPr>
              <a:t>name</a:t>
            </a:r>
            <a:r>
              <a:rPr>
                <a:solidFill>
                  <a:srgbClr val="666666"/>
                </a:solidFill>
                <a:latin typeface="Courier"/>
              </a:rPr>
              <a:t>:</a:t>
            </a:r>
            <a:r>
              <a:rPr>
                <a:latin typeface="Courier"/>
              </a:rPr>
              <a:t> String</a:t>
            </a:r>
            <a:r>
              <a:rPr>
                <a:solidFill>
                  <a:srgbClr val="666666"/>
                </a:solidFill>
                <a:latin typeface="Courier"/>
              </a:rPr>
              <a:t>)</a:t>
            </a:r>
            <a:r>
              <a:rPr>
                <a:latin typeface="Courier"/>
              </a:rPr>
              <a:t> </a:t>
            </a:r>
            <a:r>
              <a:rPr b="1">
                <a:solidFill>
                  <a:srgbClr val="007020"/>
                </a:solidFill>
                <a:latin typeface="Courier"/>
              </a:rPr>
              <a:t>extends</a:t>
            </a:r>
            <a:r>
              <a:rPr>
                <a:latin typeface="Courier"/>
              </a:rPr>
              <a:t> SmallAnimal</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3.5.3 隐式转换（1/2）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隐式转换是一项强大的程序语言功能</a:t>
            </a:r>
          </a:p>
          <a:p>
            <a:pPr lvl="0"/>
            <a:r>
              <a:rPr/>
              <a:t>从而可以在原始的RDD对象上调用reduceByKey()之类的方法</a:t>
            </a:r>
          </a:p>
          <a:p>
            <a:pPr lvl="0"/>
            <a:r>
              <a:rPr/>
              <a:t>可以包括</a:t>
            </a:r>
          </a:p>
          <a:p>
            <a:pPr lvl="0"/>
            <a:r>
              <a:rPr/>
              <a:t>（1）针对特定的参数类型，重载多个func函数，但是需要定义多个函数</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3.5.3 隐式转换（2/2）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Any具有两个直接子类：需要在函数中针对特定的逻辑做类型转化</a:t>
            </a:r>
          </a:p>
          <a:p>
            <a:pPr lvl="0"/>
            <a:r>
              <a:rPr/>
              <a:t>针对上面的例子，我们可以定义intToString函数</a:t>
            </a:r>
          </a:p>
          <a:p>
            <a:pPr lvl="0"/>
            <a:r>
              <a:rPr/>
              <a:t>隐式转换依据的条件是输入参数类型（Int）和目标参数类型（String）的匹配</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3.5.3 隐式转换：代码片段（1/3）</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Scala 的隐式转换定义了一套查找机制</a:t>
            </a:r>
          </a:p>
          <a:p>
            <a:pPr lvl="0" indent="0">
              <a:buNone/>
            </a:pPr>
            <a:r>
              <a:rPr i="1">
                <a:solidFill>
                  <a:srgbClr val="60A0B0"/>
                </a:solidFill>
                <a:latin typeface="Courier"/>
              </a:rPr>
              <a:t>/**</a:t>
            </a:r>
            <a:br/>
            <a:r>
              <a:rPr>
                <a:latin typeface="Courier"/>
              </a:rPr>
              <a:t> </a:t>
            </a:r>
            <a:r>
              <a:rPr i="1">
                <a:solidFill>
                  <a:srgbClr val="60A0B0"/>
                </a:solidFill>
                <a:latin typeface="Courier"/>
              </a:rPr>
              <a:t>*/</a:t>
            </a:r>
            <a:br/>
            <a:r>
              <a:rPr b="1">
                <a:solidFill>
                  <a:srgbClr val="007020"/>
                </a:solidFill>
                <a:latin typeface="Courier"/>
              </a:rPr>
              <a:t>object</a:t>
            </a:r>
            <a:r>
              <a:rPr>
                <a:latin typeface="Courier"/>
              </a:rPr>
              <a:t> RDD </a:t>
            </a:r>
            <a:r>
              <a:rPr>
                <a:solidFill>
                  <a:srgbClr val="666666"/>
                </a:solidFill>
                <a:latin typeface="Courier"/>
              </a:rPr>
              <a:t>{</a:t>
            </a:r>
            <a:br/>
            <a:r>
              <a:rPr>
                <a:latin typeface="Courier"/>
              </a:rPr>
              <a:t>  </a:t>
            </a:r>
            <a:r>
              <a:rPr b="1">
                <a:solidFill>
                  <a:srgbClr val="007020"/>
                </a:solidFill>
                <a:latin typeface="Courier"/>
              </a:rPr>
              <a:t>private</a:t>
            </a:r>
            <a:r>
              <a:rPr>
                <a:solidFill>
                  <a:srgbClr val="666666"/>
                </a:solidFill>
                <a:latin typeface="Courier"/>
              </a:rPr>
              <a:t>[</a:t>
            </a:r>
            <a:r>
              <a:rPr>
                <a:latin typeface="Courier"/>
              </a:rPr>
              <a:t>spark</a:t>
            </a:r>
            <a:r>
              <a:rPr>
                <a:solidFill>
                  <a:srgbClr val="666666"/>
                </a:solidFill>
                <a:latin typeface="Courier"/>
              </a:rPr>
              <a:t>]</a:t>
            </a:r>
            <a:r>
              <a:rPr>
                <a:latin typeface="Courier"/>
              </a:rPr>
              <a:t> </a:t>
            </a:r>
            <a:r>
              <a:rPr b="1">
                <a:solidFill>
                  <a:srgbClr val="007020"/>
                </a:solidFill>
                <a:latin typeface="Courier"/>
              </a:rPr>
              <a:t>val</a:t>
            </a:r>
            <a:r>
              <a:rPr>
                <a:latin typeface="Courier"/>
              </a:rPr>
              <a:t> CHECKPOINT_ALL_MARKED_ANCESTORS </a:t>
            </a:r>
            <a:r>
              <a:rPr>
                <a:solidFill>
                  <a:srgbClr val="666666"/>
                </a:solidFill>
                <a:latin typeface="Courier"/>
              </a:rPr>
              <a:t>=</a:t>
            </a:r>
            <a:br/>
            <a:r>
              <a:rPr>
                <a:latin typeface="Courier"/>
              </a:rPr>
              <a:t>    </a:t>
            </a:r>
            <a:r>
              <a:rPr>
                <a:solidFill>
                  <a:srgbClr val="4070A0"/>
                </a:solidFill>
                <a:latin typeface="Courier"/>
              </a:rPr>
              <a:t>"spark.checkpoint.checkpointAllMarkedAncestors"</a:t>
            </a:r>
            <a:br/>
            <a:r>
              <a:rPr>
                <a:latin typeface="Courier"/>
              </a:rPr>
              <a:t>  </a:t>
            </a:r>
            <a:r>
              <a:rPr i="1">
                <a:solidFill>
                  <a:srgbClr val="60A0B0"/>
                </a:solidFill>
                <a:latin typeface="Courier"/>
              </a:rPr>
              <a:t>// The following implicit functions were in SparkContext before 1.3 and users had to</a:t>
            </a:r>
            <a:br/>
            <a:r>
              <a:rPr>
                <a:latin typeface="Courier"/>
              </a:rPr>
              <a:t>  </a:t>
            </a:r>
            <a:r>
              <a:rPr i="1">
                <a:solidFill>
                  <a:srgbClr val="60A0B0"/>
                </a:solidFill>
                <a:latin typeface="Courier"/>
              </a:rPr>
              <a:t>// `import SparkContext._` to enable them. Now we move them here to make the compiler find</a:t>
            </a:r>
            <a:br/>
            <a:r>
              <a:rPr>
                <a:latin typeface="Courier"/>
              </a:rPr>
              <a:t>  </a:t>
            </a:r>
            <a:r>
              <a:rPr i="1">
                <a:solidFill>
                  <a:srgbClr val="60A0B0"/>
                </a:solidFill>
                <a:latin typeface="Courier"/>
              </a:rPr>
              <a:t>// them automatically. However, we still keep the old functions in SparkContext for backward</a:t>
            </a:r>
            <a:br/>
            <a:r>
              <a:rPr>
                <a:latin typeface="Courier"/>
              </a:rPr>
              <a:t>  </a:t>
            </a:r>
            <a:r>
              <a:rPr i="1">
                <a:solidFill>
                  <a:srgbClr val="60A0B0"/>
                </a:solidFill>
                <a:latin typeface="Courier"/>
              </a:rPr>
              <a:t>// compatibility and forward to the following functions directly.</a:t>
            </a:r>
            <a:br/>
            <a:r>
              <a:rPr>
                <a:latin typeface="Courier"/>
              </a:rPr>
              <a:t>  </a:t>
            </a:r>
            <a:r>
              <a:rPr b="1">
                <a:solidFill>
                  <a:srgbClr val="007020"/>
                </a:solidFill>
                <a:latin typeface="Courier"/>
              </a:rPr>
              <a:t>implicit</a:t>
            </a:r>
            <a:r>
              <a:rPr>
                <a:latin typeface="Courier"/>
              </a:rPr>
              <a:t> </a:t>
            </a:r>
            <a:r>
              <a:rPr b="1">
                <a:solidFill>
                  <a:srgbClr val="007020"/>
                </a:solidFill>
                <a:latin typeface="Courier"/>
              </a:rPr>
              <a:t>def</a:t>
            </a:r>
            <a:r>
              <a:rPr>
                <a:latin typeface="Courier"/>
              </a:rPr>
              <a:t> rddToPairRDDFunctions</a:t>
            </a:r>
            <a:r>
              <a:rPr>
                <a:solidFill>
                  <a:srgbClr val="666666"/>
                </a:solidFill>
                <a:latin typeface="Courier"/>
              </a:rPr>
              <a:t>[</a:t>
            </a:r>
            <a:r>
              <a:rPr>
                <a:latin typeface="Courier"/>
              </a:rPr>
              <a:t>K</a:t>
            </a:r>
            <a:r>
              <a:rPr>
                <a:solidFill>
                  <a:srgbClr val="666666"/>
                </a:solidFill>
                <a:latin typeface="Courier"/>
              </a:rPr>
              <a:t>,</a:t>
            </a:r>
            <a:r>
              <a:rPr>
                <a:latin typeface="Courier"/>
              </a:rPr>
              <a:t> V</a:t>
            </a:r>
            <a:r>
              <a:rPr>
                <a:solidFill>
                  <a:srgbClr val="666666"/>
                </a:solidFill>
                <a:latin typeface="Courier"/>
              </a:rPr>
              <a:t>](</a:t>
            </a:r>
            <a:r>
              <a:rPr>
                <a:latin typeface="Courier"/>
              </a:rPr>
              <a:t>rdd</a:t>
            </a:r>
            <a:r>
              <a:rPr>
                <a:solidFill>
                  <a:srgbClr val="666666"/>
                </a:solidFill>
                <a:latin typeface="Courier"/>
              </a:rPr>
              <a:t>:</a:t>
            </a:r>
            <a:r>
              <a:rPr>
                <a:latin typeface="Courier"/>
              </a:rPr>
              <a:t> RDD</a:t>
            </a:r>
            <a:r>
              <a:rPr>
                <a:solidFill>
                  <a:srgbClr val="666666"/>
                </a:solidFill>
                <a:latin typeface="Courier"/>
              </a:rPr>
              <a:t>[(</a:t>
            </a:r>
            <a:r>
              <a:rPr>
                <a:latin typeface="Courier"/>
              </a:rPr>
              <a:t>K</a:t>
            </a:r>
            <a:r>
              <a:rPr>
                <a:solidFill>
                  <a:srgbClr val="666666"/>
                </a:solidFill>
                <a:latin typeface="Courier"/>
              </a:rPr>
              <a:t>,</a:t>
            </a:r>
            <a:r>
              <a:rPr>
                <a:latin typeface="Courier"/>
              </a:rPr>
              <a:t> V</a:t>
            </a:r>
            <a:r>
              <a:rPr>
                <a:solidFill>
                  <a:srgbClr val="666666"/>
                </a:solidFill>
                <a:latin typeface="Courier"/>
              </a:rPr>
              <a:t>)])(</a:t>
            </a:r>
            <a:br/>
            <a:r>
              <a:rPr>
                <a:latin typeface="Courier"/>
              </a:rPr>
              <a:t>    </a:t>
            </a:r>
            <a:r>
              <a:rPr b="1">
                <a:solidFill>
                  <a:srgbClr val="007020"/>
                </a:solidFill>
                <a:latin typeface="Courier"/>
              </a:rPr>
              <a:t>implicit</a:t>
            </a:r>
            <a:r>
              <a:rPr>
                <a:latin typeface="Courier"/>
              </a:rPr>
              <a:t> kt</a:t>
            </a:r>
            <a:r>
              <a:rPr>
                <a:solidFill>
                  <a:srgbClr val="666666"/>
                </a:solidFill>
                <a:latin typeface="Courier"/>
              </a:rPr>
              <a:t>:</a:t>
            </a:r>
            <a:r>
              <a:rPr>
                <a:latin typeface="Courier"/>
              </a:rPr>
              <a:t> ClassTag</a:t>
            </a:r>
            <a:r>
              <a:rPr>
                <a:solidFill>
                  <a:srgbClr val="666666"/>
                </a:solidFill>
                <a:latin typeface="Courier"/>
              </a:rPr>
              <a:t>[</a:t>
            </a:r>
            <a:r>
              <a:rPr>
                <a:latin typeface="Courier"/>
              </a:rPr>
              <a:t>K</a:t>
            </a:r>
            <a:r>
              <a:rPr>
                <a:solidFill>
                  <a:srgbClr val="666666"/>
                </a:solidFill>
                <a:latin typeface="Courier"/>
              </a:rPr>
              <a:t>],</a:t>
            </a:r>
            <a:br/>
            <a:r>
              <a:rPr i="1">
                <a:solidFill>
                  <a:srgbClr val="60A0B0"/>
                </a:solidFill>
                <a:latin typeface="Courier"/>
              </a:rPr>
              <a:t>// ...</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3.5.3 隐式转换：代码片段（2/3）</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rddToPairRDDFunction为隐式转换函数</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def</a:t>
            </a:r>
            <a:r>
              <a:rPr>
                <a:latin typeface="Courier"/>
              </a:rPr>
              <a:t> </a:t>
            </a:r>
            <a:r>
              <a:rPr>
                <a:solidFill>
                  <a:srgbClr val="06287E"/>
                </a:solidFill>
                <a:latin typeface="Courier"/>
              </a:rPr>
              <a:t>func</a:t>
            </a:r>
            <a:r>
              <a:rPr>
                <a:solidFill>
                  <a:srgbClr val="666666"/>
                </a:solidFill>
                <a:latin typeface="Courier"/>
              </a:rPr>
              <a:t>(</a:t>
            </a:r>
            <a:r>
              <a:rPr>
                <a:latin typeface="Courier"/>
              </a:rPr>
              <a:t>msg</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latin typeface="Courier"/>
              </a:rPr>
              <a:t>msg</a:t>
            </a:r>
            <a:r>
              <a:rPr>
                <a:solidFill>
                  <a:srgbClr val="666666"/>
                </a:solidFill>
                <a:latin typeface="Courier"/>
              </a:rPr>
              <a:t>)</a:t>
            </a:r>
            <a:br/>
            <a:r>
              <a:rPr>
                <a:latin typeface="Courier"/>
              </a:rPr>
              <a:t>func</a:t>
            </a:r>
            <a:r>
              <a:rPr>
                <a:solidFill>
                  <a:srgbClr val="666666"/>
                </a:solidFill>
                <a:latin typeface="Courier"/>
              </a:rPr>
              <a:t>:</a:t>
            </a:r>
            <a:r>
              <a:rPr>
                <a:latin typeface="Courier"/>
              </a:rPr>
              <a:t> </a:t>
            </a:r>
            <a:r>
              <a:rPr>
                <a:solidFill>
                  <a:srgbClr val="666666"/>
                </a:solidFill>
                <a:latin typeface="Courier"/>
              </a:rPr>
              <a:t>(</a:t>
            </a:r>
            <a:r>
              <a:rPr>
                <a:latin typeface="Courier"/>
              </a:rPr>
              <a:t>msg</a:t>
            </a:r>
            <a:r>
              <a:rPr>
                <a:solidFill>
                  <a:srgbClr val="666666"/>
                </a:solidFill>
                <a:latin typeface="Courier"/>
              </a:rPr>
              <a:t>:</a:t>
            </a:r>
            <a:r>
              <a:rPr>
                <a:latin typeface="Courier"/>
              </a:rPr>
              <a:t> String</a:t>
            </a:r>
            <a:r>
              <a:rPr>
                <a:solidFill>
                  <a:srgbClr val="666666"/>
                </a:solidFill>
                <a:latin typeface="Courier"/>
              </a:rPr>
              <a:t>)</a:t>
            </a:r>
            <a:r>
              <a:rPr>
                <a:solidFill>
                  <a:srgbClr val="008000"/>
                </a:solidFill>
                <a:latin typeface="Courier"/>
              </a:rPr>
              <a:t>Unit</a:t>
            </a:r>
            <a:br/>
            <a:r>
              <a:rPr>
                <a:latin typeface="Courier"/>
              </a:rPr>
              <a:t>scala</a:t>
            </a:r>
            <a:r>
              <a:rPr>
                <a:solidFill>
                  <a:srgbClr val="666666"/>
                </a:solidFill>
                <a:latin typeface="Courier"/>
              </a:rPr>
              <a:t>&gt;</a:t>
            </a:r>
            <a:r>
              <a:rPr>
                <a:latin typeface="Courier"/>
              </a:rPr>
              <a:t> </a:t>
            </a:r>
            <a:r>
              <a:rPr>
                <a:solidFill>
                  <a:srgbClr val="06287E"/>
                </a:solidFill>
                <a:latin typeface="Courier"/>
              </a:rPr>
              <a:t>func</a:t>
            </a:r>
            <a:r>
              <a:rPr>
                <a:solidFill>
                  <a:srgbClr val="666666"/>
                </a:solidFill>
                <a:latin typeface="Courier"/>
              </a:rPr>
              <a:t>(</a:t>
            </a:r>
            <a:r>
              <a:rPr>
                <a:solidFill>
                  <a:srgbClr val="4070A0"/>
                </a:solidFill>
                <a:latin typeface="Courier"/>
              </a:rPr>
              <a:t>"11"</a:t>
            </a:r>
            <a:r>
              <a:rPr>
                <a:solidFill>
                  <a:srgbClr val="666666"/>
                </a:solidFill>
                <a:latin typeface="Courier"/>
              </a:rPr>
              <a:t>)</a:t>
            </a:r>
            <a:br/>
            <a:r>
              <a:rPr>
                <a:solidFill>
                  <a:srgbClr val="40A070"/>
                </a:solidFill>
                <a:latin typeface="Courier"/>
              </a:rPr>
              <a:t>11</a:t>
            </a:r>
            <a:br/>
            <a:r>
              <a:rPr>
                <a:latin typeface="Courier"/>
              </a:rPr>
              <a:t>scala</a:t>
            </a:r>
            <a:r>
              <a:rPr>
                <a:solidFill>
                  <a:srgbClr val="666666"/>
                </a:solidFill>
                <a:latin typeface="Courier"/>
              </a:rPr>
              <a:t>&gt;</a:t>
            </a:r>
            <a:r>
              <a:rPr>
                <a:latin typeface="Courier"/>
              </a:rPr>
              <a:t> </a:t>
            </a:r>
            <a:r>
              <a:rPr>
                <a:solidFill>
                  <a:srgbClr val="06287E"/>
                </a:solidFill>
                <a:latin typeface="Courier"/>
              </a:rPr>
              <a:t>func</a:t>
            </a:r>
            <a:r>
              <a:rPr>
                <a:solidFill>
                  <a:srgbClr val="666666"/>
                </a:solidFill>
                <a:latin typeface="Courier"/>
              </a:rPr>
              <a:t>(</a:t>
            </a:r>
            <a:r>
              <a:rPr>
                <a:solidFill>
                  <a:srgbClr val="40A070"/>
                </a:solidFill>
                <a:latin typeface="Courier"/>
              </a:rPr>
              <a:t>11</a:t>
            </a:r>
            <a:r>
              <a:rPr>
                <a:solidFill>
                  <a:srgbClr val="666666"/>
                </a:solidFill>
                <a:latin typeface="Courier"/>
              </a:rPr>
              <a:t>)</a:t>
            </a:r>
            <a:br/>
            <a:r>
              <a:rPr>
                <a:latin typeface="Courier"/>
              </a:rPr>
              <a:t>\</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34</a:t>
            </a:r>
            <a:r>
              <a:rPr>
                <a:solidFill>
                  <a:srgbClr val="666666"/>
                </a:solidFill>
                <a:latin typeface="Courier"/>
              </a:rPr>
              <a:t>:</a:t>
            </a:r>
            <a:r>
              <a:rPr>
                <a:latin typeface="Courier"/>
              </a:rPr>
              <a:t> error</a:t>
            </a:r>
            <a:r>
              <a:rPr>
                <a:solidFill>
                  <a:srgbClr val="666666"/>
                </a:solidFill>
                <a:latin typeface="Courier"/>
              </a:rPr>
              <a:t>:</a:t>
            </a:r>
            <a:r>
              <a:rPr>
                <a:latin typeface="Courier"/>
              </a:rPr>
              <a:t> </a:t>
            </a:r>
            <a:r>
              <a:rPr b="1">
                <a:solidFill>
                  <a:srgbClr val="007020"/>
                </a:solidFill>
                <a:latin typeface="Courier"/>
              </a:rPr>
              <a:t>type</a:t>
            </a:r>
            <a:r>
              <a:rPr>
                <a:latin typeface="Courier"/>
              </a:rPr>
              <a:t> mismatch</a:t>
            </a:r>
            <a:r>
              <a:rPr>
                <a:solidFill>
                  <a:srgbClr val="666666"/>
                </a:solidFill>
                <a:latin typeface="Courier"/>
              </a:rPr>
              <a:t>;</a:t>
            </a:r>
            <a:br/>
            <a:r>
              <a:rPr>
                <a:latin typeface="Courier"/>
              </a:rPr>
              <a:t>found </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40A070"/>
                </a:solidFill>
                <a:latin typeface="Courier"/>
              </a:rPr>
              <a:t>11</a:t>
            </a:r>
            <a:r>
              <a:rPr>
                <a:solidFill>
                  <a:srgbClr val="666666"/>
                </a:solidFill>
                <a:latin typeface="Courier"/>
              </a:rPr>
              <a:t>)</a:t>
            </a:r>
            <a:br/>
            <a:r>
              <a:rPr>
                <a:latin typeface="Courier"/>
              </a:rPr>
              <a:t>required</a:t>
            </a:r>
            <a:r>
              <a:rPr>
                <a:solidFill>
                  <a:srgbClr val="666666"/>
                </a:solidFill>
                <a:latin typeface="Courier"/>
              </a:rPr>
              <a:t>:</a:t>
            </a:r>
            <a:r>
              <a:rPr>
                <a:latin typeface="Courier"/>
              </a:rPr>
              <a:t> String</a:t>
            </a:r>
            <a:br/>
            <a:r>
              <a:rPr>
                <a:solidFill>
                  <a:srgbClr val="06287E"/>
                </a:solidFill>
                <a:latin typeface="Courier"/>
              </a:rPr>
              <a:t>func</a:t>
            </a:r>
            <a:r>
              <a:rPr>
                <a:solidFill>
                  <a:srgbClr val="666666"/>
                </a:solidFill>
                <a:latin typeface="Courier"/>
              </a:rPr>
              <a:t>(</a:t>
            </a:r>
            <a:r>
              <a:rPr>
                <a:solidFill>
                  <a:srgbClr val="40A070"/>
                </a:solidFill>
                <a:latin typeface="Courier"/>
              </a:rPr>
              <a:t>11</a:t>
            </a:r>
            <a:r>
              <a:rPr>
                <a:solidFill>
                  <a:srgbClr val="666666"/>
                </a:solidFill>
                <a:latin typeface="Courier"/>
              </a:rPr>
              <a:t>)</a:t>
            </a:r>
            <a:br/>
            <a:r>
              <a:rPr>
                <a:solidFill>
                  <a:srgbClr val="666666"/>
                </a:solidFill>
                <a:latin typeface="Courier"/>
              </a:rPr>
              <a: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3.5.3 隐式转换：代码片段（3/3）</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这两个方式使用了面向对象编程的思路</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implicit</a:t>
            </a:r>
            <a:r>
              <a:rPr>
                <a:latin typeface="Courier"/>
              </a:rPr>
              <a:t> </a:t>
            </a:r>
            <a:r>
              <a:rPr b="1">
                <a:solidFill>
                  <a:srgbClr val="007020"/>
                </a:solidFill>
                <a:latin typeface="Courier"/>
              </a:rPr>
              <a:t>def</a:t>
            </a:r>
            <a:r>
              <a:rPr>
                <a:latin typeface="Courier"/>
              </a:rPr>
              <a:t> </a:t>
            </a:r>
            <a:r>
              <a:rPr>
                <a:solidFill>
                  <a:srgbClr val="06287E"/>
                </a:solidFill>
                <a:latin typeface="Courier"/>
              </a:rPr>
              <a:t>intToString</a:t>
            </a:r>
            <a:r>
              <a:rPr>
                <a:solidFill>
                  <a:srgbClr val="666666"/>
                </a:solidFill>
                <a:latin typeface="Courier"/>
              </a:rPr>
              <a:t>(</a:t>
            </a:r>
            <a:r>
              <a:rPr>
                <a:latin typeface="Courier"/>
              </a:rPr>
              <a:t>i</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i</a:t>
            </a:r>
            <a:r>
              <a:rPr>
                <a:solidFill>
                  <a:srgbClr val="666666"/>
                </a:solidFill>
                <a:latin typeface="Courier"/>
              </a:rPr>
              <a:t>.</a:t>
            </a:r>
            <a:r>
              <a:rPr>
                <a:latin typeface="Courier"/>
              </a:rPr>
              <a:t>toString</a:t>
            </a:r>
            <a:br/>
            <a:r>
              <a:rPr>
                <a:latin typeface="Courier"/>
              </a:rPr>
              <a:t>warning</a:t>
            </a:r>
            <a:r>
              <a:rPr>
                <a:solidFill>
                  <a:srgbClr val="666666"/>
                </a:solidFill>
                <a:latin typeface="Courier"/>
              </a:rPr>
              <a:t>:</a:t>
            </a:r>
            <a:r>
              <a:rPr>
                <a:latin typeface="Courier"/>
              </a:rPr>
              <a:t> there was one feature warning</a:t>
            </a:r>
            <a:r>
              <a:rPr>
                <a:solidFill>
                  <a:srgbClr val="666666"/>
                </a:solidFill>
                <a:latin typeface="Courier"/>
              </a:rPr>
              <a:t>;</a:t>
            </a:r>
            <a:r>
              <a:rPr>
                <a:latin typeface="Courier"/>
              </a:rPr>
              <a:t> re</a:t>
            </a:r>
            <a:r>
              <a:rPr>
                <a:solidFill>
                  <a:srgbClr val="666666"/>
                </a:solidFill>
                <a:latin typeface="Courier"/>
              </a:rPr>
              <a:t>-</a:t>
            </a:r>
            <a:r>
              <a:rPr>
                <a:latin typeface="Courier"/>
              </a:rPr>
              <a:t>run </a:t>
            </a:r>
            <a:r>
              <a:rPr b="1">
                <a:solidFill>
                  <a:srgbClr val="007020"/>
                </a:solidFill>
                <a:latin typeface="Courier"/>
              </a:rPr>
              <a:t>with</a:t>
            </a:r>
            <a:r>
              <a:rPr>
                <a:latin typeface="Courier"/>
              </a:rPr>
              <a:t> </a:t>
            </a:r>
            <a:r>
              <a:rPr>
                <a:solidFill>
                  <a:srgbClr val="666666"/>
                </a:solidFill>
                <a:latin typeface="Courier"/>
              </a:rPr>
              <a:t>-</a:t>
            </a:r>
            <a:r>
              <a:rPr>
                <a:latin typeface="Courier"/>
              </a:rPr>
              <a:t>feature </a:t>
            </a:r>
            <a:r>
              <a:rPr b="1">
                <a:solidFill>
                  <a:srgbClr val="007020"/>
                </a:solidFill>
                <a:latin typeface="Courier"/>
              </a:rPr>
              <a:t>for</a:t>
            </a:r>
            <a:r>
              <a:rPr>
                <a:latin typeface="Courier"/>
              </a:rPr>
              <a:t> details</a:t>
            </a:r>
            <a:br/>
            <a:r>
              <a:rPr>
                <a:latin typeface="Courier"/>
              </a:rPr>
              <a:t>intToString</a:t>
            </a:r>
            <a:r>
              <a:rPr>
                <a:solidFill>
                  <a:srgbClr val="666666"/>
                </a:solidFill>
                <a:latin typeface="Courier"/>
              </a:rPr>
              <a:t>:</a:t>
            </a:r>
            <a:r>
              <a:rPr>
                <a:latin typeface="Courier"/>
              </a:rPr>
              <a:t> </a:t>
            </a:r>
            <a:r>
              <a:rPr>
                <a:solidFill>
                  <a:srgbClr val="666666"/>
                </a:solidFill>
                <a:latin typeface="Courier"/>
              </a:rPr>
              <a:t>(</a:t>
            </a:r>
            <a:r>
              <a:rPr>
                <a:latin typeface="Courier"/>
              </a:rPr>
              <a:t>i</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String</a:t>
            </a:r>
            <a:br/>
            <a:r>
              <a:rPr>
                <a:latin typeface="Courier"/>
              </a:rPr>
              <a:t>scala</a:t>
            </a:r>
            <a:r>
              <a:rPr>
                <a:solidFill>
                  <a:srgbClr val="666666"/>
                </a:solidFill>
                <a:latin typeface="Courier"/>
              </a:rPr>
              <a:t>&gt;</a:t>
            </a:r>
            <a:r>
              <a:rPr>
                <a:latin typeface="Courier"/>
              </a:rPr>
              <a:t> </a:t>
            </a:r>
            <a:r>
              <a:rPr>
                <a:solidFill>
                  <a:srgbClr val="06287E"/>
                </a:solidFill>
                <a:latin typeface="Courier"/>
              </a:rPr>
              <a:t>func</a:t>
            </a:r>
            <a:r>
              <a:rPr>
                <a:solidFill>
                  <a:srgbClr val="666666"/>
                </a:solidFill>
                <a:latin typeface="Courier"/>
              </a:rPr>
              <a:t>(</a:t>
            </a:r>
            <a:r>
              <a:rPr>
                <a:solidFill>
                  <a:srgbClr val="40A070"/>
                </a:solidFill>
                <a:latin typeface="Courier"/>
              </a:rPr>
              <a:t>11</a:t>
            </a:r>
            <a:r>
              <a:rPr>
                <a:solidFill>
                  <a:srgbClr val="666666"/>
                </a:solidFill>
                <a:latin typeface="Courier"/>
              </a:rPr>
              <a:t>)</a:t>
            </a:r>
            <a:br/>
            <a:r>
              <a:rPr>
                <a:solidFill>
                  <a:srgbClr val="40A070"/>
                </a:solidFill>
                <a:latin typeface="Courier"/>
              </a:rPr>
              <a:t>11</a:t>
            </a:r>
            <a:br/>
            <a:r>
              <a:rPr>
                <a:latin typeface="Courier"/>
              </a:rPr>
              <a:t>scala</a:t>
            </a:r>
            <a:r>
              <a:rPr>
                <a:solidFill>
                  <a:srgbClr val="666666"/>
                </a:solidFill>
                <a:latin typeface="Courier"/>
              </a:rPr>
              <a:t>&gt;</a:t>
            </a:r>
            <a:r>
              <a:rPr>
                <a:latin typeface="Courier"/>
              </a:rPr>
              <a:t> </a:t>
            </a:r>
            <a:r>
              <a:rPr b="1">
                <a:solidFill>
                  <a:srgbClr val="007020"/>
                </a:solidFill>
                <a:latin typeface="Courier"/>
              </a:rPr>
              <a:t>implicit</a:t>
            </a:r>
            <a:r>
              <a:rPr>
                <a:latin typeface="Courier"/>
              </a:rPr>
              <a:t> </a:t>
            </a:r>
            <a:r>
              <a:rPr b="1">
                <a:solidFill>
                  <a:srgbClr val="007020"/>
                </a:solidFill>
                <a:latin typeface="Courier"/>
              </a:rPr>
              <a:t>def</a:t>
            </a:r>
            <a:r>
              <a:rPr>
                <a:latin typeface="Courier"/>
              </a:rPr>
              <a:t> </a:t>
            </a:r>
            <a:r>
              <a:rPr>
                <a:solidFill>
                  <a:srgbClr val="06287E"/>
                </a:solidFill>
                <a:latin typeface="Courier"/>
              </a:rPr>
              <a:t>intToStr</a:t>
            </a:r>
            <a:r>
              <a:rPr>
                <a:solidFill>
                  <a:srgbClr val="666666"/>
                </a:solidFill>
                <a:latin typeface="Courier"/>
              </a:rPr>
              <a:t>(</a:t>
            </a:r>
            <a:r>
              <a:rPr>
                <a:latin typeface="Courier"/>
              </a:rPr>
              <a:t>i</a:t>
            </a:r>
            <a:r>
              <a:rPr>
                <a:solidFill>
                  <a:srgbClr val="666666"/>
                </a:solidFill>
                <a:latin typeface="Courier"/>
              </a:rPr>
              <a:t>:</a:t>
            </a:r>
            <a:r>
              <a:rPr>
                <a:solidFill>
                  <a:srgbClr val="008000"/>
                </a:solidFill>
                <a:latin typeface="Courier"/>
              </a:rPr>
              <a:t>Int</a:t>
            </a:r>
            <a:r>
              <a:rPr>
                <a:solidFill>
                  <a:srgbClr val="666666"/>
                </a:solidFill>
                <a:latin typeface="Courier"/>
              </a:rPr>
              <a:t>)=</a:t>
            </a:r>
            <a:r>
              <a:rPr>
                <a:latin typeface="Courier"/>
              </a:rPr>
              <a:t>i</a:t>
            </a:r>
            <a:r>
              <a:rPr>
                <a:solidFill>
                  <a:srgbClr val="666666"/>
                </a:solidFill>
                <a:latin typeface="Courier"/>
              </a:rPr>
              <a:t>.</a:t>
            </a:r>
            <a:r>
              <a:rPr>
                <a:latin typeface="Courier"/>
              </a:rPr>
              <a:t>toString</a:t>
            </a:r>
            <a:br/>
            <a:r>
              <a:rPr>
                <a:latin typeface="Courier"/>
              </a:rPr>
              <a:t>warning</a:t>
            </a:r>
            <a:r>
              <a:rPr>
                <a:solidFill>
                  <a:srgbClr val="666666"/>
                </a:solidFill>
                <a:latin typeface="Courier"/>
              </a:rPr>
              <a:t>:</a:t>
            </a:r>
            <a:r>
              <a:rPr>
                <a:latin typeface="Courier"/>
              </a:rPr>
              <a:t> there was one feature warning</a:t>
            </a:r>
            <a:r>
              <a:rPr>
                <a:solidFill>
                  <a:srgbClr val="666666"/>
                </a:solidFill>
                <a:latin typeface="Courier"/>
              </a:rPr>
              <a:t>;</a:t>
            </a:r>
            <a:r>
              <a:rPr>
                <a:latin typeface="Courier"/>
              </a:rPr>
              <a:t> re</a:t>
            </a:r>
            <a:r>
              <a:rPr>
                <a:solidFill>
                  <a:srgbClr val="666666"/>
                </a:solidFill>
                <a:latin typeface="Courier"/>
              </a:rPr>
              <a:t>-</a:t>
            </a:r>
            <a:r>
              <a:rPr>
                <a:latin typeface="Courier"/>
              </a:rPr>
              <a:t>run </a:t>
            </a:r>
            <a:r>
              <a:rPr b="1">
                <a:solidFill>
                  <a:srgbClr val="007020"/>
                </a:solidFill>
                <a:latin typeface="Courier"/>
              </a:rPr>
              <a:t>with</a:t>
            </a:r>
            <a:r>
              <a:rPr>
                <a:latin typeface="Courier"/>
              </a:rPr>
              <a:t> </a:t>
            </a:r>
            <a:r>
              <a:rPr>
                <a:solidFill>
                  <a:srgbClr val="666666"/>
                </a:solidFill>
                <a:latin typeface="Courier"/>
              </a:rPr>
              <a:t>-</a:t>
            </a:r>
            <a:r>
              <a:rPr>
                <a:latin typeface="Courier"/>
              </a:rPr>
              <a:t>feature </a:t>
            </a:r>
            <a:r>
              <a:rPr b="1">
                <a:solidFill>
                  <a:srgbClr val="007020"/>
                </a:solidFill>
                <a:latin typeface="Courier"/>
              </a:rPr>
              <a:t>for</a:t>
            </a:r>
            <a:r>
              <a:rPr>
                <a:latin typeface="Courier"/>
              </a:rPr>
              <a:t> details</a:t>
            </a:r>
            <a:br/>
            <a:r>
              <a:rPr>
                <a:latin typeface="Courier"/>
              </a:rPr>
              <a:t>intToStr</a:t>
            </a:r>
            <a:r>
              <a:rPr>
                <a:solidFill>
                  <a:srgbClr val="666666"/>
                </a:solidFill>
                <a:latin typeface="Courier"/>
              </a:rPr>
              <a:t>:</a:t>
            </a:r>
            <a:r>
              <a:rPr>
                <a:latin typeface="Courier"/>
              </a:rPr>
              <a:t> </a:t>
            </a:r>
            <a:r>
              <a:rPr>
                <a:solidFill>
                  <a:srgbClr val="666666"/>
                </a:solidFill>
                <a:latin typeface="Courier"/>
              </a:rPr>
              <a:t>(</a:t>
            </a:r>
            <a:r>
              <a:rPr>
                <a:latin typeface="Courier"/>
              </a:rPr>
              <a:t>i</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latin typeface="Courier"/>
              </a:rPr>
              <a:t>String</a:t>
            </a:r>
            <a:br/>
            <a:r>
              <a:rPr>
                <a:latin typeface="Courier"/>
              </a:rPr>
              <a:t>scala</a:t>
            </a:r>
            <a:r>
              <a:rPr>
                <a:solidFill>
                  <a:srgbClr val="666666"/>
                </a:solidFill>
                <a:latin typeface="Courier"/>
              </a:rPr>
              <a:t>&gt;</a:t>
            </a:r>
            <a:r>
              <a:rPr>
                <a:latin typeface="Courier"/>
              </a:rPr>
              <a:t> </a:t>
            </a:r>
            <a:r>
              <a:rPr>
                <a:solidFill>
                  <a:srgbClr val="06287E"/>
                </a:solidFill>
                <a:latin typeface="Courier"/>
              </a:rPr>
              <a:t>func</a:t>
            </a:r>
            <a:r>
              <a:rPr>
                <a:solidFill>
                  <a:srgbClr val="666666"/>
                </a:solidFill>
                <a:latin typeface="Courier"/>
              </a:rPr>
              <a:t>(</a:t>
            </a:r>
            <a:r>
              <a:rPr>
                <a:solidFill>
                  <a:srgbClr val="40A070"/>
                </a:solidFill>
                <a:latin typeface="Courier"/>
              </a:rPr>
              <a:t>11</a:t>
            </a:r>
            <a:r>
              <a:rPr>
                <a:solidFill>
                  <a:srgbClr val="666666"/>
                </a:solidFill>
                <a:latin typeface="Courier"/>
              </a:rPr>
              <a:t>)</a:t>
            </a:r>
            <a:br/>
            <a:r>
              <a:rPr>
                <a:latin typeface="Courier"/>
              </a:rPr>
              <a:t>\</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38</a:t>
            </a:r>
            <a:r>
              <a:rPr>
                <a:solidFill>
                  <a:srgbClr val="666666"/>
                </a:solidFill>
                <a:latin typeface="Courier"/>
              </a:rPr>
              <a:t>:</a:t>
            </a:r>
            <a:r>
              <a:rPr>
                <a:latin typeface="Courier"/>
              </a:rPr>
              <a:t> error</a:t>
            </a:r>
            <a:r>
              <a:rPr>
                <a:solidFill>
                  <a:srgbClr val="666666"/>
                </a:solidFill>
                <a:latin typeface="Courier"/>
              </a:rPr>
              <a:t>:</a:t>
            </a:r>
            <a:r>
              <a:rPr>
                <a:latin typeface="Courier"/>
              </a:rPr>
              <a:t> </a:t>
            </a:r>
            <a:r>
              <a:rPr b="1">
                <a:solidFill>
                  <a:srgbClr val="007020"/>
                </a:solidFill>
                <a:latin typeface="Courier"/>
              </a:rPr>
              <a:t>type</a:t>
            </a:r>
            <a:r>
              <a:rPr>
                <a:latin typeface="Courier"/>
              </a:rPr>
              <a:t> mismatch</a:t>
            </a:r>
            <a:r>
              <a:rPr>
                <a:solidFill>
                  <a:srgbClr val="666666"/>
                </a:solidFill>
                <a:latin typeface="Courier"/>
              </a:rPr>
              <a:t>;</a:t>
            </a:r>
            <a:br/>
            <a:r>
              <a:rPr>
                <a:latin typeface="Courier"/>
              </a:rPr>
              <a:t>found </a:t>
            </a:r>
            <a:r>
              <a:rPr>
                <a:solidFill>
                  <a:srgbClr val="666666"/>
                </a:solidFill>
                <a:latin typeface="Courier"/>
              </a:rPr>
              <a:t>:</a:t>
            </a:r>
            <a:r>
              <a:rPr>
                <a:latin typeface="Courier"/>
              </a:rPr>
              <a:t> </a:t>
            </a:r>
            <a:r>
              <a:rPr>
                <a:solidFill>
                  <a:srgbClr val="008000"/>
                </a:solidFill>
                <a:latin typeface="Courier"/>
              </a:rPr>
              <a:t>Int</a:t>
            </a:r>
            <a:r>
              <a:rPr>
                <a:solidFill>
                  <a:srgbClr val="666666"/>
                </a:solidFill>
                <a:latin typeface="Courier"/>
              </a:rPr>
              <a:t>(</a:t>
            </a:r>
            <a:r>
              <a:rPr>
                <a:solidFill>
                  <a:srgbClr val="40A070"/>
                </a:solidFill>
                <a:latin typeface="Courier"/>
              </a:rPr>
              <a:t>11</a:t>
            </a:r>
            <a:r>
              <a:rPr>
                <a:solidFill>
                  <a:srgbClr val="666666"/>
                </a:solidFill>
                <a:latin typeface="Courier"/>
              </a:rPr>
              <a:t>)</a:t>
            </a:r>
            <a:br/>
            <a:r>
              <a:rPr i="1">
                <a:solidFill>
                  <a:srgbClr val="60A0B0"/>
                </a:solidFill>
                <a:latin typeface="Courier"/>
              </a:rPr>
              <a:t>// ...</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2026-04-05T02:24:26Z</dcterms:created>
  <dcterms:modified xsi:type="dcterms:W3CDTF">2026-04-05T02:24:26Z</dcterms:modified>
</cp:coreProperties>
</file>

<file path=docProps/custom.xml><?xml version="1.0" encoding="utf-8"?>
<Properties xmlns="http://schemas.openxmlformats.org/officeDocument/2006/custom-properties" xmlns:vt="http://schemas.openxmlformats.org/officeDocument/2006/docPropsVTypes"/>
</file>