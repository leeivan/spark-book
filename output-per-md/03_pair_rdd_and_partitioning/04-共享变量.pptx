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app.xml" ContentType="application/vnd.openxmlformats-officedocument.extended-properties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Overrid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74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zh-CN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 horzBarState="maximized">
    <p:restoredLeft autoAdjust="0" sz="14995"/>
    <p:restoredTop autoAdjust="0" sz="73134"/>
  </p:normalViewPr>
  <p:slideViewPr>
    <p:cSldViewPr snapToGrid="0" snapToObjects="1">
      <p:cViewPr varScale="1">
        <p:scale>
          <a:sx d="100" n="111"/>
          <a:sy d="100" n="111"/>
        </p:scale>
        <p:origin x="594" y="114"/>
      </p:cViewPr>
      <p:guideLst>
        <p:guide orient="horz" pos="2160"/>
        <p:guide pos="3840"/>
      </p:guideLst>
    </p:cSldViewPr>
  </p:slideViewPr>
  <p:notesTextViewPr>
    <p:cViewPr>
      <p:scale>
        <a:sx d="100" n="125"/>
        <a:sy d="100" n="125"/>
      </p:scale>
      <p:origin x="0" y="0"/>
    </p:cViewPr>
  </p:notesTextViewPr>
  <p:sorterViewPr>
    <p:cViewPr>
      <p:scale>
        <a:sx d="100" n="66"/>
        <a:sy d="100" n="66"/>
      </p:scale>
      <p:origin x="0" y="0"/>
    </p:cViewPr>
  </p:sorterViewPr>
  <p:notesViewPr>
    <p:cSldViewPr snapToGrid="0" snapToObjects="1">
      <p:cViewPr varScale="1">
        <p:scale>
          <a:sx d="100" n="74"/>
          <a:sy d="100" n="74"/>
        </p:scale>
        <p:origin x="3528" y="192"/>
      </p:cViewPr>
      <p:guideLst/>
    </p:cSldViewPr>
  </p:notes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notesMaster" Target="notesMasters/notesMaster1.xml" /><Relationship Id="rId21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20" Type="http://schemas.openxmlformats.org/officeDocument/2006/relationships/theme" Target="theme/theme1.xml" /><Relationship Id="rId19" Type="http://schemas.openxmlformats.org/officeDocument/2006/relationships/viewProps" Target="viewProps.xml" /><Relationship Id="rId18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3BC92-6832-A747-B637-CA8F71133A42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9B7EA9-A690-144F-BA16-8B1F010DDC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5398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共享变量是许多函数和方法必须并行使用的变量，可以在并行操作中使用。通常，当Spark操作，例如map()或reduce()，在远程集群节点上执行时，函数被传递到操作中，而且函数所需要的变量会在每个节点任务上拷贝副本，所以Spark操作可以独立的执行。这些变量被复制，并且在远程计算机上的变量更新都不会传播回驱动程序。 接下来会依次看 共享变量、广播变量，以及 累加器，后面的实现和案例都会沿着这条线继续展开。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是在驱动程序中创建的，然后在执行程序上是只读的。广播变量使Spark的操作可以在每台计算机上保留一个只读变量，而不用将其副本与任务一起发送，可以使用它们以有效的方式为每个节点提供大型输入数据集的副本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可以在Spark集群中广播整个数据集，以便执行器可以访问广播的数据。执行器中运行的所有任务都可以访问广播变量。广播使用各种优化的方法使广播数据可供所有执行器访问。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Spark的动作是通过一组阶段执行的，这些阶段被分布式洗牌操作分割。Spark自动广播每个阶段中任务所需的通用数据。以这种方式广播的数据以序列化形式缓存，并在运行每个任务之前反序列化。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如下面的示例所示，我们将从驱动程序广播HashMap。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广播变量确实会占用所有执行器的内存，而且取决于广播变量中包含的数据大小，这有时可能会导致资源问题。在广播变量上调用unpersist()会从所有执行器的内存缓存中删除广播变量的数据，以释放资源。如果再次使用该变量，则数据将重新传输给执行器，以便再次使用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这对于在整个集群中最佳地管理资源非常有帮助。在广播变量上调用destroy()会破坏与指定广播变量相关的所有数据和元数据。广播变量一旦销毁将无法再次使用，而必须重新创建，以下是销毁广播变量的示例。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这里没有从外部读数据，而是直接在程序里构造样例集合。它的目的通常是先把算子链路讲清楚，再替换成真实数据源。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map 的作用是保持数据条数大体不变，但把每条记录改造成更适合后续计算的形式。讲的时候要点出转换前后的结构差异。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这里没有从外部读数据，而是直接在程序里构造样例集合。它的目的通常是先把算子链路讲清楚，再替换成真实数据源。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map 的作用是保持数据条数大体不变，但把每条记录改造成更适合后续计算的形式。讲的时候要点出转换前后的结构差异。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这里没有从外部读数据，而是直接在程序里构造样例集合。它的目的通常是先把算子链路讲清楚，再替换成真实数据源。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map 的作用是保持数据条数大体不变，但把每条记录改造成更适合后续计算的形式。讲的时候要点出转换前后的结构差异。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这里没有从外部读数据，而是直接在程序里构造样例集合。它的目的通常是先把算子链路讲清楚，再替换成真实数据源。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map 的作用是保持数据条数大体不变，但把每条记录改造成更适合后续计算的形式。讲的时候要点出转换前后的结构差异。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累加器是仅通过关联和交换操作进行累加的变量，因此可以有效地被并行操作支持，可用于实现计数器（如MapReduce中的计数器）或求和。Spark本机支持数字类型的累加器，也可以添加对新类型的支持。我们可以创建命名或未命名的累加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8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我们也可以通过将AccumulatorV2子类化来创建自己的类型。AccumulatorV2抽象类具有几种必须重写的方法：reset()用于将累加器重置为零。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API文档中包含其他必须重写的方法。接下来，我们将看一个自定义累加器的实际示例。同样，我们将为此使用statesPopulation CSV文件。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这一句是在确定输入边界。讲的时候要说明数据来自哪里、现在进入了什么抽象对象，以及后面的转换是围绕哪个数据集继续推进的。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map 的作用是保持数据条数大体不变，但把每条记录改造成更适合后续计算的形式。讲的时候要点出转换前后的结构差异。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10</a:t>
            </a:fld>
            <a:endParaRPr lang="en-US"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11</a:t>
            </a:fld>
            <a:endParaRPr lang="en-US"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12</a:t>
            </a:fld>
            <a:endParaRPr lang="en-US"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这一句是在确定输入边界。讲的时候要说明数据来自哪里、现在进入了什么抽象对象，以及后面的转换是围绕哪个数据集继续推进的。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13</a:t>
            </a:fld>
            <a:endParaRPr lang="en-US"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map 的作用是保持数据条数大体不变，但把每条记录改造成更适合后续计算的形式。讲的时候要点出转换前后的结构差异。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14</a:t>
            </a:fld>
            <a:endParaRPr lang="en-US"/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15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1">
          <a:blip r:embed="rId2">
            <a:alphaModFix amt="4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ECABF76-9C2F-D371-903D-E97C0E1B9C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2F9890-10D8-CB5F-B6C5-6AA3D4B95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F913E87-A25C-F596-9980-BB331ACDF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83217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A5FF4F-7DD0-1B50-1776-21D6767FECF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1660517-C7E1-2345-BAEE-7DE4EEC41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4ADE76A-020F-D5F0-0BC4-B610078D3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9570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3">
            <a:alphaModFix amt="4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040073-8706-9CF2-AB5C-43344524D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8962" y="1709738"/>
            <a:ext cx="1007848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B6A5AA-2CE0-7F97-999B-C5F0DDBACE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8962" y="4589463"/>
            <a:ext cx="10078488" cy="1500187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E106CB1-EA12-800C-FE5D-A580F81038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20A361-2D0D-58AE-A643-51A378977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087CFBA-3BD7-C2DF-B3EF-CB4E61251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88649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36834E-C79A-EEEC-7C4D-B21EC99CC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CE83A1-72B1-E824-1FEC-9FA81425D1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7D04530-5C4D-D318-A728-0F5A61C8A9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011C699-0C81-4E34-1FBE-DAF9131B51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FC7A728-6EA6-5B23-E109-2190ADC5E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651E736-A63F-E249-DAAD-375440957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3756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7B26F5-D101-7F53-EEA6-B180C2D3E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E523223-7C55-5B3B-9E25-5DBF0C9845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0B2B2FF-B432-8FC4-4967-D96BF98AF7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1C93D20-432B-7986-DC93-16510407A3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82581EC-B1B9-061F-D484-D2558A5863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6A5BF5B-F3CF-47CF-BE24-A37965296F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45CDA27-DD70-2B01-5F59-257B263DA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875554E-B481-827A-280A-5CFE24C34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8539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175C2C-5148-B92D-0F2C-01739D3A3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86D78FA-5E3B-1D60-F1DF-9C9D717C33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E05D53A-E3B7-A12B-A85C-94087F17F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0B9AB23-A358-A513-F247-6668D1A71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1027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A1C6BA2-220C-C148-07F6-4F9EFDCF0B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C964A1C-DA2A-2AFD-30E4-0884A5B01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A517830-35C2-8994-A464-96771B000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8729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6D2CB4-AB0D-17DE-E2B4-209C273FC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F0E53D-7A81-84EB-758C-7F237FBAD6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99B1241-8411-8D36-A148-57CE3BE46F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1E7D7C1-BED9-CCE3-1928-1646D4F172A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E176011-BC01-0349-F55D-BB6FB8393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3A4B918-0508-C574-25D4-E60D9AF29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7031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2217CC-6ABA-2E5C-F68E-2016D6773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EF7925F-0C0E-5E47-AB8B-D7C46C5F2C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37ACCD2-AA78-6C23-14F6-251A042FD0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DDF9F0E-8B9C-0C2B-54FC-1914BEC8AD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FF57E80-0D1C-034D-97FC-0F7515CC5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B08D629-2887-6D93-5948-37C821477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7010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88E821-5A2C-D478-CC69-D9FCF918B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138B5FD-C9D5-1F5D-4127-D4692377A8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ADB43B-FD92-40FB-7B50-30ECF40010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BC46E9-B1B0-7A6A-491D-CC69ED647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019B09-F8C1-4ACD-8941-CB6457B59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4897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12E23E3-A5B8-E1F3-CCAE-C8FC039869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35ABE13-47FF-9320-0BD9-0213F7FC7B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BB3054-4D7F-3B3B-E1A3-1357944A12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02E990-2169-8BC6-65CE-47FB9207B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2F675A-7299-AC6A-E0D6-3D6A6E154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27382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0307277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6626394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6709499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slideLayouts/slideLayout13.xml" Type="http://schemas.openxmlformats.org/officeDocument/2006/relationships/slideLayout" /><Relationship Id="rId18" Target="../media/hdphoto1.wdp" Type="http://schemas.microsoft.com/office/2007/relationships/hdphoto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17" Target="../media/image2.png" Type="http://schemas.openxmlformats.org/officeDocument/2006/relationships/image" /><Relationship Id="rId2" Target="../slideLayouts/slideLayout2.xml" Type="http://schemas.openxmlformats.org/officeDocument/2006/relationships/slideLayout" /><Relationship Id="rId16" Target="../media/image1.jpeg" Type="http://schemas.openxmlformats.org/officeDocument/2006/relationships/image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5" Target="../theme/theme1.xml" Type="http://schemas.openxmlformats.org/officeDocument/2006/relationships/theme" /><Relationship Id="rId10" Target="../slideLayouts/slideLayout10.xml" Type="http://schemas.openxmlformats.org/officeDocument/2006/relationships/slideLayout" /><Relationship Id="rId19" Target="../media/image3.png" Type="http://schemas.openxmlformats.org/officeDocument/2006/relationships/image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14" Target="../slideLayouts/slideLayout14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16">
            <a:alphaModFix amt="20000"/>
            <a:lum/>
          </a:blip>
          <a:srcRect/>
          <a:stretch>
            <a:fillRect b="-17000" t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714DF98-5C64-7150-9E37-0A26AD552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35519"/>
            <a:ext cx="10515600" cy="584775"/>
          </a:xfrm>
          <a:prstGeom prst="rect">
            <a:avLst/>
          </a:prstGeom>
          <a:noFill/>
        </p:spPr>
        <p:txBody>
          <a:bodyPr anchor="ctr" bIns="45720" lIns="91440" rIns="91440" rtlCol="0" tIns="45720" vert="horz" wrap="square">
            <a:spAutoFit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altLang="en-US" dirty="0" lang="zh-CN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F1ED77A-6F56-8189-29CB-B4EB20CA5FD3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altLang="en-US" dirty="0" lang="zh-CN"/>
              <a:t>单击此处编辑母版文本样式</a:t>
            </a:r>
          </a:p>
          <a:p>
            <a:pPr lvl="1"/>
            <a:r>
              <a:rPr altLang="en-US" dirty="0" lang="zh-CN"/>
              <a:t>二级</a:t>
            </a:r>
          </a:p>
          <a:p>
            <a:pPr lvl="2"/>
            <a:r>
              <a:rPr altLang="en-US" dirty="0" lang="zh-CN"/>
              <a:t>三级</a:t>
            </a:r>
          </a:p>
          <a:p>
            <a:pPr lvl="3"/>
            <a:r>
              <a:rPr altLang="en-US" dirty="0" lang="zh-CN"/>
              <a:t>四级</a:t>
            </a:r>
          </a:p>
          <a:p>
            <a:pPr lvl="4"/>
            <a:r>
              <a:rPr altLang="en-US" dirty="0" lang="zh-CN"/>
              <a:t>五级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6CC9F776-5292-4839-0068-42EAAE8C7659}"/>
              </a:ext>
            </a:extLst>
          </p:cNvPr>
          <p:cNvPicPr>
            <a:picLocks noChangeAspect="1"/>
          </p:cNvPicPr>
          <p:nvPr/>
        </p:nvPicPr>
        <p:blipFill>
          <a:blip r:embed="rId1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55894" y="6281738"/>
            <a:ext cx="2255106" cy="482845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10252A6B-D22C-1FFF-7CD7-2797A3B06E02}"/>
              </a:ext>
            </a:extLst>
          </p:cNvPr>
          <p:cNvSpPr txBox="1"/>
          <p:nvPr userDrawn="1"/>
        </p:nvSpPr>
        <p:spPr>
          <a:xfrm>
            <a:off x="266700" y="6358381"/>
            <a:ext cx="7391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altLang="zh-CN" b="1" dirty="0" lang="en-US" sz="180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Spark</a:t>
            </a:r>
            <a:r>
              <a:rPr altLang="en-US" b="1" dirty="0" lang="zh-CN" sz="180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大数据处理与分析</a:t>
            </a:r>
            <a:endParaRPr altLang="zh-CN" b="1" dirty="0" lang="en-US" sz="1800">
              <a:solidFill>
                <a:schemeClr val="accent1">
                  <a:lumMod val="5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97A2A7D-0836-8064-84AF-C5C04388AF55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20" name="灯片编号占位符 19">
            <a:extLst>
              <a:ext uri="{FF2B5EF4-FFF2-40B4-BE49-F238E27FC236}">
                <a16:creationId xmlns:a16="http://schemas.microsoft.com/office/drawing/2014/main" id="{4E42EA9E-7BFF-27BB-8638-431F7EB183E5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B631E4-8720-4193-BD91-A57797451EA0}" type="slidenum">
              <a:rPr altLang="en-US" lang="zh-CN" smtClean="0"/>
              <a:t>‹#›</a:t>
            </a:fld>
            <a:endParaRPr altLang="en-US" lang="zh-CN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D03D8B6-2E6F-DE3D-066C-D416D1C45132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3160EEE-490B-5030-FED2-0EC36FD18C3B}"/>
              </a:ext>
            </a:extLst>
          </p:cNvPr>
          <p:cNvPicPr>
            <a:picLocks noChangeAspect="1"/>
          </p:cNvPicPr>
          <p:nvPr/>
        </p:nvPicPr>
        <p:blipFill>
          <a:blip r:embed="rId1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sharpenSoften amount="50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55894" y="6281738"/>
            <a:ext cx="2255106" cy="482845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6641C8EA-C930-33E7-0AF8-E3DC8FB99AE6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6B5E3EF-301A-2167-0ED5-3367AB2AEFAA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6FC059A-07D8-B100-64B1-92B15B46D551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3C829FA-2334-6AE9-EB03-26596912CE91}"/>
              </a:ext>
            </a:extLst>
          </p:cNvPr>
          <p:cNvSpPr/>
          <p:nvPr userDrawn="1"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</p:spTree>
    <p:extLst>
      <p:ext uri="{BB962C8B-B14F-4D97-AF65-F5344CB8AC3E}">
        <p14:creationId xmlns:p14="http://schemas.microsoft.com/office/powerpoint/2010/main" val="1968827069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73" r:id="rId14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altLang="en-US" b="1" kern="1200" lang="zh-CN" sz="3200">
          <a:solidFill>
            <a:schemeClr val="tx1">
              <a:lumMod val="85000"/>
              <a:lumOff val="15000"/>
            </a:schemeClr>
          </a:solidFill>
          <a:effectLst>
            <a:reflection algn="bl" blurRad="6350" dir="5400000" dist="25400" endPos="27000" rotWithShape="0" stA="30000" sy="-100000"/>
          </a:effectLst>
          <a:latin typeface="+mn-lt"/>
          <a:ea typeface="+mn-ea"/>
          <a:cs typeface="+mn-ea"/>
        </a:defRPr>
      </a:lvl1pPr>
    </p:titleStyle>
    <p:bodyStyle>
      <a:lvl1pPr algn="l" defTabSz="914400" eaLnBrk="1" hangingPunct="1" indent="-228600" latinLnBrk="0" marL="228600" rtl="0">
        <a:lnSpc>
          <a:spcPct val="114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 userDrawn="1">
          <p15:clr>
            <a:srgbClr val="F26B43"/>
          </p15:clr>
        </p15:guide>
        <p15:guide id="6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1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3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4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5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3.4 共享变量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共享变量是许多函数和方法必须并行使用的变量，可以在并行操作中使用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3.4.1 广播变量（1/2）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广播变量是所有执行程序之间的共享变量</a:t>
            </a:r>
          </a:p>
          <a:p>
            <a:pPr lvl="0"/>
            <a:r>
              <a:rPr/>
              <a:t>这使扩展性更强的方法可以将广播变量分发给所有执行程序</a:t>
            </a:r>
          </a:p>
          <a:p>
            <a:pPr lvl="0"/>
            <a:r>
              <a:rPr/>
              <a:t>广播变量是通过调用SparkContext.broadcast(v)方法</a:t>
            </a:r>
          </a:p>
          <a:p>
            <a:pPr lvl="0"/>
            <a:r>
              <a:rPr/>
              <a:t>广播变量也可以不仅仅在原始数据类型上创建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3.4.1 广播变量（2/2）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有一种方法可以从所有执行程序的内存中删除广播变量</a:t>
            </a:r>
          </a:p>
          <a:p>
            <a:pPr lvl="0"/>
            <a:r>
              <a:rPr/>
              <a:t>我们还可以销毁广播变量，将其从所有执行器中完全删除，并且驱动程序也无法访问它们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3.4.1 广播变量：代码片段（1/4）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先构造一个用于演示的并行数据集</a:t>
            </a:r>
          </a:p>
          <a:p>
            <a:pPr lvl="0"/>
            <a:r>
              <a:rPr/>
              <a:t>用 map 把输入转换成后续要处理的结构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rdd_one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sc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parallelize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008000"/>
                </a:solidFill>
                <a:latin typeface="Courier"/>
              </a:rPr>
              <a:t>Seq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))</a:t>
            </a:r>
            <a:br/>
            <a:r>
              <a:rPr>
                <a:latin typeface="Courier"/>
              </a:rPr>
              <a:t>rdd_one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ParallelCollectionRDD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br/>
            <a:r>
              <a:rPr>
                <a:latin typeface="Courier"/>
              </a:rPr>
              <a:t>at parallelize at \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console\</a:t>
            </a:r>
            <a:r>
              <a:rPr>
                <a:solidFill>
                  <a:srgbClr val="666666"/>
                </a:solidFill>
                <a:latin typeface="Courier"/>
              </a:rPr>
              <a:t>&gt;:</a:t>
            </a:r>
            <a:r>
              <a:rPr>
                <a:solidFill>
                  <a:srgbClr val="40A070"/>
                </a:solidFill>
                <a:latin typeface="Courier"/>
              </a:rPr>
              <a:t>24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i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br/>
            <a:r>
              <a:rPr>
                <a:latin typeface="Courier"/>
              </a:rPr>
              <a:t>i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bi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sc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broadcast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i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bi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broadcast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Broadcast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Broadcast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bi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value</a:t>
            </a:r>
            <a:br/>
            <a:r>
              <a:rPr>
                <a:latin typeface="Courier"/>
              </a:rPr>
              <a:t>res0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rdd_one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take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res1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...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3.4.1 广播变量：代码片段（2/4）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先构造一个用于演示的并行数据集</a:t>
            </a:r>
          </a:p>
          <a:p>
            <a:pPr lvl="0"/>
            <a:r>
              <a:rPr/>
              <a:t>用 map 把输入转换成后续要处理的结构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rdd_one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sc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parallelize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008000"/>
                </a:solidFill>
                <a:latin typeface="Courier"/>
              </a:rPr>
              <a:t>Seq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))</a:t>
            </a:r>
            <a:br/>
            <a:r>
              <a:rPr>
                <a:latin typeface="Courier"/>
              </a:rPr>
              <a:t>rdd_one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ParallelCollectionRDD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br/>
            <a:r>
              <a:rPr>
                <a:latin typeface="Courier"/>
              </a:rPr>
              <a:t>at parallelize at \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console\</a:t>
            </a:r>
            <a:r>
              <a:rPr>
                <a:solidFill>
                  <a:srgbClr val="666666"/>
                </a:solidFill>
                <a:latin typeface="Courier"/>
              </a:rPr>
              <a:t>&gt;:</a:t>
            </a:r>
            <a:r>
              <a:rPr>
                <a:solidFill>
                  <a:srgbClr val="40A070"/>
                </a:solidFill>
                <a:latin typeface="Courier"/>
              </a:rPr>
              <a:t>24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m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scala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collection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mutable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HashMap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br/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m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scala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collection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mutable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HashMap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Map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br/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bm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sc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broadcast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m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bm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br/>
            <a:r>
              <a:rPr>
                <a:latin typeface="Courier"/>
              </a:rPr>
              <a:t>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broadcast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Broadcast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collection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mutable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HashMap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]]</a:t>
            </a:r>
            <a:br/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Broadcast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7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...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3.4.1 广播变量：代码片段（3/4）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先构造一个用于演示的并行数据集</a:t>
            </a:r>
          </a:p>
          <a:p>
            <a:pPr lvl="0"/>
            <a:r>
              <a:rPr/>
              <a:t>用 map 把输入转换成后续要处理的结构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rdd_one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sc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parallelize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008000"/>
                </a:solidFill>
                <a:latin typeface="Courier"/>
              </a:rPr>
              <a:t>Seq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))</a:t>
            </a:r>
            <a:br/>
            <a:r>
              <a:rPr>
                <a:latin typeface="Courier"/>
              </a:rPr>
              <a:t>rdd_one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ParallelCollectionRDD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br/>
            <a:r>
              <a:rPr>
                <a:latin typeface="Courier"/>
              </a:rPr>
              <a:t>at parallelize at \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console\</a:t>
            </a:r>
            <a:r>
              <a:rPr>
                <a:solidFill>
                  <a:srgbClr val="666666"/>
                </a:solidFill>
                <a:latin typeface="Courier"/>
              </a:rPr>
              <a:t>&gt;:</a:t>
            </a:r>
            <a:r>
              <a:rPr>
                <a:solidFill>
                  <a:srgbClr val="40A070"/>
                </a:solidFill>
                <a:latin typeface="Courier"/>
              </a:rPr>
              <a:t>24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k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br/>
            <a:r>
              <a:rPr>
                <a:latin typeface="Courier"/>
              </a:rPr>
              <a:t>k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bk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sc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broadcast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k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bk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broadcast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Broadcast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Broadcast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11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rdd_one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map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j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j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bk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value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solidFill>
                  <a:srgbClr val="06287E"/>
                </a:solidFill>
                <a:latin typeface="Courier"/>
              </a:rPr>
              <a:t>take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res4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6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7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8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bk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unpersist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rdd_one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map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j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j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bk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value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solidFill>
                  <a:srgbClr val="06287E"/>
                </a:solidFill>
                <a:latin typeface="Courier"/>
              </a:rPr>
              <a:t>take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res6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6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7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8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3.4.1 广播变量：代码片段（4/4）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先构造一个用于演示的并行数据集</a:t>
            </a:r>
          </a:p>
          <a:p>
            <a:pPr lvl="0"/>
            <a:r>
              <a:rPr/>
              <a:t>用 map 把输入转换成后续要处理的结构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rdd_one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sc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parallelize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008000"/>
                </a:solidFill>
                <a:latin typeface="Courier"/>
              </a:rPr>
              <a:t>Seq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))</a:t>
            </a:r>
            <a:br/>
            <a:r>
              <a:rPr>
                <a:latin typeface="Courier"/>
              </a:rPr>
              <a:t>rdd_one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ParallelCollectionRDD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40A070"/>
                </a:solidFill>
                <a:latin typeface="Courier"/>
              </a:rPr>
              <a:t>7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br/>
            <a:r>
              <a:rPr>
                <a:latin typeface="Courier"/>
              </a:rPr>
              <a:t>at parallelize at \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console\</a:t>
            </a:r>
            <a:r>
              <a:rPr>
                <a:solidFill>
                  <a:srgbClr val="666666"/>
                </a:solidFill>
                <a:latin typeface="Courier"/>
              </a:rPr>
              <a:t>&gt;:</a:t>
            </a:r>
            <a:r>
              <a:rPr>
                <a:solidFill>
                  <a:srgbClr val="40A070"/>
                </a:solidFill>
                <a:latin typeface="Courier"/>
              </a:rPr>
              <a:t>24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k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br/>
            <a:r>
              <a:rPr>
                <a:latin typeface="Courier"/>
              </a:rPr>
              <a:t>k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bk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sc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broadcast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k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bk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broadcast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Broadcast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Broadcast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18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rdd_one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map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j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j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bk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value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solidFill>
                  <a:srgbClr val="06287E"/>
                </a:solidFill>
                <a:latin typeface="Courier"/>
              </a:rPr>
              <a:t>take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res7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6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7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8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bk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destroy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rdd_one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map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j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j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bk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value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solidFill>
                  <a:srgbClr val="06287E"/>
                </a:solidFill>
                <a:latin typeface="Courier"/>
              </a:rPr>
              <a:t>take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...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3.4.2 累加器（1/2）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累加器是执行器之间的共享变量，通常用于向Spark程序添加计数器</a:t>
            </a:r>
          </a:p>
          <a:p>
            <a:pPr lvl="0"/>
            <a:r>
              <a:rPr/>
              <a:t>内置的累加器可用于许多用例，其中包括</a:t>
            </a:r>
          </a:p>
          <a:p>
            <a:pPr lvl="0"/>
            <a:r>
              <a:rPr/>
              <a:t>（1）LongAccumulator：用于计算64位整数的和、计数和平均值</a:t>
            </a:r>
          </a:p>
          <a:p>
            <a:pPr lvl="0"/>
            <a:r>
              <a:rPr/>
              <a:t>（2）DoubleAccumulator：用于计算双精度浮点数的总和、计数和平均值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3.4.2 累加器（2/2）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（3）CollectionAccumulator T：用于收集元素列表</a:t>
            </a:r>
          </a:p>
          <a:p>
            <a:pPr lvl="0"/>
            <a:r>
              <a:rPr/>
              <a:t>尽管上面的例子使用了内置支持的整数类型累加器</a:t>
            </a:r>
          </a:p>
          <a:p>
            <a:pPr lvl="0"/>
            <a:r>
              <a:rPr/>
              <a:t>add()用于将另一个值添加到累加器</a:t>
            </a:r>
          </a:p>
          <a:p>
            <a:pPr lvl="0"/>
            <a:r>
              <a:rPr/>
              <a:t>merge()将另一个相同类型的累加器合并到该方法中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3.4.2 累加器：代码片段（1/6）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把原始数据从存储读入 Spark</a:t>
            </a:r>
          </a:p>
          <a:p>
            <a:pPr lvl="0"/>
            <a:r>
              <a:rPr/>
              <a:t>用 map 把输入转换成后续要处理的结构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statesPopulationRDD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br/>
            <a:r>
              <a:rPr>
                <a:latin typeface="Courier"/>
              </a:rPr>
              <a:t>sc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textFile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"/data/statesPopulation.csv"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statesPopulationRDD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br/>
            <a:r>
              <a:rPr>
                <a:solidFill>
                  <a:srgbClr val="666666"/>
                </a:solidFill>
                <a:latin typeface="Courier"/>
              </a:rPr>
              <a:t>/</a:t>
            </a:r>
            <a:r>
              <a:rPr>
                <a:latin typeface="Courier"/>
              </a:rPr>
              <a:t>data</a:t>
            </a:r>
            <a:r>
              <a:rPr>
                <a:solidFill>
                  <a:srgbClr val="666666"/>
                </a:solidFill>
                <a:latin typeface="Courier"/>
              </a:rPr>
              <a:t>/</a:t>
            </a:r>
            <a:r>
              <a:rPr>
                <a:latin typeface="Courier"/>
              </a:rPr>
              <a:t>statesPopulation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csv MapPartitionsRDD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at textFile at</a:t>
            </a:r>
            <a:br/>
            <a:r>
              <a:rPr>
                <a:latin typeface="Courier"/>
              </a:rPr>
              <a:t>\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console\</a:t>
            </a:r>
            <a:r>
              <a:rPr>
                <a:solidFill>
                  <a:srgbClr val="666666"/>
                </a:solidFill>
                <a:latin typeface="Courier"/>
              </a:rPr>
              <a:t>&gt;:</a:t>
            </a:r>
            <a:r>
              <a:rPr>
                <a:solidFill>
                  <a:srgbClr val="40A070"/>
                </a:solidFill>
                <a:latin typeface="Courier"/>
              </a:rPr>
              <a:t>24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acc1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sc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longAccumulator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"acc1"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acc1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util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LongAccumulator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LongAccumulator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id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name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Some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acc1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value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someRDD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statesPopulationRDD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map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x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acc1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add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);</a:t>
            </a:r>
            <a:r>
              <a:rPr>
                <a:latin typeface="Courier"/>
              </a:rPr>
              <a:t> x</a:t>
            </a:r>
            <a:r>
              <a:rPr>
                <a:solidFill>
                  <a:srgbClr val="666666"/>
                </a:solidFill>
                <a:latin typeface="Courier"/>
              </a:rPr>
              <a:t>})</a:t>
            </a:r>
            <a:br/>
            <a:r>
              <a:rPr>
                <a:latin typeface="Courier"/>
              </a:rPr>
              <a:t>someRDD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MapPartitionsRDD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at</a:t>
            </a:r>
            <a:br/>
            <a:r>
              <a:rPr>
                <a:latin typeface="Courier"/>
              </a:rPr>
              <a:t>map at \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console\</a:t>
            </a:r>
            <a:r>
              <a:rPr>
                <a:solidFill>
                  <a:srgbClr val="666666"/>
                </a:solidFill>
                <a:latin typeface="Courier"/>
              </a:rPr>
              <a:t>&gt;:</a:t>
            </a:r>
            <a:r>
              <a:rPr>
                <a:solidFill>
                  <a:srgbClr val="40A070"/>
                </a:solidFill>
                <a:latin typeface="Courier"/>
              </a:rPr>
              <a:t>27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...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3.4.2 累加器：代码片段（2/6）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 步骤1.导入包含AccumulatorV2类的软件包</a:t>
            </a:r>
          </a:p>
          <a:p>
            <a:pPr lvl="0"/>
            <a:r>
              <a:rPr/>
              <a:t>先对照代码理解 步骤2.包含年份和人口的案例类别： 的执行步骤</a:t>
            </a:r>
          </a:p>
          <a:p>
            <a:pPr lvl="0" indent="0" marL="0">
              <a:buNone/>
            </a:pPr>
            <a:r>
              <a:rPr/>
              <a:t>片段 1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util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AccumulatorV2</a:t>
            </a:r>
          </a:p>
          <a:p>
            <a:pPr lvl="0" indent="0" marL="0">
              <a:buNone/>
            </a:pPr>
            <a:r>
              <a:rPr/>
              <a:t>片段 2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case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YearPopulation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year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population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Long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3.4.2 累加器：代码片段（3/6）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 步骤3.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StateAccumulator </a:t>
            </a:r>
            <a:r>
              <a:rPr b="1">
                <a:solidFill>
                  <a:srgbClr val="007020"/>
                </a:solidFill>
                <a:latin typeface="Courier"/>
              </a:rPr>
              <a:t>extends</a:t>
            </a:r>
            <a:r>
              <a:rPr>
                <a:latin typeface="Courier"/>
              </a:rPr>
              <a:t> AccumulatorV2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YearPopulation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YearPopulation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</a:t>
            </a:r>
            <a:r>
              <a:rPr i="1">
                <a:solidFill>
                  <a:srgbClr val="60A0B0"/>
                </a:solidFill>
                <a:latin typeface="Courier"/>
              </a:rPr>
              <a:t>// 为年份和人口数量声明两个变量</a:t>
            </a:r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private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var</a:t>
            </a:r>
            <a:r>
              <a:rPr>
                <a:latin typeface="Courier"/>
              </a:rPr>
              <a:t> year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private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var</a:t>
            </a:r>
            <a:r>
              <a:rPr>
                <a:latin typeface="Courier"/>
              </a:rPr>
              <a:t> population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Long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0L</a:t>
            </a:r>
            <a:br/>
            <a:r>
              <a:rPr>
                <a:latin typeface="Courier"/>
              </a:rPr>
              <a:t>  </a:t>
            </a:r>
            <a:r>
              <a:rPr i="1">
                <a:solidFill>
                  <a:srgbClr val="60A0B0"/>
                </a:solidFill>
                <a:latin typeface="Courier"/>
              </a:rPr>
              <a:t>// 如果年份和人口数量为零返回 isZero</a:t>
            </a:r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override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isZero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Boolean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year </a:t>
            </a:r>
            <a:r>
              <a:rPr>
                <a:solidFill>
                  <a:srgbClr val="666666"/>
                </a:solidFill>
                <a:latin typeface="Courier"/>
              </a:rPr>
              <a:t>==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&amp;&amp;</a:t>
            </a:r>
            <a:r>
              <a:rPr>
                <a:latin typeface="Courier"/>
              </a:rPr>
              <a:t> population </a:t>
            </a:r>
            <a:r>
              <a:rPr>
                <a:solidFill>
                  <a:srgbClr val="666666"/>
                </a:solidFill>
                <a:latin typeface="Courier"/>
              </a:rPr>
              <a:t>==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0L</a:t>
            </a:r>
            <a:br/>
            <a:r>
              <a:rPr>
                <a:latin typeface="Courier"/>
              </a:rPr>
              <a:t>  </a:t>
            </a:r>
            <a:r>
              <a:rPr i="1">
                <a:solidFill>
                  <a:srgbClr val="60A0B0"/>
                </a:solidFill>
                <a:latin typeface="Courier"/>
              </a:rPr>
              <a:t>// 拷贝累加器并且返回一个新的累加器</a:t>
            </a:r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override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copy</a:t>
            </a:r>
            <a:r>
              <a:rPr>
                <a:solidFill>
                  <a:srgbClr val="666666"/>
                </a:solidFill>
                <a:latin typeface="Courier"/>
              </a:rPr>
              <a:t>():</a:t>
            </a:r>
            <a:r>
              <a:rPr>
                <a:latin typeface="Courier"/>
              </a:rPr>
              <a:t> StateAccumulator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newAcc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new</a:t>
            </a:r>
            <a:r>
              <a:rPr>
                <a:latin typeface="Courier"/>
              </a:rPr>
              <a:t> StateAccumulator</a:t>
            </a:r>
            <a:br/>
            <a:r>
              <a:rPr>
                <a:latin typeface="Courier"/>
              </a:rPr>
              <a:t>    newAcc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year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this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year</a:t>
            </a:r>
            <a:br/>
            <a:r>
              <a:rPr>
                <a:latin typeface="Courier"/>
              </a:rPr>
              <a:t>    newAcc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population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this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population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...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3.4.2 累加器：代码片段（4/6）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</a:t>
            </a:r>
          </a:p>
          <a:p>
            <a:pPr lvl="0"/>
            <a:r>
              <a:rPr/>
              <a:t>把原始数据从存储读入 Spark</a:t>
            </a:r>
          </a:p>
          <a:p>
            <a:pPr lvl="0" indent="0" marL="0">
              <a:buNone/>
            </a:pPr>
            <a:r>
              <a:rPr/>
              <a:t>片段 1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statePopAcc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new</a:t>
            </a:r>
            <a:r>
              <a:rPr>
                <a:latin typeface="Courier"/>
              </a:rPr>
              <a:t> StateAccumulator</a:t>
            </a:r>
            <a:br/>
            <a:r>
              <a:rPr>
                <a:latin typeface="Courier"/>
              </a:rPr>
              <a:t>sc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register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statePopAcc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"statePopAcc"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/>
              <a:t>片段 2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statesPopulationRDD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br/>
            <a:r>
              <a:rPr>
                <a:latin typeface="Courier"/>
              </a:rPr>
              <a:t>  sc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textFile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"statesPopulation.csv"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solidFill>
                  <a:srgbClr val="06287E"/>
                </a:solidFill>
                <a:latin typeface="Courier"/>
              </a:rPr>
              <a:t>filter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_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split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","</a:t>
            </a:r>
            <a:r>
              <a:rPr>
                <a:solidFill>
                  <a:srgbClr val="666666"/>
                </a:solidFill>
                <a:latin typeface="Courier"/>
              </a:rPr>
              <a:t>)(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!=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"State"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statesPopulationRDD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take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10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3.4.2 累加器：代码片段（5/6）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用 map 把输入转换成后续要处理的结构</a:t>
            </a:r>
          </a:p>
          <a:p>
            <a:pPr lvl="0"/>
            <a:r>
              <a:rPr/>
              <a:t>先对照代码理解 步骤7.现在我们可以检查StateAccumulator的值</a:t>
            </a:r>
          </a:p>
          <a:p>
            <a:pPr lvl="0" indent="0" marL="0">
              <a:buNone/>
            </a:pPr>
            <a:r>
              <a:rPr/>
              <a:t>片段 1</a:t>
            </a:r>
          </a:p>
          <a:p>
            <a:pPr lvl="0" indent="0">
              <a:buNone/>
            </a:pPr>
            <a:r>
              <a:rPr>
                <a:latin typeface="Courier"/>
              </a:rPr>
              <a:t>statesPopulationRDD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map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x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toks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x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split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","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year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toks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latin typeface="Courier"/>
              </a:rPr>
              <a:t>toInt</a:t>
            </a:r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pop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toks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latin typeface="Courier"/>
              </a:rPr>
              <a:t>toLong</a:t>
            </a:r>
            <a:br/>
            <a:r>
              <a:rPr>
                <a:latin typeface="Courier"/>
              </a:rPr>
              <a:t>  statePopAcc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add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06287E"/>
                </a:solidFill>
                <a:latin typeface="Courier"/>
              </a:rPr>
              <a:t>YearPopulation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year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pop</a:t>
            </a:r>
            <a:r>
              <a:rPr>
                <a:solidFill>
                  <a:srgbClr val="666666"/>
                </a:solidFill>
                <a:latin typeface="Courier"/>
              </a:rPr>
              <a:t>))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...</a:t>
            </a:r>
          </a:p>
          <a:p>
            <a:pPr lvl="0" indent="0" marL="0">
              <a:buNone/>
            </a:pPr>
            <a:r>
              <a:rPr/>
              <a:t>片段 2</a:t>
            </a:r>
          </a:p>
          <a:p>
            <a:pPr lvl="0" indent="0">
              <a:buNone/>
            </a:pPr>
            <a:r>
              <a:rPr>
                <a:latin typeface="Courier"/>
              </a:rPr>
              <a:t>statePopAcc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value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3.4.2 累加器：代码片段（6/6）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 上面的步骤是自定义累加器的分步骤讲解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load </a:t>
            </a:r>
            <a:r>
              <a:rPr>
                <a:solidFill>
                  <a:srgbClr val="666666"/>
                </a:solidFill>
                <a:latin typeface="Courier"/>
              </a:rPr>
              <a:t>/</a:t>
            </a:r>
            <a:r>
              <a:rPr>
                <a:latin typeface="Courier"/>
              </a:rPr>
              <a:t>data</a:t>
            </a:r>
            <a:r>
              <a:rPr>
                <a:solidFill>
                  <a:srgbClr val="666666"/>
                </a:solidFill>
                <a:latin typeface="Courier"/>
              </a:rPr>
              <a:t>/</a:t>
            </a:r>
            <a:r>
              <a:rPr>
                <a:latin typeface="Courier"/>
              </a:rPr>
              <a:t>code</a:t>
            </a:r>
            <a:r>
              <a:rPr>
                <a:solidFill>
                  <a:srgbClr val="666666"/>
                </a:solidFill>
                <a:latin typeface="Courier"/>
              </a:rPr>
              <a:t>/</a:t>
            </a:r>
            <a:r>
              <a:rPr>
                <a:latin typeface="Courier"/>
              </a:rPr>
              <a:t>AccumulatorsExample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txt</a:t>
            </a:r>
            <a:br/>
            <a:r>
              <a:rPr>
                <a:latin typeface="Courier"/>
              </a:rPr>
              <a:t>Loading </a:t>
            </a:r>
            <a:r>
              <a:rPr>
                <a:solidFill>
                  <a:srgbClr val="666666"/>
                </a:solidFill>
                <a:latin typeface="Courier"/>
              </a:rPr>
              <a:t>/</a:t>
            </a:r>
            <a:r>
              <a:rPr>
                <a:latin typeface="Courier"/>
              </a:rPr>
              <a:t>data</a:t>
            </a:r>
            <a:r>
              <a:rPr>
                <a:solidFill>
                  <a:srgbClr val="666666"/>
                </a:solidFill>
                <a:latin typeface="Courier"/>
              </a:rPr>
              <a:t>/</a:t>
            </a:r>
            <a:r>
              <a:rPr>
                <a:latin typeface="Courier"/>
              </a:rPr>
              <a:t>code</a:t>
            </a:r>
            <a:r>
              <a:rPr>
                <a:solidFill>
                  <a:srgbClr val="666666"/>
                </a:solidFill>
                <a:latin typeface="Courier"/>
              </a:rPr>
              <a:t>/</a:t>
            </a:r>
            <a:r>
              <a:rPr>
                <a:latin typeface="Courier"/>
              </a:rPr>
              <a:t>AccumulatorsExample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txt</a:t>
            </a:r>
            <a:r>
              <a:rPr>
                <a:solidFill>
                  <a:srgbClr val="666666"/>
                </a:solidFill>
                <a:latin typeface="Courier"/>
              </a:rPr>
              <a:t>...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util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AccumulatorV2</a:t>
            </a:r>
            <a:br/>
            <a:r>
              <a:rPr>
                <a:latin typeface="Courier"/>
              </a:rPr>
              <a:t>defined </a:t>
            </a: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YearPopulation</a:t>
            </a:r>
            <a:br/>
            <a:r>
              <a:rPr>
                <a:latin typeface="Courier"/>
              </a:rPr>
              <a:t>defined </a:t>
            </a: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StateAccumulator</a:t>
            </a:r>
            <a:br/>
            <a:r>
              <a:rPr>
                <a:latin typeface="Courier"/>
              </a:rPr>
              <a:t>statePopAcc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StateAccumulator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Un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registered Accumulator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br/>
            <a:r>
              <a:rPr>
                <a:latin typeface="Courier"/>
              </a:rPr>
              <a:t>StateAccumulator</a:t>
            </a:r>
            <a:br/>
            <a:r>
              <a:rPr>
                <a:latin typeface="Courier"/>
              </a:rPr>
              <a:t>statesPopulationRDD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br/>
            <a:r>
              <a:rPr>
                <a:latin typeface="Courier"/>
              </a:rPr>
              <a:t>MapPartitionsRDD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at filter at </a:t>
            </a:r>
            <a:r>
              <a:rPr>
                <a:solidFill>
                  <a:srgbClr val="666666"/>
                </a:solidFill>
                <a:latin typeface="Courier"/>
              </a:rPr>
              <a:t>/</a:t>
            </a:r>
            <a:r>
              <a:rPr>
                <a:latin typeface="Courier"/>
              </a:rPr>
              <a:t>data</a:t>
            </a:r>
            <a:r>
              <a:rPr>
                <a:solidFill>
                  <a:srgbClr val="666666"/>
                </a:solidFill>
                <a:latin typeface="Courier"/>
              </a:rPr>
              <a:t>/</a:t>
            </a:r>
            <a:r>
              <a:rPr>
                <a:latin typeface="Courier"/>
              </a:rPr>
              <a:t>code</a:t>
            </a:r>
            <a:r>
              <a:rPr>
                <a:solidFill>
                  <a:srgbClr val="666666"/>
                </a:solidFill>
                <a:latin typeface="Courier"/>
              </a:rPr>
              <a:t>/</a:t>
            </a:r>
            <a:r>
              <a:rPr>
                <a:latin typeface="Courier"/>
              </a:rPr>
              <a:t>AccumulatorsExample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txt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solidFill>
                  <a:srgbClr val="40A070"/>
                </a:solidFill>
                <a:latin typeface="Courier"/>
              </a:rPr>
              <a:t>25</a:t>
            </a:r>
            <a:br/>
            <a:r>
              <a:rPr>
                <a:latin typeface="Courier"/>
              </a:rPr>
              <a:t>res1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Alabama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2010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4785492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Alaska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2010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714031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Arizona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2010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6408312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Arkansas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2010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2921995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California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2010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37332685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...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>
        <a:spAutoFit/>
      </a:bodyPr>
      <a:lstStyle>
        <a:defPPr algn="l"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4EB0031E-9AF1-4EF9-947E-CF21025E1F57}" vid="{E1AA6518-1FF8-4BC2-BEB6-E59B2C6B167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Arial</vt:lpstr>
      <vt:lpstr>Calibri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2026-04-05T02:24:23Z</dcterms:created>
  <dcterms:modified xsi:type="dcterms:W3CDTF">2026-04-05T02:24:23Z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