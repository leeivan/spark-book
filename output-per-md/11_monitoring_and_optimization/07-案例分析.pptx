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notesMaster" Target="notesMasters/notesMaster1.xml" /><Relationship Id="rId2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6" Type="http://schemas.openxmlformats.org/officeDocument/2006/relationships/theme" Target="theme/theme1.xml" /><Relationship Id="rId25" Type="http://schemas.openxmlformats.org/officeDocument/2006/relationships/viewProps" Target="viewProps.xml" /><Relationship Id="rId2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这一节回到一个更具体的问题：一段 Spark 用户代码，最终是怎样被拆成作业、阶段和任务的。理解这条链路，有助于把前面讲过的 DAG、Stage、Shuffle 和执行器行为真正对应到实际运行过程。 接下来会依次看 案例分析、执行模型，以及 监控界面，后面的实现和案例都会沿着这条线继续展开。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这一页先把 11.7 案例分析 的主线串起来，重点包括 案例分析、执行模型、监控界面，以及 调试优化。先知道每一步要解决什么问题，后面的细节就更容易跟住。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先从一个小例子开始，把前面讲过的 DAG、Stage、Task 和缓存命中真正对应到一次执行过程中。这里继续沿用 SFPD 数据集示例，因为它既包含普通 map 转换，也包含 reduceByKey 带来的 Shuffle，足够说明 Spark 是怎样把用户代码拆成多个阶段的。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第三行再通过 map 和 reduceByKey 统计类别数量。要查看这条谱系，可以调用 toDebugString。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代码 11.40 这个输出展示了 catRDD 的完整谱系。可以看到，sc.textFile 先生成 HadoopRDD，后续的 map 转换形成 MapPartitionsRDD，而 reduceByKey 会引入 ShuffledRDD，也就是后面发生 Stage 切分的关键位置。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当我们对 catRDD 调用 collect 时，Spark 才会从目标 RDD 反向追踪所需依赖，生成物理执行计划，并把每个分区对应的任务提交到集群上运行。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调度器并不会机械地为“每一个 RDD”都单独生成一个阶段。更准确地说，Spark 会沿着依赖链向前分析：只要一串转换之间不需要 Shuffle，也不需要从已经物化的结果重新起步，它们就有机会被压进同一个 Stage 里执行。这种把多步窄依赖转换串起来连续执行的方式，通常就叫流水线化（pipelining）。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当我们对 catRDD 调用 collect 时，Spark 才会从目标 RDD 反向追踪所需依赖，生成物理执行计划，并把每个分区对应的任务提交到集群上运行。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把视角切到 Spark Web UI。默认情况下，每个 SparkContext 都会启动一个 Web UI，通常监听在 4040 端口。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（3）环境变量信息、（4）有关正在运行的执行程序信息 和 代码 11.41 Jobs 页面用于查看当前和最近完成的作业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这一句通常出现在同一份中间数据要被多次复用的时候。它的价值不在语法本身，而在于用空间换时间，减少重复执行前面的算子链。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代码 11.41 Jobs 页面用于查看当前和最近完成的作业，以及它们各自包含的阶段、任务和执行时间。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点击 Jobs 页的 Description 链接，会进入 Job Details 页面。这个页面会进一步展开作业内各阶段的执行情况，是定位“到底慢在哪一段”的第一站。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这张图展示的是 监控界面：图示（3）。讲解时先指出图里最值得看的结构、趋势或对比项，再说明它和正文结论是怎么对应上的。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这个页面能同时看到已完成阶段和被跳过阶段的细节。一旦确定某个阶段值得深挖，就可以继续点进 Stage Details 查看任务级指标。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Stage Details 会给出任务级汇总指标，是观察单个慢任务、数据倾斜、Shuffle 读写异常和 GC 开销的核心页面。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Storage 页面展示缓存或持久化数据集的信息，包括缓存命中情况、内存占用、磁盘占用以及各分区的持久化比例。它最适合回答两个问题：缓存到底有没有生效，以及缓存后的数据是否真的放得进内存。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Environment 页面列出本次应用真正生效的配置项和环境变量。它非常适合用来核对“我以为改了某个参数，但它到底有没有生效”。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Executors 页面展示当前应用的执行器数量、内存占用、任务分布、Shuffle 读写和失败情况，用来判断资源是否按预期分配、是否存在单节点异常，以及某些执行器是否明显更忙或更慢。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调优通常可以沿着一条固定路径展开：先在 Web UI 里找最慢的作业和阶段，再下钻到任务级别，看慢是因为读得多、写得多、Shuffle 重、GC 高，还是因为个别任务明显拖后腿。后者往往意味着数据倾斜，也就是少数分区承载了远多于其他分区的数据量。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现实里很常见的一种误判、启用 AQE 后，真正决定性能的往往是运行时统计和最终执行计划 和 可以围绕并行度、序列化和内存三个方向继续排查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接下来可以围绕并行度、序列化和内存三个方向继续排查。首先是并行度：RDD 会被切成多个分区，每个分区通常对应一个任务。任务数过少会让资源闲置，任务数过多则会放大调度、序列化和 Shuffle 开销。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5.jp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6.jp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7.jp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8.jp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1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12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13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 案例分析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这一节回到一个更具体的问题：最终是怎样被拆成作业、阶段和任务的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 案例分析：学习路线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案例分析</a:t>
            </a:r>
          </a:p>
          <a:p>
            <a:pPr lvl="0"/>
            <a:r>
              <a:rPr/>
              <a:t>执行模型</a:t>
            </a:r>
          </a:p>
          <a:p>
            <a:pPr lvl="0"/>
            <a:r>
              <a:rPr/>
              <a:t>监控界面</a:t>
            </a:r>
          </a:p>
          <a:p>
            <a:pPr lvl="0"/>
            <a:r>
              <a:rPr/>
              <a:t>调试优化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11.7.1 执行模型（1/2）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也包含 reduceByKey 带来的 Shuffle</a:t>
            </a:r>
          </a:p>
          <a:p>
            <a:pPr lvl="0"/>
            <a:r>
              <a:rPr/>
              <a:t>代码 11.39 第一行从 sfpd.csv 生成输入 RDD</a:t>
            </a:r>
          </a:p>
          <a:p>
            <a:pPr lvl="0"/>
            <a:r>
              <a:rPr/>
              <a:t>第二行按逗号切分得到结构化一点的中间 RDD</a:t>
            </a:r>
          </a:p>
          <a:p>
            <a:pPr lvl="0"/>
            <a:r>
              <a:rPr/>
              <a:t>到这里为止，Spark 仍然没有真正执行计算，而是在内存里记录了一条依赖链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11.7.1 执行模型（2/2）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也就是后面发生 Stage 切分的关键位置</a:t>
            </a:r>
          </a:p>
          <a:p>
            <a:pPr lvl="0"/>
            <a:r>
              <a:rPr/>
              <a:t>这时还没有真正生成任何结果，因为没有动作触发执行</a:t>
            </a:r>
          </a:p>
          <a:p>
            <a:pPr lvl="0"/>
            <a:r>
              <a:rPr/>
              <a:t>图例 11‑24 物理规划</a:t>
            </a:r>
          </a:p>
          <a:p>
            <a:pPr lvl="0"/>
            <a:r>
              <a:rPr/>
              <a:t>只要一串转换之间不需要 Shuffle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11.7.1 执行模型：代码片段（1/2）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把原始数据从存储读入 Spark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inputRDD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"/root/data/sfpd.csv"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inputRDD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root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csv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textFile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sftpdRDD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inputRDD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","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sftpdRDD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26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catRDD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sftpdRDD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=&gt;(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reduceByKey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b</a:t>
            </a:r>
            <a:r>
              <a:rPr>
                <a:solidFill>
                  <a:srgbClr val="666666"/>
                </a:solidFill>
                <a:latin typeface="Courier"/>
              </a:rPr>
              <a:t>)=&gt;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b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catRDD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ShuffledRDD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reduceByKey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28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11.7.1 执行模型：代码片段（2/2）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代码 11.39 第一行从 sfpd.csv 生成输入 RDD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catRDD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toDebugString</a:t>
            </a:r>
            <a:br/>
            <a:r>
              <a:rPr>
                <a:latin typeface="Courier"/>
              </a:rPr>
              <a:t>res0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ShuffledRDD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reduceByKey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28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28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26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root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csv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textFile at</a:t>
            </a:r>
            <a:br/>
            <a:r>
              <a:rPr>
                <a:latin typeface="Courier"/>
              </a:rPr>
              <a:t>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root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csv HadoopRDD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textFile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11.7.1 执行模型：图示</a:t>
            </a:r>
          </a:p>
        </p:txBody>
      </p:sp>
      <p:pic>
        <p:nvPicPr>
          <p:cNvPr descr="../../md/media/11_monitoring_and_optimization/media/image18.jpe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422400" y="1816100"/>
            <a:ext cx="93345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11.7.2 监控界面（1/2）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它是定位执行瓶颈、观察阶段划分和查看缓存/执行器状态的第一现场</a:t>
            </a:r>
          </a:p>
          <a:p>
            <a:pPr lvl="0"/>
            <a:r>
              <a:rPr/>
              <a:t>应用运行期间，可以在这里看到与作业进度和性能相关的大量细节，包括</a:t>
            </a:r>
          </a:p>
          <a:p>
            <a:pPr lvl="0"/>
            <a:r>
              <a:rPr/>
              <a:t>（1）调度程序阶段和任务的列表</a:t>
            </a:r>
          </a:p>
          <a:p>
            <a:pPr lvl="0"/>
            <a:r>
              <a:rPr/>
              <a:t>（2）RDD大小和内存使用情况的摘要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11.7.2 监控界面（2/2）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（3）环境变量信息</a:t>
            </a:r>
          </a:p>
          <a:p>
            <a:pPr lvl="0"/>
            <a:r>
              <a:rPr/>
              <a:t>（4）有关正在运行的执行程序信息</a:t>
            </a:r>
          </a:p>
          <a:p>
            <a:pPr lvl="0"/>
            <a:r>
              <a:rPr/>
              <a:t>代码 11.41 Jobs 页面用于查看当前和最近完成的作业</a:t>
            </a:r>
          </a:p>
          <a:p>
            <a:pPr lvl="0"/>
            <a:r>
              <a:rPr/>
              <a:t>图例 11‑25 Spark作业的详细执行信息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11.7.2 监控界面：代码片段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把原始数据从存储读入 Spark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把中间结果缓存起来避免重复计算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inputRDD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"/root/data/sfpd.csv"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inputRDD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root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csv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textFile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sftpdRDD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inputRDD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","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sftpdRDD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26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catRDD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sftpdRDD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=&gt;(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reduceByKey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b</a:t>
            </a:r>
            <a:r>
              <a:rPr>
                <a:solidFill>
                  <a:srgbClr val="666666"/>
                </a:solidFill>
                <a:latin typeface="Courier"/>
              </a:rPr>
              <a:t>)=&gt;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b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catRDD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ShuffledRDD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reduceByKey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28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catRDD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cache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res0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catRDD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type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ShuffledRDD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reduceByKey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28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11.7.2 监控界面：图示（1）</a:t>
            </a:r>
          </a:p>
        </p:txBody>
      </p:sp>
      <p:pic>
        <p:nvPicPr>
          <p:cNvPr descr="../../md/media/11_monitoring_and_optimization/media/image19.jpe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2768600"/>
            <a:ext cx="10515600" cy="243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11.7.2 监控界面：图示（2）</a:t>
            </a:r>
          </a:p>
        </p:txBody>
      </p:sp>
      <p:pic>
        <p:nvPicPr>
          <p:cNvPr descr="../../md/media/11_monitoring_and_optimization/media/image20.jpe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1981200"/>
            <a:ext cx="10515600" cy="4025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11.7.2 监控界面：图示（3）</a:t>
            </a:r>
          </a:p>
        </p:txBody>
      </p:sp>
      <p:pic>
        <p:nvPicPr>
          <p:cNvPr descr="../../md/media/11_monitoring_and_optimization/media/image21.jpe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81200" y="1816100"/>
            <a:ext cx="8229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11.7.2 监控界面：图示（4）</a:t>
            </a:r>
          </a:p>
        </p:txBody>
      </p:sp>
      <p:pic>
        <p:nvPicPr>
          <p:cNvPr descr="../../md/media/11_monitoring_and_optimization/media/image22.jpe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2019300"/>
            <a:ext cx="10515600" cy="3924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11.7.2 监控界面：图示（5）</a:t>
            </a:r>
          </a:p>
        </p:txBody>
      </p:sp>
      <p:pic>
        <p:nvPicPr>
          <p:cNvPr descr="../../md/media/11_monitoring_and_optimization/media/image23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3314700"/>
            <a:ext cx="10515600" cy="134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11.7.2 监控界面：图示（6）</a:t>
            </a:r>
          </a:p>
        </p:txBody>
      </p:sp>
      <p:pic>
        <p:nvPicPr>
          <p:cNvPr descr="../../md/media/11_monitoring_and_optimization/media/image24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2717800"/>
            <a:ext cx="105156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11.7.2 监控界面：图示（7）</a:t>
            </a:r>
          </a:p>
        </p:txBody>
      </p:sp>
      <p:pic>
        <p:nvPicPr>
          <p:cNvPr descr="../../md/media/11_monitoring_and_optimization/media/image25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489200" y="1816100"/>
            <a:ext cx="7213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11.7.2 监控界面：图示（8）</a:t>
            </a:r>
          </a:p>
        </p:txBody>
      </p:sp>
      <p:pic>
        <p:nvPicPr>
          <p:cNvPr descr="../../md/media/11_monitoring_and_optimization/media/image26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133600" y="1816100"/>
            <a:ext cx="79248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11.7.3 调试优化（1/2）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常见瓶颈通常集中在以下三类</a:t>
            </a:r>
          </a:p>
          <a:p>
            <a:pPr lvl="0"/>
            <a:r>
              <a:rPr/>
              <a:t>（1）平行度水平</a:t>
            </a:r>
          </a:p>
          <a:p>
            <a:pPr lvl="0"/>
            <a:r>
              <a:rPr/>
              <a:t>（2）洗牌操作期间使用的序列化格式</a:t>
            </a:r>
          </a:p>
          <a:p>
            <a:pPr lvl="0"/>
            <a:r>
              <a:rPr/>
              <a:t>（3）管理内存以优化应用程序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11.7.3 调试优化（2/2）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现实里很常见的一种误判</a:t>
            </a:r>
          </a:p>
          <a:p>
            <a:pPr lvl="0"/>
            <a:r>
              <a:rPr/>
              <a:t>启用 AQE 后，真正决定性能的往往是运行时统计和最终执行计划</a:t>
            </a:r>
          </a:p>
          <a:p>
            <a:pPr lvl="0"/>
            <a:r>
              <a:rPr/>
              <a:t>可以围绕并行度、序列化和内存三个方向继续排查</a:t>
            </a:r>
          </a:p>
          <a:p>
            <a:pPr lvl="0"/>
            <a:r>
              <a:rPr/>
              <a:t>任务数过少会让资源闲置，任务数过多则会放大调度、序列化和 Shuffle 开销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11.7.3 调试优化：图示</a:t>
            </a:r>
          </a:p>
        </p:txBody>
      </p:sp>
      <p:pic>
        <p:nvPicPr>
          <p:cNvPr descr="../../md/media/11_monitoring_and_optimization/media/image27.jpe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895600" y="1816100"/>
            <a:ext cx="64135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2026-04-05T02:26:11Z</dcterms:created>
  <dcterms:modified xsi:type="dcterms:W3CDTF">2026-04-05T02:26:11Z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