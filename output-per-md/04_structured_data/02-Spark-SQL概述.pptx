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notesMaster" Target="notesMasters/notesMaster1.xml" /><Relationship Id="rId33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2" Type="http://schemas.openxmlformats.org/officeDocument/2006/relationships/theme" Target="theme/theme1.xml" /><Relationship Id="rId31" Type="http://schemas.openxmlformats.org/officeDocument/2006/relationships/viewProps" Target="viewProps.xml" /><Relationship Id="rId30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SQL 是 Spark 4.x 最核心的结构化数据处理模块。与基本的 RDD API 相比，它额外掌握了列名、数据类型、Schema 和表达式语义，因此优化器可以做投影裁剪、过滤下推、Join 策略选择、统计信息利用以及代码生成等优化。用户既可以写 SQL，也可以写 DataFrame / Dataset API。 接下来会依次看 Spark SQL概述、Catalyst优化器，以及 DataFrame与Dataset，后面的实现和案例都会沿着这条线继续展开。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这一页先把 4.2 Spark SQL概述 的主线串起来，重点包括 Spark SQL概述、Catalyst优化器、DataFrame与Dataset，以及 创建结构化数据。先知道每一步要解决什么问题，后面的细节就更容易跟住。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Catalyst 是 Spark SQL 的查询优化框架、图例 4‑2 Spark SQL 查询计划与优化流程 和 可以把这个过程概括为四步：再结合 Catalog 与 Schema 解析列和表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这张图展示的是 Catalyst优化器：图示。讲解时先指出图里最值得看的结构、趋势或对比项，再说明它和正文结论是怎么对应上的。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Spark 里常见的三种数据抽象分别是 RDD、Dataset 则是在 DataFrame 之上增加类型信息的 和 它支持过滤、投影、聚合、窗口、Join 等常见操作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DataFrame 本质上就是 Dataset[Row] 的类型别名、讨论“DataFrame 与 Dataset”的时候 和 可以简单理解为：适合快速表达关系逻辑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这张图展示的是 DataFrame与Dataset：图示（1）。讲解时先指出图里最值得看的结构、趋势或对比项，再说明它和正文结论是怎么对应上的。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这张图展示的是 DataFrame与Dataset：图示（2）。讲解时先指出图里最值得看的结构、趋势或对比项，再说明它和正文结论是怎么对应上的。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SparkSession 是 Spark 结构化API的统一入口、最常见的写法就是先通过 spark.read 直接得到 DataFrame 和 代码 4‑1 这个例子展示了最常见的工作流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如果需要在同一个 Spark 应用的多个会话之间共享临时结果、可以把它理解成一个最小的结构化分析案例 和 工程里通常可以这样分工：如果逻辑要嵌入应用代码、复用中间列、组合多个函数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这一步是在缩小计算范围。把过滤条件讲清楚，后面聚合出来的结果才能知道是在什么约束下得到的。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这里把业务需求翻译成查询语义。讲解时重点不是逐字念 SQL，而是说明筛选、连接和聚合分别对应什么业务问题。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这一步是在缩小计算范围。把过滤条件讲清楚，后面聚合出来的结果才能知道是在什么约束下得到的。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这里把业务需求翻译成查询语义。讲解时重点不是逐字念 SQL，而是说明筛选、连接和聚合分别对应什么业务问题。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这里把业务需求翻译成查询语义。讲解时重点不是逐字念 SQL，而是说明筛选、连接和聚合分别对应什么业务问题。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这里把业务需求翻译成查询语义。讲解时重点不是逐字念 SQL，而是说明筛选、连接和聚合分别对应什么业务问题。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这里把业务需求翻译成查询语义。讲解时重点不是逐字念 SQL，而是说明筛选、连接和聚合分别对应什么业务问题。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 Spark SQL概述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SQL 是 Spark 4.x 最核心的结构化数据处理模块</a:t>
            </a:r>
          </a:p>
          <a:p>
            <a:pPr lvl="0"/>
            <a:r>
              <a:rPr/>
              <a:t>它们最终都会汇聚到同一套执行引擎上</a:t>
            </a:r>
          </a:p>
          <a:p>
            <a:pPr lvl="0"/>
            <a:r>
              <a:rPr/>
              <a:t>在工程实践里，可以把 Spark SQL 理解为“结构化数据入口层”</a:t>
            </a:r>
          </a:p>
          <a:p>
            <a:pPr lvl="0"/>
            <a:r>
              <a:rPr/>
              <a:t>Dataset 在 Scala / Java 中提供额外的类型安全能力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 Spark SQL概述：学习路线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SQL概述</a:t>
            </a:r>
          </a:p>
          <a:p>
            <a:pPr lvl="0"/>
            <a:r>
              <a:rPr/>
              <a:t>Catalyst优化器</a:t>
            </a:r>
          </a:p>
          <a:p>
            <a:pPr lvl="0"/>
            <a:r>
              <a:rPr/>
              <a:t>DataFrame与Dataset</a:t>
            </a:r>
          </a:p>
          <a:p>
            <a:pPr lvl="0"/>
            <a:r>
              <a:rPr/>
              <a:t>创建结构化数据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4.2.1 Catalyst优化器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Catalyst 是 Spark SQL 的查询优化框架</a:t>
            </a:r>
          </a:p>
          <a:p>
            <a:pPr lvl="0"/>
            <a:r>
              <a:rPr/>
              <a:t>图例 4‑2 Spark SQL 查询计划与优化流程</a:t>
            </a:r>
          </a:p>
          <a:p>
            <a:pPr lvl="0"/>
            <a:r>
              <a:rPr/>
              <a:t>可以把这个过程概括为四步：再结合 Catalog 与 Schema 解析列和表</a:t>
            </a:r>
          </a:p>
          <a:p>
            <a:pPr lvl="0"/>
            <a:r>
              <a:rPr/>
              <a:t>这也是为什么 DataFrame 往往比手写RDD流程更容易得到稳定性能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4.2.1 Catalyst优化器：图示</a:t>
            </a:r>
          </a:p>
        </p:txBody>
      </p:sp>
      <p:pic>
        <p:nvPicPr>
          <p:cNvPr descr="../../md/media/04_structured_data/media/image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2590800"/>
            <a:ext cx="10515600" cy="279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4.2.2 DataFrame与Dataset（1/2）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里常见的三种数据抽象分别是 RDD</a:t>
            </a:r>
          </a:p>
          <a:p>
            <a:pPr lvl="0"/>
            <a:r>
              <a:rPr/>
              <a:t>Dataset 则是在 DataFrame 之上增加类型信息的</a:t>
            </a:r>
          </a:p>
          <a:p>
            <a:pPr lvl="0"/>
            <a:r>
              <a:rPr/>
              <a:t>它支持过滤、投影、聚合、窗口、Join 等常见操作</a:t>
            </a:r>
          </a:p>
          <a:p>
            <a:pPr lvl="0"/>
            <a:r>
              <a:rPr/>
              <a:t>从语言支持角度看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4.2.2 DataFrame与Dataset（2/2）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DataFrame 本质上就是 Dataset[Row] 的类型别名</a:t>
            </a:r>
          </a:p>
          <a:p>
            <a:pPr lvl="0"/>
            <a:r>
              <a:rPr/>
              <a:t>讨论“DataFrame 与 Dataset”的时候</a:t>
            </a:r>
          </a:p>
          <a:p>
            <a:pPr lvl="0"/>
            <a:r>
              <a:rPr/>
              <a:t>可以简单理解为：适合快速表达关系逻辑</a:t>
            </a:r>
          </a:p>
          <a:p>
            <a:pPr lvl="0"/>
            <a:r>
              <a:rPr/>
              <a:t>DataFrame 通用性最强，适合绝大多数工程代码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4.2.2 DataFrame与Dataset：图示（1）</a:t>
            </a:r>
          </a:p>
        </p:txBody>
      </p:sp>
      <p:pic>
        <p:nvPicPr>
          <p:cNvPr descr="../../md/media/04_structured_data/media/image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93900" y="1816100"/>
            <a:ext cx="82042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4.2.2 DataFrame与Dataset：图示（2）</a:t>
            </a:r>
          </a:p>
        </p:txBody>
      </p:sp>
      <p:pic>
        <p:nvPicPr>
          <p:cNvPr descr="../../md/media/04_structured_data/media/image4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31900" y="1816100"/>
            <a:ext cx="97282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SparkSession 是 Spark 结构化API的统一入口</a:t>
            </a:r>
          </a:p>
          <a:p>
            <a:pPr lvl="0"/>
            <a:r>
              <a:rPr/>
              <a:t>最常见的写法就是先通过 spark.read 直接得到 DataFrame</a:t>
            </a:r>
          </a:p>
          <a:p>
            <a:pPr lvl="0"/>
            <a:r>
              <a:rPr/>
              <a:t>代码 4‑1 这个例子展示了最常见的工作流：先从数据源读取 DataFrame，再做选择、过滤、聚合与显示</a:t>
            </a:r>
          </a:p>
          <a:p>
            <a:pPr lvl="0"/>
            <a:r>
              <a:rPr/>
              <a:t>SparkSession.sql() 也提供了另一条常见入口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如果需要在同一个 Spark 应用的多个会话之间共享临时结果</a:t>
            </a:r>
          </a:p>
          <a:p>
            <a:pPr lvl="0"/>
            <a:r>
              <a:rPr/>
              <a:t>可以把它理解成一个最小的结构化分析案例</a:t>
            </a:r>
          </a:p>
          <a:p>
            <a:pPr lvl="0"/>
            <a:r>
              <a:rPr/>
              <a:t>工程里通常可以这样分工：如果逻辑要嵌入应用代码、复用中间列、组合多个函数</a:t>
            </a:r>
          </a:p>
          <a:p>
            <a:pPr lvl="0"/>
            <a:r>
              <a:rPr/>
              <a:t>如果逻辑本身就是报表口径、筛选规则或聚合条件，SQL 往往更直接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创建结构化数据：代码片段（1/16）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json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"/data/people.json"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bigint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Michael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Andy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19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Justin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+----+-------+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创建结构化数据：代码片段（2/16）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/>
            <a:r>
              <a:rPr/>
              <a:t>先过滤出真正要参与计算的数据</a:t>
            </a:r>
          </a:p>
          <a:p>
            <a:pPr lvl="0"/>
            <a:r>
              <a:rPr/>
              <a:t>按业务键把相关记录汇到同一组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printSchema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root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|--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long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nullable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|--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nullable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Michael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Andy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Justin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创建结构化数据：代码片段（3/16）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先用 SQL 描述需要的查询逻辑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createOrReplaceTempView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"people"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sqlDF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"SELECT * FROM people"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sqlDF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bigint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sqlDF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Michael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Andy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19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Justin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+----+-------+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创建结构化数据：代码片段（4/16）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先过滤出真正要参与计算的数据</a:t>
            </a:r>
          </a:p>
          <a:p>
            <a:pPr lvl="0"/>
            <a:r>
              <a:rPr/>
              <a:t>先用 SQL 描述需要的查询逻辑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adultsDF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"age"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adultsDF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adultsSQL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"SELECT name FROM people WHERE age &gt; 21"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adultsSQL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创建结构化数据：代码片段（5/16）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先用 SQL 描述需要的查询逻辑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createGlobalTempView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"people"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"SELECT * FROM global_temp.people"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Michael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Andy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19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Justin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+----+-------+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newSession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"SELECT * FROM</a:t>
            </a:r>
            <a:br/>
            <a:r>
              <a:rPr>
                <a:latin typeface="Courier"/>
              </a:rPr>
              <a:t>global_temp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people</a:t>
            </a:r>
            <a:r>
              <a:rPr>
                <a:solidFill>
                  <a:srgbClr val="4070A0"/>
                </a:solidFill>
                <a:latin typeface="Courier"/>
              </a:rPr>
              <a:t>").show()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创建结构化数据：代码片段（6/16）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Long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defined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Person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caseClassDS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"Andy"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toDS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caseClassDS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age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bigint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caseClassDS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age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Andy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+----+---+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创建结构化数据：代码片段（7/16）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peopleDS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json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"/data/people.json"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as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peopleDS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bigint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peopleDS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Michael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Andy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19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Justin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+----+-------+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创建结构化数据：代码片段（8/16）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如果从使用体验上理解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peopleDS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schema</a:t>
            </a:r>
            <a:br/>
            <a:r>
              <a:rPr>
                <a:latin typeface="Courier"/>
              </a:rPr>
              <a:t>res16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types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StructType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StructType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StructField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age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LongType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StructField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Spark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创建结构化数据：代码片段（9/16）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先用 SQL 描述需要的查询逻辑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peopleDF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sparkContext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"/data/people.txt"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attributes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attributes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attributes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trim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toInt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Exiting paste mode, now interpreting.</a:t>
            </a:r>
            <a:br/>
            <a:r>
              <a:rPr>
                <a:latin typeface="Courier"/>
              </a:rPr>
              <a:t>peopleDF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bigint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peopleDF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createOrReplaceTempView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"people"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teenagersDF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"SELECT name, age FROM people WHERE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创建结构化数据：代码片段（10/16）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先用 SQL 描述需要的查询逻辑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types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types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peopleRDD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"/data/people.txt"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peopleRDD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people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txt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92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textFile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31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schemaString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"name age"</a:t>
            </a:r>
            <a:br/>
            <a:r>
              <a:rPr>
                <a:latin typeface="Courier"/>
              </a:rPr>
              <a:t>schemaString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name age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创建结构化数据：代码片段（11/16）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statesDF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"header"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"true"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"inferschema"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"true"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"sep"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csv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"/data/statesPopulation.csv"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Exiting paste mode, now interpreting.</a:t>
            </a:r>
            <a:br/>
            <a:r>
              <a:rPr>
                <a:latin typeface="Courier"/>
              </a:rPr>
              <a:t>statesDF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State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Year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more field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statesDF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schema</a:t>
            </a:r>
            <a:br/>
            <a:r>
              <a:rPr>
                <a:latin typeface="Courier"/>
              </a:rPr>
              <a:t>res6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types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StructType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创建结构化数据：代码片段（12/16）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当自动推断不足以满足需求时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types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StructType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IntegerType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types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StructType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IntegerType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StringType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创建结构化数据：代码片段（13/16）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下面定义一个只包含两个字段的最小 Schema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schema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StructType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add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IntegerType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add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schema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types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StructType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StructType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StructField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IntegerType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StructField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StringType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schema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printTreeString</a:t>
            </a:r>
            <a:br/>
            <a:r>
              <a:rPr>
                <a:latin typeface="Courier"/>
              </a:rPr>
              <a:t>root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|--</a:t>
            </a:r>
            <a:r>
              <a:rPr>
                <a:latin typeface="Courier"/>
              </a:rPr>
              <a:t> i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nullable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|--</a:t>
            </a:r>
            <a:r>
              <a:rPr>
                <a:latin typeface="Courier"/>
              </a:rPr>
              <a:t> 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nullable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创建结构化数据：代码片段（14/16）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如果想把 Schema 序列化成更易读的 JSON 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schema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prettyJson</a:t>
            </a:r>
            <a:br/>
            <a:r>
              <a:rPr>
                <a:latin typeface="Courier"/>
              </a:rPr>
              <a:t>res9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"type"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"struct"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"fields"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"type"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"integer"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"nullable"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"metadata"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创建结构化数据：代码片段（15/16）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通常可以这样统一导入</a:t>
            </a:r>
          </a:p>
          <a:p>
            <a:pPr lvl="0"/>
            <a:r>
              <a:rPr/>
              <a:t>先对照代码理解 除了手工写 StructType</a:t>
            </a:r>
          </a:p>
          <a:p>
            <a:pPr lvl="0"/>
            <a:r>
              <a:rPr/>
              <a:t>先对照代码理解 先看一个简单的例子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types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types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Encoders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Encoders</a:t>
            </a:r>
          </a:p>
          <a:p>
            <a:pPr lvl="0" indent="0" marL="0">
              <a:buNone/>
            </a:pPr>
            <a:r>
              <a:rPr/>
              <a:t>片段 3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Encoders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product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)].</a:t>
            </a:r>
            <a:r>
              <a:rPr>
                <a:latin typeface="Courier"/>
              </a:rPr>
              <a:t>schema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printTreeString</a:t>
            </a:r>
            <a:br/>
            <a:r>
              <a:rPr>
                <a:latin typeface="Courier"/>
              </a:rPr>
              <a:t>root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|--</a:t>
            </a:r>
            <a:r>
              <a:rPr>
                <a:latin typeface="Courier"/>
              </a:rPr>
              <a:t> _1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nullable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|--</a:t>
            </a:r>
            <a:r>
              <a:rPr>
                <a:latin typeface="Courier"/>
              </a:rPr>
              <a:t> _2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nullable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4.2.3 创建结构化数据：代码片段（16/16）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如果直接面对元组类型不够直观</a:t>
            </a:r>
          </a:p>
          <a:p>
            <a:pPr lvl="0"/>
            <a:r>
              <a:rPr/>
              <a:t>先对照代码理解 有了案例类之后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Record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Integer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defined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Record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Encoders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product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Record</a:t>
            </a:r>
            <a:r>
              <a:rPr>
                <a:solidFill>
                  <a:srgbClr val="666666"/>
                </a:solidFill>
                <a:latin typeface="Courier"/>
              </a:rPr>
              <a:t>].</a:t>
            </a:r>
            <a:r>
              <a:rPr>
                <a:latin typeface="Courier"/>
              </a:rPr>
              <a:t>schema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printTreeString</a:t>
            </a:r>
            <a:br/>
            <a:r>
              <a:rPr>
                <a:latin typeface="Courier"/>
              </a:rPr>
              <a:t>root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|--</a:t>
            </a:r>
            <a:r>
              <a:rPr>
                <a:latin typeface="Courier"/>
              </a:rPr>
              <a:t> i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nullable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|--</a:t>
            </a:r>
            <a:r>
              <a:rPr>
                <a:latin typeface="Courier"/>
              </a:rPr>
              <a:t> 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nullable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创建结构化数据：表格 4‑1 Spark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"/>
                <a:gridCol w="5613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ByteType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表示1字节有符号整数，数字范围从-128到127。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ShortType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表示2字节有符号整数，数字范围为-32768至32767。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IntegerType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表示4字节有符号整数，数字范围为-2147483648至2147483647。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LongType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表示8字节有符号整数，数字范围从-9223372036854775808到9223372036854775807。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FloatType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表示4字节的单精度浮点数。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DoubleType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表示8字节的双精度浮点数。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DecimalType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表示任意精度有符号的十进制数。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StringType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表示字符串值。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BinaryType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表示字节序列值。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BooleanType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表示布尔值。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TimestampType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表示包含字段年、月、日、小时、分钟和秒的值。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表示包含字段年，月，日的值的值。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ArrayType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ArrayType (elementType, containsNull)，表示包含elementType类型的元素序列的值，containsNull用于指示ArrayType值中的元素是否具有空值。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MapType(keyType, valueType, valueContainsNull)，表示包含一组键值对，键的数据类型由keyType描述，值的数据类型由valueType描述，键不允许具有空值，valueContainsNull用于指示值是否可以为空值。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表示具有StructFields(fields)序列描述的结构。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StructField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表示StructType中的一个字段。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2026-04-05T02:24:33Z</dcterms:created>
  <dcterms:modified xsi:type="dcterms:W3CDTF">2026-04-05T02:24:33Z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