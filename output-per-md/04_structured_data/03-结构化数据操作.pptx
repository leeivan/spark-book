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notesMaster" Target="notesMasters/notesMaster1.xml" /><Relationship Id="rId49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48" Type="http://schemas.openxmlformats.org/officeDocument/2006/relationships/theme" Target="theme/theme1.xml" /><Relationship Id="rId47" Type="http://schemas.openxmlformats.org/officeDocument/2006/relationships/viewProps" Target="viewProps.xml" /><Relationship Id="rId46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?>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?>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?>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?>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35.xml.rels><?xml version="1.0" encoding="UTF-8"?>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36.xml.rels><?xml version="1.0" encoding="UTF-8"?>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37.xml.rels><?xml version="1.0" encoding="UTF-8"?>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38.xml.rels><?xml version="1.0" encoding="UTF-8"?>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39.xml.rels><?xml version="1.0" encoding="UTF-8"?>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40.xml.rels><?xml version="1.0" encoding="UTF-8"?><Relationships xmlns="http://schemas.openxmlformats.org/package/2006/relationships"><Relationship Id="rId2" Type="http://schemas.openxmlformats.org/officeDocument/2006/relationships/slide" Target="../slides/slide40.xml" /><Relationship Id="rId1" Type="http://schemas.openxmlformats.org/officeDocument/2006/relationships/notesMaster" Target="../notesMasters/notesMaster1.xml" /></Relationships>
</file>

<file path=ppt/notesSlides/_rels/notesSlide41.xml.rels><?xml version="1.0" encoding="UTF-8"?><Relationships xmlns="http://schemas.openxmlformats.org/package/2006/relationships"><Relationship Id="rId2" Type="http://schemas.openxmlformats.org/officeDocument/2006/relationships/slide" Target="../slides/slide41.xml" /><Relationship Id="rId1" Type="http://schemas.openxmlformats.org/officeDocument/2006/relationships/notesMaster" Target="../notesMasters/notesMaster1.xml" /></Relationships>
</file>

<file path=ppt/notesSlides/_rels/notesSlide42.xml.rels><?xml version="1.0" encoding="UTF-8"?><Relationships xmlns="http://schemas.openxmlformats.org/package/2006/relationships"><Relationship Id="rId2" Type="http://schemas.openxmlformats.org/officeDocument/2006/relationships/slide" Target="../slides/slide42.xml" /><Relationship Id="rId1" Type="http://schemas.openxmlformats.org/officeDocument/2006/relationships/notesMaster" Target="../notesMasters/notesMaster1.xml" /></Relationships>
</file>

<file path=ppt/notesSlides/_rels/notesSlide43.xml.rels><?xml version="1.0" encoding="UTF-8"?><Relationships xmlns="http://schemas.openxmlformats.org/package/2006/relationships"><Relationship Id="rId2" Type="http://schemas.openxmlformats.org/officeDocument/2006/relationships/slide" Target="../slides/slide4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表格 4‑2 常用Spark SQL结构化数据操作。 接下来会依次看 结构化数据操作、选取列，以及 选择语句（select、selectExpr），后面的实现和案例都会沿着这条线继续展开。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这一页先看前半段主线，重点包括 结构化数据操作、选取列、选择语句（select、selectExpr），以及 操作列（withColumn、withColumnRenamed、drop）。先把前面的入口和处理顺序放稳，后面再继续往下展开。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这一页继续顺着学习路线往后推，重点包括 条件语句（where、filter）、去除重复（distinct、dropDuplicates）、排序语句（sort、orderBy），以及 操作多表（union、join）。先把这些环节之间的关系看清楚，再进入每一步的具体实现。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这一页补上后半段主线，重点包括 聚合操作 和 用户定义函数。把这几步和前面的内容接起来，整节课的推进顺序就完整了。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这里最容易让初学者困惑的点是：有时列可以直接写成字符串，有时又必须写成 Column 对象。一个简单判断是，如果只是“按列名引用已有列”，字符串通常就够了。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、比较、函数调用或别名转换，就应该显式使用 Column 类的实例。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有关 Column 类中可用的所有功能，请参阅 Scala 文档中的 org.apache.spark.sql.Column。理解这一点后，就不难把握使用边界：一旦出现“列表达式”，就应当把列写成 Column 实例，而不是普通字符串。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先把表头对应的对象和维度说清楚，再指出哪些差异最大，以及这些差异能支持什么判断。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两者的主要区别在于表达方式、代码 4‑7 上面的代码创建了一个简单的 DataFrame 和 代码 4‑8 如果 select 的参数只是字符串列名，就只能表达“按名字取列”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这里的关键点不是语法糖本身、代码 4‑10 这里的 selectExpr() 使用了两个表达式 和 如果只是想快速表达几个 SQL 风格列变换，selectExpr() 会更省力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它需要两个输入参数：列名和通过列表达式产生的值、withColumnRenamed转换重命名DataFrame中的现有列名 和 可以通过select转换仅投影要保留的列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这一步通常是在结构化数据里加工特征或业务字段。要说明新列为什么需要，以及它会怎样影响后面的过滤、聚合或排序。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区别主要在表达习惯上，where 更接近 SQL 语感，filter 更像函数式 API。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两者的执行语义是一致的。写条件时，可以使用字符串表达式，也可以使用 Column 条件。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代码 4‑12 其中，=== 是 Column 类中定义的函数，可以判断两列中每行对应的值是否相等。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下面看一看 where 函数。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这一页重点放在 代码 4‑13。只要把这一步的输入、输出和作用说清楚，后面的内容就容易接上。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这一步是在缩小计算范围。把过滤条件讲清楚，后面聚合出来的结果才能知道是在什么约束下得到的。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这一页重点放在 如果未指定任何内容，则重复数据删除逻辑将使用DataFrame中的所有列。只要把这一步的输入、输出和作用说清楚，后面的内容就容易接上。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这两种转换都具有相同的语义，orderBy转换比sort转换更具SQL关系语言的特征。默认情况下排序按升序排列，将其更改为降序很容易。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28</a:t>
            </a:fld>
            <a:endParaRPr lang="en-US"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DataFrame 是不可变的，“给现有结果追加更多行”的常见做法不是原地修改、很多分析都需要把多个数据集按键关联起来 和 执行连接时，通常需要明确两件事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29</a:t>
            </a:fld>
            <a:endParaRPr lang="en-US"/>
          </a:p>
        </p:txBody>
      </p:sp>
    </p:spTree>
  </p:cSld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这一页先看 表格 4‑4 Spark SQL中支持的连接类型，再看 代码 4‑14。把这两步连起来讲清楚，页面内容和后面的实现流程就能对上。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30</a:t>
            </a:fld>
            <a:endParaRPr lang="en-US"/>
          </a:p>
        </p:txBody>
      </p:sp>
    </p:spTree>
  </p:cSld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31</a:t>
            </a:fld>
            <a:endParaRPr lang="en-US"/>
          </a:p>
        </p:txBody>
      </p:sp>
    </p:spTree>
  </p:cSld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先把表头对应的对象和维度说清楚，再指出哪些差异最大，以及这些差异能支持什么判断。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32</a:t>
            </a:fld>
            <a:endParaRPr lang="en-US"/>
          </a:p>
        </p:txBody>
      </p:sp>
    </p:spTree>
  </p:cSld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聚合操作的核心目的，是把明细数据汇总成更适合分析和决策的结果、（2）通过使用一个或多个列将DataFrame分为多个组 和 （3）将DataFrame划分为多个窗口，并执行移动平均、累积求和或排名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33</a:t>
            </a:fld>
            <a:endParaRPr lang="en-US"/>
          </a:p>
        </p:txBody>
      </p:sp>
    </p:spTree>
  </p:cSld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表格 4‑5 常用的聚合函数、函数 描述 和 count(col) 返回每个组的项目数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34</a:t>
            </a:fld>
            <a:endParaRPr lang="en-US"/>
          </a:p>
        </p:txBody>
      </p:sp>
    </p:spTree>
  </p:cSld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分组这一步决定了结果的统计粒度。只要把按什么键聚说清楚，听众就能知道最后的指标到底是按用户、订单还是时间窗口汇总出来的。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35</a:t>
            </a:fld>
            <a:endParaRPr lang="en-US"/>
          </a:p>
        </p:txBody>
      </p:sp>
    </p:spTree>
  </p:cSld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分组这一步决定了结果的统计粒度。只要把按什么键聚说清楚，听众就能知道最后的指标到底是按用户、订单还是时间窗口汇总出来的。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36</a:t>
            </a:fld>
            <a:endParaRPr lang="en-US"/>
          </a:p>
        </p:txBody>
      </p:sp>
    </p:spTree>
  </p:cSld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分组这一步决定了结果的统计粒度。只要把按什么键聚说清楚，听众就能知道最后的指标到底是按用户、订单还是时间窗口汇总出来的。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37</a:t>
            </a:fld>
            <a:endParaRPr lang="en-US"/>
          </a:p>
        </p:txBody>
      </p:sp>
    </p:spTree>
  </p:cSld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分组这一步决定了结果的统计粒度。只要把按什么键聚说清楚，听众就能知道最后的指标到底是按用户、订单还是时间窗口汇总出来的。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38</a:t>
            </a:fld>
            <a:endParaRPr lang="en-US"/>
          </a:p>
        </p:txBody>
      </p:sp>
    </p:spTree>
  </p:cSld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分组这一步决定了结果的统计粒度。只要把按什么键聚说清楚，听众就能知道最后的指标到底是按用户、订单还是时间窗口汇总出来的。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39</a:t>
            </a:fld>
            <a:endParaRPr lang="en-US"/>
          </a:p>
        </p:txBody>
      </p:sp>
    </p:spTree>
  </p:cSld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分组这一步决定了结果的统计粒度。只要把按什么键聚说清楚，听众就能知道最后的指标到底是按用户、订单还是时间窗口汇总出来的。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这里才真正把多条记录压成业务指标。讲解时要说明聚合函数在累加什么、合并什么，以及最终留下来的结果代表什么含义。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40</a:t>
            </a:fld>
            <a:endParaRPr lang="en-US"/>
          </a:p>
        </p:txBody>
      </p:sp>
    </p:spTree>
  </p:cSld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但在某些情况下，现成函数仍不足以表达业务逻辑，这时才需要考虑用户定义函数（User-Defined Functions，UDF）。更稳妥的工程顺序通常是：先尽量使用内置函数和列表达式。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只有当逻辑确实无法自然表达时，再引入 UDF。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不过在性能和执行开销上，不同语言实现并不完全等价。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从概念上讲，UDF 只是“接收输入、返回输出”的普通函数。但从执行角度看，Scala / Java UDF 可以更直接地运行在 JVM 执行器进程中，而 Python UDF 往往需要额外的 Python 进程和序列化开销。所以，在 Spark 作业里使用 Python UDF 时，尤其要关注性能代价。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41</a:t>
            </a:fld>
            <a:endParaRPr lang="en-US"/>
          </a:p>
        </p:txBody>
      </p:sp>
    </p:spTree>
  </p:cSld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使用 UDF 通常包含三个步骤：先编写并测试普通函数、再通过 Spark 的 udf() 或注册接口把它包装成可执行函数 和 在 SQL 查询中使用 UDF 时，需要先显式注册函数名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42</a:t>
            </a:fld>
            <a:endParaRPr lang="en-US"/>
          </a:p>
        </p:txBody>
      </p:sp>
    </p:spTree>
  </p:cSld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这里把业务需求翻译成查询语义。讲解时重点不是逐字念 SQL，而是说明筛选、连接和聚合分别对应什么业务问题。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0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1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3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3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4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5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6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7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8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9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0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1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 结构化数据操作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表格 4‑2 常用Spark SQL结构化数据操作</a:t>
            </a:r>
          </a:p>
          <a:p>
            <a:pPr lvl="0"/>
            <a:r>
              <a:rPr/>
              <a:t>操作 描述</a:t>
            </a:r>
          </a:p>
          <a:p>
            <a:pPr lvl="0"/>
            <a:r>
              <a:rPr/>
              <a:t>select 从 DataFrame 中选择一个或多个列</a:t>
            </a:r>
          </a:p>
          <a:p>
            <a:pPr lvl="0"/>
            <a:r>
              <a:rPr/>
              <a:t>这是最典型的投影操作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 结构化数据操作：学习路线（1/3）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结构化数据操作</a:t>
            </a:r>
          </a:p>
          <a:p>
            <a:pPr lvl="0"/>
            <a:r>
              <a:rPr/>
              <a:t>选取列</a:t>
            </a:r>
          </a:p>
          <a:p>
            <a:pPr lvl="0"/>
            <a:r>
              <a:rPr/>
              <a:t>选择语句（select、selectExpr）</a:t>
            </a:r>
          </a:p>
          <a:p>
            <a:pPr lvl="0"/>
            <a:r>
              <a:rPr/>
              <a:t>操作列（withColumn、withColumnRenamed、drop）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 结构化数据操作：学习路线（2/3）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条件语句（where、filter）</a:t>
            </a:r>
          </a:p>
          <a:p>
            <a:pPr lvl="0"/>
            <a:r>
              <a:rPr/>
              <a:t>去除重复（distinct、dropDuplicates）</a:t>
            </a:r>
          </a:p>
          <a:p>
            <a:pPr lvl="0"/>
            <a:r>
              <a:rPr/>
              <a:t>排序语句（sort、orderBy）</a:t>
            </a:r>
          </a:p>
          <a:p>
            <a:pPr lvl="0"/>
            <a:r>
              <a:rPr/>
              <a:t>操作多表（union、join）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 结构化数据操作：学习路线（3/3）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聚合操作</a:t>
            </a:r>
          </a:p>
          <a:p>
            <a:pPr lvl="0"/>
            <a:r>
              <a:rPr/>
              <a:t>用户定义函数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4.3.1 选取列（1/2）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表格 4‑2 中的大多数结构化操作，都需要我们显式指定一个或多个列</a:t>
            </a:r>
          </a:p>
          <a:p>
            <a:pPr lvl="0"/>
            <a:r>
              <a:rPr/>
              <a:t>如果要对列做表达式计算</a:t>
            </a:r>
          </a:p>
          <a:p>
            <a:pPr lvl="0"/>
            <a:r>
              <a:rPr/>
              <a:t>从高层次上看，Column 类主要提供以下几类能力</a:t>
            </a:r>
          </a:p>
          <a:p>
            <a:pPr lvl="0"/>
            <a:r>
              <a:rPr/>
              <a:t>（1）数学运算，例如加法，乘法等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4.3.1 选取列（2/2）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（2）列值或文字之间的逻辑比较，例如相等、大于、小于等</a:t>
            </a:r>
          </a:p>
          <a:p>
            <a:pPr lvl="0"/>
            <a:r>
              <a:rPr/>
              <a:t>（3）字符串模式匹配</a:t>
            </a:r>
          </a:p>
          <a:p>
            <a:pPr lvl="0"/>
            <a:r>
              <a:rPr/>
              <a:t>为了减少混淆，表格 4‑3 总结了几种最常见的列引用方式</a:t>
            </a:r>
          </a:p>
          <a:p>
            <a:pPr lvl="0"/>
            <a:r>
              <a:rPr/>
              <a:t>表格 4‑3 选取列的可用选项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4.3.1 选取列：代码片段（1/2）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col 和 column 函数是同义词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functions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functions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kvDF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"key"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"value"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kvDF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key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value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kvDF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columns</a:t>
            </a:r>
            <a:br/>
            <a:r>
              <a:rPr>
                <a:latin typeface="Courier"/>
              </a:rPr>
              <a:t>res0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key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value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kvDF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select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"key"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key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kvDF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select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col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"key"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res2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key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kvDF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select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column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"key"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4.3.1 选取列：代码片段（2/2）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也可以直接调用 DataFrame 实例上的 col() 方法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kvDF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select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kvDF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"key"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res6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key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kvDF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select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FF0000"/>
                </a:solidFill>
                <a:latin typeface="Courier"/>
              </a:rPr>
              <a:t>'</a:t>
            </a:r>
            <a:r>
              <a:rPr>
                <a:latin typeface="Courier"/>
              </a:rPr>
              <a:t>key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'</a:t>
            </a:r>
            <a:r>
              <a:rPr>
                <a:latin typeface="Courier"/>
              </a:rPr>
              <a:t>key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+---+---------+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key</a:t>
            </a:r>
            <a:r>
              <a:rPr>
                <a:solidFill>
                  <a:srgbClr val="666666"/>
                </a:solidFill>
                <a:latin typeface="Courier"/>
              </a:rPr>
              <a:t>|(</a:t>
            </a:r>
            <a:r>
              <a:rPr>
                <a:latin typeface="Courier"/>
              </a:rPr>
              <a:t>key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+---+---------+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false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+---+---------+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选取列：表格 4‑3 选取列的可用选项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先辨认表头含义，再看不同项之间的差异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00"/>
                <a:gridCol w="1320800"/>
                <a:gridCol w="4191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例子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解释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“列名”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将一个列引用为字符串类型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col(“列名”)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通过col函数返回Column类的实例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column(“列名”)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与col类似，此函数返回Column类的实例。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“列名”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在Scala中构造Column类的语法糖方式。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’列名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通过利用Scala符号文字特征在Scala中构造Column类的语法糖方式。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4.3.2 选择语句（1/2）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两者的主要区别在于表达方式：select 更适合已经在 DataFrame API 里写好的列表达式</a:t>
            </a:r>
          </a:p>
          <a:p>
            <a:pPr lvl="0"/>
            <a:r>
              <a:rPr/>
              <a:t>代码 4‑7 上面的代码创建了一个简单的 DataFrame</a:t>
            </a:r>
          </a:p>
          <a:p>
            <a:pPr lvl="0"/>
            <a:r>
              <a:rPr/>
              <a:t>代码 4‑8 如果 select 的参数只是字符串列名，就只能表达“按名字取列”</a:t>
            </a:r>
          </a:p>
          <a:p>
            <a:pPr lvl="0"/>
            <a:r>
              <a:rPr/>
              <a:t>一旦想在选择时直接套用函数或计算表达式，就需要换成 Column 对象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4.3.2 选择语句（2/2）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这里的关键点不是语法糖本身</a:t>
            </a:r>
          </a:p>
          <a:p>
            <a:pPr lvl="0"/>
            <a:r>
              <a:rPr/>
              <a:t>代码 4‑10 这里的 selectExpr() 使用了两个表达式</a:t>
            </a:r>
          </a:p>
          <a:p>
            <a:pPr lvl="0"/>
            <a:r>
              <a:rPr/>
              <a:t>如果只是想快速表达几个 SQL 风格列变换，selectExpr() 会更省力</a:t>
            </a:r>
          </a:p>
          <a:p>
            <a:pPr lvl="0"/>
            <a:r>
              <a:rPr/>
              <a:t>代码 4‑11 代码 4‑22需要两个列表达式：加和乘，都由Column类中的加函数（+）和乘函数（）实现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4.3.2 选择语句（1/5）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select 和 selectExpr 都是在做投影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createDataset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"Ivan"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"Tom"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"Rose"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"John"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"col1"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"col2"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"col3"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df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col1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col2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more field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+----+----+----+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col3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+----+----+----+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Ivan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Tom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4.3.2 选择语句（2/5）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select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"col1"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res6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Row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([</a:t>
            </a:r>
            <a:r>
              <a:rPr>
                <a:latin typeface="Courier"/>
              </a:rPr>
              <a:t>Ivan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Tom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Rose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John</a:t>
            </a:r>
            <a:r>
              <a:rPr>
                <a:solidFill>
                  <a:srgbClr val="666666"/>
                </a:solidFill>
                <a:latin typeface="Courier"/>
              </a:rPr>
              <a:t>])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select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$</a:t>
            </a:r>
            <a:r>
              <a:rPr>
                <a:solidFill>
                  <a:srgbClr val="4070A0"/>
                </a:solidFill>
                <a:latin typeface="Courier"/>
              </a:rPr>
              <a:t>"col1"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res7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Row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([</a:t>
            </a:r>
            <a:r>
              <a:rPr>
                <a:latin typeface="Courier"/>
              </a:rPr>
              <a:t>Ivan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Tom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Rose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John</a:t>
            </a:r>
            <a:r>
              <a:rPr>
                <a:solidFill>
                  <a:srgbClr val="666666"/>
                </a:solidFill>
                <a:latin typeface="Courier"/>
              </a:rPr>
              <a:t>])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select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"col1"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res8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Row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([</a:t>
            </a:r>
            <a:r>
              <a:rPr>
                <a:latin typeface="Courier"/>
              </a:rPr>
              <a:t>Ivan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Tom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Rose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John</a:t>
            </a:r>
            <a:r>
              <a:rPr>
                <a:solidFill>
                  <a:srgbClr val="666666"/>
                </a:solidFill>
                <a:latin typeface="Courier"/>
              </a:rPr>
              <a:t>])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4.3.2 选择语句（3/5）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select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upper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$</a:t>
            </a:r>
            <a:r>
              <a:rPr>
                <a:solidFill>
                  <a:srgbClr val="4070A0"/>
                </a:solidFill>
                <a:latin typeface="Courier"/>
              </a:rPr>
              <a:t>"col1"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res11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Row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([</a:t>
            </a:r>
            <a:r>
              <a:rPr>
                <a:latin typeface="Courier"/>
              </a:rPr>
              <a:t>IVAN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TOM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ROSE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JOHN</a:t>
            </a:r>
            <a:r>
              <a:rPr>
                <a:solidFill>
                  <a:srgbClr val="666666"/>
                </a:solidFill>
                <a:latin typeface="Courier"/>
              </a:rPr>
              <a:t>])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select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upper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"col1"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26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error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type</a:t>
            </a:r>
            <a:r>
              <a:rPr>
                <a:latin typeface="Courier"/>
              </a:rPr>
              <a:t> mismatch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found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"col1"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required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Column</a:t>
            </a:r>
            <a:br/>
            <a:r>
              <a:rPr>
                <a:latin typeface="Courier"/>
              </a:rPr>
              <a:t>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select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upper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"col1"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latin typeface="Courier"/>
              </a:rPr>
              <a:t>collect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4.3.2 选择语句（4/5）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而是 upper() 需要的输入类型是 Column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selectExpr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"upper(col1)"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"col2 as col22"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+-----------+-----+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06287E"/>
                </a:solidFill>
                <a:latin typeface="Courier"/>
              </a:rPr>
              <a:t>upper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col1</a:t>
            </a:r>
            <a:r>
              <a:rPr>
                <a:solidFill>
                  <a:srgbClr val="666666"/>
                </a:solidFill>
                <a:latin typeface="Courier"/>
              </a:rPr>
              <a:t>)|</a:t>
            </a:r>
            <a:r>
              <a:rPr>
                <a:latin typeface="Courier"/>
              </a:rPr>
              <a:t>col22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+-----------+-----+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IVAN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TOM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ROSE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JOHN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+-----------+-----+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4.3.2 选择语句（5/5）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一个对 col1 调用 upper()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select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FF0000"/>
                </a:solidFill>
                <a:latin typeface="Courier"/>
              </a:rPr>
              <a:t>'</a:t>
            </a:r>
            <a:r>
              <a:rPr>
                <a:latin typeface="Courier"/>
              </a:rPr>
              <a:t>col1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FF0000"/>
                </a:solidFill>
                <a:latin typeface="Courier"/>
              </a:rPr>
              <a:t>'</a:t>
            </a:r>
            <a:r>
              <a:rPr>
                <a:latin typeface="Courier"/>
              </a:rPr>
              <a:t>col2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FF0000"/>
                </a:solidFill>
                <a:latin typeface="Courier"/>
              </a:rPr>
              <a:t>'</a:t>
            </a:r>
            <a:r>
              <a:rPr>
                <a:latin typeface="Courier"/>
              </a:rPr>
              <a:t>col3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as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"(col2 + col3 *</a:t>
            </a:r>
            <a:br/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solidFill>
                  <a:srgbClr val="4070A0"/>
                </a:solidFill>
                <a:latin typeface="Courier"/>
              </a:rPr>
              <a:t>")).show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+----+-----------------+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col1</a:t>
            </a:r>
            <a:r>
              <a:rPr>
                <a:solidFill>
                  <a:srgbClr val="666666"/>
                </a:solidFill>
                <a:latin typeface="Courier"/>
              </a:rPr>
              <a:t>|(</a:t>
            </a:r>
            <a:r>
              <a:rPr>
                <a:latin typeface="Courier"/>
              </a:rPr>
              <a:t>col2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col3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+----+-----------------+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Ivan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Tom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Rose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13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John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16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+----+-----------------+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4.3.3 操作列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它需要两个输入参数：列名和通过列表达式产生的值</a:t>
            </a:r>
          </a:p>
          <a:p>
            <a:pPr lvl="0"/>
            <a:r>
              <a:rPr/>
              <a:t>withColumnRenamed转换重命名DataFrame中的现有列名</a:t>
            </a:r>
          </a:p>
          <a:p>
            <a:pPr lvl="0"/>
            <a:r>
              <a:rPr/>
              <a:t>可以通过select转换仅投影要保留的列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4.3.3 操作列（1/3）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补充新字段或重写已有字段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withColumn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"sum"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FF0000"/>
                </a:solidFill>
                <a:latin typeface="Courier"/>
              </a:rPr>
              <a:t>'</a:t>
            </a:r>
            <a:r>
              <a:rPr>
                <a:latin typeface="Courier"/>
              </a:rPr>
              <a:t>col2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'</a:t>
            </a:r>
            <a:r>
              <a:rPr>
                <a:latin typeface="Courier"/>
              </a:rPr>
              <a:t>col3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+----+----+----+---+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col3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sum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+----+----+----+---+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Ivan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Tom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Rose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John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+----+----+----+---+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withColumn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"col2"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FF0000"/>
                </a:solidFill>
                <a:latin typeface="Courier"/>
              </a:rPr>
              <a:t>'</a:t>
            </a:r>
            <a:r>
              <a:rPr>
                <a:latin typeface="Courier"/>
              </a:rPr>
              <a:t>col2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'</a:t>
            </a:r>
            <a:r>
              <a:rPr>
                <a:latin typeface="Courier"/>
              </a:rPr>
              <a:t>col3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+----+----+----+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4.3.3 操作列（2/3）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withColumnRenamed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"col2"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"col2_rename"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+----+-----------+----+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col2_rename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col3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+----+-----------+----+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Ivan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Tom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Rose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John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+----+-----------+----+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4.3.3 操作列（3/3）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drop转换只是从DataFrame中删除指定的列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drop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FF0000"/>
                </a:solidFill>
                <a:latin typeface="Courier"/>
              </a:rPr>
              <a:t>'</a:t>
            </a:r>
            <a:r>
              <a:rPr>
                <a:latin typeface="Courier"/>
              </a:rPr>
              <a:t>col2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col3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Ivan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Tom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Rose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John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+----+----+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4.3.4 条件语句（where、filter）（1/2）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where 和 filter 的作用都很直接：只保留满足条件的行</a:t>
            </a:r>
          </a:p>
          <a:p>
            <a:pPr lvl="0"/>
            <a:r>
              <a:rPr/>
              <a:t>filter() 最常见的几种形式如下</a:t>
            </a:r>
          </a:p>
          <a:p>
            <a:pPr lvl="0"/>
            <a:r>
              <a:rPr/>
              <a:t>=== 是 Column 类中定义的函数</a:t>
            </a:r>
          </a:p>
          <a:p>
            <a:pPr lvl="0"/>
            <a:r>
              <a:rPr/>
              <a:t>$“col2” 是语法糖，返回 Column 对象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4.3.4 条件语句（where、filter）（2/2）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代码 4‑13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4.3.4 条件语句（where、filter）（1/2）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先过滤出真正要参与计算的数据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$</a:t>
            </a:r>
            <a:r>
              <a:rPr>
                <a:solidFill>
                  <a:srgbClr val="4070A0"/>
                </a:solidFill>
                <a:latin typeface="Courier"/>
              </a:rPr>
              <a:t>"col1"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solidFill>
                  <a:srgbClr val="4070A0"/>
                </a:solidFill>
                <a:latin typeface="Courier"/>
              </a:rPr>
              <a:t>"Tom"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+----+----+----+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col3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+----+----+----+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+----+----+----+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$</a:t>
            </a:r>
            <a:r>
              <a:rPr>
                <a:solidFill>
                  <a:srgbClr val="4070A0"/>
                </a:solidFill>
                <a:latin typeface="Courier"/>
              </a:rPr>
              <a:t>"col1"</a:t>
            </a:r>
            <a:r>
              <a:rPr>
                <a:solidFill>
                  <a:srgbClr val="666666"/>
                </a:solidFill>
                <a:latin typeface="Courier"/>
              </a:rPr>
              <a:t>===</a:t>
            </a:r>
            <a:r>
              <a:rPr>
                <a:solidFill>
                  <a:srgbClr val="4070A0"/>
                </a:solidFill>
                <a:latin typeface="Courier"/>
              </a:rPr>
              <a:t>"Tom"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+----+----+----+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col3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+----+----+----+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Tom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+----+----+----+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4.3.4 条件语句（where、filter）（2/2）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def where(condition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where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"col1 = 'John'"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+----+----+----+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col3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+----+----+----+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John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+----+----+----+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where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$</a:t>
            </a:r>
            <a:r>
              <a:rPr>
                <a:solidFill>
                  <a:srgbClr val="4070A0"/>
                </a:solidFill>
                <a:latin typeface="Courier"/>
              </a:rPr>
              <a:t>"col2"</a:t>
            </a:r>
            <a:r>
              <a:rPr>
                <a:solidFill>
                  <a:srgbClr val="666666"/>
                </a:solidFill>
                <a:latin typeface="Courier"/>
              </a:rPr>
              <a:t>=!=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+----+----+----+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col3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+----+----+----+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Ivan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4.3.5 去除重复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如果未指定任何内容，则重复数据删除逻辑将使用DataFrame中的所有列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4.3.5 去除重复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select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FF0000"/>
                </a:solidFill>
                <a:latin typeface="Courier"/>
              </a:rPr>
              <a:t>'</a:t>
            </a:r>
            <a:r>
              <a:rPr>
                <a:latin typeface="Courier"/>
              </a:rPr>
              <a:t>col2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distinct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dropDuplicates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"col2"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show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+----+----+----+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col3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4.3.6 排序语句（sort、orderBy）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如果指定多个列，每个列的顺序可能不同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4.3.6 排序语句（sort、orderBy）：代码片段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def orderBy(sortCol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sort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FF0000"/>
                </a:solidFill>
                <a:latin typeface="Courier"/>
              </a:rPr>
              <a:t>'</a:t>
            </a:r>
            <a:r>
              <a:rPr>
                <a:latin typeface="Courier"/>
              </a:rPr>
              <a:t>col2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+----+----+----+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col3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+----+----+----+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Ivan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Rose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Tom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John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+----+----+----+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sort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FF0000"/>
                </a:solidFill>
                <a:latin typeface="Courier"/>
              </a:rPr>
              <a:t>'</a:t>
            </a:r>
            <a:r>
              <a:rPr>
                <a:latin typeface="Courier"/>
              </a:rPr>
              <a:t>col2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desc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+----+----+----+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4.3.7 操作多表（union、join）（1/2）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DataFrame 是不可变的，“给现有结果追加更多行”的常见做法不是原地修改</a:t>
            </a:r>
          </a:p>
          <a:p>
            <a:pPr lvl="0"/>
            <a:r>
              <a:rPr/>
              <a:t>很多分析都需要把多个数据集按键关联起来</a:t>
            </a:r>
          </a:p>
          <a:p>
            <a:pPr lvl="0"/>
            <a:r>
              <a:rPr/>
              <a:t>执行连接时，通常需要明确两件事</a:t>
            </a:r>
          </a:p>
          <a:p>
            <a:pPr lvl="0"/>
            <a:r>
              <a:rPr/>
              <a:t>表格 4‑4 概括了 Spark SQL 中支持的常见连接类型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4.3.7 操作多表（union、join）（2/2）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表格 4‑4 Spark SQL中支持的连接类型</a:t>
            </a:r>
          </a:p>
          <a:p>
            <a:pPr lvl="0"/>
            <a:r>
              <a:rPr/>
              <a:t>代码 4‑14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4.3.7 操作多表（union、join）：代码片段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df1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createDataset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70A0"/>
                </a:solidFill>
                <a:latin typeface="Courier"/>
              </a:rPr>
              <a:t>"Ivan"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"Tom"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"John"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"Tom"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))).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"col1"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"col2"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"col3"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df1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col1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col2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more field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df2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createDataset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70A0"/>
                </a:solidFill>
                <a:latin typeface="Courier"/>
              </a:rPr>
              <a:t>"Ivan"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"Tom"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"Jack"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"Tom"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"Rose"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"Ivan"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"Marry"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))).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"col1"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"col2"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"col4"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df2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col1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col2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more field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show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+----+----+----+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操作多表（union、join）：表格 4‑4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先辨认表头含义，再看不同项之间的差异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664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描述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内连接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当连接表达式的值为true时，从两个数据集中返回行。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左外连接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即使连接表达式的值为false，也从左数据集中返回行。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右外连接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即使连接表达式的值为false，也从右数据集中返回行。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外连接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即使连接表达式的值为false，也从两个数据集中返回行。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左反连接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当连接表达式的值为false时，仅从左侧数据集中返回行。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左半连接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当连接表达式的值为true时，仅从左侧数据集中返回行。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交叉连接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通过组合左侧数据集中的每一行与右侧数据集中的每一行来返回行，行数将是每个数据集大小的乘积。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4.3.8 聚合操作（1/2）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聚合操作的核心目的，是把明细数据汇总成更适合分析和决策的结果</a:t>
            </a:r>
          </a:p>
          <a:p>
            <a:pPr lvl="0"/>
            <a:r>
              <a:rPr/>
              <a:t>（2）通过使用一个或多个列将DataFrame分为多个组</a:t>
            </a:r>
          </a:p>
          <a:p>
            <a:pPr lvl="0"/>
            <a:r>
              <a:rPr/>
              <a:t>（3）将DataFrame划分为多个窗口，并执行移动平均、累积求和或排名</a:t>
            </a:r>
          </a:p>
          <a:p>
            <a:pPr lvl="0"/>
            <a:r>
              <a:rPr/>
              <a:t>聚合函数可以作用于整个DataFrame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4.3.8 聚合操作（2/2）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表格 4‑5 常用的聚合函数</a:t>
            </a:r>
          </a:p>
          <a:p>
            <a:pPr lvl="0"/>
            <a:r>
              <a:rPr/>
              <a:t>函数 描述</a:t>
            </a:r>
          </a:p>
          <a:p>
            <a:pPr lvl="0"/>
            <a:r>
              <a:rPr/>
              <a:t>count(col) 返回每个组的项目数</a:t>
            </a:r>
          </a:p>
          <a:p>
            <a:pPr lvl="0"/>
            <a:r>
              <a:rPr/>
              <a:t>countDistinct(col) 返回每个组的唯一项数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4.3.8 聚合操作：代码片段（1/6）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按业务键把相关记录汇到同一组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createDataset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"Ivan"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"Tom"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"Rose"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"Tom"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"col1"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"col2"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"col3"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df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col1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col2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more field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groupBy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"col1"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count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count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Rose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Tom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4.3.8 聚合操作：代码片段（2/6）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按业务键把相关记录汇到同一组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groupBy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"col1"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count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sort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"col1"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count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Ivan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Rose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Tom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+----+-----+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groupBy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"col1"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count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sort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$</a:t>
            </a:r>
            <a:r>
              <a:rPr>
                <a:solidFill>
                  <a:srgbClr val="4070A0"/>
                </a:solidFill>
                <a:latin typeface="Courier"/>
              </a:rPr>
              <a:t>"col1"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desc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count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4.3.8 聚合操作：代码片段（3/6）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按业务键把相关记录汇到同一组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groupBy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"col1"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count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sort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$</a:t>
            </a:r>
            <a:r>
              <a:rPr>
                <a:solidFill>
                  <a:srgbClr val="4070A0"/>
                </a:solidFill>
                <a:latin typeface="Courier"/>
              </a:rPr>
              <a:t>"count"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desc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count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Tom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Rose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Ivan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+----+-----+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4.3.8 聚合操作：代码片段（4/6）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按业务键把相关记录汇到同一组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groupBy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"col1"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count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withColumnRenamed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"count"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4070A0"/>
                </a:solidFill>
                <a:latin typeface="Courier"/>
              </a:rPr>
              <a:t>"cnt"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sort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$</a:t>
            </a:r>
            <a:r>
              <a:rPr>
                <a:solidFill>
                  <a:srgbClr val="4070A0"/>
                </a:solidFill>
                <a:latin typeface="Courier"/>
              </a:rPr>
              <a:t>"cnt"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desc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cnt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Tom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Rose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Ivan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+----+---+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4.3.8 聚合操作：代码片段（5/6）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按业务键把相关记录汇到同一组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groupBy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"col1"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agg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"col1"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as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"cnt"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cnt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Rose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Tom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Ivan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+----+---+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4.3.8 聚合操作：代码片段（6/6）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按业务键把相关记录汇到同一组</a:t>
            </a:r>
          </a:p>
          <a:p>
            <a:pPr lvl="0"/>
            <a:r>
              <a:rPr/>
              <a:t>在分组后做聚合计算得到指标结果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groupBy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"col1"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agg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"col1"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max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"col2"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"col3"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latin typeface="Courier"/>
              </a:rPr>
              <a:t>show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+----+-----------+---------+---------+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col1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col1</a:t>
            </a:r>
            <a:r>
              <a:rPr>
                <a:solidFill>
                  <a:srgbClr val="666666"/>
                </a:solidFill>
                <a:latin typeface="Courier"/>
              </a:rPr>
              <a:t>)|</a:t>
            </a:r>
            <a:r>
              <a:rPr>
                <a:solidFill>
                  <a:srgbClr val="06287E"/>
                </a:solidFill>
                <a:latin typeface="Courier"/>
              </a:rPr>
              <a:t>max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col2</a:t>
            </a:r>
            <a:r>
              <a:rPr>
                <a:solidFill>
                  <a:srgbClr val="666666"/>
                </a:solidFill>
                <a:latin typeface="Courier"/>
              </a:rPr>
              <a:t>)|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col3</a:t>
            </a:r>
            <a:r>
              <a:rPr>
                <a:solidFill>
                  <a:srgbClr val="666666"/>
                </a:solidFill>
                <a:latin typeface="Courier"/>
              </a:rPr>
              <a:t>)|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+----+-----------+---------+---------+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Rose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5.0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Tom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5.0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Ivan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2.0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br/>
            <a:r>
              <a:rPr>
                <a:solidFill>
                  <a:srgbClr val="666666"/>
                </a:solidFill>
                <a:latin typeface="Courier"/>
              </a:rPr>
              <a:t>+----+-----------+---------+---------+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groupBy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"col1"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agg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"col1"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"count"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"col2"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"max"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4070A0"/>
                </a:solidFill>
                <a:latin typeface="Courier"/>
              </a:rPr>
              <a:t>"col3"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"avg"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show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4.3.9 用户定义函数（1/2）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尽管 Spark SQL 为大多数常见用例提供了大量内置函数</a:t>
            </a:r>
          </a:p>
          <a:p>
            <a:pPr lvl="0"/>
            <a:r>
              <a:rPr/>
              <a:t>因为一旦进入 UDF，优化器能够直接理解和下推的语义就会减少</a:t>
            </a:r>
          </a:p>
          <a:p>
            <a:pPr lvl="0"/>
            <a:r>
              <a:rPr/>
              <a:t>UDF 可以用 Python、Java 或 Scala 编写，也可以与外部库集成</a:t>
            </a:r>
          </a:p>
          <a:p>
            <a:pPr lvl="0"/>
            <a:r>
              <a:rPr/>
              <a:t>Scala / Java UDF 可以更直接地运行在 JVM 执行器进程中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4.3.9 用户定义函数（2/2）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使用 UDF 通常包含三个步骤：先编写并测试普通函数</a:t>
            </a:r>
          </a:p>
          <a:p>
            <a:pPr lvl="0"/>
            <a:r>
              <a:rPr/>
              <a:t>再通过 Spark 的 udf() 或注册接口把它包装成可执行函数</a:t>
            </a:r>
          </a:p>
          <a:p>
            <a:pPr lvl="0"/>
            <a:r>
              <a:rPr/>
              <a:t>在 SQL 查询中使用 UDF 时，需要先显式注册函数名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4.3.9 用户定义函数：代码片段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先用 SQL 描述需要的查询逻辑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Student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score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defined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Student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studentDF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Seq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Student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"Joe"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85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06287E"/>
                </a:solidFill>
                <a:latin typeface="Courier"/>
              </a:rPr>
              <a:t>Student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"Jane"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40A070"/>
                </a:solidFill>
                <a:latin typeface="Courier"/>
              </a:rPr>
              <a:t>90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06287E"/>
                </a:solidFill>
                <a:latin typeface="Courier"/>
              </a:rPr>
              <a:t>Student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"Mary"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55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toDF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studentDF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sql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DataFrame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score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studentDF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createOrReplaceTempView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"students"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paste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Entering paste mode (ctrl-D to finish)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letterGrade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score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score </a:t>
            </a:r>
            <a:r>
              <a:rPr b="1">
                <a:solidFill>
                  <a:srgbClr val="007020"/>
                </a:solidFill>
                <a:latin typeface="Courier"/>
              </a:rPr>
              <a:t>match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score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score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"Cheating"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2026-04-05T02:24:37Z</dcterms:created>
  <dcterms:modified xsi:type="dcterms:W3CDTF">2026-04-05T02:24:37Z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