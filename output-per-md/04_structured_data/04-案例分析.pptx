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notesMaster" Target="notesMasters/notesMaster1.xml" /><Relationship Id="rId3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5" Type="http://schemas.openxmlformats.org/officeDocument/2006/relationships/theme" Target="theme/theme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表格 4‑6展示了 /data/sfpd.csv 文件中的字段说明和样例数据。该数据集来自某市警察局在 2013 年 1 月到 2015 年 7 月之间的报案记录。 接下来会依次看 案例分析、创建DataFrame，以及 操作DataFrame，后面的实现和案例都会沿着这条线继续展开。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4.4 案例分析 的主线串起来，重点包括 案例分析、创建DataFrame、操作DataFrame，以及 按年份组合。先知道每一步要解决什么问题，后面的细节就更容易跟住。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表格 4‑6展示了 /data/sfpd.csv 文件中的字段说明和样例数据、表格 4‑6 案例分析数据说明 和 用 DataFrame 定义结构化数据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这类案例还有一个很常见的演化路径，再看 一旦查询逻辑稳定下来。把这两步连起来讲清楚，页面内容和后面的实现流程就能对上。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创建 DataFrame 的首选方式通常是直接使用、从现有 RDD 创建 DataFrame 和 它可以拆成 4 个动作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创建RDD、这一步还没有 Schema，主要是为了给后面的案例类映射做准备 和 代码 4‑31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很多问题都可以先写成链式操作、5个发生报案最多的区域是什么？ 和 5个发生报案最多的街区是什么？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本质上对应的是结构化处理中最常见的一组动作：groupBy、count、sort、limit、selectExpr 以及 SQL 查询。先回答其中一个代表性问题，就足以把这条处理链看清楚。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这一步把计算结果落到外部系统，供下游查询、报表或下一轮任务继续使用。讲的时候要说明输出位置和结果的消费方式。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数据集中的日期是 dd/mm/yy 形式的字符串、从工程实践看，如果内置字符串函数已经足够，通常应优先使用内置函数而不是 UDF 和 Spark SQL 和其他查询引擎一样支持用户定义函数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UDF 的方式。如果希望在 SQL 语句里复用同样的逻辑，还可以先把它注册成命名函数，再在 SELECT 里引用。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案例分析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4‑6展示了 /data/sfpd.csv 文件中的字段说明和样例数据</a:t>
            </a:r>
          </a:p>
          <a:p>
            <a:pPr lvl="0"/>
            <a:r>
              <a:rPr/>
              <a:t>表格 4‑6 案例分析数据说明</a:t>
            </a:r>
          </a:p>
          <a:p>
            <a:pPr lvl="0"/>
            <a:r>
              <a:rPr/>
              <a:t>这个案例的目标是：用 DataFrame 定义结构化数据，使用 Spark 提供的结构化 API 完成探索分析，并顺带理解临时视图、SQL</a:t>
            </a:r>
          </a:p>
          <a:p>
            <a:pPr lvl="0"/>
            <a:r>
              <a:rPr/>
              <a:t>在确有需要时补一个简单 UDF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案例分析：学习路线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案例分析</a:t>
            </a:r>
          </a:p>
          <a:p>
            <a:pPr lvl="0"/>
            <a:r>
              <a:rPr/>
              <a:t>创建DataFrame</a:t>
            </a:r>
          </a:p>
          <a:p>
            <a:pPr lvl="0"/>
            <a:r>
              <a:rPr/>
              <a:t>操作DataFrame</a:t>
            </a:r>
          </a:p>
          <a:p>
            <a:pPr lvl="0"/>
            <a:r>
              <a:rPr/>
              <a:t>按年份组合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案例分析（1/2）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4‑6展示了 /data/sfpd.csv 文件中的字段说明和样例数据</a:t>
            </a:r>
          </a:p>
          <a:p>
            <a:pPr lvl="0"/>
            <a:r>
              <a:rPr/>
              <a:t>表格 4‑6 案例分析数据说明</a:t>
            </a:r>
          </a:p>
          <a:p>
            <a:pPr lvl="0"/>
            <a:r>
              <a:rPr/>
              <a:t>这个案例的目标是：用 DataFrame 定义结构化数据，使用 Spark 提供的结构化 API 完成探索分析，并顺带理解临时视图、SQL</a:t>
            </a:r>
          </a:p>
          <a:p>
            <a:pPr lvl="0"/>
            <a:r>
              <a:rPr/>
              <a:t>在确有需要时补一个简单 UDF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案例分析（2/2）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这类案例还有一个很常见的演化路径</a:t>
            </a:r>
          </a:p>
          <a:p>
            <a:pPr lvl="0"/>
            <a:r>
              <a:rPr/>
              <a:t>一旦查询逻辑稳定下来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案例分析：表格 4‑6 案例分析数据说明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列名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值例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IncidentNum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报案编号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150561637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报案类别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NON-CRIMINAL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报案描述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FOUND_PROPERTY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DayOfWeek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报案的星期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报案发生的日期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6/28/15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报案发生的时间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23:50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PdDistrict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报案区域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TARAVAL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解决方式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地址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1300_Block_of_LA_PLAYA_ST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位置X坐标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-122.5091348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位置Y坐标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37.76119777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部门ID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15056163704013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创建 DataFrame 的首选方式通常是直接使用</a:t>
            </a:r>
          </a:p>
          <a:p>
            <a:pPr lvl="0"/>
            <a:r>
              <a:rPr/>
              <a:t>从现有 RDD 创建 DataFrame，常见有两条路径：一种是已知对象结构时，通过案例类和反射推断 Schema</a:t>
            </a:r>
          </a:p>
          <a:p>
            <a:pPr lvl="0"/>
            <a:r>
              <a:rPr/>
              <a:t>它可以拆成 4 个动作</a:t>
            </a:r>
          </a:p>
          <a:p>
            <a:pPr lvl="0"/>
            <a:r>
              <a:rPr/>
              <a:t>具体实例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创建RDD</a:t>
            </a:r>
          </a:p>
          <a:p>
            <a:pPr lvl="0"/>
            <a:r>
              <a:rPr/>
              <a:t>这一步还没有 Schema，主要是为了给后面的案例类映射做准备</a:t>
            </a:r>
          </a:p>
          <a:p>
            <a:pPr lvl="0"/>
            <a:r>
              <a:rPr/>
              <a:t>代码 4‑31</a:t>
            </a:r>
          </a:p>
          <a:p>
            <a:pPr lvl="0"/>
            <a:r>
              <a:rPr/>
              <a:t>定义案例类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先对照代码理解 定义案例类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sfpdRDD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"/data/sfpd.csv"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sfpdRDD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Incidents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description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dayofweek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resolution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address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Float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Float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pdid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Incidents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后续就可以使用过滤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br/>
            <a:r>
              <a:rPr>
                <a:latin typeface="Courier"/>
              </a:rPr>
              <a:t>sfpdCase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sfpdRDD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solidFill>
                  <a:srgbClr val="06287E"/>
                </a:solidFill>
                <a:latin typeface="Courier"/>
              </a:rPr>
              <a:t>Incidents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toFloat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toFloat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sfpdCase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Incidents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sfpdDF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sfpdCase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sfpdDF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incidentnum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more fields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把 DataFrame 注册为临时视图后</a:t>
            </a:r>
          </a:p>
          <a:p>
            <a:pPr lvl="0"/>
            <a:r>
              <a:rPr/>
              <a:t>先对照代码理解 首先需要导入必要的类。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sfpdDF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"sfpd"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rowRDD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"/data/sfpd.csv"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rowRDD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146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rowRDD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res66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150599321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CENTRAL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StructType对象定义了数据结构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testsch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StructType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"IncNum"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"Date"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"District"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testsch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StructType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StructType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IncNum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District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创建DataFrame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testDF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rowRDD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testsch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testDF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IncNum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testDF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+---------+------+--------+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  IncNum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 Date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District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+---------+------+--------+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150599321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CENTRAL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156168837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CENTRAL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150599224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CENTRAL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150599230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CENTRAL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4.4.1 创建DataFrame：代码片段（7/7）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testDF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"test"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incs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* FROM test"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03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22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49</a:t>
            </a:r>
            <a:r>
              <a:rPr>
                <a:latin typeface="Courier"/>
              </a:rPr>
              <a:t> WARN ObjectStore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Failed to get database global_temp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returning NoSuchObjectException</a:t>
            </a:r>
            <a:br/>
            <a:r>
              <a:rPr>
                <a:latin typeface="Courier"/>
              </a:rPr>
              <a:t>incs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IncNum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incs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+---------+------+--------+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  IncNum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 Date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District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+---------+------+--------+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150599321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CENTRAL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很多问题都可以先写成链式操作</a:t>
            </a:r>
          </a:p>
          <a:p>
            <a:pPr lvl="0"/>
            <a:r>
              <a:rPr/>
              <a:t>5个发生报案最多的区域是什么？</a:t>
            </a:r>
          </a:p>
          <a:p>
            <a:pPr lvl="0"/>
            <a:r>
              <a:rPr/>
              <a:t>5个发生报案最多的街区是什么？</a:t>
            </a:r>
          </a:p>
          <a:p>
            <a:pPr lvl="0"/>
            <a:r>
              <a:rPr/>
              <a:t>前10个报案解决方式是什么？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前10个报案类别是什么？</a:t>
            </a:r>
          </a:p>
          <a:p>
            <a:pPr lvl="0"/>
            <a:r>
              <a:rPr/>
              <a:t>这些问题表面上是“找前几名”“做分组统计”</a:t>
            </a:r>
          </a:p>
          <a:p>
            <a:pPr lvl="0"/>
            <a:r>
              <a:rPr/>
              <a:t>先按地址分组，得到一个 RelationalGroupedDataset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incByAdd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"address"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incByAdd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RelationalGroupedDataset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RelationalGroupedDataset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grouping expressions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incidentnum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category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more fields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GroupBy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在分组结果上计算每个地址的报案数。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numAdd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incByAdd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</a:t>
            </a:r>
            <a:br/>
            <a:r>
              <a:rPr>
                <a:latin typeface="Courier"/>
              </a:rPr>
              <a:t>numAdd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bigint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把结果按报案数降序排列。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numAddDesc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numAdd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"count"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desc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numAddDesc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bigint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numAddDesc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address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800</a:t>
            </a:r>
            <a:r>
              <a:rPr>
                <a:latin typeface="Courier"/>
              </a:rPr>
              <a:t>_Block_of_BRYA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solidFill>
                  <a:srgbClr val="40A070"/>
                </a:solidFill>
                <a:latin typeface="Courier"/>
              </a:rPr>
              <a:t>10852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800</a:t>
            </a:r>
            <a:r>
              <a:rPr>
                <a:latin typeface="Courier"/>
              </a:rPr>
              <a:t>_Block_of_MARK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3671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_Block_of_POT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2027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r>
              <a:rPr>
                <a:latin typeface="Courier"/>
              </a:rPr>
              <a:t>_Block_of_MIS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1585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TH_ST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MISSION_ST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1512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+--------------------+-----+</a:t>
            </a:r>
            <a:br/>
            <a:r>
              <a:rPr>
                <a:latin typeface="Courier"/>
              </a:rPr>
              <a:t>only showing top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rows</a:t>
            </a:r>
            <a:br/>
            <a:r>
              <a:rPr>
                <a:latin typeface="Courier"/>
              </a:rPr>
              <a:t>top5Add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Unit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sfpdDF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"address"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"count"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desc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address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800</a:t>
            </a:r>
            <a:r>
              <a:rPr>
                <a:latin typeface="Courier"/>
              </a:rPr>
              <a:t>_Block_of_BRYA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solidFill>
                  <a:srgbClr val="40A070"/>
                </a:solidFill>
                <a:latin typeface="Courier"/>
              </a:rPr>
              <a:t>10852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800</a:t>
            </a:r>
            <a:r>
              <a:rPr>
                <a:latin typeface="Courier"/>
              </a:rPr>
              <a:t>_Block_of_MARK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3671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_Block_of_POT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2027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r>
              <a:rPr>
                <a:latin typeface="Courier"/>
              </a:rPr>
              <a:t>_Block_of_MIS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1585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TH_ST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MISSION_ST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1512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+--------------------+-----+</a:t>
            </a:r>
            <a:br/>
            <a:r>
              <a:rPr>
                <a:latin typeface="Courier"/>
              </a:rPr>
              <a:t>only showing top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rows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在分组后做聚合计算得到指标结果</a:t>
            </a:r>
          </a:p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address, count(incidentnum) AS inccount FROM sfpd</a:t>
            </a:r>
            <a:br/>
            <a:r>
              <a:rPr>
                <a:latin typeface="Courier"/>
              </a:rPr>
              <a:t>GROUP BY address ORDER BY inccount DESC LIMIT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4070A0"/>
                </a:solidFill>
                <a:latin typeface="Courier"/>
              </a:rPr>
              <a:t>").show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address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inccount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800</a:t>
            </a:r>
            <a:r>
              <a:rPr>
                <a:latin typeface="Courier"/>
              </a:rPr>
              <a:t>_Block_of_BRYA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10852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800</a:t>
            </a:r>
            <a:r>
              <a:rPr>
                <a:latin typeface="Courier"/>
              </a:rPr>
              <a:t>_Block_of_MARK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3671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_Block_of_POT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2027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r>
              <a:rPr>
                <a:latin typeface="Courier"/>
              </a:rPr>
              <a:t>_Block_of_MIS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1585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TH_ST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MISSION_ST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1512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+--------------------+--------+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4.4.2 操作DataFrame：代码片段（7/7）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最后把结果写回外部存储或结果表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top5Add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numAddDesc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limit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top5Add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bigint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top5Add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write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"json"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mode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"overwrite"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save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"/data/top5Add.json"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4.4.3 按年份组合（1/2）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数据集中的日期是 dd/mm/yy 形式的字符串</a:t>
            </a:r>
          </a:p>
          <a:p>
            <a:pPr lvl="0"/>
            <a:r>
              <a:rPr/>
              <a:t>从工程实践看，如果内置字符串函数已经足够，通常应优先使用内置函数而不是 UDF</a:t>
            </a:r>
          </a:p>
          <a:p>
            <a:pPr lvl="0"/>
            <a:r>
              <a:rPr/>
              <a:t>Spark SQL 和其他查询引擎一样支持用户定义函数</a:t>
            </a:r>
          </a:p>
          <a:p>
            <a:pPr lvl="0"/>
            <a:r>
              <a:rPr/>
              <a:t>（1）定义用户定义函数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4.4.3 按年份组合（2/2）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4‑50 上面的例子说明了 DataFrame API 中直接调用</a:t>
            </a:r>
          </a:p>
          <a:p>
            <a:pPr lvl="0"/>
            <a:r>
              <a:rPr/>
              <a:t>（1）定义和注册用户定义函数</a:t>
            </a:r>
          </a:p>
          <a:p>
            <a:pPr lvl="0"/>
            <a:r>
              <a:rPr/>
              <a:t>代码 4‑51 （2）在SQL语句中使用UDF</a:t>
            </a:r>
          </a:p>
          <a:p>
            <a:pPr lvl="0"/>
            <a:r>
              <a:rPr/>
              <a:t>代码 4‑52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4.4.3 按年份组合：代码片段（1/5）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（1）定义用户定义函数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getStr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udf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)=&gt;{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lastS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substring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lastIndexOf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'/'</a:t>
            </a:r>
            <a:r>
              <a:rPr>
                <a:solidFill>
                  <a:srgbClr val="666666"/>
                </a:solidFill>
                <a:latin typeface="Courier"/>
              </a:rPr>
              <a:t>)+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lastS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getStr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expressions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UserDefinedFunction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UserDefinedFunction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function1\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4.4.3 按年份组合：代码片段（2/5）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sfpdDF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getStr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sfpdDF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"date"</a:t>
            </a:r>
            <a:r>
              <a:rPr>
                <a:solidFill>
                  <a:srgbClr val="666666"/>
                </a:solidFill>
                <a:latin typeface="Courier"/>
              </a:rPr>
              <a:t>))).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06287E"/>
                </a:solidFill>
                <a:latin typeface="Courier"/>
              </a:rPr>
              <a:t>UDF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date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r>
              <a:rPr>
                <a:latin typeface="Courier"/>
              </a:rPr>
              <a:t> 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80760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152830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150185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+---------+------+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4.4.3 按年份组合：代码片段（3/5）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（1）定义和注册用户定义函数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"getStr"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strAfter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substring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lastIndexOf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'/'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strAfter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4.4.3 按年份组合：代码片段（4/5）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（1）定义和注册用户定义函数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"getStr"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)=&gt;{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strAfter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substring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lastIndexOf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'/'</a:t>
            </a:r>
            <a:r>
              <a:rPr>
                <a:solidFill>
                  <a:srgbClr val="666666"/>
                </a:solidFill>
                <a:latin typeface="Courier"/>
              </a:rPr>
              <a:t>)+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strAfter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expressions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UserDefinedFunction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UserDefinedFunction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function1\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4.4.3 按年份组合：代码片段（5/5）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getStr(date), count(incidentnum) AS countByYear FROM</a:t>
            </a:r>
            <a:br/>
            <a:r>
              <a:rPr>
                <a:latin typeface="Courier"/>
              </a:rPr>
              <a:t>sfpd GROUP BY </a:t>
            </a:r>
            <a:r>
              <a:rPr>
                <a:solidFill>
                  <a:srgbClr val="06287E"/>
                </a:solidFill>
                <a:latin typeface="Courier"/>
              </a:rPr>
              <a:t>getStr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ORDER BY countByYear DESC LIMIT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4070A0"/>
                </a:solidFill>
                <a:latin typeface="Courier"/>
              </a:rPr>
              <a:t>").show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03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55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51</a:t>
            </a:r>
            <a:r>
              <a:rPr>
                <a:latin typeface="Courier"/>
              </a:rPr>
              <a:t> WARN ObjectStore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Failed to get database global_temp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returning NoSuchObjectException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+----------------+-----------+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UDF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06287E"/>
                </a:solidFill>
                <a:latin typeface="Courier"/>
              </a:rPr>
              <a:t>getStr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date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r>
              <a:rPr>
                <a:latin typeface="Courier"/>
              </a:rPr>
              <a:t>countByYear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+----------------+-----------+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152830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150185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80760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+----------------+-----------+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2026-04-05T02:24:39Z</dcterms:created>
  <dcterms:modified xsi:type="dcterms:W3CDTF">2026-04-05T02:24:39Z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